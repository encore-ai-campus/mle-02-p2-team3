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5" r:id="rId36"/>
    <p:sldId id="256" r:id="rId2"/>
    <p:sldId id="276" r:id="rId27"/>
    <p:sldId id="277" r:id="rId28"/>
    <p:sldId id="278" r:id="rId29"/>
    <p:sldId id="279" r:id="rId30"/>
    <p:sldId id="280" r:id="rId31"/>
    <p:sldId id="281" r:id="rId32"/>
    <p:sldId id="282" r:id="rId33"/>
    <p:sldId id="283" r:id="rId34"/>
    <p:sldId id="284" r:id="rId35"/>
    <p:sldId id="257" r:id="rId3"/>
    <p:sldId id="263" r:id="rId9"/>
    <p:sldId id="264" r:id="rId10"/>
    <p:sldId id="265" r:id="rId11"/>
    <p:sldId id="269" r:id="rId15"/>
    <p:sldId id="270" r:id="rId16"/>
    <p:sldId id="271" r:id="rId17"/>
    <p:sldId id="273" r:id="rId19"/>
    <p:sldId id="274" r:id="rId20"/>
    <p:sldId id="275" r:id="rId21"/>
    <p:sldId id="267" r:id="rId13"/>
    <p:sldId id="260" r:id="rId6"/>
    <p:sldId id="266" r:id="rId12"/>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문제" id="{592edaee-1528-b234-0fa4-6b26e80fafb4}">
          <p14:sldIdLst>
            <p14:sldId id="285"/>
            <p14:sldId id="256"/>
            <p14:sldId id="276"/>
            <p14:sldId id="277"/>
            <p14:sldId id="278"/>
          </p14:sldIdLst>
        </p14:section>
        <p14:section name="왜 어려운가" id="{9b141067-42c0-4ba7-6c75-714a716dccbb}">
          <p14:sldIdLst>
            <p14:sldId id="279"/>
            <p14:sldId id="280"/>
          </p14:sldIdLst>
        </p14:section>
        <p14:section name="해결" id="{0f32be36-56a8-1665-da11-586a91bb24f2}">
          <p14:sldIdLst>
            <p14:sldId id="281"/>
            <p14:sldId id="282"/>
            <p14:sldId id="283"/>
          </p14:sldIdLst>
        </p14:section>
        <p14:section name="현황·결론" id="{238b069a-dd0d-011f-dc45-21e9290a5eb7}">
          <p14:sldIdLst>
            <p14:sldId id="284"/>
          </p14:sldIdLst>
        </p14:section>
        <p14:section name="부록" id="{ec09e3af-26fc-ebb8-1cfb-687b10824730}">
          <p14:sldIdLst>
            <p14:sldId id="257"/>
            <p14:sldId id="263"/>
            <p14:sldId id="264"/>
            <p14:sldId id="265"/>
            <p14:sldId id="269"/>
            <p14:sldId id="270"/>
            <p14:sldId id="271"/>
            <p14:sldId id="273"/>
            <p14:sldId id="274"/>
            <p14:sldId id="275"/>
            <p14:sldId id="267"/>
            <p14:sldId id="260"/>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1.xml"/><Relationship Id="rId6" Type="http://schemas.openxmlformats.org/officeDocument/2006/relationships/slide" Target="slides/slide5.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9.xml"/><Relationship Id="rId13" Type="http://schemas.openxmlformats.org/officeDocument/2006/relationships/slide" Target="slides/slide21.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1.5분] 고객이 AI에게 ‘ONE PICK STYLE 카드의 대중교통 캐시백 조건이 뭐예요?’라고 묻는다고 해 보겠습니다. AI는 대답을 잘 합니다. 그런데 그 답의 조건과 근거는 어디에서 와야 할까요. 저희는 카드사의 공식 상품정보에서 와야 한다고 봅니다. 외부 AI가 필요할 때 공식 정보를 조회하고, 카드사는 혜택과 조건, 약관 근거를 돌려주는 구조입니다. 이 프로젝트는 그 구조를 하나카드 공식 상품설명서로 설계하고 검증하는 것입니다. 지금은 원문 분석과 설계까지 했고, 구현은 앞으로입니다. 외부 AI가 실제로 조회할지, 최종 답을 어떻게 만들지는 외부 AI가 정합니다. 실제로 신한카드가 외부 AI에 공식 정보를 연결한 사례는 부록 A에 정리했습니다.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이런 일이 시작됐습니다. 2026년 9월 13일 신한카드는 카드사 최초로 ChatGPT for Kakao와 연계한 AI 대화형 금융 서비스를 발표했습니다. 카카오의 PlayMCP 기반 카카오 툴즈에 신한카드 서비스를 연동해, 고객이 신한카드 툴을 추가하면 대화로 카드 추천과 상세혜택 조회를 할 수 있습니다. 나흘 전 9월 9일에는 최적의 금융상품을 추천하고 선택하는 AI 개발을 발표했는데, 여기서 기존 생성형 AI의 한계로 엉뚱한 답변과 정보 왜곡, 일관성 부족, 복합 조건 누락, 정책·규정 미반영을 꼽았습니다. 두 발표는 서로 다른 발표이고, 내부적으로 연결됐는지, GraphRAG를 쓰는지는 공식 자료에 없습니다. 다른 카드사나 은행의 현황도 확인하지 않았습니다. 저희가 이 사례에서 가져오는 것은 하나입니다. 카드사의 공식 상품정보를 외부 AI에 연결하는 실제 서비스가 등장하고 있다는 것입니다. 다만 연결했다고 해서 복잡한 혜택을 정확하게 안내할 수 있는 것은 아닙니다. 실제 하나카드 약관 한 줄을 같이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1.5분] BT 카드 BIG TICKET 혜택의 원문 표입니다. 이용금액 구간마다 할인율이 있고, 한도가 구간별로 대응합니다. 오른쪽은 자동 추출 결과입니다. 할인율 네 개가 한 칸에 묶이고, 어느 구간의 할인율인지 알려 주는 열이 사라졌습니다. 숫자는 읽혔는데 관계가 끊어진 것입니다. 같은 검증에서 STYLE과 PLAY는 표가 하나도 탐지되지 않았고, 에너지 더블은 가맹점 열이 비어 나왔습니다. 점선 상자는 아직 확인하지 않은 예상 위험입니다. 공정하게 말씀드리면 이건 기본 설정의 표본 결과이고, 설정이나 수작업 보정으로 달라질 수 있습니다. 그래서 틀린 결과가 나왔을 때 어디서 틀렸는지 찾는 방법이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관계를 반대 방향으로 따라가 보겠습니다. 가상으로 상품권 구매의 실적 제외 조항이 바뀐다고 해 보겠습니다. 상품권 구매라는 대상에서 출발해, 그 대상을 언급하는 카드별 실적 제외 규칙을 찾고, 그 규칙이 붙은 실적 조건을 요구하는 혜택까지 따라가면 다시 검토할 혜택 후보가 나옵니다. 원문 대조한 4종에서는 STYLE과 PLAY의 대중교통·놀이공원, BT의 공항 라운지, 에너지 더블의 공과금·일상생활 할인입니다. 반대로 실적 조건이 없는 ONE PICK 영역이나 BIG TICKET은 후보에서 빠집니다. 여기서 중요한 설계 원칙이 있습니다. 상품권이라는 대상을 공통으로 연결한다고 해서 카드마다 정책이 같은 것은 아닙니다. 그래서 규칙은 카드별로 따로 저장하고, 적용 범위와 원문 문서 판도 각각 남깁니다. 그리고 이 결과는 자동으로 정책을 바꾸는 목록이 아니라 사람이 검토할 영향 후보입니다. 그런데 이런 관계 탐색은 SQL로도 가능하죠. 이 관계를 여러 AI가 같은 방식으로 조회하게 하는 연결 방식, MCP를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가장 중요한 질문입니다. SQL로도 되지 않나요? 됩니다. 일반 벡터 RAG도 원문을 찾아 근거를 보여 줄 수 있고, PostgreSQL도 관계 테이블과 JOIN, 재귀 CTE로 조건과 영향 범위를 분석할 수 있습니다. 그래서 이 표는 무엇이 되고 안 되는지를 비교하는 표가 아닙니다. 같은 일을 어떤 방식으로 표현하고 탐색하느냐의 차이입니다. 그래프는 관계 유형과 여러 단계, 역방향 경로를 명시적으로 표현하는 데 편할 가능성이 있습니다. 대신 인프라와 온톨로지 관리 부담이 큽니다. SQL은 저희 팀이 익숙하고 테이블 설계 초안도 있습니다. 어느 쪽이 더 정확하거나 효율적인지는 실제로 비교해 봐야 압니다. 그래서 같은 공식 PDF와 문서 버전, 같은 질문과 원문 정답셋으로 세 방식을 비교하고, 방식마다 필요한 전처리와 수작업 보정, 개발 비용도 함께 기록할 계획입니다. 이 프로젝트는 복잡한 카드 혜택 관계를 그래프로 표현하고 탐색하는 방법을 검증합니다. SQL 대비 우위는 실제 비교 전에 단정하지 않습니다. 어떤 방식을 쓰든, 찾은 조건과 AI의 답변이 맞는지는 따로 검증해야 합니다. 그 방법을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검증은 한 번에 하지 않고 네 단계로 나눕니다. 원문 PDF, 거기서 뽑아 정리한 관계, 그래프에서 검색한 결과, 그리고 LLM이 만든 답변입니다. 단계마다 생길 수 있는 오류가 다릅니다. 원문 단계에서는 앞에서 본 것처럼 표가 잘못 추출될 수 있고, 관계 단계에서는 상품권의 실적 제외처럼 조건이 빠지거나 적용 범위가 섞일 수 있습니다. 검색 단계에서는 다른 혜택의 조항을 잘못 붙일 수 있고, 답변 단계에서는 근거에 없는 조건을 덧붙일 수 있습니다. 그래서 단계마다 대조하는 대상을 따로 정합니다. 이걸 가능하게 하는 것이 실행 기록입니다. 저희 시스템에서 실행한 경우 질문, 실행한 쿼리, 돌려준 조건과 조항, 생성한 답변, 모델과 데이터 버전을 남길 수 있습니다. 쿼리 로그 포매터는 이미 구현돼 있고, 기록을 저장하는 구조는 설계 단계입니다. 한 가지 한계가 있습니다. 외부 AI가 고객에게 최종적으로 한 답은 카드사의 MCP 호출 로그만으로는 검증할 수 없습니다. 그 답변을 따로 확보한 경우에만 나중에 대조할 수 있습니다. 마지막으로, 지금 실제로 어디까지 했는지 정리하며 마무리하겠습니다.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1.5분] MCP는 신한카드 보도자료의 표현대로 AI가 외부 서비스와 연결돼 데이터를 주고받게 하는 표준 방식입니다. 저희 구조에서 MCP는 판단을 하지 않고 연결만 합니다. 외부 AI는 MCP 서버를, 자사 시스템은 내부 API를 통해 같은 엔진을 부르고, 엔진은 공식 혜택과 조건, 원문 근거를 돌려줍니다. 만들 도구는 카드별 혜택·조건·근거 조회가 필수이고, 조건 변경 영향 조회는 여유가 있으면 만듭니다. 다만 외부 AI가 이 도구를 반드시 쓰는 것은 아니고, 결과를 어떻게 요약할지도 카드사가 보장하지 못합니다. 카드사가 확인할 수 있는 것은 공급한 조건과 근거, 호출 기록까지입니다. 외부 플랫폼 실연동은 범위 밖입니다.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말씀드린 것 중 무엇이 실제로 된 것인지 구분하겠습니다. 원문 확인한 것은 하나카드 4종의 상품설명서 대조, PDF 추출 표본 검증, 신한 발표 재확인입니다. 약 10종은 목표이고 아직 선정 전입니다. 코드로 확인한 것은 PostgreSQL 카드 상품 등록·조회 코드와 그 단위 테스트 코드, 그리고 팀 공통 기반인 DB·Neo4j 연결, 쿼리 로그, PDF 페이지 텍스트 읽기 코드입니다. 다만 테스트가 통과하는지는 이번 검토에서 확인하지 않았고, DB 통합 테스트도 실행 기록이 없습니다. 코드가 있다는 것과 정상 동작이 검증됐다는 것은 구분해서 말씀드립니다. graph_rag_sample은 참고 구현이고 카드 도메인 코드가 아닙니다. 설계만 된 것은 그래프 스키마, 추출·검증 테이블 초안, MCP 도구안, 검증 기준입니다. 앞으로 할 일은 과제가 요구하는 대로 파일 기반과 DB 기반 두 파이프라인으로 각자 추출해 결과를 비교하고, Neo4j에 적재해 Cypher로 탐색하고, 근거 기반 답변과 MCP 도구 하나를 만든 뒤 파일럿 질문으로 검증하는 것입니다. 2인 팀이라 대표 4종을 먼저 끝내고, 여력이 있으면 10종으로 넓힙니다. 마지막으로, 이 작업이 완성됐을 때의 의미로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M0부터 M9까지와 두 독립 파이프라인의 현재 상태입니다. 원문 대조와 추출 표본 검증, 카드 등록 프로그램과 공통 기반까지가 완료이고, 나머지는 설계 또는 미구현입니다.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 설계안입니다. 카드, 혜택, 실적 조건, 제외 규칙, 조항을 노드로 둡니다. 제외 규칙은 카드별로 따로 두고 적용 범위와 문서 판을 속성으로 남기며, 상품권 구매 같은 대상만 공통 개념 노드로 연결합니다. 모든 관계에 원문 위치와 문장을 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 계획입니다. 하나카드 4종의 약관에서 15~20개의 파일럿 질문을 만들고, 정답은 원문 조항을 기준으로 합니다. 세 방식에는 같은 공식 PDF와 문서 버전, 같은 질문과 원문 정답을 씁니다. 전처리는 방식마다 다를 수 있으므로 각 방식의 추출·구조화 범위, 수작업 보정량, LLM 사용 조건과 비용을 함께 기록하고, 답변 정확도, 조건 누락, 근거 정확도, 적용 범위, 영향 후보의 정밀도와 재현율, 답변 일치를 비교합니다. 실패 사례와 한계도 공개합니다. 초기 파일럿이라 일반적인 우위를 증명하지는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근거는 PDF 안에 있는 것이고, 실행 기록은 저희 시스템이 질문마다 실행하면서 남기는 것입니다. 외부 AI를 거치면 카드사가 기록할 수 있는 것은 공급한 내용까지이고, 최종 답변은 별도로 확보해야 대조할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질문입니다. 가장 먼저 나올 질문은 개인 혜택 여부와 SQL 비교일 것입니다. 개인 데이터는 쓰지 않고, SQL로도 가능하다고 인정한 뒤 비교 계획으로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출처와 검증 상태입니다. V5에서는 신한 9월 9일 발표 제목을 원제목으로 바꿨고, 개인 적격성 판단을 연상시키는 표현과 우열 기호 비교표를 삭제했습니다.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0.5분] 오늘은 네 부분으로 말씀드립니다. 첫째, AI가 카드 혜택을 답할 때 조건이 왜 중요한지. 둘째, 그 조건을 PDF에서 뽑을 때 왜 어려운지. 셋째, 저희가 설계한 해결 방법. 넷째, 지금까지 된 것과 아직 안 된 것입니다. 발표는 약 14분이고, 질의응답 시간을 남겨 두겠습니다. 표와 비교 자료는 부록에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1.5분] 하나카드 ONE PICK STYLE의 대중교통 혜택입니다. 고객이 기억하는 건 ‘5% 캐시백’ 한 줄입니다. 그런데 원문에는 조건이 다섯 개 붙어 있습니다. 첫째, 지난달 국내외 일시불 이용금액이 10만원 이상이어야 합니다. 둘째, 캐시백은 월 최대 1,000원입니다. 셋째, 시외·고속버스와 철도는 혜택에서 제외됩니다. 넷째, 상품권 구매와 공과금 등은 실적에 들어가지 않습니다. 다섯째, 최초 카드 사용 등록일부터 다음 달 말일까지는 실적이 10만원 미만이어도 혜택이 제공됩니다. 조건마다 걸리는 위치가 다르다는 점을, 다음 장에서 상품권 하나로 따라가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1.5분] 상품권 하나만 따라가 보겠습니다. STYLE 원문에서 상품권은 두 군데에 나옵니다. 하나는 실적 제외 대상입니다. 상품권으로 쓴 돈은 지난달 10만원 계산에 들어가지 않습니다. 다른 하나는 서비스 제외 대상입니다. 상품권 결제에는 캐시백이나 할인이 적용되지 않습니다. 같은 단어인데 걸리는 곳이 다릅니다. 원문을 대조한 네 종 모두 상품권은 실적에서 빠지지만, 혜택에서 빠지는 범위는 상품마다 다릅니다. 표에 정리했습니다. 공정하게 말씀드리면 이 범위를 데이터로 저장해 두면 다른 방식으로도 구분할 수 있습니다. 관건은 PDF에서 정확히 뽑는 일이어서, 그 관계가 남는지 직접 확인해 봤습니다.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1.5분] BT 카드 BIG TICKET 표입니다. 왼쪽 원문은 이용금액 구간마다 할인율이 있습니다. 오른쪽 자동 추출 결과에서는 구간 열이 사라지고 할인율 네 개가 한 칸에 묶였습니다. 숫자는 읽혔지만 관계가 끊어진 겁니다. STYLE·PLAY는 표가 탐지되지 않는 등 다른 사례는 부록 L에 있습니다. 기본 설정의 표본 결과라 수작업 보정 등으로 달라질 수 있습니다. 그래서 틀린 결과가 나왔을 때 어디서 틀렸는지 찾는 방법이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1.5분] 가상 시나리오입니다. STYLE 대중교통 캐시백 실적에 상품권 구매도 포함되느냐고 물었는데, AI가 포함된다고 답했다고 하겠습니다. 원문에서 상품권은 실적 제외 대상입니다. 단계별 결과를 원문과 대조하면, 두 번째 단계인 조건·범위 추출에서 실적 제외 관계가 빠졌고, 그 오류가 뒤 단계까지 이어졌다는 것을 찾을 수 있습니다. 관계를 고치고 다시 저장한 뒤 같은 질문으로 다시 확인합니다. 목표는 전부 맞히는 것이 아니라 틀린 지점을 찾을 수 있게 하는 것입니다. 그러려면 조건과 근거를 관계 그대로 저장해야 합니다. 그 구조를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1.5분] 그래서 조건과 근거를 관계 그대로 저장하는 구조를 설계했습니다. 위쪽은 문서를 그래프로 만드는 과정입니다. 공식 PDF를 원문 위치를 남기며 나누고, AI가 혜택과 조건의 관계를 뽑아 정리하고, 사람이 원문과 대조해 검수한 뒤 그래프 데이터베이스인 Neo4j에 저장합니다. 아래쪽이 GraphRAG입니다. 그래프에서 찾은 관계와 원문 근거를 AI 답변에 넣는 방식입니다. 질문을 해석하고, 관계와 근거를 검색하고, 그 결과로 답합니다. 저장만 해서는 GraphRAG가 아닙니다. 아래 그림이 앞에서 본 조건 5개 사례입니다. 카드에서 혜택, 실적 조건, 상품권 제외 규칙, 원문 1쪽까지 하나의 경로로 이어집니다. 지금은 설계안이고 구현은 앞으로입니다.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1.5분] 핵심 장면입니다. 대중교통 캐시백의 전월실적 조건을 물으면 이렇게 돌아와야 합니다. 공식 혜택은 버스·지하철 5% 캐시백, 실적 기준은 지난달 국내외 일시불 10만원 이상, 한도는 월 최대 1,000원입니다. 시외·고속버스와 철도는 혜택에서, 상품권 등은 실적에서 제외되고, 신규 등록 예외도 함께 나옵니다. 오른쪽에는 근거가 된 상품설명서와 표 이름이 붙습니다. 이 화면은 구현 후 얻으려는 예시이고, 지금은 원문을 직접 대조해 만든 것입니다. 또 이 고객이 이번 달 혜택을 받는지는 판단하지 않고, 공식 조건만 안내합니다. 이런 조회 기능을 여러 AI가 같은 방식으로 쓰게 하는 연결이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1.5분] MCP는 신한카드 보도자료의 표현대로 AI가 외부 서비스와 연결돼 데이터를 주고받게 하는 표준 방식입니다. 저희 구조에서 MCP는 판단을 하지 않고 연결만 합니다. 외부 AI는 MCP 서버를, 자사 시스템은 내부 API를 통해 같은 엔진을 부르고, 엔진은 공식 혜택과 조건, 원문 근거를 돌려줍니다. 만들 도구는 카드별 혜택·조건·근거 조회가 필수이고, 조건 변경 영향 조회는 여유가 있으면 만듭니다. 다만 외부 AI가 이 도구를 반드시 쓰는 것은 아니고, 결과를 어떻게 요약할지도 카드사가 보장하지 못합니다. 카드사가 확인할 수 있는 것은 공급한 조건과 근거, 호출 기록까지입니다. 외부 플랫폼 실연동은 범위 밖입니다.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1.5분] 정리하겠습니다. AI 채널이 달라져도 카드사가 제공하는 공식 조건과 근거는 일관되게 관리할 수 있어야 합니다. 기억하실 점은 세 가지입니다. 첫째, ‘5% 캐시백’ 한 줄 뒤에 조건이 여러 개 있습니다. 둘째, PDF를 그냥 뽑으면 숫자는 읽혀도 관계가 끊어집니다. 셋째, 그래서 조건과 근거를 관계로 저장하고 원문과 대조합니다. 지금까지 된 것은 하나카드 4종 원문 대조와 PDF 추출 검증입니다. 코드는 있지만 테스트 통과는 확인하지 않았고, 그래프 스키마와 MCP 도구는 설계 단계입니다. 한계도 말씀드립니다. 개인 혜택 수령 여부는 판단하지 않고, SQL보다 낫다고 단정하지 않으며, 외부 AI의 최종 답변은 보장하지 못합니다.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0.2분] 안녕하세요, 이닛 팀입니다. 오늘은 ‘근거까지 답하는 카드 혜택 GraphRAG’, 하나카드 상품설명서를 기반으로 한 프로젝트를 발표드리겠습니다.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rtlCol="0"/>
          <a:lstStyle>
            <a:lvl1pPr indent="0" marL="0">
              <a:buNone/>
              <a:defRPr lang="en-US" sz="1200" b="1" dirty="0">
                <a:solidFill>
                  <a:srgbClr val="8F5208"/>
                </a:solidFill>
                <a:latin typeface="Malgun Gothic" pitchFamily="34" charset="0"/>
                <a:ea typeface="Malgun Gothic" pitchFamily="34" charset="-122"/>
                <a:cs typeface="Malgun Gothic"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rtlCol="0"/>
          <a:lstStyle>
            <a:lvl1pPr algn="l" indent="0" marL="0">
              <a:buNone/>
              <a:defRPr lang="en-US" sz="2400" b="1" dirty="0">
                <a:solidFill>
                  <a:srgbClr val="0E1A2B"/>
                </a:solidFill>
                <a:latin typeface="Malgun Gothic" pitchFamily="34" charset="0"/>
                <a:ea typeface="Malgun Gothic" pitchFamily="34" charset="-122"/>
                <a:cs typeface="Malgun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txBox="1"/>
          <p:nvPr/>
        </p:nvSpPr>
        <p:spPr>
          <a:xfrm>
            <a:off x="640080" y="868680"/>
            <a:ext cx="10972800" cy="1325880"/>
          </a:xfrm>
          <a:prstGeom prst="rect">
            <a:avLst/>
          </a:prstGeom>
          <a:noFill/>
          <a:ln/>
        </p:spPr>
        <p:txBody>
          <a:bodyPr wrap="square" lIns="0" tIns="0" rIns="0" bIns="0" rtlCol="0" anchor="t"/>
          <a:lstStyle/>
          <a:p>
            <a:pPr indent="0" marL="0">
              <a:lnSpc>
                <a:spcPct val="105000"/>
              </a:lnSpc>
              <a:buNone/>
            </a:pPr>
            <a:r>
              <a:rPr lang="en-US" sz="3400" b="1" dirty="0">
                <a:solidFill>
                  <a:srgbClr val="FFFFFF"/>
                </a:solidFill>
                <a:latin typeface="Malgun Gothic" pitchFamily="34" charset="0"/>
                <a:ea typeface="Malgun Gothic" pitchFamily="34" charset="-122"/>
                <a:cs typeface="Malgun Gothic" pitchFamily="34" charset="-120"/>
              </a:rPr>
              <a:t>고객이 AI에게 카드 혜택을 물으면,</a:t>
            </a:r>
            <a:endParaRPr lang="en-US" sz="3400" dirty="0"/>
          </a:p>
          <a:p>
            <a:pPr indent="0" marL="0">
              <a:lnSpc>
                <a:spcPct val="105000"/>
              </a:lnSpc>
              <a:buNone/>
            </a:pPr>
            <a:r>
              <a:rPr lang="en-US" sz="3400" b="1" dirty="0">
                <a:solidFill>
                  <a:srgbClr val="E8A33D"/>
                </a:solidFill>
                <a:latin typeface="Malgun Gothic" pitchFamily="34" charset="0"/>
                <a:ea typeface="Malgun Gothic" pitchFamily="34" charset="-122"/>
                <a:cs typeface="Malgun Gothic" pitchFamily="34" charset="-120"/>
              </a:rPr>
              <a:t>공식 정보는 어디에서 올까요?</a:t>
            </a:r>
            <a:endParaRPr lang="en-US" sz="3400" dirty="0"/>
          </a:p>
        </p:txBody>
      </p:sp>
      <p:sp>
        <p:nvSpPr>
          <p:cNvPr id="4" name="Text 2"/>
          <p:cNvSpPr txBox="1"/>
          <p:nvPr/>
        </p:nvSpPr>
        <p:spPr>
          <a:xfrm>
            <a:off x="640080" y="2560320"/>
            <a:ext cx="3383280" cy="1417320"/>
          </a:xfrm>
          <a:prstGeom prst="roundRect">
            <a:avLst>
              <a:gd name="adj" fmla="val 10323"/>
            </a:avLst>
          </a:prstGeom>
          <a:solidFill>
            <a:srgbClr val="FFFFFF"/>
          </a:solidFill>
          <a:ln>
            <a:solidFill>
              <a:srgbClr val="FFFFFF"/>
            </a:solidFill>
          </a:ln>
        </p:spPr>
        <p:txBody>
          <a:bodyPr wrap="square" lIns="152400" tIns="152400" rIns="152400" bIns="152400" rtlCol="0" anchor="ctr"/>
          <a:lstStyle/>
          <a:p>
            <a:pPr algn="l" indent="0" marL="0">
              <a:buNone/>
            </a:pPr>
            <a:r>
              <a:rPr lang="en-US" sz="1100" b="1" dirty="0">
                <a:solidFill>
                  <a:srgbClr val="5B6778"/>
                </a:solidFill>
                <a:latin typeface="Malgun Gothic" pitchFamily="34" charset="0"/>
                <a:ea typeface="Malgun Gothic" pitchFamily="34" charset="-122"/>
                <a:cs typeface="Malgun Gothic" pitchFamily="34" charset="-120"/>
              </a:rPr>
              <a:t>고객</a:t>
            </a:r>
            <a:endParaRPr lang="en-US" sz="1300" dirty="0"/>
          </a:p>
          <a:p>
            <a:pPr algn="l" indent="0" marL="0">
              <a:buNone/>
            </a:pPr>
            <a:r>
              <a:rPr lang="en-US" sz="1600" b="1" dirty="0">
                <a:solidFill>
                  <a:srgbClr val="0E1A2B"/>
                </a:solidFill>
                <a:latin typeface="Malgun Gothic" pitchFamily="34" charset="0"/>
                <a:ea typeface="Malgun Gothic" pitchFamily="34" charset="-122"/>
                <a:cs typeface="Malgun Gothic" pitchFamily="34" charset="-120"/>
              </a:rPr>
              <a:t>ONE PICK STYLE 카드의 대중교통 캐시백 조건이 뭐예요?</a:t>
            </a:r>
            <a:endParaRPr lang="en-US" sz="1300" dirty="0"/>
          </a:p>
        </p:txBody>
      </p:sp>
      <p:sp>
        <p:nvSpPr>
          <p:cNvPr id="5" name="Shape 3"/>
          <p:cNvSpPr/>
          <p:nvPr/>
        </p:nvSpPr>
        <p:spPr>
          <a:xfrm>
            <a:off x="4069080" y="3273552"/>
            <a:ext cx="548640" cy="0"/>
          </a:xfrm>
          <a:prstGeom prst="line">
            <a:avLst/>
          </a:prstGeom>
          <a:noFill/>
          <a:ln w="19050">
            <a:solidFill>
              <a:srgbClr val="C9D3E0"/>
            </a:solidFill>
            <a:prstDash val="solid"/>
            <a:tailEnd type="triangle"/>
          </a:ln>
        </p:spPr>
        <p:txBody>
          <a:bodyPr/>
          <a:p/>
        </p:txBody>
      </p:sp>
      <p:sp>
        <p:nvSpPr>
          <p:cNvPr id="6" name="Text 4"/>
          <p:cNvSpPr txBox="1"/>
          <p:nvPr/>
        </p:nvSpPr>
        <p:spPr>
          <a:xfrm>
            <a:off x="3977640" y="2944368"/>
            <a:ext cx="731520" cy="237744"/>
          </a:xfrm>
          <a:prstGeom prst="rect">
            <a:avLst/>
          </a:prstGeom>
          <a:noFill/>
          <a:ln/>
        </p:spPr>
        <p:txBody>
          <a:bodyPr wrap="square" lIns="0" tIns="0" rIns="0" bIns="0" rtlCol="0" anchor="t"/>
          <a:lstStyle/>
          <a:p>
            <a:pPr algn="ctr" indent="0" marL="0">
              <a:buNone/>
            </a:pPr>
            <a:r>
              <a:rPr lang="en-US" sz="1100" dirty="0">
                <a:solidFill>
                  <a:srgbClr val="C9D3E0"/>
                </a:solidFill>
                <a:latin typeface="Malgun Gothic" pitchFamily="34" charset="0"/>
                <a:ea typeface="Malgun Gothic" pitchFamily="34" charset="-122"/>
                <a:cs typeface="Malgun Gothic" pitchFamily="34" charset="-120"/>
              </a:rPr>
              <a:t>질문</a:t>
            </a:r>
            <a:endParaRPr lang="en-US" sz="1100" dirty="0"/>
          </a:p>
        </p:txBody>
      </p:sp>
      <p:sp>
        <p:nvSpPr>
          <p:cNvPr id="7" name="Text 5"/>
          <p:cNvSpPr txBox="1"/>
          <p:nvPr/>
        </p:nvSpPr>
        <p:spPr>
          <a:xfrm>
            <a:off x="4663440" y="2560320"/>
            <a:ext cx="2423160" cy="1417320"/>
          </a:xfrm>
          <a:prstGeom prst="roundRect">
            <a:avLst>
              <a:gd name="adj" fmla="val 10323"/>
            </a:avLst>
          </a:prstGeom>
          <a:solidFill>
            <a:srgbClr val="3A4A60"/>
          </a:solidFill>
          <a:ln>
            <a:solidFill>
              <a:srgbClr val="3A4A60"/>
            </a:solidFill>
          </a:ln>
        </p:spPr>
        <p:txBody>
          <a:bodyPr wrap="square" lIns="76200" tIns="76200" rIns="76200" bIns="7620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외부 AI</a:t>
            </a:r>
            <a:endParaRPr lang="en-US" sz="1300" dirty="0"/>
          </a:p>
          <a:p>
            <a:pPr algn="ctr" indent="0" marL="0">
              <a:buNone/>
            </a:pPr>
            <a:r>
              <a:rPr lang="en-US" sz="1200" dirty="0">
                <a:solidFill>
                  <a:srgbClr val="D5DEEA"/>
                </a:solidFill>
                <a:latin typeface="Malgun Gothic" pitchFamily="34" charset="0"/>
                <a:ea typeface="Malgun Gothic" pitchFamily="34" charset="-122"/>
                <a:cs typeface="Malgun Gothic" pitchFamily="34" charset="-120"/>
              </a:rPr>
              <a:t>고객과 대화 · 답변 구성</a:t>
            </a:r>
            <a:endParaRPr lang="en-US" sz="1300" dirty="0"/>
          </a:p>
        </p:txBody>
      </p:sp>
      <p:sp>
        <p:nvSpPr>
          <p:cNvPr id="8" name="Shape 6"/>
          <p:cNvSpPr/>
          <p:nvPr/>
        </p:nvSpPr>
        <p:spPr>
          <a:xfrm>
            <a:off x="7132320" y="3017520"/>
            <a:ext cx="1097280" cy="0"/>
          </a:xfrm>
          <a:prstGeom prst="line">
            <a:avLst/>
          </a:prstGeom>
          <a:noFill/>
          <a:ln w="19050">
            <a:solidFill>
              <a:srgbClr val="C9D3E0"/>
            </a:solidFill>
            <a:prstDash val="solid"/>
            <a:tailEnd type="triangle"/>
          </a:ln>
        </p:spPr>
        <p:txBody>
          <a:bodyPr/>
          <a:p/>
        </p:txBody>
      </p:sp>
      <p:sp>
        <p:nvSpPr>
          <p:cNvPr id="9" name="Text 7"/>
          <p:cNvSpPr txBox="1"/>
          <p:nvPr/>
        </p:nvSpPr>
        <p:spPr>
          <a:xfrm>
            <a:off x="7086600" y="2688336"/>
            <a:ext cx="1188720" cy="237744"/>
          </a:xfrm>
          <a:prstGeom prst="rect">
            <a:avLst/>
          </a:prstGeom>
          <a:noFill/>
          <a:ln/>
        </p:spPr>
        <p:txBody>
          <a:bodyPr wrap="square" lIns="0" tIns="0" rIns="0" bIns="0" rtlCol="0" anchor="t"/>
          <a:lstStyle/>
          <a:p>
            <a:pPr algn="ctr" indent="0" marL="0">
              <a:buNone/>
            </a:pPr>
            <a:r>
              <a:rPr lang="en-US" sz="1000" dirty="0">
                <a:solidFill>
                  <a:srgbClr val="C9D3E0"/>
                </a:solidFill>
                <a:latin typeface="Malgun Gothic" pitchFamily="34" charset="0"/>
                <a:ea typeface="Malgun Gothic" pitchFamily="34" charset="-122"/>
                <a:cs typeface="Malgun Gothic" pitchFamily="34" charset="-120"/>
              </a:rPr>
              <a:t>조회 요청</a:t>
            </a:r>
            <a:endParaRPr lang="en-US" sz="1000" dirty="0"/>
          </a:p>
        </p:txBody>
      </p:sp>
      <p:sp>
        <p:nvSpPr>
          <p:cNvPr id="10" name="Shape 8"/>
          <p:cNvSpPr/>
          <p:nvPr/>
        </p:nvSpPr>
        <p:spPr>
          <a:xfrm flipH="1">
            <a:off x="7132320" y="3520440"/>
            <a:ext cx="1097280" cy="0"/>
          </a:xfrm>
          <a:prstGeom prst="line">
            <a:avLst/>
          </a:prstGeom>
          <a:noFill/>
          <a:ln w="19050">
            <a:solidFill>
              <a:srgbClr val="E8A33D"/>
            </a:solidFill>
            <a:prstDash val="solid"/>
            <a:tailEnd type="triangle"/>
          </a:ln>
        </p:spPr>
        <p:txBody>
          <a:bodyPr/>
          <a:p/>
        </p:txBody>
      </p:sp>
      <p:sp>
        <p:nvSpPr>
          <p:cNvPr id="11" name="Text 9"/>
          <p:cNvSpPr txBox="1"/>
          <p:nvPr/>
        </p:nvSpPr>
        <p:spPr>
          <a:xfrm>
            <a:off x="7086600" y="3611880"/>
            <a:ext cx="1188720" cy="237744"/>
          </a:xfrm>
          <a:prstGeom prst="rect">
            <a:avLst/>
          </a:prstGeom>
          <a:noFill/>
          <a:ln/>
        </p:spPr>
        <p:txBody>
          <a:bodyPr wrap="square" lIns="0" tIns="0" rIns="0" bIns="0" rtlCol="0" anchor="t"/>
          <a:lstStyle/>
          <a:p>
            <a:pPr algn="ctr" indent="0" marL="0">
              <a:buNone/>
            </a:pPr>
            <a:r>
              <a:rPr lang="en-US" sz="1000" dirty="0">
                <a:solidFill>
                  <a:srgbClr val="E8A33D"/>
                </a:solidFill>
                <a:latin typeface="Malgun Gothic" pitchFamily="34" charset="0"/>
                <a:ea typeface="Malgun Gothic" pitchFamily="34" charset="-122"/>
                <a:cs typeface="Malgun Gothic" pitchFamily="34" charset="-120"/>
              </a:rPr>
              <a:t>공식 조건·근거</a:t>
            </a:r>
            <a:endParaRPr lang="en-US" sz="1000" dirty="0"/>
          </a:p>
        </p:txBody>
      </p:sp>
      <p:sp>
        <p:nvSpPr>
          <p:cNvPr id="12" name="Text 10"/>
          <p:cNvSpPr txBox="1"/>
          <p:nvPr/>
        </p:nvSpPr>
        <p:spPr>
          <a:xfrm>
            <a:off x="8275320" y="2487168"/>
            <a:ext cx="3364992" cy="1563624"/>
          </a:xfrm>
          <a:prstGeom prst="roundRect">
            <a:avLst>
              <a:gd name="adj" fmla="val 9357"/>
            </a:avLst>
          </a:prstGeom>
          <a:solidFill>
            <a:srgbClr val="159A8C"/>
          </a:solidFill>
          <a:ln>
            <a:solidFill>
              <a:srgbClr val="159A8C"/>
            </a:solidFill>
          </a:ln>
        </p:spPr>
        <p:txBody>
          <a:bodyPr wrap="square" lIns="76200" tIns="76200" rIns="76200" bIns="7620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카드사 공식 상품정보</a:t>
            </a:r>
            <a:endParaRPr lang="en-US" sz="1300" dirty="0"/>
          </a:p>
          <a:p>
            <a:pPr algn="ctr" indent="0" marL="0">
              <a:buNone/>
            </a:pPr>
            <a:r>
              <a:rPr lang="en-US" sz="1400" dirty="0">
                <a:solidFill>
                  <a:srgbClr val="FFFFFF"/>
                </a:solidFill>
                <a:latin typeface="Malgun Gothic" pitchFamily="34" charset="0"/>
                <a:ea typeface="Malgun Gothic" pitchFamily="34" charset="-122"/>
                <a:cs typeface="Malgun Gothic" pitchFamily="34" charset="-120"/>
              </a:rPr>
              <a:t>카드 혜택 · 조건 · 약관 근거</a:t>
            </a:r>
            <a:endParaRPr lang="en-US" sz="1300" dirty="0"/>
          </a:p>
          <a:p>
            <a:pPr algn="ctr" indent="0" marL="0">
              <a:buNone/>
            </a:pPr>
            <a:r>
              <a:rPr lang="en-US" sz="1000" dirty="0">
                <a:solidFill>
                  <a:srgbClr val="CDEFEA"/>
                </a:solidFill>
                <a:latin typeface="Malgun Gothic" pitchFamily="34" charset="0"/>
                <a:ea typeface="Malgun Gothic" pitchFamily="34" charset="-122"/>
                <a:cs typeface="Malgun Gothic" pitchFamily="34" charset="-120"/>
              </a:rPr>
              <a:t>하나카드 상품설명서 기반 · 제안 구조</a:t>
            </a:r>
            <a:endParaRPr lang="en-US" sz="1300" dirty="0"/>
          </a:p>
        </p:txBody>
      </p:sp>
      <p:sp>
        <p:nvSpPr>
          <p:cNvPr id="13" name="Text 11"/>
          <p:cNvSpPr txBox="1"/>
          <p:nvPr/>
        </p:nvSpPr>
        <p:spPr>
          <a:xfrm>
            <a:off x="640080" y="4297680"/>
            <a:ext cx="10972800" cy="685800"/>
          </a:xfrm>
          <a:prstGeom prst="rect">
            <a:avLst/>
          </a:prstGeom>
          <a:noFill/>
          <a:ln/>
        </p:spPr>
        <p:txBody>
          <a:bodyPr wrap="square" lIns="0" tIns="0" rIns="0" bIns="0" rtlCol="0" anchor="t"/>
          <a:lstStyle/>
          <a:p>
            <a:pPr indent="0" marL="0">
              <a:lnSpc>
                <a:spcPct val="110000"/>
              </a:lnSpc>
              <a:buNone/>
            </a:pPr>
            <a:r>
              <a:rPr lang="en-US" sz="1700" b="1" dirty="0">
                <a:solidFill>
                  <a:srgbClr val="E8A33D"/>
                </a:solidFill>
                <a:latin typeface="Malgun Gothic" pitchFamily="34" charset="0"/>
                <a:ea typeface="Malgun Gothic" pitchFamily="34" charset="-122"/>
                <a:cs typeface="Malgun Gothic" pitchFamily="34" charset="-120"/>
              </a:rPr>
              <a:t>이 프로젝트  </a:t>
            </a:r>
            <a:pPr indent="0" marL="0">
              <a:lnSpc>
                <a:spcPct val="110000"/>
              </a:lnSpc>
              <a:buNone/>
            </a:pPr>
            <a:r>
              <a:rPr lang="en-US" sz="1700" dirty="0">
                <a:solidFill>
                  <a:srgbClr val="FFFFFF"/>
                </a:solidFill>
                <a:latin typeface="Malgun Gothic" pitchFamily="34" charset="0"/>
                <a:ea typeface="Malgun Gothic" pitchFamily="34" charset="-122"/>
                <a:cs typeface="Malgun Gothic" pitchFamily="34" charset="-120"/>
              </a:rPr>
              <a:t>카드사가 외부 AI에 공식 혜택·조건·근거를 제공하는 구조를 하나카드 상품설명서로 설계·검증합니다.</a:t>
            </a:r>
            <a:endParaRPr lang="en-US" sz="1700" dirty="0"/>
          </a:p>
        </p:txBody>
      </p:sp>
      <p:sp>
        <p:nvSpPr>
          <p:cNvPr id="14" name="Text 12"/>
          <p:cNvSpPr txBox="1"/>
          <p:nvPr/>
        </p:nvSpPr>
        <p:spPr>
          <a:xfrm>
            <a:off x="640080" y="5257800"/>
            <a:ext cx="10515600" cy="256032"/>
          </a:xfrm>
          <a:prstGeom prst="rect">
            <a:avLst/>
          </a:prstGeom>
          <a:noFill/>
          <a:ln/>
        </p:spPr>
        <p:txBody>
          <a:bodyPr wrap="square" lIns="0" tIns="0" rIns="0" bIns="0" rtlCol="0" anchor="t"/>
          <a:lstStyle/>
          <a:p>
            <a:pPr indent="0" marL="0">
              <a:buNone/>
            </a:pPr>
            <a:r>
              <a:rPr lang="en-US" sz="1000" dirty="0">
                <a:solidFill>
                  <a:srgbClr val="7F8FA6"/>
                </a:solidFill>
                <a:latin typeface="Malgun Gothic" pitchFamily="34" charset="0"/>
                <a:ea typeface="Malgun Gothic" pitchFamily="34" charset="-122"/>
                <a:cs typeface="Malgun Gothic" pitchFamily="34" charset="-120"/>
              </a:rPr>
              <a:t>아직 구현 전의 제안 구조입니다 · 외부 AI의 호출 여부와 최종 답변은 외부 AI가 결정합니다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목차</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오늘 이야기는 네 부분입니다</a:t>
            </a:r>
            <a:endParaRPr lang="en-US" sz="2400" dirty="0"/>
          </a:p>
        </p:txBody>
      </p:sp>
      <p:sp>
        <p:nvSpPr>
          <p:cNvPr id="27" name="Card 1"/>
          <p:cNvSpPr/>
          <p:nvPr/>
        </p:nvSpPr>
        <p:spPr>
          <a:xfrm>
            <a:off x="548640" y="1737360"/>
            <a:ext cx="2636444" cy="3350000"/>
          </a:xfrm>
          <a:prstGeom prst="roundRect">
            <a:avLst>
              <a:gd name="adj" fmla="val 4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ard 1 title"/>
          <p:cNvSpPr txBox="1"/>
          <p:nvPr/>
        </p:nvSpPr>
        <p:spPr>
          <a:xfrm>
            <a:off x="731520" y="1874520"/>
            <a:ext cx="2270684" cy="900000"/>
          </a:xfrm>
          <a:prstGeom prst="rect">
            <a:avLst/>
          </a:prstGeom>
          <a:noFill/>
        </p:spPr>
        <p:txBody>
          <a:bodyPr wrap="square">
            <a:spAutoFit/>
          </a:bodyPr>
          <a:lstStyle/>
          <a:p>
            <a:pPr>
              <a:spcAft>
                <a:spcPts val="0"/>
              </a:spcAft>
            </a:pPr>
            <a:r>
              <a:rPr sz="3000" b="1">
                <a:solidFill>
                  <a:srgbClr val="8F5208"/>
                </a:solidFill>
                <a:latin typeface="Malgun Gothic"/>
                <a:ea typeface="Malgun Gothic"/>
                <a:cs typeface="Malgun Gothic"/>
              </a:rPr>
              <a:t>1</a:t>
            </a:r>
          </a:p>
          <a:p>
            <a:pPr>
              <a:spcAft>
                <a:spcPts val="0"/>
              </a:spcAft>
            </a:pPr>
            <a:r>
              <a:rPr sz="2000" b="1">
                <a:solidFill>
                  <a:srgbClr val="0E1A2B"/>
                </a:solidFill>
                <a:latin typeface="Malgun Gothic"/>
                <a:ea typeface="Malgun Gothic"/>
                <a:cs typeface="Malgun Gothic"/>
              </a:rPr>
              <a:t>문제</a:t>
            </a:r>
          </a:p>
        </p:txBody>
      </p:sp>
      <p:sp>
        <p:nvSpPr>
          <p:cNvPr id="29" name="Card 1 time"/>
          <p:cNvSpPr/>
          <p:nvPr/>
        </p:nvSpPr>
        <p:spPr>
          <a:xfrm>
            <a:off x="731520" y="2887360"/>
            <a:ext cx="1000000" cy="300000"/>
          </a:xfrm>
          <a:prstGeom prst="roundRect">
            <a:avLst>
              <a:gd name="adj" fmla="val 50000"/>
            </a:avLst>
          </a:prstGeom>
          <a:solidFill>
            <a:srgbClr val="E3F4F1"/>
          </a:solidFill>
          <a:ln>
            <a:solidFill>
              <a:srgbClr val="E3F4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D6F64"/>
                </a:solidFill>
                <a:latin typeface="Malgun Gothic"/>
                <a:ea typeface="Malgun Gothic"/>
                <a:cs typeface="Malgun Gothic"/>
              </a:rPr>
              <a:t>약 4.5분</a:t>
            </a:r>
          </a:p>
        </p:txBody>
      </p:sp>
      <p:sp>
        <p:nvSpPr>
          <p:cNvPr id="30" name="Card 1 items"/>
          <p:cNvSpPr txBox="1"/>
          <p:nvPr/>
        </p:nvSpPr>
        <p:spPr>
          <a:xfrm>
            <a:off x="731520" y="3387360"/>
            <a:ext cx="2270684" cy="1600000"/>
          </a:xfrm>
          <a:prstGeom prst="rect">
            <a:avLst/>
          </a:prstGeom>
          <a:noFill/>
        </p:spPr>
        <p:txBody>
          <a:bodyPr wrap="square">
            <a:spAutoFit/>
          </a:bodyPr>
          <a:lstStyle/>
          <a:p>
            <a:pPr>
              <a:spcAft>
                <a:spcPts val="800"/>
              </a:spcAft>
            </a:pPr>
            <a:r>
              <a:rPr sz="1400" b="0">
                <a:solidFill>
                  <a:srgbClr val="33415C"/>
                </a:solidFill>
                <a:latin typeface="Malgun Gothic"/>
                <a:ea typeface="Malgun Gothic"/>
                <a:cs typeface="Malgun Gothic"/>
              </a:rPr>
              <a:t>· AI는 공식 정보를 어디서 가져올까</a:t>
            </a:r>
          </a:p>
          <a:p>
            <a:pPr>
              <a:spcAft>
                <a:spcPts val="800"/>
              </a:spcAft>
            </a:pPr>
            <a:r>
              <a:rPr sz="1400" b="0">
                <a:solidFill>
                  <a:srgbClr val="33415C"/>
                </a:solidFill>
                <a:latin typeface="Malgun Gothic"/>
                <a:ea typeface="Malgun Gothic"/>
                <a:cs typeface="Malgun Gothic"/>
              </a:rPr>
              <a:t>· ‘5% 캐시백’ 뒤에 붙은 조건 5개</a:t>
            </a:r>
          </a:p>
          <a:p>
            <a:pPr>
              <a:spcAft>
                <a:spcPts val="800"/>
              </a:spcAft>
            </a:pPr>
            <a:r>
              <a:rPr sz="1400" b="0">
                <a:solidFill>
                  <a:srgbClr val="33415C"/>
                </a:solidFill>
                <a:latin typeface="Malgun Gothic"/>
                <a:ea typeface="Malgun Gothic"/>
                <a:cs typeface="Malgun Gothic"/>
              </a:rPr>
              <a:t>· 같은 ‘상품권 제외’, 다른 적용 범위</a:t>
            </a:r>
          </a:p>
        </p:txBody>
      </p:sp>
      <p:sp>
        <p:nvSpPr>
          <p:cNvPr id="31" name="Card 2"/>
          <p:cNvSpPr/>
          <p:nvPr/>
        </p:nvSpPr>
        <p:spPr>
          <a:xfrm>
            <a:off x="3367964" y="1737360"/>
            <a:ext cx="2636444" cy="3350000"/>
          </a:xfrm>
          <a:prstGeom prst="roundRect">
            <a:avLst>
              <a:gd name="adj" fmla="val 4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ard 2 title"/>
          <p:cNvSpPr txBox="1"/>
          <p:nvPr/>
        </p:nvSpPr>
        <p:spPr>
          <a:xfrm>
            <a:off x="3550844" y="1874520"/>
            <a:ext cx="2270684" cy="900000"/>
          </a:xfrm>
          <a:prstGeom prst="rect">
            <a:avLst/>
          </a:prstGeom>
          <a:noFill/>
        </p:spPr>
        <p:txBody>
          <a:bodyPr wrap="square">
            <a:spAutoFit/>
          </a:bodyPr>
          <a:lstStyle/>
          <a:p>
            <a:pPr>
              <a:spcAft>
                <a:spcPts val="0"/>
              </a:spcAft>
            </a:pPr>
            <a:r>
              <a:rPr sz="3000" b="1">
                <a:solidFill>
                  <a:srgbClr val="8F5208"/>
                </a:solidFill>
                <a:latin typeface="Malgun Gothic"/>
                <a:ea typeface="Malgun Gothic"/>
                <a:cs typeface="Malgun Gothic"/>
              </a:rPr>
              <a:t>2</a:t>
            </a:r>
          </a:p>
          <a:p>
            <a:pPr>
              <a:spcAft>
                <a:spcPts val="0"/>
              </a:spcAft>
            </a:pPr>
            <a:r>
              <a:rPr sz="2000" b="1">
                <a:solidFill>
                  <a:srgbClr val="0E1A2B"/>
                </a:solidFill>
                <a:latin typeface="Malgun Gothic"/>
                <a:ea typeface="Malgun Gothic"/>
                <a:cs typeface="Malgun Gothic"/>
              </a:rPr>
              <a:t>왜 어려운가</a:t>
            </a:r>
          </a:p>
        </p:txBody>
      </p:sp>
      <p:sp>
        <p:nvSpPr>
          <p:cNvPr id="33" name="Card 2 time"/>
          <p:cNvSpPr/>
          <p:nvPr/>
        </p:nvSpPr>
        <p:spPr>
          <a:xfrm>
            <a:off x="3550844" y="2887360"/>
            <a:ext cx="1000000" cy="300000"/>
          </a:xfrm>
          <a:prstGeom prst="roundRect">
            <a:avLst>
              <a:gd name="adj" fmla="val 50000"/>
            </a:avLst>
          </a:prstGeom>
          <a:solidFill>
            <a:srgbClr val="E3F4F1"/>
          </a:solidFill>
          <a:ln>
            <a:solidFill>
              <a:srgbClr val="E3F4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D6F64"/>
                </a:solidFill>
                <a:latin typeface="Malgun Gothic"/>
                <a:ea typeface="Malgun Gothic"/>
                <a:cs typeface="Malgun Gothic"/>
              </a:rPr>
              <a:t>약 3분</a:t>
            </a:r>
          </a:p>
        </p:txBody>
      </p:sp>
      <p:sp>
        <p:nvSpPr>
          <p:cNvPr id="34" name="Card 2 items"/>
          <p:cNvSpPr txBox="1"/>
          <p:nvPr/>
        </p:nvSpPr>
        <p:spPr>
          <a:xfrm>
            <a:off x="3550844" y="3387360"/>
            <a:ext cx="2270684" cy="1600000"/>
          </a:xfrm>
          <a:prstGeom prst="rect">
            <a:avLst/>
          </a:prstGeom>
          <a:noFill/>
        </p:spPr>
        <p:txBody>
          <a:bodyPr wrap="square">
            <a:spAutoFit/>
          </a:bodyPr>
          <a:lstStyle/>
          <a:p>
            <a:pPr>
              <a:spcAft>
                <a:spcPts val="800"/>
              </a:spcAft>
            </a:pPr>
            <a:r>
              <a:rPr sz="1400" b="0">
                <a:solidFill>
                  <a:srgbClr val="33415C"/>
                </a:solidFill>
                <a:latin typeface="Malgun Gothic"/>
                <a:ea typeface="Malgun Gothic"/>
                <a:cs typeface="Malgun Gothic"/>
              </a:rPr>
              <a:t>· PDF를 뽑으면 관계가 끊어진다</a:t>
            </a:r>
          </a:p>
          <a:p>
            <a:pPr>
              <a:spcAft>
                <a:spcPts val="800"/>
              </a:spcAft>
            </a:pPr>
            <a:r>
              <a:rPr sz="1400" b="0">
                <a:solidFill>
                  <a:srgbClr val="33415C"/>
                </a:solidFill>
                <a:latin typeface="Malgun Gothic"/>
                <a:ea typeface="Malgun Gothic"/>
                <a:cs typeface="Malgun Gothic"/>
              </a:rPr>
              <a:t>· 틀린 답은 어느 단계에서 생길까</a:t>
            </a:r>
          </a:p>
        </p:txBody>
      </p:sp>
      <p:sp>
        <p:nvSpPr>
          <p:cNvPr id="35" name="Card 3"/>
          <p:cNvSpPr/>
          <p:nvPr/>
        </p:nvSpPr>
        <p:spPr>
          <a:xfrm>
            <a:off x="6187288" y="1737360"/>
            <a:ext cx="2636444" cy="3350000"/>
          </a:xfrm>
          <a:prstGeom prst="roundRect">
            <a:avLst>
              <a:gd name="adj" fmla="val 4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ard 3 title"/>
          <p:cNvSpPr txBox="1"/>
          <p:nvPr/>
        </p:nvSpPr>
        <p:spPr>
          <a:xfrm>
            <a:off x="6370168" y="1874520"/>
            <a:ext cx="2270684" cy="900000"/>
          </a:xfrm>
          <a:prstGeom prst="rect">
            <a:avLst/>
          </a:prstGeom>
          <a:noFill/>
        </p:spPr>
        <p:txBody>
          <a:bodyPr wrap="square">
            <a:spAutoFit/>
          </a:bodyPr>
          <a:lstStyle/>
          <a:p>
            <a:pPr>
              <a:spcAft>
                <a:spcPts val="0"/>
              </a:spcAft>
            </a:pPr>
            <a:r>
              <a:rPr sz="3000" b="1">
                <a:solidFill>
                  <a:srgbClr val="8F5208"/>
                </a:solidFill>
                <a:latin typeface="Malgun Gothic"/>
                <a:ea typeface="Malgun Gothic"/>
                <a:cs typeface="Malgun Gothic"/>
              </a:rPr>
              <a:t>3</a:t>
            </a:r>
          </a:p>
          <a:p>
            <a:pPr>
              <a:spcAft>
                <a:spcPts val="0"/>
              </a:spcAft>
            </a:pPr>
            <a:r>
              <a:rPr sz="2000" b="1">
                <a:solidFill>
                  <a:srgbClr val="0E1A2B"/>
                </a:solidFill>
                <a:latin typeface="Malgun Gothic"/>
                <a:ea typeface="Malgun Gothic"/>
                <a:cs typeface="Malgun Gothic"/>
              </a:rPr>
              <a:t>해결</a:t>
            </a:r>
          </a:p>
        </p:txBody>
      </p:sp>
      <p:sp>
        <p:nvSpPr>
          <p:cNvPr id="37" name="Card 3 time"/>
          <p:cNvSpPr/>
          <p:nvPr/>
        </p:nvSpPr>
        <p:spPr>
          <a:xfrm>
            <a:off x="6370168" y="2887360"/>
            <a:ext cx="1000000" cy="300000"/>
          </a:xfrm>
          <a:prstGeom prst="roundRect">
            <a:avLst>
              <a:gd name="adj" fmla="val 50000"/>
            </a:avLst>
          </a:prstGeom>
          <a:solidFill>
            <a:srgbClr val="E3F4F1"/>
          </a:solidFill>
          <a:ln>
            <a:solidFill>
              <a:srgbClr val="E3F4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D6F64"/>
                </a:solidFill>
                <a:latin typeface="Malgun Gothic"/>
                <a:ea typeface="Malgun Gothic"/>
                <a:cs typeface="Malgun Gothic"/>
              </a:rPr>
              <a:t>약 4.5분</a:t>
            </a:r>
          </a:p>
        </p:txBody>
      </p:sp>
      <p:sp>
        <p:nvSpPr>
          <p:cNvPr id="38" name="Card 3 items"/>
          <p:cNvSpPr txBox="1"/>
          <p:nvPr/>
        </p:nvSpPr>
        <p:spPr>
          <a:xfrm>
            <a:off x="6370168" y="3387360"/>
            <a:ext cx="2270684" cy="1600000"/>
          </a:xfrm>
          <a:prstGeom prst="rect">
            <a:avLst/>
          </a:prstGeom>
          <a:noFill/>
        </p:spPr>
        <p:txBody>
          <a:bodyPr wrap="square">
            <a:spAutoFit/>
          </a:bodyPr>
          <a:lstStyle/>
          <a:p>
            <a:pPr>
              <a:spcAft>
                <a:spcPts val="800"/>
              </a:spcAft>
            </a:pPr>
            <a:r>
              <a:rPr sz="1400" b="0">
                <a:solidFill>
                  <a:srgbClr val="33415C"/>
                </a:solidFill>
                <a:latin typeface="Malgun Gothic"/>
                <a:ea typeface="Malgun Gothic"/>
                <a:cs typeface="Malgun Gothic"/>
              </a:rPr>
              <a:t>· 조건과 근거를 관계로 저장</a:t>
            </a:r>
          </a:p>
          <a:p>
            <a:pPr>
              <a:spcAft>
                <a:spcPts val="800"/>
              </a:spcAft>
            </a:pPr>
            <a:r>
              <a:rPr sz="1400" b="0">
                <a:solidFill>
                  <a:srgbClr val="33415C"/>
                </a:solidFill>
                <a:latin typeface="Malgun Gothic"/>
                <a:ea typeface="Malgun Gothic"/>
                <a:cs typeface="Malgun Gothic"/>
              </a:rPr>
              <a:t>· 질문 하나에 조건·근거를 함께</a:t>
            </a:r>
          </a:p>
          <a:p>
            <a:pPr>
              <a:spcAft>
                <a:spcPts val="800"/>
              </a:spcAft>
            </a:pPr>
            <a:r>
              <a:rPr sz="1400" b="0">
                <a:solidFill>
                  <a:srgbClr val="33415C"/>
                </a:solidFill>
                <a:latin typeface="Malgun Gothic"/>
                <a:ea typeface="Malgun Gothic"/>
                <a:cs typeface="Malgun Gothic"/>
              </a:rPr>
              <a:t>· 여러 AI가 같은 정보를 조회</a:t>
            </a:r>
          </a:p>
        </p:txBody>
      </p:sp>
      <p:sp>
        <p:nvSpPr>
          <p:cNvPr id="39" name="Card 4"/>
          <p:cNvSpPr/>
          <p:nvPr/>
        </p:nvSpPr>
        <p:spPr>
          <a:xfrm>
            <a:off x="9006612" y="1737360"/>
            <a:ext cx="2636444" cy="3350000"/>
          </a:xfrm>
          <a:prstGeom prst="roundRect">
            <a:avLst>
              <a:gd name="adj" fmla="val 4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ard 4 title"/>
          <p:cNvSpPr txBox="1"/>
          <p:nvPr/>
        </p:nvSpPr>
        <p:spPr>
          <a:xfrm>
            <a:off x="9189492" y="1874520"/>
            <a:ext cx="2270684" cy="900000"/>
          </a:xfrm>
          <a:prstGeom prst="rect">
            <a:avLst/>
          </a:prstGeom>
          <a:noFill/>
        </p:spPr>
        <p:txBody>
          <a:bodyPr wrap="square">
            <a:spAutoFit/>
          </a:bodyPr>
          <a:lstStyle/>
          <a:p>
            <a:pPr>
              <a:spcAft>
                <a:spcPts val="0"/>
              </a:spcAft>
            </a:pPr>
            <a:r>
              <a:rPr sz="3000" b="1">
                <a:solidFill>
                  <a:srgbClr val="8F5208"/>
                </a:solidFill>
                <a:latin typeface="Malgun Gothic"/>
                <a:ea typeface="Malgun Gothic"/>
                <a:cs typeface="Malgun Gothic"/>
              </a:rPr>
              <a:t>4</a:t>
            </a:r>
          </a:p>
          <a:p>
            <a:pPr>
              <a:spcAft>
                <a:spcPts val="0"/>
              </a:spcAft>
            </a:pPr>
            <a:r>
              <a:rPr sz="2000" b="1">
                <a:solidFill>
                  <a:srgbClr val="0E1A2B"/>
                </a:solidFill>
                <a:latin typeface="Malgun Gothic"/>
                <a:ea typeface="Malgun Gothic"/>
                <a:cs typeface="Malgun Gothic"/>
              </a:rPr>
              <a:t>현황·결론</a:t>
            </a:r>
          </a:p>
        </p:txBody>
      </p:sp>
      <p:sp>
        <p:nvSpPr>
          <p:cNvPr id="41" name="Card 4 time"/>
          <p:cNvSpPr/>
          <p:nvPr/>
        </p:nvSpPr>
        <p:spPr>
          <a:xfrm>
            <a:off x="9189492" y="2887360"/>
            <a:ext cx="1000000" cy="300000"/>
          </a:xfrm>
          <a:prstGeom prst="roundRect">
            <a:avLst>
              <a:gd name="adj" fmla="val 50000"/>
            </a:avLst>
          </a:prstGeom>
          <a:solidFill>
            <a:srgbClr val="E3F4F1"/>
          </a:solidFill>
          <a:ln>
            <a:solidFill>
              <a:srgbClr val="E3F4F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D6F64"/>
                </a:solidFill>
                <a:latin typeface="Malgun Gothic"/>
                <a:ea typeface="Malgun Gothic"/>
                <a:cs typeface="Malgun Gothic"/>
              </a:rPr>
              <a:t>약 1.5분</a:t>
            </a:r>
          </a:p>
        </p:txBody>
      </p:sp>
      <p:sp>
        <p:nvSpPr>
          <p:cNvPr id="42" name="Card 4 items"/>
          <p:cNvSpPr txBox="1"/>
          <p:nvPr/>
        </p:nvSpPr>
        <p:spPr>
          <a:xfrm>
            <a:off x="9189492" y="3387360"/>
            <a:ext cx="2270684" cy="1600000"/>
          </a:xfrm>
          <a:prstGeom prst="rect">
            <a:avLst/>
          </a:prstGeom>
          <a:noFill/>
        </p:spPr>
        <p:txBody>
          <a:bodyPr wrap="square">
            <a:spAutoFit/>
          </a:bodyPr>
          <a:lstStyle/>
          <a:p>
            <a:pPr>
              <a:spcAft>
                <a:spcPts val="800"/>
              </a:spcAft>
            </a:pPr>
            <a:r>
              <a:rPr sz="1400" b="0">
                <a:solidFill>
                  <a:srgbClr val="33415C"/>
                </a:solidFill>
                <a:latin typeface="Malgun Gothic"/>
                <a:ea typeface="Malgun Gothic"/>
                <a:cs typeface="Malgun Gothic"/>
              </a:rPr>
              <a:t>· 된 것, 아직 안 된 것</a:t>
            </a:r>
          </a:p>
          <a:p>
            <a:pPr>
              <a:spcAft>
                <a:spcPts val="800"/>
              </a:spcAft>
            </a:pPr>
            <a:r>
              <a:rPr sz="1400" b="0">
                <a:solidFill>
                  <a:srgbClr val="33415C"/>
                </a:solidFill>
                <a:latin typeface="Malgun Gothic"/>
                <a:ea typeface="Malgun Gothic"/>
                <a:cs typeface="Malgun Gothic"/>
              </a:rPr>
              <a:t>· 한계와 다음 할 일</a:t>
            </a:r>
          </a:p>
        </p:txBody>
      </p:sp>
      <p:sp>
        <p:nvSpPr>
          <p:cNvPr id="43" name="TOC footer"/>
          <p:cNvSpPr txBox="1"/>
          <p:nvPr/>
        </p:nvSpPr>
        <p:spPr>
          <a:xfrm>
            <a:off x="548640" y="5400000"/>
            <a:ext cx="11094415" cy="400000"/>
          </a:xfrm>
          <a:prstGeom prst="rect">
            <a:avLst/>
          </a:prstGeom>
          <a:noFill/>
        </p:spPr>
        <p:txBody>
          <a:bodyPr wrap="square">
            <a:spAutoFit/>
          </a:bodyPr>
          <a:lstStyle/>
          <a:p>
            <a:pPr>
              <a:spcAft>
                <a:spcPts val="0"/>
              </a:spcAft>
            </a:pPr>
            <a:r>
              <a:rPr sz="1400" b="0">
                <a:solidFill>
                  <a:srgbClr val="33415C"/>
                </a:solidFill>
                <a:latin typeface="Malgun Gothic"/>
                <a:ea typeface="Malgun Gothic"/>
                <a:cs typeface="Malgun Gothic"/>
              </a:rPr>
              <a:t>발표 약 14분 + 질의응답 약 5분  ·  표·비교·상세 근거는 부록 A~K에 있습니다</a:t>
            </a:r>
          </a:p>
        </p:txBody>
      </p:sp>
      <p:sp>
        <p:nvSpPr>
          <p:cNvPr id="26"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L   PDF 추출 검증 상세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PDF에서 숫자는 읽혀도, 조건 사이의 관계는 쉽게 끊어집니다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검증 수행</a:t>
            </a:r>
            <a:endParaRPr lang="en-US" sz="1100" dirty="0"/>
          </a:p>
        </p:txBody>
      </p:sp>
      <p:sp>
        <p:nvSpPr>
          <p:cNvPr id="5" name="Text 3"/>
          <p:cNvSpPr txBox="1"/>
          <p:nvPr/>
        </p:nvSpPr>
        <p:spPr>
          <a:xfrm>
            <a:off x="548640" y="1691640"/>
            <a:ext cx="502920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원문 PDF 표 — BT · BIG TICKET (도식)</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029200" cy="914400"/>
        </p:xfrm>
        <a:graphic>
          <a:graphicData uri="http://schemas.openxmlformats.org/drawingml/2006/table">
            <a:tbl>
              <a:tblPr/>
              <a:tblGrid>
                <a:gridCol w="1645920"/>
                <a:gridCol w="1280160"/>
                <a:gridCol w="2103120"/>
              </a:tblGrid>
              <a:tr h="329184">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이용금액 구간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할인율</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월 할인한도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1</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rowSpan="4">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300만원 · 한도 없음</a:t>
                      </a:r>
                      <a:endParaRPr lang="en-US" sz="1300" dirty="0">
                        <a:latin typeface="Malgun Gothic" charset="0"/>
                        <a:ea typeface="Malgun Gothic" charset="0"/>
                        <a:cs typeface="Malgun Gothic" charset="0"/>
                      </a:endParaRPr>
                    </a:p>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(구간별로 대응)</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3</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1.0%</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r h="329184">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구간 4</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rgbClr val="1A2433"/>
                          </a:solidFill>
                          <a:latin typeface="Malgun Gothic" pitchFamily="34" charset="0"/>
                          <a:ea typeface="Malgun Gothic" pitchFamily="34" charset="-122"/>
                          <a:cs typeface="Malgun Gothic" pitchFamily="34" charset="-120"/>
                        </a:rPr>
                        <a:t>0.5%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cPr/>
                </a:tc>
              </a:tr>
            </a:tbl>
          </a:graphicData>
        </a:graphic>
      </p:graphicFrame>
      <p:sp>
        <p:nvSpPr>
          <p:cNvPr id="7" name="Shape 4"/>
          <p:cNvSpPr/>
          <p:nvPr/>
        </p:nvSpPr>
        <p:spPr>
          <a:xfrm>
            <a:off x="5669280" y="2834640"/>
            <a:ext cx="457200" cy="0"/>
          </a:xfrm>
          <a:prstGeom prst="line">
            <a:avLst/>
          </a:prstGeom>
          <a:noFill/>
          <a:ln w="19050">
            <a:solidFill>
              <a:srgbClr val="3A4A60"/>
            </a:solidFill>
            <a:prstDash val="solid"/>
            <a:tailEnd type="triangle"/>
          </a:ln>
        </p:spPr>
      </p:sp>
      <p:sp>
        <p:nvSpPr>
          <p:cNvPr id="8" name="Text 5"/>
          <p:cNvSpPr txBox="1"/>
          <p:nvPr/>
        </p:nvSpPr>
        <p:spPr>
          <a:xfrm>
            <a:off x="6199632" y="1691640"/>
            <a:ext cx="5440680"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자동 추출 결과 (기본 설정)</a:t>
            </a:r>
            <a:endParaRPr lang="en-US" sz="1300" dirty="0"/>
          </a:p>
        </p:txBody>
      </p:sp>
      <p:sp>
        <p:nvSpPr>
          <p:cNvPr id="9" name="Text 6"/>
          <p:cNvSpPr txBox="1"/>
          <p:nvPr/>
        </p:nvSpPr>
        <p:spPr>
          <a:xfrm>
            <a:off x="6199632" y="2011680"/>
            <a:ext cx="5440680" cy="1051560"/>
          </a:xfrm>
          <a:prstGeom prst="roundRect">
            <a:avLst>
              <a:gd name="adj" fmla="val 6957"/>
            </a:avLst>
          </a:prstGeom>
          <a:solidFill>
            <a:srgbClr val="0E1A2B"/>
          </a:solidFill>
          <a:ln>
            <a:solidFill>
              <a:srgbClr val="0E1A2B"/>
            </a:solidFill>
          </a:ln>
        </p:spPr>
        <p:txBody>
          <a:bodyPr wrap="square" lIns="152400" tIns="152400" rIns="152400" bIns="152400" rtlCol="0" anchor="ctr"/>
          <a:lstStyle/>
          <a:p>
            <a:pPr algn="l" indent="0" marL="0">
              <a:buNone/>
            </a:pPr>
            <a:r>
              <a:rPr lang="en-US" sz="1300" dirty="0">
                <a:solidFill>
                  <a:srgbClr val="E6ECF4"/>
                </a:solidFill>
                <a:latin typeface="Courier New" pitchFamily="34" charset="0"/>
                <a:ea typeface="Courier New" pitchFamily="34" charset="-122"/>
                <a:cs typeface="Courier New" pitchFamily="34" charset="-120"/>
              </a:rPr>
              <a:t>['할인율', '월 할인한도']</a:t>
            </a:r>
            <a:endParaRPr lang="en-US" sz="1300" dirty="0"/>
          </a:p>
          <a:p>
            <a:pPr algn="l" indent="0" marL="0">
              <a:buNone/>
            </a:pPr>
            <a:r>
              <a:rPr lang="en-US" sz="1300" dirty="0">
                <a:solidFill>
                  <a:srgbClr val="E6ECF4"/>
                </a:solidFill>
                <a:latin typeface="Courier New" pitchFamily="34" charset="0"/>
                <a:ea typeface="Courier New" pitchFamily="34" charset="-122"/>
                <a:cs typeface="Courier New" pitchFamily="34" charset="-120"/>
              </a:rPr>
              <a:t>['1.5%\n1.2%\n1.0%\n0.5%', '300만원\n한도 없음']</a:t>
            </a:r>
            <a:endParaRPr lang="en-US" sz="1300" dirty="0"/>
          </a:p>
        </p:txBody>
      </p:sp>
      <p:sp>
        <p:nvSpPr>
          <p:cNvPr id="10" name="Text 7"/>
          <p:cNvSpPr txBox="1"/>
          <p:nvPr/>
        </p:nvSpPr>
        <p:spPr>
          <a:xfrm>
            <a:off x="6199632" y="3154680"/>
            <a:ext cx="5440680" cy="457200"/>
          </a:xfrm>
          <a:prstGeom prst="rect">
            <a:avLst/>
          </a:prstGeom>
          <a:noFill/>
          <a:ln/>
        </p:spPr>
        <p:txBody>
          <a:bodyPr wrap="square" lIns="0" tIns="0" rIns="0" bIns="0" rtlCol="0" anchor="t"/>
          <a:lstStyle/>
          <a:p>
            <a:pPr indent="0" marL="0">
              <a:buNone/>
            </a:pPr>
            <a:r>
              <a:rPr lang="en-US" sz="1400" b="1" dirty="0">
                <a:solidFill>
                  <a:srgbClr val="A8311A"/>
                </a:solidFill>
                <a:latin typeface="Malgun Gothic" pitchFamily="34" charset="0"/>
                <a:ea typeface="Malgun Gothic" pitchFamily="34" charset="-122"/>
                <a:cs typeface="Malgun Gothic" pitchFamily="34" charset="-120"/>
              </a:rPr>
              <a:t>→ 이용금액 구간 열이 사라지고, 할인율 4개가 한 셀로 묶임</a:t>
            </a:r>
            <a:endParaRPr lang="en-US" sz="1400" dirty="0"/>
          </a:p>
        </p:txBody>
      </p:sp>
      <p:sp>
        <p:nvSpPr>
          <p:cNvPr id="11" name="Text 8"/>
          <p:cNvSpPr txBox="1"/>
          <p:nvPr/>
        </p:nvSpPr>
        <p:spPr>
          <a:xfrm>
            <a:off x="548640" y="3977640"/>
            <a:ext cx="2194560" cy="365760"/>
          </a:xfrm>
          <a:prstGeom prst="rect">
            <a:avLst/>
          </a:prstGeom>
          <a:noFill/>
          <a:ln/>
        </p:spPr>
        <p:txBody>
          <a:bodyPr wrap="square" lIns="0" tIns="0" rIns="0" bIns="0" rtlCol="0" anchor="ctr"/>
          <a:lstStyle/>
          <a:p>
            <a:pPr indent="0" marL="0">
              <a:buNone/>
            </a:pPr>
            <a:r>
              <a:rPr lang="en-US" sz="1300" b="1" dirty="0">
                <a:solidFill>
                  <a:srgbClr val="0D6F64"/>
                </a:solidFill>
                <a:latin typeface="Malgun Gothic" pitchFamily="34" charset="0"/>
                <a:ea typeface="Malgun Gothic" pitchFamily="34" charset="-122"/>
                <a:cs typeface="Malgun Gothic" pitchFamily="34" charset="-120"/>
              </a:rPr>
              <a:t>같은 검증에서 확인한 사실</a:t>
            </a:r>
            <a:endParaRPr lang="en-US" sz="1300" dirty="0"/>
          </a:p>
        </p:txBody>
      </p:sp>
      <p:sp>
        <p:nvSpPr>
          <p:cNvPr id="12" name="Text 9"/>
          <p:cNvSpPr txBox="1"/>
          <p:nvPr/>
        </p:nvSpPr>
        <p:spPr>
          <a:xfrm>
            <a:off x="2834640"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STYLE·PLAY: 기본 표 탐지 0개</a:t>
            </a:r>
            <a:endParaRPr lang="en-US" sz="1300" dirty="0"/>
          </a:p>
        </p:txBody>
      </p:sp>
      <p:sp>
        <p:nvSpPr>
          <p:cNvPr id="13" name="Text 10"/>
          <p:cNvSpPr txBox="1"/>
          <p:nvPr/>
        </p:nvSpPr>
        <p:spPr>
          <a:xfrm>
            <a:off x="5816498"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에너지 더블: 가맹점 열이 None</a:t>
            </a:r>
            <a:endParaRPr lang="en-US" sz="1300" dirty="0"/>
          </a:p>
        </p:txBody>
      </p:sp>
      <p:sp>
        <p:nvSpPr>
          <p:cNvPr id="14" name="Text 11"/>
          <p:cNvSpPr txBox="1"/>
          <p:nvPr/>
        </p:nvSpPr>
        <p:spPr>
          <a:xfrm>
            <a:off x="8798357"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‘월 5천원’이 혜택 3곳에 반복</a:t>
            </a:r>
            <a:endParaRPr lang="en-US" sz="1300" dirty="0"/>
          </a:p>
        </p:txBody>
      </p:sp>
      <p:sp>
        <p:nvSpPr>
          <p:cNvPr id="15" name="Text 12"/>
          <p:cNvSpPr txBox="1"/>
          <p:nvPr/>
        </p:nvSpPr>
        <p:spPr>
          <a:xfrm>
            <a:off x="548640" y="4480560"/>
            <a:ext cx="2194560" cy="365760"/>
          </a:xfrm>
          <a:prstGeom prst="rect">
            <a:avLst/>
          </a:prstGeom>
          <a:noFill/>
          <a:ln/>
        </p:spPr>
        <p:txBody>
          <a:bodyPr wrap="square" lIns="0" tIns="0" rIns="0" bIns="0" rtlCol="0" anchor="ctr"/>
          <a:lstStyle/>
          <a:p>
            <a:pPr indent="0" marL="0">
              <a:buNone/>
            </a:pPr>
            <a:r>
              <a:rPr lang="en-US" sz="1300" b="1" dirty="0">
                <a:solidFill>
                  <a:srgbClr val="3A4A60"/>
                </a:solidFill>
                <a:latin typeface="Malgun Gothic" pitchFamily="34" charset="0"/>
                <a:ea typeface="Malgun Gothic" pitchFamily="34" charset="-122"/>
                <a:cs typeface="Malgun Gothic" pitchFamily="34" charset="-120"/>
              </a:rPr>
              <a:t>예상 위험 (미검증)</a:t>
            </a:r>
            <a:endParaRPr lang="en-US" sz="1300" dirty="0"/>
          </a:p>
        </p:txBody>
      </p:sp>
      <p:sp>
        <p:nvSpPr>
          <p:cNvPr id="16" name="Text 13"/>
          <p:cNvSpPr txBox="1"/>
          <p:nvPr/>
        </p:nvSpPr>
        <p:spPr>
          <a:xfrm>
            <a:off x="2834640"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혜택–조건 잘못 연결</a:t>
            </a:r>
            <a:endParaRPr lang="en-US" sz="1300" dirty="0"/>
          </a:p>
        </p:txBody>
      </p:sp>
      <p:sp>
        <p:nvSpPr>
          <p:cNvPr id="17" name="Text 14"/>
          <p:cNvSpPr txBox="1"/>
          <p:nvPr/>
        </p:nvSpPr>
        <p:spPr>
          <a:xfrm>
            <a:off x="5816498"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비슷한 문구를 같은 규칙으로 병합</a:t>
            </a:r>
            <a:endParaRPr lang="en-US" sz="1300" dirty="0"/>
          </a:p>
        </p:txBody>
      </p:sp>
      <p:sp>
        <p:nvSpPr>
          <p:cNvPr id="18" name="Text 15"/>
          <p:cNvSpPr txBox="1"/>
          <p:nvPr/>
        </p:nvSpPr>
        <p:spPr>
          <a:xfrm>
            <a:off x="8798357"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algn="ctr" indent="0" marL="0">
              <a:buNone/>
            </a:pPr>
            <a:r>
              <a:rPr lang="en-US" sz="1300" b="1" dirty="0">
                <a:solidFill>
                  <a:srgbClr val="3A4A60"/>
                </a:solidFill>
                <a:latin typeface="Malgun Gothic" pitchFamily="34" charset="0"/>
                <a:ea typeface="Malgun Gothic" pitchFamily="34" charset="-122"/>
                <a:cs typeface="Malgun Gothic" pitchFamily="34" charset="-120"/>
              </a:rPr>
              <a:t>한도와 구간의 대응 손실</a:t>
            </a:r>
            <a:endParaRPr lang="en-US" sz="1300" dirty="0"/>
          </a:p>
        </p:txBody>
      </p:sp>
      <p:sp>
        <p:nvSpPr>
          <p:cNvPr id="19" name="Text 16"/>
          <p:cNvSpPr txBox="1"/>
          <p:nvPr/>
        </p:nvSpPr>
        <p:spPr>
          <a:xfrm>
            <a:off x="548640" y="5029200"/>
            <a:ext cx="11094415" cy="566928"/>
          </a:xfrm>
          <a:prstGeom prst="roundRect">
            <a:avLst>
              <a:gd name="adj" fmla="val 12903"/>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200" dirty="0">
                <a:solidFill>
                  <a:srgbClr val="3A4A60"/>
                </a:solidFill>
                <a:latin typeface="Malgun Gothic" pitchFamily="34" charset="0"/>
                <a:ea typeface="Malgun Gothic" pitchFamily="34" charset="-122"/>
                <a:cs typeface="Malgun Gothic" pitchFamily="34" charset="-120"/>
              </a:rPr>
              <a:t>기본 설정의 표본 결과입니다. 파서 설정·OCR·수작업 보정으로 달라질 수 있습니다.</a:t>
            </a:r>
            <a:endParaRPr lang="en-US" sz="1200" dirty="0"/>
          </a:p>
        </p:txBody>
      </p:sp>
      <p:sp>
        <p:nvSpPr>
          <p:cNvPr id="20" name="Text 17"/>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팀 검증 2026-10-29 (대표 페이지 원문 이미지 대조) · 왼쪽 표는 단순화한 도식</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M   MCP 도구·범위 상세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여러 AI가 같은 공식 정보를 조회하도록 MCP로 연결합니다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목표</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45920"/>
            <a:ext cx="11094415" cy="411480"/>
          </a:xfrm>
          <a:prstGeom prst="roundRect">
            <a:avLst>
              <a:gd name="adj" fmla="val 17778"/>
            </a:avLst>
          </a:prstGeom>
          <a:solidFill>
            <a:srgbClr val="FDF0DC"/>
          </a:solidFill>
          <a:ln>
            <a:solidFill>
              <a:srgbClr val="FDF0DC"/>
            </a:solidFill>
          </a:ln>
        </p:spPr>
        <p:txBody>
          <a:bodyPr wrap="square" lIns="152400" tIns="152400" rIns="152400" bIns="152400" rtlCol="0" anchor="ctr"/>
          <a:lstStyle/>
          <a:p>
            <a:pPr algn="l" indent="0" marL="0">
              <a:buNone/>
            </a:pPr>
            <a:r>
              <a:rPr lang="en-US" sz="1400" b="1" dirty="0">
                <a:solidFill>
                  <a:srgbClr val="8F5208"/>
                </a:solidFill>
                <a:latin typeface="Malgun Gothic" pitchFamily="34" charset="0"/>
                <a:ea typeface="Malgun Gothic" pitchFamily="34" charset="-122"/>
                <a:cs typeface="Malgun Gothic" pitchFamily="34" charset="-120"/>
              </a:rPr>
              <a:t>MCP  </a:t>
            </a:r>
            <a:pPr algn="l" indent="0" marL="0">
              <a:buNone/>
            </a:pPr>
            <a:r>
              <a:rPr lang="en-US" sz="1400" dirty="0">
                <a:solidFill>
                  <a:srgbClr val="1A2433"/>
                </a:solidFill>
                <a:latin typeface="Malgun Gothic" pitchFamily="34" charset="0"/>
                <a:ea typeface="Malgun Gothic" pitchFamily="34" charset="-122"/>
                <a:cs typeface="Malgun Gothic" pitchFamily="34" charset="-120"/>
              </a:rPr>
              <a:t>“AI가 외부 서비스와 연결돼 실제 데이터를 주고받을 수 있게 하는 표준 방식” </a:t>
            </a:r>
            <a:pPr algn="l" indent="0" marL="0">
              <a:buNone/>
            </a:pPr>
            <a:r>
              <a:rPr lang="en-US" sz="1100" dirty="0">
                <a:solidFill>
                  <a:srgbClr val="5B6778"/>
                </a:solidFill>
                <a:latin typeface="Malgun Gothic" pitchFamily="34" charset="0"/>
                <a:ea typeface="Malgun Gothic" pitchFamily="34" charset="-122"/>
                <a:cs typeface="Malgun Gothic" pitchFamily="34" charset="-120"/>
              </a:rPr>
              <a:t>— 신한카드 2026-09-13 보도자료 설명</a:t>
            </a:r>
            <a:endParaRPr lang="en-US" sz="1400" dirty="0"/>
          </a:p>
        </p:txBody>
      </p:sp>
      <p:sp>
        <p:nvSpPr>
          <p:cNvPr id="7" name="Text 5"/>
          <p:cNvSpPr txBox="1"/>
          <p:nvPr/>
        </p:nvSpPr>
        <p:spPr>
          <a:xfrm>
            <a:off x="548640" y="2084832"/>
            <a:ext cx="237744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AI 클라이언트</a:t>
            </a:r>
            <a:endParaRPr lang="en-US" sz="1200" dirty="0"/>
          </a:p>
        </p:txBody>
      </p:sp>
      <p:sp>
        <p:nvSpPr>
          <p:cNvPr id="8" name="Text 6"/>
          <p:cNvSpPr txBox="1"/>
          <p:nvPr/>
        </p:nvSpPr>
        <p:spPr>
          <a:xfrm>
            <a:off x="548640" y="2377440"/>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외부 AI 서비스</a:t>
            </a:r>
            <a:endParaRPr lang="en-US" sz="1400" dirty="0"/>
          </a:p>
        </p:txBody>
      </p:sp>
      <p:sp>
        <p:nvSpPr>
          <p:cNvPr id="9" name="Text 7"/>
          <p:cNvSpPr txBox="1"/>
          <p:nvPr/>
        </p:nvSpPr>
        <p:spPr>
          <a:xfrm>
            <a:off x="548640" y="3035808"/>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자사 AI 상담</a:t>
            </a:r>
            <a:endParaRPr lang="en-US" sz="1400" dirty="0"/>
          </a:p>
        </p:txBody>
      </p:sp>
      <p:sp>
        <p:nvSpPr>
          <p:cNvPr id="10" name="Text 8"/>
          <p:cNvSpPr txBox="1"/>
          <p:nvPr/>
        </p:nvSpPr>
        <p:spPr>
          <a:xfrm>
            <a:off x="548640" y="3694176"/>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내부 상담·검토 AI</a:t>
            </a:r>
            <a:endParaRPr lang="en-US" sz="1400" dirty="0"/>
          </a:p>
        </p:txBody>
      </p:sp>
      <p:sp>
        <p:nvSpPr>
          <p:cNvPr id="11" name="Text 9"/>
          <p:cNvSpPr txBox="1"/>
          <p:nvPr/>
        </p:nvSpPr>
        <p:spPr>
          <a:xfrm>
            <a:off x="3429000" y="2084832"/>
            <a:ext cx="2743200" cy="256032"/>
          </a:xfrm>
          <a:prstGeom prst="rect">
            <a:avLst/>
          </a:prstGeom>
          <a:noFill/>
          <a:ln/>
        </p:spPr>
        <p:txBody>
          <a:bodyPr wrap="square" lIns="0" tIns="0" rIns="0" bIns="0" rtlCol="0" anchor="t"/>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연결 계층 · 판단 로직 없음</a:t>
            </a:r>
            <a:endParaRPr lang="en-US" sz="1200" dirty="0"/>
          </a:p>
        </p:txBody>
      </p:sp>
      <p:sp>
        <p:nvSpPr>
          <p:cNvPr id="12" name="Text 10"/>
          <p:cNvSpPr txBox="1"/>
          <p:nvPr/>
        </p:nvSpPr>
        <p:spPr>
          <a:xfrm>
            <a:off x="3429000" y="2377440"/>
            <a:ext cx="2651760" cy="868680"/>
          </a:xfrm>
          <a:prstGeom prst="roundRect">
            <a:avLst>
              <a:gd name="adj" fmla="val 8421"/>
            </a:avLst>
          </a:prstGeom>
          <a:solidFill>
            <a:srgbClr val="FFFFFF"/>
          </a:solidFill>
          <a:ln w="25400">
            <a:solidFill>
              <a:srgbClr val="E8A33D"/>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MCP 서버</a:t>
            </a:r>
            <a:endParaRPr lang="en-US" sz="13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외부 AI용</a:t>
            </a:r>
            <a:endParaRPr lang="en-US" sz="1300" dirty="0"/>
          </a:p>
        </p:txBody>
      </p:sp>
      <p:sp>
        <p:nvSpPr>
          <p:cNvPr id="13" name="Text 11"/>
          <p:cNvSpPr txBox="1"/>
          <p:nvPr/>
        </p:nvSpPr>
        <p:spPr>
          <a:xfrm>
            <a:off x="3429000" y="3383280"/>
            <a:ext cx="2651760" cy="868680"/>
          </a:xfrm>
          <a:prstGeom prst="roundRect">
            <a:avLst>
              <a:gd name="adj" fmla="val 8421"/>
            </a:avLst>
          </a:prstGeom>
          <a:solidFill>
            <a:srgbClr val="FFFFFF"/>
          </a:solidFill>
          <a:ln w="15875">
            <a:solidFill>
              <a:srgbClr val="3A4A60"/>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내부 API</a:t>
            </a:r>
            <a:endParaRPr lang="en-US" sz="13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자사 시스템용</a:t>
            </a:r>
            <a:endParaRPr lang="en-US" sz="1300" dirty="0"/>
          </a:p>
        </p:txBody>
      </p:sp>
      <p:sp>
        <p:nvSpPr>
          <p:cNvPr id="14" name="Shape 12"/>
          <p:cNvSpPr/>
          <p:nvPr/>
        </p:nvSpPr>
        <p:spPr>
          <a:xfrm>
            <a:off x="2944368" y="2651760"/>
            <a:ext cx="457200" cy="137160"/>
          </a:xfrm>
          <a:prstGeom prst="line">
            <a:avLst/>
          </a:prstGeom>
          <a:noFill/>
          <a:ln w="19050">
            <a:solidFill>
              <a:srgbClr val="8A94A3"/>
            </a:solidFill>
            <a:prstDash val="solid"/>
            <a:tailEnd type="triangle"/>
          </a:ln>
        </p:spPr>
      </p:sp>
      <p:sp>
        <p:nvSpPr>
          <p:cNvPr id="15" name="Shape 13"/>
          <p:cNvSpPr/>
          <p:nvPr/>
        </p:nvSpPr>
        <p:spPr>
          <a:xfrm>
            <a:off x="2944368" y="3310128"/>
            <a:ext cx="457200" cy="502920"/>
          </a:xfrm>
          <a:prstGeom prst="line">
            <a:avLst/>
          </a:prstGeom>
          <a:noFill/>
          <a:ln w="19050">
            <a:solidFill>
              <a:srgbClr val="8A94A3"/>
            </a:solidFill>
            <a:prstDash val="solid"/>
            <a:tailEnd type="triangle"/>
          </a:ln>
        </p:spPr>
      </p:sp>
      <p:sp>
        <p:nvSpPr>
          <p:cNvPr id="16" name="Shape 14"/>
          <p:cNvSpPr/>
          <p:nvPr/>
        </p:nvSpPr>
        <p:spPr>
          <a:xfrm>
            <a:off x="2944368" y="3968496"/>
            <a:ext cx="457200" cy="-155448"/>
          </a:xfrm>
          <a:prstGeom prst="line">
            <a:avLst/>
          </a:prstGeom>
          <a:noFill/>
          <a:ln w="19050">
            <a:solidFill>
              <a:srgbClr val="8A94A3"/>
            </a:solidFill>
            <a:prstDash val="solid"/>
            <a:tailEnd type="triangle"/>
          </a:ln>
        </p:spPr>
      </p:sp>
      <p:sp>
        <p:nvSpPr>
          <p:cNvPr id="17" name="Text 15"/>
          <p:cNvSpPr txBox="1"/>
          <p:nvPr/>
        </p:nvSpPr>
        <p:spPr>
          <a:xfrm>
            <a:off x="6492240" y="2377440"/>
            <a:ext cx="2514600" cy="1874520"/>
          </a:xfrm>
          <a:prstGeom prst="roundRect">
            <a:avLst>
              <a:gd name="adj" fmla="val 3902"/>
            </a:avLst>
          </a:prstGeom>
          <a:solidFill>
            <a:srgbClr val="159A8C"/>
          </a:solidFill>
          <a:ln>
            <a:solidFill>
              <a:srgbClr val="159A8C"/>
            </a:solidFill>
          </a:ln>
        </p:spPr>
        <p:txBody>
          <a:bodyPr wrap="square" lIns="76200" tIns="76200" rIns="76200" bIns="762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공통 GraphRAG 엔진</a:t>
            </a:r>
            <a:endParaRPr lang="en-US" sz="1300" dirty="0"/>
          </a:p>
          <a:p>
            <a:pPr algn="ctr" indent="0" marL="0">
              <a:buNone/>
            </a:pPr>
            <a:r>
              <a:rPr lang="en-US" sz="1200" dirty="0">
                <a:solidFill>
                  <a:srgbClr val="FFFFFF"/>
                </a:solidFill>
                <a:latin typeface="Malgun Gothic" pitchFamily="34" charset="0"/>
                <a:ea typeface="Malgun Gothic" pitchFamily="34" charset="-122"/>
                <a:cs typeface="Malgun Gothic" pitchFamily="34" charset="-120"/>
              </a:rPr>
              <a:t>질문 해석 · 관계 검색</a:t>
            </a:r>
            <a:endParaRPr lang="en-US" sz="1300" dirty="0"/>
          </a:p>
          <a:p>
            <a:pPr algn="ctr" indent="0" marL="0">
              <a:buNone/>
            </a:pPr>
            <a:r>
              <a:rPr lang="en-US" sz="1200" dirty="0">
                <a:solidFill>
                  <a:srgbClr val="FFFFFF"/>
                </a:solidFill>
                <a:latin typeface="Malgun Gothic" pitchFamily="34" charset="0"/>
                <a:ea typeface="Malgun Gothic" pitchFamily="34" charset="-122"/>
                <a:cs typeface="Malgun Gothic" pitchFamily="34" charset="-120"/>
              </a:rPr>
              <a:t>근거 기반 답변</a:t>
            </a:r>
            <a:endParaRPr lang="en-US" sz="1300" dirty="0"/>
          </a:p>
        </p:txBody>
      </p:sp>
      <p:sp>
        <p:nvSpPr>
          <p:cNvPr id="18" name="Shape 16"/>
          <p:cNvSpPr/>
          <p:nvPr/>
        </p:nvSpPr>
        <p:spPr>
          <a:xfrm>
            <a:off x="6108192" y="2816352"/>
            <a:ext cx="356616" cy="0"/>
          </a:xfrm>
          <a:prstGeom prst="line">
            <a:avLst/>
          </a:prstGeom>
          <a:noFill/>
          <a:ln w="19050">
            <a:solidFill>
              <a:srgbClr val="8A94A3"/>
            </a:solidFill>
            <a:prstDash val="solid"/>
            <a:tailEnd type="triangle"/>
          </a:ln>
        </p:spPr>
      </p:sp>
      <p:sp>
        <p:nvSpPr>
          <p:cNvPr id="19" name="Shape 17"/>
          <p:cNvSpPr/>
          <p:nvPr/>
        </p:nvSpPr>
        <p:spPr>
          <a:xfrm>
            <a:off x="6108192" y="3822192"/>
            <a:ext cx="356616" cy="0"/>
          </a:xfrm>
          <a:prstGeom prst="line">
            <a:avLst/>
          </a:prstGeom>
          <a:noFill/>
          <a:ln w="19050">
            <a:solidFill>
              <a:srgbClr val="8A94A3"/>
            </a:solidFill>
            <a:prstDash val="solid"/>
            <a:tailEnd type="triangle"/>
          </a:ln>
        </p:spPr>
      </p:sp>
      <p:sp>
        <p:nvSpPr>
          <p:cNvPr id="20" name="Text 18"/>
          <p:cNvSpPr txBox="1"/>
          <p:nvPr/>
        </p:nvSpPr>
        <p:spPr>
          <a:xfrm>
            <a:off x="9326880" y="2377440"/>
            <a:ext cx="2316175" cy="1874520"/>
          </a:xfrm>
          <a:prstGeom prst="roundRect">
            <a:avLst>
              <a:gd name="adj" fmla="val 3902"/>
            </a:avLst>
          </a:prstGeom>
          <a:solidFill>
            <a:srgbClr val="6A4FB0"/>
          </a:solidFill>
          <a:ln>
            <a:solidFill>
              <a:srgbClr val="6A4FB0"/>
            </a:solidFill>
          </a:ln>
        </p:spPr>
        <p:txBody>
          <a:bodyPr wrap="square" lIns="76200" tIns="76200" rIns="76200" bIns="762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공식 혜택·조건</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원문 근거</a:t>
            </a:r>
            <a:endParaRPr lang="en-US" sz="1600" dirty="0"/>
          </a:p>
        </p:txBody>
      </p:sp>
      <p:sp>
        <p:nvSpPr>
          <p:cNvPr id="21" name="Shape 19"/>
          <p:cNvSpPr/>
          <p:nvPr/>
        </p:nvSpPr>
        <p:spPr>
          <a:xfrm>
            <a:off x="9034272" y="3310128"/>
            <a:ext cx="265176" cy="0"/>
          </a:xfrm>
          <a:prstGeom prst="line">
            <a:avLst/>
          </a:prstGeom>
          <a:noFill/>
          <a:ln w="19050">
            <a:solidFill>
              <a:srgbClr val="8A94A3"/>
            </a:solidFill>
            <a:prstDash val="solid"/>
            <a:tailEnd type="triangle"/>
          </a:ln>
        </p:spPr>
      </p:sp>
      <p:sp>
        <p:nvSpPr>
          <p:cNvPr id="22" name="Text 20"/>
          <p:cNvSpPr txBox="1"/>
          <p:nvPr/>
        </p:nvSpPr>
        <p:spPr>
          <a:xfrm>
            <a:off x="548640" y="4434840"/>
            <a:ext cx="5486400" cy="1280160"/>
          </a:xfrm>
          <a:prstGeom prst="roundRect">
            <a:avLst>
              <a:gd name="adj" fmla="val 5714"/>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200" b="1" dirty="0">
                <a:solidFill>
                  <a:srgbClr val="0E1A2B"/>
                </a:solidFill>
                <a:latin typeface="Malgun Gothic" pitchFamily="34" charset="0"/>
                <a:ea typeface="Malgun Gothic" pitchFamily="34" charset="-122"/>
                <a:cs typeface="Malgun Gothic" pitchFamily="34" charset="-120"/>
              </a:rPr>
              <a:t>MCP 도구(안)</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카드별 혜택·조건·근거 조회 (필수)</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조건 변경 영향 후보 조회 (여유 시)</a:t>
            </a:r>
            <a:endParaRPr lang="en-US" sz="1200" dirty="0"/>
          </a:p>
          <a:p>
            <a:pPr algn="l" indent="0" marL="0">
              <a:buNone/>
            </a:pPr>
            <a:r>
              <a:rPr lang="en-US" sz="1200" b="1" dirty="0">
                <a:solidFill>
                  <a:srgbClr val="8F5208"/>
                </a:solidFill>
                <a:latin typeface="Malgun Gothic" pitchFamily="34" charset="0"/>
                <a:ea typeface="Malgun Gothic" pitchFamily="34" charset="-122"/>
                <a:cs typeface="Malgun Gothic" pitchFamily="34" charset="-120"/>
              </a:rPr>
              <a:t>시연 목표: AI 호출 결과 = 그래프 DB 직접 조회 결과</a:t>
            </a:r>
            <a:endParaRPr lang="en-US" sz="1200" dirty="0"/>
          </a:p>
        </p:txBody>
      </p:sp>
      <p:sp>
        <p:nvSpPr>
          <p:cNvPr id="23" name="Text 21"/>
          <p:cNvSpPr txBox="1"/>
          <p:nvPr/>
        </p:nvSpPr>
        <p:spPr>
          <a:xfrm>
            <a:off x="6263640" y="4434840"/>
            <a:ext cx="5379415" cy="1280160"/>
          </a:xfrm>
          <a:prstGeom prst="roundRect">
            <a:avLst>
              <a:gd name="adj" fmla="val 5714"/>
            </a:avLst>
          </a:prstGeom>
          <a:solidFill>
            <a:srgbClr val="FFFFFF"/>
          </a:solidFill>
          <a:ln w="15875">
            <a:solidFill>
              <a:srgbClr val="E8A33D"/>
            </a:solidFill>
          </a:ln>
        </p:spPr>
        <p:txBody>
          <a:bodyPr wrap="square" lIns="152400" tIns="152400" rIns="152400" bIns="152400" rtlCol="0" anchor="ctr"/>
          <a:lstStyle/>
          <a:p>
            <a:pPr algn="l" indent="0" marL="0">
              <a:buNone/>
            </a:pPr>
            <a:r>
              <a:rPr lang="en-US" sz="1200" b="1" dirty="0">
                <a:solidFill>
                  <a:srgbClr val="0E1A2B"/>
                </a:solidFill>
                <a:latin typeface="Malgun Gothic" pitchFamily="34" charset="0"/>
                <a:ea typeface="Malgun Gothic" pitchFamily="34" charset="-122"/>
                <a:cs typeface="Malgun Gothic" pitchFamily="34" charset="-120"/>
              </a:rPr>
              <a:t>카드사가 확인할 수 있는 범위</a:t>
            </a:r>
            <a:endParaRPr lang="en-US" sz="1200" dirty="0"/>
          </a:p>
          <a:p>
            <a:pPr algn="l" indent="0" marL="0">
              <a:buNone/>
            </a:pPr>
            <a:r>
              <a:rPr lang="en-US" sz="1200" b="1" dirty="0">
                <a:solidFill>
                  <a:srgbClr val="0D6F64"/>
                </a:solidFill>
                <a:latin typeface="Malgun Gothic" pitchFamily="34" charset="0"/>
                <a:ea typeface="Malgun Gothic" pitchFamily="34" charset="-122"/>
                <a:cs typeface="Malgun Gothic" pitchFamily="34" charset="-120"/>
              </a:rPr>
              <a:t>기록 가능  </a:t>
            </a:r>
            <a:pPr algn="l" indent="0" marL="0">
              <a:buNone/>
            </a:pPr>
            <a:r>
              <a:rPr lang="en-US" sz="1200" dirty="0">
                <a:solidFill>
                  <a:srgbClr val="1A2433"/>
                </a:solidFill>
                <a:latin typeface="Malgun Gothic" pitchFamily="34" charset="0"/>
                <a:ea typeface="Malgun Gothic" pitchFamily="34" charset="-122"/>
                <a:cs typeface="Malgun Gothic" pitchFamily="34" charset="-120"/>
              </a:rPr>
              <a:t>공급한 조건·근거·호출 기록</a:t>
            </a:r>
            <a:endParaRPr lang="en-US" sz="1200" dirty="0"/>
          </a:p>
          <a:p>
            <a:pPr algn="l" indent="0" marL="0">
              <a:buNone/>
            </a:pPr>
            <a:r>
              <a:rPr lang="en-US" sz="1200" b="1" dirty="0">
                <a:solidFill>
                  <a:srgbClr val="8F5208"/>
                </a:solidFill>
                <a:latin typeface="Malgun Gothic" pitchFamily="34" charset="0"/>
                <a:ea typeface="Malgun Gothic" pitchFamily="34" charset="-122"/>
                <a:cs typeface="Malgun Gothic" pitchFamily="34" charset="-120"/>
              </a:rPr>
              <a:t>조건부  </a:t>
            </a:r>
            <a:pPr algn="l" indent="0" marL="0">
              <a:buNone/>
            </a:pPr>
            <a:r>
              <a:rPr lang="en-US" sz="1200" dirty="0">
                <a:solidFill>
                  <a:srgbClr val="1A2433"/>
                </a:solidFill>
                <a:latin typeface="Malgun Gothic" pitchFamily="34" charset="0"/>
                <a:ea typeface="Malgun Gothic" pitchFamily="34" charset="-122"/>
                <a:cs typeface="Malgun Gothic" pitchFamily="34" charset="-120"/>
              </a:rPr>
              <a:t>외부 AI 최종 답변 대조 (별도 확보 시)</a:t>
            </a:r>
            <a:endParaRPr lang="en-US" sz="1200" dirty="0"/>
          </a:p>
          <a:p>
            <a:pPr algn="l" indent="0" marL="0">
              <a:buNone/>
            </a:pPr>
            <a:r>
              <a:rPr lang="en-US" sz="1200" b="1" dirty="0">
                <a:solidFill>
                  <a:srgbClr val="A8311A"/>
                </a:solidFill>
                <a:latin typeface="Malgun Gothic" pitchFamily="34" charset="0"/>
                <a:ea typeface="Malgun Gothic" pitchFamily="34" charset="-122"/>
                <a:cs typeface="Malgun Gothic" pitchFamily="34" charset="-120"/>
              </a:rPr>
              <a:t>보장 불가  </a:t>
            </a:r>
            <a:pPr algn="l" indent="0" marL="0">
              <a:buNone/>
            </a:pPr>
            <a:r>
              <a:rPr lang="en-US" sz="1200" dirty="0">
                <a:solidFill>
                  <a:srgbClr val="1A2433"/>
                </a:solidFill>
                <a:latin typeface="Malgun Gothic" pitchFamily="34" charset="0"/>
                <a:ea typeface="Malgun Gothic" pitchFamily="34" charset="-122"/>
                <a:cs typeface="Malgun Gothic" pitchFamily="34" charset="-120"/>
              </a:rPr>
              <a:t>호출 여부·요약·문구 표시</a:t>
            </a:r>
            <a:endParaRPr lang="en-US" sz="1200" dirty="0"/>
          </a:p>
        </p:txBody>
      </p:sp>
      <p:sp>
        <p:nvSpPr>
          <p:cNvPr id="24" name="Text 2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구현 전 · 외부 플랫폼(카카오 등) 실연동은 범위 밖</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A   실제 사례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카드사 공식 정보를 외부 AI에 연결하는 서비스가 등장했습니다</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공식 발표 확인</a:t>
            </a:r>
            <a:endParaRPr lang="en-US" sz="1100" dirty="0"/>
          </a:p>
        </p:txBody>
      </p:sp>
      <p:sp>
        <p:nvSpPr>
          <p:cNvPr id="5" name="Shape 3"/>
          <p:cNvSpPr/>
          <p:nvPr/>
        </p:nvSpPr>
        <p:spPr>
          <a:xfrm>
            <a:off x="548640" y="1691640"/>
            <a:ext cx="5440680" cy="3017520"/>
          </a:xfrm>
          <a:prstGeom prst="roundRect">
            <a:avLst>
              <a:gd name="adj" fmla="val 3030"/>
            </a:avLst>
          </a:prstGeom>
          <a:solidFill>
            <a:srgbClr val="F3F5F8"/>
          </a:solidFill>
          <a:ln w="9525">
            <a:solidFill>
              <a:srgbClr val="F3F5F8"/>
            </a:solidFill>
            <a:prstDash val="solid"/>
          </a:ln>
        </p:spPr>
      </p:sp>
      <p:sp>
        <p:nvSpPr>
          <p:cNvPr id="6" name="Text 4"/>
          <p:cNvSpPr txBox="1"/>
          <p:nvPr/>
        </p:nvSpPr>
        <p:spPr>
          <a:xfrm>
            <a:off x="777240" y="1810512"/>
            <a:ext cx="502920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2026-09-09  ·  신한금융그룹 보도자료</a:t>
            </a:r>
            <a:endParaRPr lang="en-US" sz="1200" dirty="0"/>
          </a:p>
        </p:txBody>
      </p:sp>
      <p:sp>
        <p:nvSpPr>
          <p:cNvPr id="7" name="Text 5"/>
          <p:cNvSpPr txBox="1"/>
          <p:nvPr/>
        </p:nvSpPr>
        <p:spPr>
          <a:xfrm>
            <a:off x="777240" y="2103120"/>
            <a:ext cx="5029200" cy="658368"/>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“신한카드, 최적의 금융상품 추천하고 선택하는 AI 개발”</a:t>
            </a:r>
            <a:endParaRPr lang="en-US" sz="1600" dirty="0"/>
          </a:p>
        </p:txBody>
      </p:sp>
      <p:sp>
        <p:nvSpPr>
          <p:cNvPr id="8" name="Text 6"/>
          <p:cNvSpPr txBox="1"/>
          <p:nvPr/>
        </p:nvSpPr>
        <p:spPr>
          <a:xfrm>
            <a:off x="777240" y="2770632"/>
            <a:ext cx="5029200" cy="237744"/>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AI 인프라 기업 커넥셔너리와 기술 개발·실증</a:t>
            </a:r>
            <a:endParaRPr lang="en-US" sz="1200" dirty="0"/>
          </a:p>
        </p:txBody>
      </p:sp>
      <p:sp>
        <p:nvSpPr>
          <p:cNvPr id="9" name="Text 7"/>
          <p:cNvSpPr txBox="1"/>
          <p:nvPr/>
        </p:nvSpPr>
        <p:spPr>
          <a:xfrm>
            <a:off x="777240" y="3063240"/>
            <a:ext cx="5029200" cy="237744"/>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회사가 밝힌 기존 생성형 AI의 한계</a:t>
            </a:r>
            <a:endParaRPr lang="en-US" sz="1100" dirty="0"/>
          </a:p>
        </p:txBody>
      </p:sp>
      <p:sp>
        <p:nvSpPr>
          <p:cNvPr id="10" name="Text 8"/>
          <p:cNvSpPr txBox="1"/>
          <p:nvPr/>
        </p:nvSpPr>
        <p:spPr>
          <a:xfrm>
            <a:off x="777240" y="3337560"/>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엉뚱한 답변·정보 왜곡</a:t>
            </a:r>
            <a:endParaRPr lang="en-US" sz="1300" dirty="0"/>
          </a:p>
        </p:txBody>
      </p:sp>
      <p:sp>
        <p:nvSpPr>
          <p:cNvPr id="11" name="Text 9"/>
          <p:cNvSpPr txBox="1"/>
          <p:nvPr/>
        </p:nvSpPr>
        <p:spPr>
          <a:xfrm>
            <a:off x="3319272" y="3337560"/>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일관성 부족</a:t>
            </a:r>
            <a:endParaRPr lang="en-US" sz="1300" dirty="0"/>
          </a:p>
        </p:txBody>
      </p:sp>
      <p:sp>
        <p:nvSpPr>
          <p:cNvPr id="12" name="Text 10"/>
          <p:cNvSpPr txBox="1"/>
          <p:nvPr/>
        </p:nvSpPr>
        <p:spPr>
          <a:xfrm>
            <a:off x="777240" y="3739896"/>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복합 조건 누락</a:t>
            </a:r>
            <a:endParaRPr lang="en-US" sz="1300" dirty="0"/>
          </a:p>
        </p:txBody>
      </p:sp>
      <p:sp>
        <p:nvSpPr>
          <p:cNvPr id="13" name="Text 11"/>
          <p:cNvSpPr txBox="1"/>
          <p:nvPr/>
        </p:nvSpPr>
        <p:spPr>
          <a:xfrm>
            <a:off x="3319272" y="3739896"/>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정책·규정 미반영</a:t>
            </a:r>
            <a:endParaRPr lang="en-US" sz="1300" dirty="0"/>
          </a:p>
        </p:txBody>
      </p:sp>
      <p:sp>
        <p:nvSpPr>
          <p:cNvPr id="14" name="Text 12"/>
          <p:cNvSpPr txBox="1"/>
          <p:nvPr/>
        </p:nvSpPr>
        <p:spPr>
          <a:xfrm>
            <a:off x="777240" y="4206240"/>
            <a:ext cx="5029200" cy="411480"/>
          </a:xfrm>
          <a:prstGeom prst="rect">
            <a:avLst/>
          </a:prstGeom>
          <a:noFill/>
          <a:ln/>
        </p:spPr>
        <p:txBody>
          <a:bodyPr wrap="square" lIns="0" tIns="0" rIns="0" bIns="0" rtlCol="0" anchor="t"/>
          <a:lstStyle/>
          <a:p>
            <a:pPr indent="0" marL="0">
              <a:buNone/>
            </a:pPr>
            <a:r>
              <a:rPr lang="en-US" sz="1200" i="1" dirty="0">
                <a:solidFill>
                  <a:srgbClr val="3A4A60"/>
                </a:solidFill>
                <a:latin typeface="Malgun Gothic" pitchFamily="34" charset="0"/>
                <a:ea typeface="Malgun Gothic" pitchFamily="34" charset="-122"/>
                <a:cs typeface="Malgun Gothic" pitchFamily="34" charset="-120"/>
              </a:rPr>
              <a:t>“… 조건 수정만으로 실시간 반영될 수 있는 것이다”</a:t>
            </a:r>
            <a:endParaRPr lang="en-US" sz="1200" dirty="0"/>
          </a:p>
        </p:txBody>
      </p:sp>
      <p:sp>
        <p:nvSpPr>
          <p:cNvPr id="15" name="Shape 13"/>
          <p:cNvSpPr/>
          <p:nvPr/>
        </p:nvSpPr>
        <p:spPr>
          <a:xfrm>
            <a:off x="6199632" y="1691640"/>
            <a:ext cx="5440680" cy="3017520"/>
          </a:xfrm>
          <a:prstGeom prst="roundRect">
            <a:avLst>
              <a:gd name="adj" fmla="val 3030"/>
            </a:avLst>
          </a:prstGeom>
          <a:solidFill>
            <a:srgbClr val="F3F5F8"/>
          </a:solidFill>
          <a:ln w="9525">
            <a:solidFill>
              <a:srgbClr val="F3F5F8"/>
            </a:solidFill>
            <a:prstDash val="solid"/>
          </a:ln>
        </p:spPr>
      </p:sp>
      <p:sp>
        <p:nvSpPr>
          <p:cNvPr id="16" name="Text 14"/>
          <p:cNvSpPr txBox="1"/>
          <p:nvPr/>
        </p:nvSpPr>
        <p:spPr>
          <a:xfrm>
            <a:off x="6428232" y="1810512"/>
            <a:ext cx="5029200" cy="256032"/>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2026-09-13  ·  신한카드 보도자료</a:t>
            </a:r>
            <a:endParaRPr lang="en-US" sz="1200" dirty="0"/>
          </a:p>
        </p:txBody>
      </p:sp>
      <p:sp>
        <p:nvSpPr>
          <p:cNvPr id="17" name="Text 15"/>
          <p:cNvSpPr txBox="1"/>
          <p:nvPr/>
        </p:nvSpPr>
        <p:spPr>
          <a:xfrm>
            <a:off x="6428232" y="2103120"/>
            <a:ext cx="5029200" cy="658368"/>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“카드사 최초 ‘ChatGPT for Kakao’와 연계한 AI 대화형 금융 서비스”</a:t>
            </a:r>
            <a:endParaRPr lang="en-US" sz="1600" dirty="0"/>
          </a:p>
        </p:txBody>
      </p:sp>
      <p:sp>
        <p:nvSpPr>
          <p:cNvPr id="18" name="Text 16"/>
          <p:cNvSpPr txBox="1"/>
          <p:nvPr/>
        </p:nvSpPr>
        <p:spPr>
          <a:xfrm>
            <a:off x="6428232" y="2770632"/>
            <a:ext cx="5029200" cy="237744"/>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카카오 ‘PlayMCP’ 기반 ‘카카오 툴즈’에 연동</a:t>
            </a:r>
            <a:endParaRPr lang="en-US" sz="1200" dirty="0"/>
          </a:p>
        </p:txBody>
      </p:sp>
      <p:sp>
        <p:nvSpPr>
          <p:cNvPr id="19" name="Text 17"/>
          <p:cNvSpPr txBox="1"/>
          <p:nvPr/>
        </p:nvSpPr>
        <p:spPr>
          <a:xfrm>
            <a:off x="6428232" y="3063240"/>
            <a:ext cx="5029200" cy="237744"/>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외부 AI 대화창에서 제공하는 기능</a:t>
            </a:r>
            <a:endParaRPr lang="en-US" sz="1100" dirty="0"/>
          </a:p>
        </p:txBody>
      </p:sp>
      <p:sp>
        <p:nvSpPr>
          <p:cNvPr id="20" name="Text 18"/>
          <p:cNvSpPr txBox="1"/>
          <p:nvPr/>
        </p:nvSpPr>
        <p:spPr>
          <a:xfrm>
            <a:off x="6428232" y="3337560"/>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추천</a:t>
            </a:r>
            <a:endParaRPr lang="en-US" sz="1300" dirty="0"/>
          </a:p>
        </p:txBody>
      </p:sp>
      <p:sp>
        <p:nvSpPr>
          <p:cNvPr id="21" name="Text 19"/>
          <p:cNvSpPr txBox="1"/>
          <p:nvPr/>
        </p:nvSpPr>
        <p:spPr>
          <a:xfrm>
            <a:off x="8970264" y="3337560"/>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인기카드 조회</a:t>
            </a:r>
            <a:endParaRPr lang="en-US" sz="1300" dirty="0"/>
          </a:p>
        </p:txBody>
      </p:sp>
      <p:sp>
        <p:nvSpPr>
          <p:cNvPr id="22" name="Text 20"/>
          <p:cNvSpPr txBox="1"/>
          <p:nvPr/>
        </p:nvSpPr>
        <p:spPr>
          <a:xfrm>
            <a:off x="6428232" y="3739896"/>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상세혜택 조회</a:t>
            </a:r>
            <a:endParaRPr lang="en-US" sz="1300" dirty="0"/>
          </a:p>
        </p:txBody>
      </p:sp>
      <p:sp>
        <p:nvSpPr>
          <p:cNvPr id="23" name="Text 21"/>
          <p:cNvSpPr txBox="1"/>
          <p:nvPr/>
        </p:nvSpPr>
        <p:spPr>
          <a:xfrm>
            <a:off x="8970264" y="3739896"/>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소비 인사이트·콘텐츠</a:t>
            </a:r>
            <a:endParaRPr lang="en-US" sz="1300" dirty="0"/>
          </a:p>
        </p:txBody>
      </p:sp>
      <p:sp>
        <p:nvSpPr>
          <p:cNvPr id="24" name="Text 22"/>
          <p:cNvSpPr txBox="1"/>
          <p:nvPr/>
        </p:nvSpPr>
        <p:spPr>
          <a:xfrm>
            <a:off x="6428232" y="4206240"/>
            <a:ext cx="5029200" cy="411480"/>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고객이 ‘카카오 툴즈’에서 신한카드 툴을 추가한 뒤 대화로 이용</a:t>
            </a:r>
            <a:endParaRPr lang="en-US" sz="1200" dirty="0"/>
          </a:p>
        </p:txBody>
      </p:sp>
      <p:sp>
        <p:nvSpPr>
          <p:cNvPr id="25" name="Text 23"/>
          <p:cNvSpPr txBox="1"/>
          <p:nvPr/>
        </p:nvSpPr>
        <p:spPr>
          <a:xfrm>
            <a:off x="548640" y="4828032"/>
            <a:ext cx="11094415" cy="502920"/>
          </a:xfrm>
          <a:prstGeom prst="roundRect">
            <a:avLst>
              <a:gd name="adj" fmla="val 14545"/>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외부 AI 채널에 카드사 공식 상품정보를 연결하는 실제 서비스가 등장하고 있습니다.</a:t>
            </a:r>
            <a:endParaRPr lang="en-US" sz="1600" dirty="0"/>
          </a:p>
        </p:txBody>
      </p:sp>
      <p:sp>
        <p:nvSpPr>
          <p:cNvPr id="26" name="Text 24"/>
          <p:cNvSpPr txBox="1"/>
          <p:nvPr/>
        </p:nvSpPr>
        <p:spPr>
          <a:xfrm>
            <a:off x="548640" y="5394960"/>
            <a:ext cx="11094415" cy="411480"/>
          </a:xfrm>
          <a:prstGeom prst="rect">
            <a:avLst/>
          </a:prstGeom>
          <a:noFill/>
          <a:ln/>
        </p:spPr>
        <p:txBody>
          <a:bodyPr wrap="square" lIns="0" tIns="0" rIns="0" bIns="0" rtlCol="0" anchor="t"/>
          <a:lstStyle/>
          <a:p>
            <a:pPr indent="0" marL="0">
              <a:buNone/>
            </a:pPr>
            <a:r>
              <a:rPr lang="en-US" sz="1100" dirty="0">
                <a:solidFill>
                  <a:srgbClr val="A8311A"/>
                </a:solidFill>
                <a:latin typeface="Malgun Gothic" pitchFamily="34" charset="0"/>
                <a:ea typeface="Malgun Gothic" pitchFamily="34" charset="-122"/>
                <a:cs typeface="Malgun Gothic" pitchFamily="34" charset="-120"/>
              </a:rPr>
              <a:t>공식 자료에 없음(미확인): 두 발표의 내부 시스템 연결 · GraphRAG 사용 여부 · 다른 카드사·은행의 MCP 제공 현황. 우열 비교가 아니라 ‘외부 AI 연결이 실제로 시작됐다’는 근거로 인용합니다.</a:t>
            </a:r>
            <a:endParaRPr lang="en-US" sz="11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shinhangroup.com/kr/archive/press/detail/966 (2026-09-09) · press1.newswire.co.kr/newsRead.php?no=1042468 (2026-09-13) — 2026-10-30 원문 재확인</a:t>
            </a:r>
            <a:endParaRPr lang="en-US" sz="1000" dirty="0"/>
          </a:p>
        </p:txBody>
      </p:sp>
      <p:sp>
        <p:nvSpPr>
          <p:cNvPr id="28"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B   변경 영향</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조건이 바뀌면, 다시 검토할 혜택이 관계를 따라 드러납니다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예상 결과</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상황</a:t>
            </a:r>
            <a:endParaRPr lang="en-US" sz="1100" dirty="0"/>
          </a:p>
        </p:txBody>
      </p:sp>
      <p:sp>
        <p:nvSpPr>
          <p:cNvPr id="6" name="Text 4"/>
          <p:cNvSpPr txBox="1"/>
          <p:nvPr/>
        </p:nvSpPr>
        <p:spPr>
          <a:xfrm>
            <a:off x="548640" y="1645920"/>
            <a:ext cx="11094415" cy="457200"/>
          </a:xfrm>
          <a:prstGeom prst="roundRect">
            <a:avLst>
              <a:gd name="adj" fmla="val 16000"/>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가상 상황:  ‘상품권 구매’의 전월실적 제외 조항이 바뀐다면?</a:t>
            </a:r>
            <a:endParaRPr lang="en-US" sz="1600" dirty="0"/>
          </a:p>
        </p:txBody>
      </p:sp>
      <p:sp>
        <p:nvSpPr>
          <p:cNvPr id="7" name="Text 5"/>
          <p:cNvSpPr txBox="1"/>
          <p:nvPr/>
        </p:nvSpPr>
        <p:spPr>
          <a:xfrm>
            <a:off x="548640" y="2212848"/>
            <a:ext cx="1737360" cy="274320"/>
          </a:xfrm>
          <a:prstGeom prst="rect">
            <a:avLst/>
          </a:prstGeom>
          <a:noFill/>
          <a:ln/>
        </p:spPr>
        <p:txBody>
          <a:bodyPr wrap="square" lIns="0" tIns="0" rIns="0" bIns="0" rtlCol="0" anchor="t"/>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공통 개념</a:t>
            </a:r>
            <a:endParaRPr lang="en-US" sz="1200" dirty="0"/>
          </a:p>
        </p:txBody>
      </p:sp>
      <p:sp>
        <p:nvSpPr>
          <p:cNvPr id="8" name="Text 6"/>
          <p:cNvSpPr txBox="1"/>
          <p:nvPr/>
        </p:nvSpPr>
        <p:spPr>
          <a:xfrm>
            <a:off x="2606040" y="2212848"/>
            <a:ext cx="3611880" cy="274320"/>
          </a:xfrm>
          <a:prstGeom prst="rect">
            <a:avLst/>
          </a:prstGeom>
          <a:noFill/>
          <a:ln/>
        </p:spPr>
        <p:txBody>
          <a:bodyPr wrap="square" lIns="0" tIns="0" rIns="0" bIns="0" rtlCol="0" anchor="t"/>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카드별 규칙 — 적용 범위·문서 판 따로 보존</a:t>
            </a:r>
            <a:endParaRPr lang="en-US" sz="1200" dirty="0"/>
          </a:p>
        </p:txBody>
      </p:sp>
      <p:sp>
        <p:nvSpPr>
          <p:cNvPr id="9" name="Text 7"/>
          <p:cNvSpPr txBox="1"/>
          <p:nvPr/>
        </p:nvSpPr>
        <p:spPr>
          <a:xfrm>
            <a:off x="6629400" y="2212848"/>
            <a:ext cx="5010912" cy="274320"/>
          </a:xfrm>
          <a:prstGeom prst="rect">
            <a:avLst/>
          </a:prstGeom>
          <a:noFill/>
          <a:ln/>
        </p:spPr>
        <p:txBody>
          <a:bodyPr wrap="square" lIns="0" tIns="0" rIns="0" bIns="0" rtlCol="0" anchor="t"/>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검토 후보 혜택 (실적 조건에 연결)</a:t>
            </a:r>
            <a:endParaRPr lang="en-US" sz="1200" dirty="0"/>
          </a:p>
        </p:txBody>
      </p:sp>
      <p:sp>
        <p:nvSpPr>
          <p:cNvPr id="10" name="Text 8"/>
          <p:cNvSpPr txBox="1"/>
          <p:nvPr/>
        </p:nvSpPr>
        <p:spPr>
          <a:xfrm>
            <a:off x="548640" y="2578608"/>
            <a:ext cx="1737360" cy="2596896"/>
          </a:xfrm>
          <a:prstGeom prst="roundRect">
            <a:avLst>
              <a:gd name="adj" fmla="val 6316"/>
            </a:avLst>
          </a:prstGeom>
          <a:solidFill>
            <a:srgbClr val="D9472B"/>
          </a:solidFill>
          <a:ln>
            <a:solidFill>
              <a:srgbClr val="D9472B"/>
            </a:solidFill>
          </a:ln>
        </p:spPr>
        <p:txBody>
          <a:bodyPr wrap="square" lIns="38100" tIns="38100" rIns="38100" bIns="3810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상품권</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구매</a:t>
            </a:r>
            <a:endParaRPr lang="en-US" sz="1600" dirty="0"/>
          </a:p>
        </p:txBody>
      </p:sp>
      <p:sp>
        <p:nvSpPr>
          <p:cNvPr id="11" name="Shape 9"/>
          <p:cNvSpPr/>
          <p:nvPr/>
        </p:nvSpPr>
        <p:spPr>
          <a:xfrm>
            <a:off x="2304288" y="2862072"/>
            <a:ext cx="265176" cy="0"/>
          </a:xfrm>
          <a:prstGeom prst="line">
            <a:avLst/>
          </a:prstGeom>
          <a:noFill/>
          <a:ln w="19050">
            <a:solidFill>
              <a:srgbClr val="D9472B"/>
            </a:solidFill>
            <a:prstDash val="solid"/>
            <a:tailEnd type="triangle"/>
          </a:ln>
        </p:spPr>
      </p:sp>
      <p:sp>
        <p:nvSpPr>
          <p:cNvPr id="12" name="Text 10"/>
          <p:cNvSpPr txBox="1"/>
          <p:nvPr/>
        </p:nvSpPr>
        <p:spPr>
          <a:xfrm>
            <a:off x="2606040" y="2578608"/>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STYLE (체크)</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15650_20260429</a:t>
            </a:r>
            <a:endParaRPr lang="en-US" sz="1300" dirty="0"/>
          </a:p>
        </p:txBody>
      </p:sp>
      <p:sp>
        <p:nvSpPr>
          <p:cNvPr id="13" name="Shape 11"/>
          <p:cNvSpPr/>
          <p:nvPr/>
        </p:nvSpPr>
        <p:spPr>
          <a:xfrm>
            <a:off x="6245352" y="2862072"/>
            <a:ext cx="356616" cy="0"/>
          </a:xfrm>
          <a:prstGeom prst="line">
            <a:avLst/>
          </a:prstGeom>
          <a:noFill/>
          <a:ln w="19050">
            <a:solidFill>
              <a:srgbClr val="3A4A60"/>
            </a:solidFill>
            <a:prstDash val="solid"/>
            <a:tailEnd type="triangle"/>
          </a:ln>
        </p:spPr>
      </p:sp>
      <p:sp>
        <p:nvSpPr>
          <p:cNvPr id="14" name="Text 12"/>
          <p:cNvSpPr txBox="1"/>
          <p:nvPr/>
        </p:nvSpPr>
        <p:spPr>
          <a:xfrm>
            <a:off x="6629400" y="2578608"/>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ONE MORE 대중교통(10만) · 놀이공원(20만)</a:t>
            </a:r>
            <a:endParaRPr lang="en-US" sz="1400" dirty="0"/>
          </a:p>
        </p:txBody>
      </p:sp>
      <p:sp>
        <p:nvSpPr>
          <p:cNvPr id="15" name="Shape 13"/>
          <p:cNvSpPr/>
          <p:nvPr/>
        </p:nvSpPr>
        <p:spPr>
          <a:xfrm>
            <a:off x="2304288" y="3538728"/>
            <a:ext cx="265176" cy="0"/>
          </a:xfrm>
          <a:prstGeom prst="line">
            <a:avLst/>
          </a:prstGeom>
          <a:noFill/>
          <a:ln w="19050">
            <a:solidFill>
              <a:srgbClr val="D9472B"/>
            </a:solidFill>
            <a:prstDash val="solid"/>
            <a:tailEnd type="triangle"/>
          </a:ln>
        </p:spPr>
      </p:sp>
      <p:sp>
        <p:nvSpPr>
          <p:cNvPr id="16" name="Text 14"/>
          <p:cNvSpPr txBox="1"/>
          <p:nvPr/>
        </p:nvSpPr>
        <p:spPr>
          <a:xfrm>
            <a:off x="2606040" y="3255264"/>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PLAY (체크)</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15651_20260429</a:t>
            </a:r>
            <a:endParaRPr lang="en-US" sz="1300" dirty="0"/>
          </a:p>
        </p:txBody>
      </p:sp>
      <p:sp>
        <p:nvSpPr>
          <p:cNvPr id="17" name="Shape 15"/>
          <p:cNvSpPr/>
          <p:nvPr/>
        </p:nvSpPr>
        <p:spPr>
          <a:xfrm>
            <a:off x="6245352" y="3538728"/>
            <a:ext cx="356616" cy="0"/>
          </a:xfrm>
          <a:prstGeom prst="line">
            <a:avLst/>
          </a:prstGeom>
          <a:noFill/>
          <a:ln w="19050">
            <a:solidFill>
              <a:srgbClr val="3A4A60"/>
            </a:solidFill>
            <a:prstDash val="solid"/>
            <a:tailEnd type="triangle"/>
          </a:ln>
        </p:spPr>
      </p:sp>
      <p:sp>
        <p:nvSpPr>
          <p:cNvPr id="18" name="Text 16"/>
          <p:cNvSpPr txBox="1"/>
          <p:nvPr/>
        </p:nvSpPr>
        <p:spPr>
          <a:xfrm>
            <a:off x="6629400" y="3255264"/>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ONE MORE 대중교통(10만) · 놀이공원(20만)</a:t>
            </a:r>
            <a:endParaRPr lang="en-US" sz="1400" dirty="0"/>
          </a:p>
        </p:txBody>
      </p:sp>
      <p:sp>
        <p:nvSpPr>
          <p:cNvPr id="19" name="Shape 17"/>
          <p:cNvSpPr/>
          <p:nvPr/>
        </p:nvSpPr>
        <p:spPr>
          <a:xfrm>
            <a:off x="2304288" y="4215384"/>
            <a:ext cx="265176" cy="0"/>
          </a:xfrm>
          <a:prstGeom prst="line">
            <a:avLst/>
          </a:prstGeom>
          <a:noFill/>
          <a:ln w="19050">
            <a:solidFill>
              <a:srgbClr val="D9472B"/>
            </a:solidFill>
            <a:prstDash val="solid"/>
            <a:tailEnd type="triangle"/>
          </a:ln>
        </p:spPr>
      </p:sp>
      <p:sp>
        <p:nvSpPr>
          <p:cNvPr id="20" name="Text 18"/>
          <p:cNvSpPr txBox="1"/>
          <p:nvPr/>
        </p:nvSpPr>
        <p:spPr>
          <a:xfrm>
            <a:off x="2606040" y="3931920"/>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BT (신용)</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14324_20260310</a:t>
            </a:r>
            <a:endParaRPr lang="en-US" sz="1300" dirty="0"/>
          </a:p>
        </p:txBody>
      </p:sp>
      <p:sp>
        <p:nvSpPr>
          <p:cNvPr id="21" name="Shape 19"/>
          <p:cNvSpPr/>
          <p:nvPr/>
        </p:nvSpPr>
        <p:spPr>
          <a:xfrm>
            <a:off x="6245352" y="4215384"/>
            <a:ext cx="356616" cy="0"/>
          </a:xfrm>
          <a:prstGeom prst="line">
            <a:avLst/>
          </a:prstGeom>
          <a:noFill/>
          <a:ln w="19050">
            <a:solidFill>
              <a:srgbClr val="3A4A60"/>
            </a:solidFill>
            <a:prstDash val="solid"/>
            <a:tailEnd type="triangle"/>
          </a:ln>
        </p:spPr>
      </p:sp>
      <p:sp>
        <p:nvSpPr>
          <p:cNvPr id="22" name="Text 20"/>
          <p:cNvSpPr txBox="1"/>
          <p:nvPr/>
        </p:nvSpPr>
        <p:spPr>
          <a:xfrm>
            <a:off x="6629400" y="3931920"/>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인천공항 라운지(50만)</a:t>
            </a:r>
            <a:endParaRPr lang="en-US" sz="1400" dirty="0"/>
          </a:p>
        </p:txBody>
      </p:sp>
      <p:sp>
        <p:nvSpPr>
          <p:cNvPr id="23" name="Shape 21"/>
          <p:cNvSpPr/>
          <p:nvPr/>
        </p:nvSpPr>
        <p:spPr>
          <a:xfrm>
            <a:off x="2304288" y="4892040"/>
            <a:ext cx="265176" cy="0"/>
          </a:xfrm>
          <a:prstGeom prst="line">
            <a:avLst/>
          </a:prstGeom>
          <a:noFill/>
          <a:ln w="19050">
            <a:solidFill>
              <a:srgbClr val="D9472B"/>
            </a:solidFill>
            <a:prstDash val="solid"/>
            <a:tailEnd type="triangle"/>
          </a:ln>
        </p:spPr>
      </p:sp>
      <p:sp>
        <p:nvSpPr>
          <p:cNvPr id="24" name="Text 22"/>
          <p:cNvSpPr txBox="1"/>
          <p:nvPr/>
        </p:nvSpPr>
        <p:spPr>
          <a:xfrm>
            <a:off x="2606040" y="4608576"/>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 (신용)</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실적 제외 규칙 · 14422_20251224</a:t>
            </a:r>
            <a:endParaRPr lang="en-US" sz="1300" dirty="0"/>
          </a:p>
        </p:txBody>
      </p:sp>
      <p:sp>
        <p:nvSpPr>
          <p:cNvPr id="25" name="Shape 23"/>
          <p:cNvSpPr/>
          <p:nvPr/>
        </p:nvSpPr>
        <p:spPr>
          <a:xfrm>
            <a:off x="6245352" y="4892040"/>
            <a:ext cx="356616" cy="0"/>
          </a:xfrm>
          <a:prstGeom prst="line">
            <a:avLst/>
          </a:prstGeom>
          <a:noFill/>
          <a:ln w="19050">
            <a:solidFill>
              <a:srgbClr val="3A4A60"/>
            </a:solidFill>
            <a:prstDash val="solid"/>
            <a:tailEnd type="triangle"/>
          </a:ln>
        </p:spPr>
      </p:sp>
      <p:sp>
        <p:nvSpPr>
          <p:cNvPr id="26" name="Text 24"/>
          <p:cNvSpPr txBox="1"/>
          <p:nvPr/>
        </p:nvSpPr>
        <p:spPr>
          <a:xfrm>
            <a:off x="6629400" y="4608576"/>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에너지 공과금(40/80만) · 일상생활(40만)</a:t>
            </a:r>
            <a:endParaRPr lang="en-US" sz="1400" dirty="0"/>
          </a:p>
        </p:txBody>
      </p:sp>
      <p:sp>
        <p:nvSpPr>
          <p:cNvPr id="27" name="Text 25"/>
          <p:cNvSpPr txBox="1"/>
          <p:nvPr/>
        </p:nvSpPr>
        <p:spPr>
          <a:xfrm>
            <a:off x="548640" y="5349240"/>
            <a:ext cx="11094415" cy="384048"/>
          </a:xfrm>
          <a:prstGeom prst="roundRect">
            <a:avLst>
              <a:gd name="adj" fmla="val 19048"/>
            </a:avLst>
          </a:prstGeom>
          <a:solidFill>
            <a:srgbClr val="FBE6E2"/>
          </a:solidFill>
          <a:ln>
            <a:solidFill>
              <a:srgbClr val="FBE6E2"/>
            </a:solidFill>
          </a:ln>
        </p:spPr>
        <p:txBody>
          <a:bodyPr wrap="square" lIns="127000" tIns="127000" rIns="127000" bIns="1270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사람이 검토할 영향 후보입니다 (자동 정책 변경 아님) · 실적 조건 없는 ONE PICK 영역·BIG TICKET은 후보에서 제외</a:t>
            </a:r>
            <a:endParaRPr lang="en-US" sz="12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4종 원문 수작업 도출(예상 결과) · Cypher 미실행 · 같은 개념을 공유해도 카드별 정책은 다를 수 있어 규칙을 카드별로 분리 저장</a:t>
            </a:r>
            <a:endParaRPr lang="en-US" sz="1000" dirty="0"/>
          </a:p>
        </p:txBody>
      </p:sp>
      <p:sp>
        <p:nvSpPr>
          <p:cNvPr id="29"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C   기술 선택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SQL·일반 RAG로도 가능합니다. 그런데 왜 그래프를 검토할까요?</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해석</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011680"/>
                <a:gridCol w="2834640"/>
                <a:gridCol w="3108960"/>
                <a:gridCol w="3136392"/>
              </a:tblGrid>
              <a:tr h="38404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비교 관점</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일반 벡터 RAG</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PostgreSQL (관계 테이블 + SQL)</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Neo4j 그래프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모델링 방식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 청크 + 메타데이터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카드·혜택·규칙·조항 테이블과 키</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노드와 관계 유형(HAS_BENEFIT 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적용 범위 표현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청크 메타데이터·프롬프트로 구분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scope 컬럼·규칙 테이블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관계 속성 {scope}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원문 근거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검색된 청크 출처를 그대로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키 JOIN으로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SOURCED_FROM 경로로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다단계·역방향 탐색</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반복 검색·별도 로직으로 구성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JOIN·재귀 CTE로 구성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가변 길이·역방향 경로 패턴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검증 비용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청크와 답변 단위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행 단위 제약·검증 SQL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노드·관계 단위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운영 복잡도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낮음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낮음~중간 (팀 기존 역량, DDL 초안)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중간~높음 (인프라·온톨로지 관리)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Text 4"/>
          <p:cNvSpPr txBox="1"/>
          <p:nvPr/>
        </p:nvSpPr>
        <p:spPr>
          <a:xfrm>
            <a:off x="548640" y="4526280"/>
            <a:ext cx="11094415" cy="457200"/>
          </a:xfrm>
          <a:prstGeom prst="rect">
            <a:avLst/>
          </a:prstGeom>
          <a:noFill/>
          <a:ln/>
        </p:spPr>
        <p:txBody>
          <a:bodyPr wrap="square" lIns="0" tIns="0" rIns="0" bIns="0" rtlCol="0" anchor="t"/>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공정 비교 원칙  동일한 공식 PDF·문서 버전·질문·원문 정답셋을 사용하고, 방식별 전처리·수작업 보정·개발 비용을 함께 기록합니다 (부록 G)</a:t>
            </a:r>
            <a:pPr indent="0" marL="0">
              <a:buNone/>
            </a:pPr>
            <a:r>
              <a:rPr lang="en-US" sz="1200" dirty="0">
                <a:solidFill>
                  <a:srgbClr val="3A4A60"/>
                </a:solidFill>
                <a:latin typeface="Malgun Gothic" pitchFamily="34" charset="0"/>
                <a:ea typeface="Malgun Gothic" pitchFamily="34" charset="-122"/>
                <a:cs typeface="Malgun Gothic" pitchFamily="34" charset="-120"/>
              </a:rPr>
              <a:t/>
            </a:r>
            <a:endParaRPr lang="en-US" sz="1200" dirty="0"/>
          </a:p>
        </p:txBody>
      </p:sp>
      <p:sp>
        <p:nvSpPr>
          <p:cNvPr id="8" name="Text 5"/>
          <p:cNvSpPr txBox="1"/>
          <p:nvPr/>
        </p:nvSpPr>
        <p:spPr>
          <a:xfrm>
            <a:off x="548640" y="502920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이 프로젝트는 복잡한 카드 혜택 관계를 그래프로 표현하고 탐색하는 방법을 검증합니다. </a:t>
            </a:r>
            <a:pPr algn="l" indent="0" marL="0">
              <a:buNone/>
            </a:pPr>
            <a:r>
              <a:rPr lang="en-US" sz="1500" b="1" dirty="0">
                <a:solidFill>
                  <a:srgbClr val="E8A33D"/>
                </a:solidFill>
                <a:latin typeface="Malgun Gothic" pitchFamily="34" charset="0"/>
                <a:ea typeface="Malgun Gothic" pitchFamily="34" charset="-122"/>
                <a:cs typeface="Malgun Gothic" pitchFamily="34" charset="-120"/>
              </a:rPr>
              <a:t>SQL 대비 우위는 실제 비교 이전에 단정하지 않습니다.</a:t>
            </a:r>
            <a:endParaRPr lang="en-US" sz="1500" dirty="0"/>
          </a:p>
        </p:txBody>
      </p:sp>
      <p:sp>
        <p:nvSpPr>
          <p:cNvPr id="9" name="Text 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가능·불가능의 우열 표가 아니라 구현 방식의 차이 · 정확도·효율 차이는 실험 전 · PostgreSQL 비교안: sql/hana_card_schema_draft.sql (DB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D   검증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추출한 관계와 생성한 답변은 단계마다 원문과 대조합니다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① 공식 PDF 원문</a:t>
            </a:r>
            <a:endParaRPr lang="en-US" sz="1500" dirty="0"/>
          </a:p>
        </p:txBody>
      </p:sp>
      <p:sp>
        <p:nvSpPr>
          <p:cNvPr id="7" name="Shape 5"/>
          <p:cNvSpPr/>
          <p:nvPr/>
        </p:nvSpPr>
        <p:spPr>
          <a:xfrm>
            <a:off x="3143936" y="1965960"/>
            <a:ext cx="219456" cy="0"/>
          </a:xfrm>
          <a:prstGeom prst="line">
            <a:avLst/>
          </a:prstGeom>
          <a:noFill/>
          <a:ln w="19050">
            <a:solidFill>
              <a:srgbClr val="8A94A3"/>
            </a:solidFill>
            <a:prstDash val="solid"/>
            <a:tailEnd type="triangle"/>
          </a:ln>
        </p:spPr>
        <p:txBody>
          <a:bodyPr/>
          <a:p/>
        </p:txBody>
      </p:sp>
      <p:sp>
        <p:nvSpPr>
          <p:cNvPr id="8" name="Shape 6"/>
          <p:cNvSpPr/>
          <p:nvPr/>
        </p:nvSpPr>
        <p:spPr>
          <a:xfrm>
            <a:off x="548640" y="2359152"/>
            <a:ext cx="2567864" cy="1188720"/>
          </a:xfrm>
          <a:prstGeom prst="roundRect">
            <a:avLst>
              <a:gd name="adj" fmla="val 7692"/>
            </a:avLst>
          </a:prstGeom>
          <a:solidFill>
            <a:srgbClr val="FBE6E2"/>
          </a:solidFill>
          <a:ln w="12700">
            <a:solidFill>
              <a:srgbClr val="FBE6E2"/>
            </a:solidFill>
            <a:prstDash val="solid"/>
          </a:ln>
        </p:spPr>
        <p:txBody>
          <a:bodyPr/>
          <a:p/>
        </p:txBody>
      </p:sp>
      <p:sp>
        <p:nvSpPr>
          <p:cNvPr id="9" name="Text 7"/>
          <p:cNvSpPr txBox="1"/>
          <p:nvPr/>
        </p:nvSpPr>
        <p:spPr>
          <a:xfrm>
            <a:off x="685800"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잘못된 표 추출</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BT 구간 열 소실</a:t>
            </a:r>
            <a:endParaRPr lang="en-US" sz="1400" dirty="0"/>
          </a:p>
        </p:txBody>
      </p:sp>
      <p:sp>
        <p:nvSpPr>
          <p:cNvPr id="10" name="Text 8"/>
          <p:cNvSpPr txBox="1"/>
          <p:nvPr/>
        </p:nvSpPr>
        <p:spPr>
          <a:xfrm>
            <a:off x="548640"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원문 이미지 ↔ 추출 텍스트</a:t>
            </a:r>
            <a:endParaRPr lang="en-US" sz="1200" dirty="0"/>
          </a:p>
        </p:txBody>
      </p:sp>
      <p:sp>
        <p:nvSpPr>
          <p:cNvPr id="11" name="Text 9"/>
          <p:cNvSpPr txBox="1"/>
          <p:nvPr/>
        </p:nvSpPr>
        <p:spPr>
          <a:xfrm>
            <a:off x="3390824"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② 구조화 관계</a:t>
            </a:r>
            <a:endParaRPr lang="en-US" sz="1500" dirty="0"/>
          </a:p>
        </p:txBody>
      </p:sp>
      <p:sp>
        <p:nvSpPr>
          <p:cNvPr id="12" name="Shape 10"/>
          <p:cNvSpPr/>
          <p:nvPr/>
        </p:nvSpPr>
        <p:spPr>
          <a:xfrm>
            <a:off x="5986120" y="1965960"/>
            <a:ext cx="219456" cy="0"/>
          </a:xfrm>
          <a:prstGeom prst="line">
            <a:avLst/>
          </a:prstGeom>
          <a:noFill/>
          <a:ln w="19050">
            <a:solidFill>
              <a:srgbClr val="8A94A3"/>
            </a:solidFill>
            <a:prstDash val="solid"/>
            <a:tailEnd type="triangle"/>
          </a:ln>
        </p:spPr>
        <p:txBody>
          <a:bodyPr/>
          <a:p/>
        </p:txBody>
      </p:sp>
      <p:sp>
        <p:nvSpPr>
          <p:cNvPr id="13" name="Shape 11"/>
          <p:cNvSpPr/>
          <p:nvPr/>
        </p:nvSpPr>
        <p:spPr>
          <a:xfrm>
            <a:off x="3390824" y="2359152"/>
            <a:ext cx="2567864" cy="1188720"/>
          </a:xfrm>
          <a:prstGeom prst="roundRect">
            <a:avLst>
              <a:gd name="adj" fmla="val 7692"/>
            </a:avLst>
          </a:prstGeom>
          <a:solidFill>
            <a:srgbClr val="FBE6E2"/>
          </a:solidFill>
          <a:ln w="12700">
            <a:solidFill>
              <a:srgbClr val="FBE6E2"/>
            </a:solidFill>
            <a:prstDash val="solid"/>
          </a:ln>
        </p:spPr>
        <p:txBody>
          <a:bodyPr/>
          <a:p/>
        </p:txBody>
      </p:sp>
      <p:sp>
        <p:nvSpPr>
          <p:cNvPr id="14" name="Text 12"/>
          <p:cNvSpPr txBox="1"/>
          <p:nvPr/>
        </p:nvSpPr>
        <p:spPr>
          <a:xfrm>
            <a:off x="3527984"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조건 누락 · 적용 범위 혼동</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상품권 ‘실적 제외’ 누락</a:t>
            </a:r>
            <a:endParaRPr lang="en-US" sz="1400" dirty="0"/>
          </a:p>
        </p:txBody>
      </p:sp>
      <p:sp>
        <p:nvSpPr>
          <p:cNvPr id="15" name="Text 13"/>
          <p:cNvSpPr txBox="1"/>
          <p:nvPr/>
        </p:nvSpPr>
        <p:spPr>
          <a:xfrm>
            <a:off x="3390824"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원문 문장 ↔ 관계</a:t>
            </a:r>
            <a:endParaRPr lang="en-US" sz="1200" dirty="0"/>
          </a:p>
        </p:txBody>
      </p:sp>
      <p:sp>
        <p:nvSpPr>
          <p:cNvPr id="16" name="Text 14"/>
          <p:cNvSpPr txBox="1"/>
          <p:nvPr/>
        </p:nvSpPr>
        <p:spPr>
          <a:xfrm>
            <a:off x="6233008"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③ 그래프 검색 결과</a:t>
            </a:r>
            <a:endParaRPr lang="en-US" sz="1500" dirty="0"/>
          </a:p>
        </p:txBody>
      </p:sp>
      <p:sp>
        <p:nvSpPr>
          <p:cNvPr id="17" name="Shape 15"/>
          <p:cNvSpPr/>
          <p:nvPr/>
        </p:nvSpPr>
        <p:spPr>
          <a:xfrm>
            <a:off x="8828303" y="1965960"/>
            <a:ext cx="219456" cy="0"/>
          </a:xfrm>
          <a:prstGeom prst="line">
            <a:avLst/>
          </a:prstGeom>
          <a:noFill/>
          <a:ln w="19050">
            <a:solidFill>
              <a:srgbClr val="8A94A3"/>
            </a:solidFill>
            <a:prstDash val="solid"/>
            <a:tailEnd type="triangle"/>
          </a:ln>
        </p:spPr>
        <p:txBody>
          <a:bodyPr/>
          <a:p/>
        </p:txBody>
      </p:sp>
      <p:sp>
        <p:nvSpPr>
          <p:cNvPr id="18" name="Shape 16"/>
          <p:cNvSpPr/>
          <p:nvPr/>
        </p:nvSpPr>
        <p:spPr>
          <a:xfrm>
            <a:off x="6233008" y="2359152"/>
            <a:ext cx="2567864" cy="1188720"/>
          </a:xfrm>
          <a:prstGeom prst="roundRect">
            <a:avLst>
              <a:gd name="adj" fmla="val 7692"/>
            </a:avLst>
          </a:prstGeom>
          <a:solidFill>
            <a:srgbClr val="FBE6E2"/>
          </a:solidFill>
          <a:ln w="12700">
            <a:solidFill>
              <a:srgbClr val="FBE6E2"/>
            </a:solidFill>
            <a:prstDash val="solid"/>
          </a:ln>
        </p:spPr>
        <p:txBody>
          <a:bodyPr/>
          <a:p/>
        </p:txBody>
      </p:sp>
      <p:sp>
        <p:nvSpPr>
          <p:cNvPr id="19" name="Text 17"/>
          <p:cNvSpPr txBox="1"/>
          <p:nvPr/>
        </p:nvSpPr>
        <p:spPr>
          <a:xfrm>
            <a:off x="6370168"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원문 조항 연결 오류</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다른 혜택의 조항을 반환</a:t>
            </a:r>
            <a:endParaRPr lang="en-US" sz="1400" dirty="0"/>
          </a:p>
        </p:txBody>
      </p:sp>
      <p:sp>
        <p:nvSpPr>
          <p:cNvPr id="20" name="Text 18"/>
          <p:cNvSpPr txBox="1"/>
          <p:nvPr/>
        </p:nvSpPr>
        <p:spPr>
          <a:xfrm>
            <a:off x="6233008"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쿼리·경로 ↔ 기대 결과</a:t>
            </a:r>
            <a:endParaRPr lang="en-US" sz="1200" dirty="0"/>
          </a:p>
        </p:txBody>
      </p:sp>
      <p:sp>
        <p:nvSpPr>
          <p:cNvPr id="21" name="Text 19"/>
          <p:cNvSpPr txBox="1"/>
          <p:nvPr/>
        </p:nvSpPr>
        <p:spPr>
          <a:xfrm>
            <a:off x="9075191"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④ LLM 생성 답변</a:t>
            </a:r>
            <a:endParaRPr lang="en-US" sz="1500" dirty="0"/>
          </a:p>
        </p:txBody>
      </p:sp>
      <p:sp>
        <p:nvSpPr>
          <p:cNvPr id="22" name="Shape 20"/>
          <p:cNvSpPr/>
          <p:nvPr/>
        </p:nvSpPr>
        <p:spPr>
          <a:xfrm>
            <a:off x="9075191" y="2359152"/>
            <a:ext cx="2567864" cy="1188720"/>
          </a:xfrm>
          <a:prstGeom prst="roundRect">
            <a:avLst>
              <a:gd name="adj" fmla="val 7692"/>
            </a:avLst>
          </a:prstGeom>
          <a:solidFill>
            <a:srgbClr val="FBE6E2"/>
          </a:solidFill>
          <a:ln w="12700">
            <a:solidFill>
              <a:srgbClr val="FBE6E2"/>
            </a:solidFill>
            <a:prstDash val="solid"/>
          </a:ln>
        </p:spPr>
        <p:txBody>
          <a:bodyPr/>
          <a:p/>
        </p:txBody>
      </p:sp>
      <p:sp>
        <p:nvSpPr>
          <p:cNvPr id="23" name="Text 21"/>
          <p:cNvSpPr txBox="1"/>
          <p:nvPr/>
        </p:nvSpPr>
        <p:spPr>
          <a:xfrm>
            <a:off x="9212351" y="2423160"/>
            <a:ext cx="2293544" cy="1078992"/>
          </a:xfrm>
          <a:prstGeom prst="rect">
            <a:avLst/>
          </a:prstGeom>
          <a:noFill/>
          <a:ln/>
        </p:spPr>
        <p:txBody>
          <a:bodyPr wrap="square" lIns="0" tIns="0" rIns="0" bIns="0" rtlCol="0" anchor="t"/>
          <a:lstStyle/>
          <a:p>
            <a:pPr indent="0" marL="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indent="0" marL="0">
              <a:buNone/>
            </a:pPr>
            <a:r>
              <a:rPr lang="en-US" sz="1400" b="1" dirty="0">
                <a:solidFill>
                  <a:srgbClr val="0E1A2B"/>
                </a:solidFill>
                <a:latin typeface="Malgun Gothic" pitchFamily="34" charset="0"/>
                <a:ea typeface="Malgun Gothic" pitchFamily="34" charset="-122"/>
                <a:cs typeface="Malgun Gothic" pitchFamily="34" charset="-120"/>
              </a:rPr>
              <a:t>검색 결과와 답변 불일치</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예: 근거에 없는 조건을 덧붙임</a:t>
            </a:r>
            <a:endParaRPr lang="en-US" sz="1400" dirty="0"/>
          </a:p>
        </p:txBody>
      </p:sp>
      <p:sp>
        <p:nvSpPr>
          <p:cNvPr id="24" name="Text 22"/>
          <p:cNvSpPr txBox="1"/>
          <p:nvPr/>
        </p:nvSpPr>
        <p:spPr>
          <a:xfrm>
            <a:off x="9075191" y="3611880"/>
            <a:ext cx="2567864" cy="292608"/>
          </a:xfrm>
          <a:prstGeom prst="rect">
            <a:avLst/>
          </a:prstGeom>
          <a:noFill/>
          <a:ln/>
        </p:spPr>
        <p:txBody>
          <a:bodyPr wrap="square" lIns="0" tIns="0" rIns="0" bIns="0" rtlCol="0" anchor="t"/>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대조: 검색 결과 ↔ 답변 문장</a:t>
            </a:r>
            <a:endParaRPr lang="en-US" sz="1200" dirty="0"/>
          </a:p>
        </p:txBody>
      </p:sp>
      <p:sp>
        <p:nvSpPr>
          <p:cNvPr id="25" name="Text 23"/>
          <p:cNvSpPr txBox="1"/>
          <p:nvPr/>
        </p:nvSpPr>
        <p:spPr>
          <a:xfrm>
            <a:off x="548640" y="4069080"/>
            <a:ext cx="11094415" cy="822960"/>
          </a:xfrm>
          <a:prstGeom prst="roundRect">
            <a:avLst>
              <a:gd name="adj" fmla="val 8889"/>
            </a:avLst>
          </a:prstGeom>
          <a:solidFill>
            <a:srgbClr val="E3F4F1"/>
          </a:solidFill>
          <a:ln>
            <a:solidFill>
              <a:srgbClr val="E3F4F1"/>
            </a:solidFill>
          </a:ln>
        </p:spPr>
        <p:txBody>
          <a:bodyPr wrap="square" lIns="152400" tIns="152400" rIns="152400" bIns="152400" rtlCol="0" anchor="ctr"/>
          <a:lstStyle/>
          <a:p>
            <a:pPr algn="l" indent="0" marL="0">
              <a:buNone/>
            </a:pPr>
            <a:r>
              <a:rPr lang="en-US" sz="1300" b="1" dirty="0">
                <a:solidFill>
                  <a:srgbClr val="0D6F64"/>
                </a:solidFill>
                <a:latin typeface="Malgun Gothic" pitchFamily="34" charset="0"/>
                <a:ea typeface="Malgun Gothic" pitchFamily="34" charset="-122"/>
                <a:cs typeface="Malgun Gothic" pitchFamily="34" charset="-120"/>
              </a:rPr>
              <a:t>실행 기록(trace)으로 남길 수 있는 것  </a:t>
            </a:r>
            <a:pPr algn="l" indent="0" marL="0">
              <a:buNone/>
            </a:pPr>
            <a:r>
              <a:rPr lang="en-US" sz="1300" dirty="0">
                <a:solidFill>
                  <a:srgbClr val="1A2433"/>
                </a:solidFill>
                <a:latin typeface="Malgun Gothic" pitchFamily="34" charset="0"/>
                <a:ea typeface="Malgun Gothic" pitchFamily="34" charset="-122"/>
                <a:cs typeface="Malgun Gothic" pitchFamily="34" charset="-120"/>
              </a:rPr>
              <a:t>질문 · 실행 쿼리·파라미터 · 반환 조건·조항 · 생성 답변 · 모델·데이터 버전 (우리 시스템 실행 시)</a:t>
            </a:r>
            <a:endParaRPr lang="en-US" sz="1300" dirty="0"/>
          </a:p>
          <a:p>
            <a:pPr algn="l" indent="0" marL="0">
              <a:buNone/>
            </a:pPr>
            <a:r>
              <a:rPr lang="en-US" sz="1100" dirty="0">
                <a:solidFill>
                  <a:srgbClr val="3A4A60"/>
                </a:solidFill>
                <a:latin typeface="Malgun Gothic" pitchFamily="34" charset="0"/>
                <a:ea typeface="Malgun Gothic" pitchFamily="34" charset="-122"/>
                <a:cs typeface="Malgun Gothic" pitchFamily="34" charset="-120"/>
              </a:rPr>
              <a:t>쿼리 로그 포매터(QueryLogger)는 구현돼 있고, trace 저장 구조는 설계안입니다.</a:t>
            </a:r>
            <a:endParaRPr lang="en-US" sz="1300" dirty="0"/>
          </a:p>
        </p:txBody>
      </p:sp>
      <p:sp>
        <p:nvSpPr>
          <p:cNvPr id="26" name="Text 24"/>
          <p:cNvSpPr txBox="1"/>
          <p:nvPr/>
        </p:nvSpPr>
        <p:spPr>
          <a:xfrm>
            <a:off x="548640" y="5010912"/>
            <a:ext cx="11094415" cy="685800"/>
          </a:xfrm>
          <a:prstGeom prst="roundRect">
            <a:avLst>
              <a:gd name="adj" fmla="val 10667"/>
            </a:avLst>
          </a:prstGeom>
          <a:solidFill>
            <a:srgbClr val="FBE6E2"/>
          </a:solidFill>
          <a:ln>
            <a:solidFill>
              <a:srgbClr val="FBE6E2"/>
            </a:solidFill>
          </a:ln>
        </p:spPr>
        <p:txBody>
          <a:bodyPr wrap="square" lIns="152400" tIns="152400" rIns="152400" bIns="1524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외부 AI의 최종 답변은 MCP 호출 로그만으로 자동 검증할 수 없습니다. </a:t>
            </a:r>
            <a:pPr algn="l" indent="0" marL="0">
              <a:buNone/>
            </a:pPr>
            <a:r>
              <a:rPr lang="en-US" sz="1400" dirty="0">
                <a:solidFill>
                  <a:srgbClr val="1A2433"/>
                </a:solidFill>
                <a:latin typeface="Malgun Gothic" pitchFamily="34" charset="0"/>
                <a:ea typeface="Malgun Gothic" pitchFamily="34" charset="-122"/>
                <a:cs typeface="Malgun Gothic" pitchFamily="34" charset="-120"/>
              </a:rPr>
              <a:t>답변을 별도로 확보한 경우에만 사후 대조합니다.</a:t>
            </a:r>
            <a:endParaRPr lang="en-US" sz="14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오류 6분류·검증 기준은 과제 M8 · 오답 원인 추적 예시(가상)는 7쪽 · 원문 근거와 실행 기록의 구분은 부록 H</a:t>
            </a:r>
            <a:endParaRPr lang="en-US" sz="1000" dirty="0"/>
          </a:p>
        </p:txBody>
      </p:sp>
      <p:sp>
        <p:nvSpPr>
          <p:cNvPr id="28"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E   과제 수행 증빙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M0~M9와 현재 상태 (2026-10-30 저장소 기준)</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3931920"/>
                <a:gridCol w="1188720"/>
                <a:gridCol w="4050792"/>
              </a:tblGrid>
              <a:tr h="36576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과제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 엔진에서 할 일</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관련 쪽</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현재 상태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M0 주제·문서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대표 4종 우선, 체크·신용 약 10종 목표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4·5·11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4종 원문 대조 완료 / 약 10종 선정 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M1 전처리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텍스트 추출·청크·원문 위치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표본 추출 검증 완료 · 공통 PDF 읽기 있음 / 카드 파이프라인 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M2 온톨로지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카드·혜택·규칙·공통 개념·조항</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8·부록 F</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M3·M4 LLM 추출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문장·조항 ID 필수 JSON, 실패 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8·부록 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M5 정규화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공통 개념 연결, 카드별 규칙 분리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M6 Neo4j 적재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MERGE 재적재, 근거 속성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Neo4j 세션 공통 기반 있음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M7 Cypher</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조건 조회 · 영향 후보 · 근거 경로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9·부록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기대 결과는 원문 수작업 도출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M8 검증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원문–관계–그래프–답변 대조, 오류 6분류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부록 D·G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기준·파일럿 질문 정의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M9 통합·MCP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문서 → 그래프 → MCP 한 흐름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도구 2안, 컷라인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파이프라인 A·B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파일 기반 / DB 기반 독립 추출 → 결과 비교</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DB 테이블 DDL 초안(미적용)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코드 존재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 등록·조회 코드 + 단위 테스트 코드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코드 존재 확인 · 테스트 통과 미확인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과제_매핑표_10.29.md · card_benefit/README.md · src/common · sql/hana_card_schema_draft.sql</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F   그래프 설계안 (M2)</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카드별 규칙은 따로, 같은 대상은 공통 개념으로 연결합니다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2057400"/>
            <a:ext cx="1965960" cy="685800"/>
          </a:xfrm>
          <a:prstGeom prst="roundRect">
            <a:avLst>
              <a:gd name="adj" fmla="val 16000"/>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카드 상품</a:t>
            </a:r>
            <a:endParaRPr lang="en-US" sz="1200" dirty="0"/>
          </a:p>
        </p:txBody>
      </p:sp>
      <p:sp>
        <p:nvSpPr>
          <p:cNvPr id="6" name="Text 4"/>
          <p:cNvSpPr txBox="1"/>
          <p:nvPr/>
        </p:nvSpPr>
        <p:spPr>
          <a:xfrm>
            <a:off x="3429000" y="2057400"/>
            <a:ext cx="1965960" cy="685800"/>
          </a:xfrm>
          <a:prstGeom prst="roundRect">
            <a:avLst>
              <a:gd name="adj" fmla="val 16000"/>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혜택</a:t>
            </a:r>
            <a:endParaRPr lang="en-US" sz="1200" dirty="0"/>
          </a:p>
        </p:txBody>
      </p:sp>
      <p:sp>
        <p:nvSpPr>
          <p:cNvPr id="7" name="Text 5"/>
          <p:cNvSpPr txBox="1"/>
          <p:nvPr/>
        </p:nvSpPr>
        <p:spPr>
          <a:xfrm>
            <a:off x="6309360" y="2057400"/>
            <a:ext cx="1965960" cy="685800"/>
          </a:xfrm>
          <a:prstGeom prst="roundRect">
            <a:avLst>
              <a:gd name="adj" fmla="val 16000"/>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실적 조건</a:t>
            </a:r>
            <a:endParaRPr lang="en-US" sz="1200" dirty="0"/>
          </a:p>
        </p:txBody>
      </p:sp>
      <p:sp>
        <p:nvSpPr>
          <p:cNvPr id="8" name="Text 6"/>
          <p:cNvSpPr txBox="1"/>
          <p:nvPr/>
        </p:nvSpPr>
        <p:spPr>
          <a:xfrm>
            <a:off x="9189720" y="2057400"/>
            <a:ext cx="2450592" cy="685800"/>
          </a:xfrm>
          <a:prstGeom prst="roundRect">
            <a:avLst>
              <a:gd name="adj" fmla="val 16000"/>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규칙 {scope, 문서 판}</a:t>
            </a:r>
            <a:endParaRPr lang="en-US" sz="1200" dirty="0"/>
          </a:p>
        </p:txBody>
      </p:sp>
      <p:sp>
        <p:nvSpPr>
          <p:cNvPr id="9" name="Shape 7"/>
          <p:cNvSpPr/>
          <p:nvPr/>
        </p:nvSpPr>
        <p:spPr>
          <a:xfrm>
            <a:off x="2542032" y="2400300"/>
            <a:ext cx="859536" cy="0"/>
          </a:xfrm>
          <a:prstGeom prst="line">
            <a:avLst/>
          </a:prstGeom>
          <a:noFill/>
          <a:ln w="19050">
            <a:solidFill>
              <a:srgbClr val="3A4A60"/>
            </a:solidFill>
            <a:prstDash val="solid"/>
            <a:tailEnd type="triangle"/>
          </a:ln>
        </p:spPr>
      </p:sp>
      <p:sp>
        <p:nvSpPr>
          <p:cNvPr id="10" name="Text 8"/>
          <p:cNvSpPr txBox="1"/>
          <p:nvPr/>
        </p:nvSpPr>
        <p:spPr>
          <a:xfrm>
            <a:off x="233172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HAS_BENEFIT</a:t>
            </a:r>
            <a:endParaRPr lang="en-US" sz="1000" dirty="0"/>
          </a:p>
        </p:txBody>
      </p:sp>
      <p:sp>
        <p:nvSpPr>
          <p:cNvPr id="11" name="Shape 9"/>
          <p:cNvSpPr/>
          <p:nvPr/>
        </p:nvSpPr>
        <p:spPr>
          <a:xfrm>
            <a:off x="5422392" y="2400300"/>
            <a:ext cx="859536" cy="0"/>
          </a:xfrm>
          <a:prstGeom prst="line">
            <a:avLst/>
          </a:prstGeom>
          <a:noFill/>
          <a:ln w="19050">
            <a:solidFill>
              <a:srgbClr val="3A4A60"/>
            </a:solidFill>
            <a:prstDash val="solid"/>
            <a:tailEnd type="triangle"/>
          </a:ln>
        </p:spPr>
      </p:sp>
      <p:sp>
        <p:nvSpPr>
          <p:cNvPr id="12" name="Text 10"/>
          <p:cNvSpPr txBox="1"/>
          <p:nvPr/>
        </p:nvSpPr>
        <p:spPr>
          <a:xfrm>
            <a:off x="521208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REQUIRES</a:t>
            </a:r>
            <a:endParaRPr lang="en-US" sz="1000" dirty="0"/>
          </a:p>
        </p:txBody>
      </p:sp>
      <p:sp>
        <p:nvSpPr>
          <p:cNvPr id="13" name="Shape 11"/>
          <p:cNvSpPr/>
          <p:nvPr/>
        </p:nvSpPr>
        <p:spPr>
          <a:xfrm>
            <a:off x="8302752" y="2400300"/>
            <a:ext cx="859536" cy="0"/>
          </a:xfrm>
          <a:prstGeom prst="line">
            <a:avLst/>
          </a:prstGeom>
          <a:noFill/>
          <a:ln w="19050">
            <a:solidFill>
              <a:srgbClr val="3A4A60"/>
            </a:solidFill>
            <a:prstDash val="solid"/>
            <a:tailEnd type="triangle"/>
          </a:ln>
        </p:spPr>
      </p:sp>
      <p:sp>
        <p:nvSpPr>
          <p:cNvPr id="14" name="Text 12"/>
          <p:cNvSpPr txBox="1"/>
          <p:nvPr/>
        </p:nvSpPr>
        <p:spPr>
          <a:xfrm>
            <a:off x="809244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EXCLUDES</a:t>
            </a:r>
            <a:endParaRPr lang="en-US" sz="1000" dirty="0"/>
          </a:p>
        </p:txBody>
      </p:sp>
      <p:sp>
        <p:nvSpPr>
          <p:cNvPr id="15" name="Text 13"/>
          <p:cNvSpPr txBox="1"/>
          <p:nvPr/>
        </p:nvSpPr>
        <p:spPr>
          <a:xfrm>
            <a:off x="548640" y="3520440"/>
            <a:ext cx="1965960" cy="685800"/>
          </a:xfrm>
          <a:prstGeom prst="roundRect">
            <a:avLst>
              <a:gd name="adj" fmla="val 16000"/>
            </a:avLst>
          </a:prstGeom>
          <a:solidFill>
            <a:srgbClr val="E8ECF2"/>
          </a:solidFill>
          <a:ln w="12700">
            <a:solidFill>
              <a:srgbClr val="A0AAB8"/>
            </a:solidFill>
            <a:prstDash val="dash"/>
          </a:ln>
        </p:spPr>
        <p:txBody>
          <a:bodyPr wrap="square" lIns="38100" tIns="38100" rIns="38100" bIns="38100" rtlCol="0" anchor="ctr"/>
          <a:lstStyle/>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Trace</a:t>
            </a:r>
            <a:endParaRPr lang="en-US" sz="1200" dirty="0"/>
          </a:p>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실행 기록 (설계 메모)</a:t>
            </a:r>
            <a:endParaRPr lang="en-US" sz="1200" dirty="0"/>
          </a:p>
        </p:txBody>
      </p:sp>
      <p:sp>
        <p:nvSpPr>
          <p:cNvPr id="16" name="Text 14"/>
          <p:cNvSpPr txBox="1"/>
          <p:nvPr/>
        </p:nvSpPr>
        <p:spPr>
          <a:xfrm>
            <a:off x="3429000" y="3520440"/>
            <a:ext cx="1965960" cy="685800"/>
          </a:xfrm>
          <a:prstGeom prst="roundRect">
            <a:avLst>
              <a:gd name="adj" fmla="val 16000"/>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Rule</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월 한도</a:t>
            </a:r>
            <a:endParaRPr lang="en-US" sz="1200" dirty="0"/>
          </a:p>
        </p:txBody>
      </p:sp>
      <p:sp>
        <p:nvSpPr>
          <p:cNvPr id="17" name="Text 15"/>
          <p:cNvSpPr txBox="1"/>
          <p:nvPr/>
        </p:nvSpPr>
        <p:spPr>
          <a:xfrm>
            <a:off x="6309360" y="3520440"/>
            <a:ext cx="1965960" cy="685800"/>
          </a:xfrm>
          <a:prstGeom prst="roundRect">
            <a:avLst>
              <a:gd name="adj" fmla="val 16000"/>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공식 조항</a:t>
            </a:r>
            <a:endParaRPr lang="en-US" sz="1200" dirty="0"/>
          </a:p>
        </p:txBody>
      </p:sp>
      <p:sp>
        <p:nvSpPr>
          <p:cNvPr id="18" name="Text 16"/>
          <p:cNvSpPr txBox="1"/>
          <p:nvPr/>
        </p:nvSpPr>
        <p:spPr>
          <a:xfrm>
            <a:off x="9189720" y="3520440"/>
            <a:ext cx="2450592" cy="685800"/>
          </a:xfrm>
          <a:prstGeom prst="roundRect">
            <a:avLst>
              <a:gd name="adj" fmla="val 16000"/>
            </a:avLst>
          </a:prstGeom>
          <a:solidFill>
            <a:srgbClr val="FBE6E2"/>
          </a:solidFill>
          <a:ln w="15875">
            <a:solidFill>
              <a:srgbClr val="D9472B"/>
            </a:solidFill>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Concept</a:t>
            </a:r>
            <a:endParaRPr lang="en-US" sz="1200" dirty="0"/>
          </a:p>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상품권 구매 (공통)</a:t>
            </a:r>
            <a:endParaRPr lang="en-US" sz="1200" dirty="0"/>
          </a:p>
        </p:txBody>
      </p:sp>
      <p:sp>
        <p:nvSpPr>
          <p:cNvPr id="19" name="Shape 17"/>
          <p:cNvSpPr/>
          <p:nvPr/>
        </p:nvSpPr>
        <p:spPr>
          <a:xfrm>
            <a:off x="4411980" y="2770632"/>
            <a:ext cx="0" cy="722376"/>
          </a:xfrm>
          <a:prstGeom prst="line">
            <a:avLst/>
          </a:prstGeom>
          <a:noFill/>
          <a:ln w="19050">
            <a:solidFill>
              <a:srgbClr val="3A4A60"/>
            </a:solidFill>
            <a:prstDash val="solid"/>
            <a:tailEnd type="triangle"/>
          </a:ln>
        </p:spPr>
      </p:sp>
      <p:sp>
        <p:nvSpPr>
          <p:cNvPr id="20" name="Text 18"/>
          <p:cNvSpPr txBox="1"/>
          <p:nvPr/>
        </p:nvSpPr>
        <p:spPr>
          <a:xfrm>
            <a:off x="4485132" y="2907792"/>
            <a:ext cx="118872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LIMITED_BY</a:t>
            </a:r>
            <a:endParaRPr lang="en-US" sz="1000" dirty="0"/>
          </a:p>
        </p:txBody>
      </p:sp>
      <p:sp>
        <p:nvSpPr>
          <p:cNvPr id="21" name="Shape 19"/>
          <p:cNvSpPr/>
          <p:nvPr/>
        </p:nvSpPr>
        <p:spPr>
          <a:xfrm>
            <a:off x="7292340" y="2770632"/>
            <a:ext cx="0" cy="722376"/>
          </a:xfrm>
          <a:prstGeom prst="line">
            <a:avLst/>
          </a:prstGeom>
          <a:noFill/>
          <a:ln w="19050">
            <a:solidFill>
              <a:srgbClr val="3A4A60"/>
            </a:solidFill>
            <a:prstDash val="solid"/>
            <a:tailEnd type="triangle"/>
          </a:ln>
        </p:spPr>
      </p:sp>
      <p:sp>
        <p:nvSpPr>
          <p:cNvPr id="22" name="Text 20"/>
          <p:cNvSpPr txBox="1"/>
          <p:nvPr/>
        </p:nvSpPr>
        <p:spPr>
          <a:xfrm>
            <a:off x="7365492" y="2907792"/>
            <a:ext cx="128016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SOURCED_FROM</a:t>
            </a:r>
            <a:endParaRPr lang="en-US" sz="1000" dirty="0"/>
          </a:p>
        </p:txBody>
      </p:sp>
      <p:sp>
        <p:nvSpPr>
          <p:cNvPr id="23" name="Shape 21"/>
          <p:cNvSpPr/>
          <p:nvPr/>
        </p:nvSpPr>
        <p:spPr>
          <a:xfrm>
            <a:off x="10415016" y="2770632"/>
            <a:ext cx="0" cy="722376"/>
          </a:xfrm>
          <a:prstGeom prst="line">
            <a:avLst/>
          </a:prstGeom>
          <a:noFill/>
          <a:ln w="19050">
            <a:solidFill>
              <a:srgbClr val="D9472B"/>
            </a:solidFill>
            <a:prstDash val="solid"/>
            <a:tailEnd type="triangle"/>
          </a:ln>
        </p:spPr>
      </p:sp>
      <p:sp>
        <p:nvSpPr>
          <p:cNvPr id="24" name="Text 22"/>
          <p:cNvSpPr txBox="1"/>
          <p:nvPr/>
        </p:nvSpPr>
        <p:spPr>
          <a:xfrm>
            <a:off x="10488168" y="2907792"/>
            <a:ext cx="1097280" cy="237744"/>
          </a:xfrm>
          <a:prstGeom prst="rect">
            <a:avLst/>
          </a:prstGeom>
          <a:noFill/>
          <a:ln/>
        </p:spPr>
        <p:txBody>
          <a:bodyPr wrap="square" lIns="0" tIns="0" rIns="0" bIns="0" rtlCol="0" anchor="t"/>
          <a:lstStyle/>
          <a:p>
            <a:pPr indent="0" marL="0">
              <a:buNone/>
            </a:pPr>
            <a:r>
              <a:rPr lang="en-US" sz="1000" b="1" dirty="0">
                <a:solidFill>
                  <a:srgbClr val="A8311A"/>
                </a:solidFill>
                <a:latin typeface="Courier New" pitchFamily="34" charset="0"/>
                <a:ea typeface="Courier New" pitchFamily="34" charset="-122"/>
                <a:cs typeface="Courier New" pitchFamily="34" charset="-120"/>
              </a:rPr>
              <a:t>REFERS_TO</a:t>
            </a:r>
            <a:endParaRPr lang="en-US" sz="1000" dirty="0"/>
          </a:p>
        </p:txBody>
      </p:sp>
      <p:sp>
        <p:nvSpPr>
          <p:cNvPr id="25" name="Text 23"/>
          <p:cNvSpPr txBox="1"/>
          <p:nvPr/>
        </p:nvSpPr>
        <p:spPr>
          <a:xfrm>
            <a:off x="548640" y="4251960"/>
            <a:ext cx="1965960" cy="237744"/>
          </a:xfrm>
          <a:prstGeom prst="rect">
            <a:avLst/>
          </a:prstGeom>
          <a:noFill/>
          <a:ln/>
        </p:spPr>
        <p:txBody>
          <a:bodyPr wrap="square" lIns="0" tIns="0" rIns="0" bIns="0" rtlCol="0" anchor="t"/>
          <a:lstStyle/>
          <a:p>
            <a:pPr algn="ctr" indent="0" marL="0">
              <a:buNone/>
            </a:pPr>
            <a:r>
              <a:rPr lang="en-US" sz="1000" dirty="0">
                <a:solidFill>
                  <a:srgbClr val="3A4A60"/>
                </a:solidFill>
                <a:latin typeface="Courier New" pitchFamily="34" charset="0"/>
                <a:ea typeface="Courier New" pitchFamily="34" charset="-122"/>
                <a:cs typeface="Courier New" pitchFamily="34" charset="-120"/>
              </a:rPr>
              <a:t>USED → 경로상의 노드</a:t>
            </a:r>
            <a:endParaRPr lang="en-US" sz="1000" dirty="0"/>
          </a:p>
        </p:txBody>
      </p:sp>
      <p:sp>
        <p:nvSpPr>
          <p:cNvPr id="26" name="Text 24"/>
          <p:cNvSpPr txBox="1"/>
          <p:nvPr/>
        </p:nvSpPr>
        <p:spPr>
          <a:xfrm>
            <a:off x="548640" y="4553712"/>
            <a:ext cx="11094415" cy="566928"/>
          </a:xfrm>
          <a:prstGeom prst="rect">
            <a:avLst/>
          </a:prstGeom>
          <a:noFill/>
          <a:ln/>
        </p:spPr>
        <p:txBody>
          <a:bodyPr wrap="square" lIns="0" tIns="0" rIns="0" bIns="0" rtlCol="0" anchor="t"/>
          <a:lstStyle/>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규칙은 카드별로 따로 저장하고, 같은 대상(상품권 구매)만 공통 개념으로 연결합니다. 정책이 같다고 가정해 규칙을 합치지 않습니다.</a:t>
            </a:r>
            <a:endParaRPr lang="en-US" sz="1200" dirty="0"/>
          </a:p>
          <a:p>
            <a:pPr indent="0" marL="0">
              <a:lnSpc>
                <a:spcPct val="110000"/>
              </a:lnSpc>
              <a:buNone/>
            </a:pPr>
            <a:r>
              <a:rPr lang="en-US" sz="1200" dirty="0">
                <a:solidFill>
                  <a:srgbClr val="3A4A60"/>
                </a:solidFill>
                <a:latin typeface="Malgun Gothic" pitchFamily="34" charset="0"/>
                <a:ea typeface="Malgun Gothic" pitchFamily="34" charset="-122"/>
                <a:cs typeface="Malgun Gothic" pitchFamily="34" charset="-120"/>
              </a:rPr>
              <a:t>모든 관계 속성: document_id · page · evidence(원문 문장) · 문서 판</a:t>
            </a:r>
            <a:endParaRPr lang="en-US" sz="1200" dirty="0"/>
          </a:p>
        </p:txBody>
      </p:sp>
      <p:sp>
        <p:nvSpPr>
          <p:cNvPr id="27" name="Text 25"/>
          <p:cNvSpPr txBox="1"/>
          <p:nvPr/>
        </p:nvSpPr>
        <p:spPr>
          <a:xfrm>
            <a:off x="548640" y="5193792"/>
            <a:ext cx="11094415" cy="1097280"/>
          </a:xfrm>
          <a:prstGeom prst="roundRect">
            <a:avLst>
              <a:gd name="adj" fmla="val 6667"/>
            </a:avLst>
          </a:prstGeom>
          <a:solidFill>
            <a:srgbClr val="0E1A2B"/>
          </a:solidFill>
          <a:ln>
            <a:solidFill>
              <a:srgbClr val="0E1A2B"/>
            </a:solidFill>
          </a:ln>
        </p:spPr>
        <p:txBody>
          <a:bodyPr wrap="square" lIns="127000" tIns="127000" rIns="127000" bIns="127000" rtlCol="0" anchor="t"/>
          <a:lstStyle/>
          <a:p>
            <a:pPr algn="l" indent="0" marL="0">
              <a:buNone/>
            </a:pPr>
            <a:r>
              <a:rPr lang="en-US" sz="1000" dirty="0">
                <a:solidFill>
                  <a:srgbClr val="E6ECF4"/>
                </a:solidFill>
                <a:latin typeface="Courier New" pitchFamily="34" charset="0"/>
                <a:ea typeface="Courier New" pitchFamily="34" charset="-122"/>
                <a:cs typeface="Courier New" pitchFamily="34" charset="-120"/>
              </a:rPr>
              <a:t>// 영향 후보 조회 (예시 Cypher, 미실행)</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MATCH (x:Concept {name:'상품권 구매'})&lt;-[:REFERS_TO]-(r:Rule {scope:'실적'})&lt;-[:EXCLUDES]-(c:Rule)&lt;-[:REQUIRES]-(b:Benefit)&lt;-[:HAS_BENEFIT]-(k:Card)</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OPTIONAL MATCH (r)-[:SOURCED_FROM]-&gt;(cl:Clause)</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RETURN k.name AS card, b.name AS benefit, r.doc_version AS version, cl.id AS clause</a:t>
            </a:r>
            <a:endParaRPr lang="en-US" sz="10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과제_매핑표_10.29.md M2 안을 카드별 규칙 분리로 보완 · Trace는 설계 메모 · 쿼리는 설계 예시이며 실행 결과 아님</a:t>
            </a:r>
            <a:endParaRPr lang="en-US" sz="1000" dirty="0"/>
          </a:p>
        </p:txBody>
      </p:sp>
      <p:sp>
        <p:nvSpPr>
          <p:cNvPr id="29"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G   파일럿 검증 계획</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초기 파일럿 — 결과 칸은 실행한 뒤에만 채웁니다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548640" y="1664208"/>
            <a:ext cx="5669280" cy="4572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하나카드 4종 약관에서 파일럿 질문 15~20개 · 정답 기준은 원문 조항</a:t>
            </a:r>
            <a:endParaRPr lang="en-US" sz="1300" dirty="0"/>
          </a:p>
        </p:txBody>
      </p:sp>
      <p:sp>
        <p:nvSpPr>
          <p:cNvPr id="6" name="Text 4"/>
          <p:cNvSpPr txBox="1"/>
          <p:nvPr/>
        </p:nvSpPr>
        <p:spPr>
          <a:xfrm>
            <a:off x="548640" y="219456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Q1</a:t>
            </a:r>
            <a:endParaRPr lang="en-US" sz="1200" dirty="0"/>
          </a:p>
        </p:txBody>
      </p:sp>
      <p:sp>
        <p:nvSpPr>
          <p:cNvPr id="7" name="Text 5"/>
          <p:cNvSpPr txBox="1"/>
          <p:nvPr/>
        </p:nvSpPr>
        <p:spPr>
          <a:xfrm>
            <a:off x="1234440" y="219456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 구매가 전월실적에서 제외되는가?</a:t>
            </a:r>
            <a:endParaRPr lang="en-US" sz="1300" dirty="0"/>
          </a:p>
        </p:txBody>
      </p:sp>
      <p:sp>
        <p:nvSpPr>
          <p:cNvPr id="8" name="Text 6"/>
          <p:cNvSpPr txBox="1"/>
          <p:nvPr/>
        </p:nvSpPr>
        <p:spPr>
          <a:xfrm>
            <a:off x="548640" y="274320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Q2</a:t>
            </a:r>
            <a:endParaRPr lang="en-US" sz="1200" dirty="0"/>
          </a:p>
        </p:txBody>
      </p:sp>
      <p:sp>
        <p:nvSpPr>
          <p:cNvPr id="9" name="Text 7"/>
          <p:cNvSpPr txBox="1"/>
          <p:nvPr/>
        </p:nvSpPr>
        <p:spPr>
          <a:xfrm>
            <a:off x="1234440" y="274320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 구매가 혜택 적용에서도 제외되는가?</a:t>
            </a:r>
            <a:endParaRPr lang="en-US" sz="1300" dirty="0"/>
          </a:p>
        </p:txBody>
      </p:sp>
      <p:sp>
        <p:nvSpPr>
          <p:cNvPr id="10" name="Text 8"/>
          <p:cNvSpPr txBox="1"/>
          <p:nvPr/>
        </p:nvSpPr>
        <p:spPr>
          <a:xfrm>
            <a:off x="548640" y="329184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Q3</a:t>
            </a:r>
            <a:endParaRPr lang="en-US" sz="1200" dirty="0"/>
          </a:p>
        </p:txBody>
      </p:sp>
      <p:sp>
        <p:nvSpPr>
          <p:cNvPr id="11" name="Text 9"/>
          <p:cNvSpPr txBox="1"/>
          <p:nvPr/>
        </p:nvSpPr>
        <p:spPr>
          <a:xfrm>
            <a:off x="1234440" y="329184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특정 혜택의 전월실적 기준은 얼마인가?</a:t>
            </a:r>
            <a:endParaRPr lang="en-US" sz="1300" dirty="0"/>
          </a:p>
        </p:txBody>
      </p:sp>
      <p:sp>
        <p:nvSpPr>
          <p:cNvPr id="12" name="Text 10"/>
          <p:cNvSpPr txBox="1"/>
          <p:nvPr/>
        </p:nvSpPr>
        <p:spPr>
          <a:xfrm>
            <a:off x="548640" y="384048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Q4</a:t>
            </a:r>
            <a:endParaRPr lang="en-US" sz="1200" dirty="0"/>
          </a:p>
        </p:txBody>
      </p:sp>
      <p:sp>
        <p:nvSpPr>
          <p:cNvPr id="13" name="Text 11"/>
          <p:cNvSpPr txBox="1"/>
          <p:nvPr/>
        </p:nvSpPr>
        <p:spPr>
          <a:xfrm>
            <a:off x="1234440" y="384048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신규 사용 등록 예외는 어느 혜택에 적용되는가?</a:t>
            </a:r>
            <a:endParaRPr lang="en-US" sz="1300" dirty="0"/>
          </a:p>
        </p:txBody>
      </p:sp>
      <p:sp>
        <p:nvSpPr>
          <p:cNvPr id="14" name="Text 12"/>
          <p:cNvSpPr txBox="1"/>
          <p:nvPr/>
        </p:nvSpPr>
        <p:spPr>
          <a:xfrm>
            <a:off x="548640" y="438912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Q5</a:t>
            </a:r>
            <a:endParaRPr lang="en-US" sz="1200" dirty="0"/>
          </a:p>
        </p:txBody>
      </p:sp>
      <p:sp>
        <p:nvSpPr>
          <p:cNvPr id="15" name="Text 13"/>
          <p:cNvSpPr txBox="1"/>
          <p:nvPr/>
        </p:nvSpPr>
        <p:spPr>
          <a:xfrm>
            <a:off x="1234440" y="438912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유사 혜택을 가진 카드들의 조건은 어떻게 다른가?</a:t>
            </a:r>
            <a:endParaRPr lang="en-US" sz="1300" dirty="0"/>
          </a:p>
        </p:txBody>
      </p:sp>
      <p:sp>
        <p:nvSpPr>
          <p:cNvPr id="16" name="Text 14"/>
          <p:cNvSpPr txBox="1"/>
          <p:nvPr/>
        </p:nvSpPr>
        <p:spPr>
          <a:xfrm>
            <a:off x="548640" y="493776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Q6</a:t>
            </a:r>
            <a:endParaRPr lang="en-US" sz="1200" dirty="0"/>
          </a:p>
        </p:txBody>
      </p:sp>
      <p:sp>
        <p:nvSpPr>
          <p:cNvPr id="17" name="Text 15"/>
          <p:cNvSpPr txBox="1"/>
          <p:nvPr/>
        </p:nvSpPr>
        <p:spPr>
          <a:xfrm>
            <a:off x="1234440" y="4937760"/>
            <a:ext cx="4937760" cy="43891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하나의 조건 변경이 어떤 혜택에 영향을 줄 수 있는가?</a:t>
            </a:r>
            <a:endParaRPr lang="en-US" sz="1300" dirty="0"/>
          </a:p>
        </p:txBody>
      </p:sp>
      <p:sp>
        <p:nvSpPr>
          <p:cNvPr id="18" name="Text 16"/>
          <p:cNvSpPr txBox="1"/>
          <p:nvPr/>
        </p:nvSpPr>
        <p:spPr>
          <a:xfrm>
            <a:off x="548640" y="5577840"/>
            <a:ext cx="5669280" cy="548640"/>
          </a:xfrm>
          <a:prstGeom prst="rect">
            <a:avLst/>
          </a:prstGeom>
          <a:noFill/>
          <a:ln/>
        </p:spPr>
        <p:txBody>
          <a:bodyPr wrap="square" lIns="0" tIns="0" rIns="0" bIns="0" rtlCol="0" anchor="t"/>
          <a:lstStyle/>
          <a:p>
            <a:pPr indent="0" marL="0">
              <a:buNone/>
            </a:pPr>
            <a:r>
              <a:rPr lang="en-US" sz="1200" dirty="0">
                <a:solidFill>
                  <a:srgbClr val="A8311A"/>
                </a:solidFill>
                <a:latin typeface="Malgun Gothic" pitchFamily="34" charset="0"/>
                <a:ea typeface="Malgun Gothic" pitchFamily="34" charset="-122"/>
                <a:cs typeface="Malgun Gothic" pitchFamily="34" charset="-120"/>
              </a:rPr>
              <a:t>15~20개 질문은 초기 파일럿입니다. 일반적인 성능 우위를 입증하지 않으며, 불리한 결과도 공개합니다.</a:t>
            </a:r>
            <a:endParaRPr lang="en-US" sz="1200" dirty="0"/>
          </a:p>
        </p:txBody>
      </p:sp>
      <p:sp>
        <p:nvSpPr>
          <p:cNvPr id="19" name="Shape 17"/>
          <p:cNvSpPr/>
          <p:nvPr/>
        </p:nvSpPr>
        <p:spPr>
          <a:xfrm>
            <a:off x="6400800" y="1691640"/>
            <a:ext cx="5239512" cy="1874520"/>
          </a:xfrm>
          <a:prstGeom prst="roundRect">
            <a:avLst>
              <a:gd name="adj" fmla="val 4878"/>
            </a:avLst>
          </a:prstGeom>
          <a:solidFill>
            <a:srgbClr val="FDF0DC"/>
          </a:solidFill>
          <a:ln w="12700">
            <a:solidFill>
              <a:srgbClr val="FDF0DC"/>
            </a:solidFill>
            <a:prstDash val="solid"/>
          </a:ln>
        </p:spPr>
      </p:sp>
      <p:sp>
        <p:nvSpPr>
          <p:cNvPr id="20" name="Text 18"/>
          <p:cNvSpPr txBox="1"/>
          <p:nvPr/>
        </p:nvSpPr>
        <p:spPr>
          <a:xfrm>
            <a:off x="6537960" y="1755648"/>
            <a:ext cx="4983480" cy="1783080"/>
          </a:xfrm>
          <a:prstGeom prst="rect">
            <a:avLst/>
          </a:prstGeom>
          <a:noFill/>
          <a:ln/>
        </p:spPr>
        <p:txBody>
          <a:bodyPr wrap="square" lIns="0" tIns="0" rIns="0" bIns="0" rtlCol="0" anchor="t"/>
          <a:lstStyle/>
          <a:p>
            <a:pPr indent="0" marL="0">
              <a:spcAft>
                <a:spcPts val="200"/>
              </a:spcAft>
              <a:buNone/>
            </a:pPr>
            <a:r>
              <a:rPr lang="en-US" sz="1300" b="1" dirty="0">
                <a:solidFill>
                  <a:srgbClr val="8F5208"/>
                </a:solidFill>
                <a:latin typeface="Malgun Gothic" pitchFamily="34" charset="0"/>
                <a:ea typeface="Malgun Gothic" pitchFamily="34" charset="-122"/>
                <a:cs typeface="Malgun Gothic" pitchFamily="34" charset="-120"/>
              </a:rPr>
              <a:t>공정 비교 조건 — 세 방식 공통</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같은 평가 질문과 원문 정답, 같은 상품설명서 버전</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방식별 문서 추출·구조화 범위를 기록</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수작업 정제·보정량, LLM 사용 조건·비용을 기록</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전처리는 방식마다 달라도 되며, 차이와 투입 비용을 함께 비교</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실험의 한계와 실패 사례를 공개</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0" y="3703320"/>
          <a:ext cx="5239512" cy="914400"/>
        </p:xfrm>
        <a:graphic>
          <a:graphicData uri="http://schemas.openxmlformats.org/drawingml/2006/table">
            <a:tbl>
              <a:tblPr/>
              <a:tblGrid>
                <a:gridCol w="2331720"/>
                <a:gridCol w="969264"/>
                <a:gridCol w="969264"/>
                <a:gridCol w="969264"/>
              </a:tblGrid>
              <a:tr h="329184">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평가 지표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벡터 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SQL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GraphRAG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답변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누락률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원문 근거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적용 범위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후보 정밀도·재현율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918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검색 결과–답변 일치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22" name="Text 1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 : 미실행, 수치는 실험 후에만 기입 · 과제 M8 · 선택 과제 S1(비교 실험)은 필수 M0~M9 완료 후 수행</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H   검증 대상의 구분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원문 근거와 실행 기록은 다르고, 외부 AI 답변은 별도입니다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Shape 3"/>
          <p:cNvSpPr/>
          <p:nvPr/>
        </p:nvSpPr>
        <p:spPr>
          <a:xfrm>
            <a:off x="548640" y="1691640"/>
            <a:ext cx="5394960" cy="2331720"/>
          </a:xfrm>
          <a:prstGeom prst="roundRect">
            <a:avLst>
              <a:gd name="adj" fmla="val 3922"/>
            </a:avLst>
          </a:prstGeom>
          <a:solidFill>
            <a:srgbClr val="FFFFFF"/>
          </a:solidFill>
          <a:ln w="15875">
            <a:solidFill>
              <a:srgbClr val="159A8C"/>
            </a:solidFill>
            <a:prstDash val="solid"/>
          </a:ln>
        </p:spPr>
      </p:sp>
      <p:sp>
        <p:nvSpPr>
          <p:cNvPr id="6" name="Text 4"/>
          <p:cNvSpPr txBox="1"/>
          <p:nvPr/>
        </p:nvSpPr>
        <p:spPr>
          <a:xfrm>
            <a:off x="548640" y="1691640"/>
            <a:ext cx="5394960" cy="640080"/>
          </a:xfrm>
          <a:prstGeom prst="roundRect">
            <a:avLst>
              <a:gd name="adj" fmla="val 14286"/>
            </a:avLst>
          </a:prstGeom>
          <a:solidFill>
            <a:srgbClr val="E3F4F1"/>
          </a:solidFill>
          <a:ln>
            <a:solidFill>
              <a:srgbClr val="E3F4F1"/>
            </a:solidFill>
          </a:ln>
        </p:spPr>
        <p:txBody>
          <a:bodyPr wrap="square" lIns="152400" tIns="152400" rIns="152400" bIns="152400" rtlCol="0" anchor="ctr"/>
          <a:lstStyle/>
          <a:p>
            <a:pPr algn="l" indent="0" marL="0">
              <a:buNone/>
            </a:pPr>
            <a:r>
              <a:rPr lang="en-US" sz="1500" b="1" dirty="0">
                <a:solidFill>
                  <a:srgbClr val="0D6F64"/>
                </a:solidFill>
                <a:latin typeface="Malgun Gothic" pitchFamily="34" charset="0"/>
                <a:ea typeface="Malgun Gothic" pitchFamily="34" charset="-122"/>
                <a:cs typeface="Malgun Gothic" pitchFamily="34" charset="-120"/>
              </a:rPr>
              <a:t>A. 원문 근거</a:t>
            </a:r>
            <a:endParaRPr lang="en-US" sz="1300" dirty="0"/>
          </a:p>
          <a:p>
            <a:pPr algn="l" indent="0" marL="0">
              <a:buNone/>
            </a:pPr>
            <a:r>
              <a:rPr lang="en-US" sz="1100" dirty="0">
                <a:solidFill>
                  <a:srgbClr val="0D6F64"/>
                </a:solidFill>
                <a:latin typeface="Malgun Gothic" pitchFamily="34" charset="0"/>
                <a:ea typeface="Malgun Gothic" pitchFamily="34" charset="-122"/>
                <a:cs typeface="Malgun Gothic" pitchFamily="34" charset="-120"/>
              </a:rPr>
              <a:t>PDF에 있음 · 지식화 단계에서 저장</a:t>
            </a:r>
            <a:endParaRPr lang="en-US" sz="1300" dirty="0"/>
          </a:p>
        </p:txBody>
      </p:sp>
      <p:sp>
        <p:nvSpPr>
          <p:cNvPr id="7" name="Text 5"/>
          <p:cNvSpPr txBox="1"/>
          <p:nvPr/>
        </p:nvSpPr>
        <p:spPr>
          <a:xfrm>
            <a:off x="731520" y="2423160"/>
            <a:ext cx="5029200" cy="1828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문서 ID · 판 · 페이지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조항 위치(표·항목 이름)와 원문 문장</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추출한 조건과 적용 범위(scope)</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조건 ↔ 혜택 ↔ 카드 관계</a:t>
            </a:r>
            <a:endParaRPr lang="en-US" sz="1300" dirty="0"/>
          </a:p>
        </p:txBody>
      </p:sp>
      <p:sp>
        <p:nvSpPr>
          <p:cNvPr id="8" name="Shape 6"/>
          <p:cNvSpPr/>
          <p:nvPr/>
        </p:nvSpPr>
        <p:spPr>
          <a:xfrm>
            <a:off x="6245352" y="1691640"/>
            <a:ext cx="5397703" cy="2331720"/>
          </a:xfrm>
          <a:prstGeom prst="roundRect">
            <a:avLst>
              <a:gd name="adj" fmla="val 3922"/>
            </a:avLst>
          </a:prstGeom>
          <a:solidFill>
            <a:srgbClr val="FFFFFF"/>
          </a:solidFill>
          <a:ln w="15875">
            <a:solidFill>
              <a:srgbClr val="E8A33D"/>
            </a:solidFill>
            <a:prstDash val="solid"/>
          </a:ln>
        </p:spPr>
      </p:sp>
      <p:sp>
        <p:nvSpPr>
          <p:cNvPr id="9" name="Text 7"/>
          <p:cNvSpPr txBox="1"/>
          <p:nvPr/>
        </p:nvSpPr>
        <p:spPr>
          <a:xfrm>
            <a:off x="6245352" y="1691640"/>
            <a:ext cx="5397703" cy="640080"/>
          </a:xfrm>
          <a:prstGeom prst="roundRect">
            <a:avLst>
              <a:gd name="adj" fmla="val 14286"/>
            </a:avLst>
          </a:prstGeom>
          <a:solidFill>
            <a:srgbClr val="FDF0DC"/>
          </a:solidFill>
          <a:ln>
            <a:solidFill>
              <a:srgbClr val="FDF0DC"/>
            </a:solidFill>
          </a:ln>
        </p:spPr>
        <p:txBody>
          <a:bodyPr wrap="square" lIns="152400" tIns="152400" rIns="152400" bIns="152400" rtlCol="0" anchor="ctr"/>
          <a:lstStyle/>
          <a:p>
            <a:pPr algn="l" indent="0" marL="0">
              <a:buNone/>
            </a:pPr>
            <a:r>
              <a:rPr lang="en-US" sz="1500" b="1" dirty="0">
                <a:solidFill>
                  <a:srgbClr val="8F5208"/>
                </a:solidFill>
                <a:latin typeface="Malgun Gothic" pitchFamily="34" charset="0"/>
                <a:ea typeface="Malgun Gothic" pitchFamily="34" charset="-122"/>
                <a:cs typeface="Malgun Gothic" pitchFamily="34" charset="-120"/>
              </a:rPr>
              <a:t>B. 실행 기록 (trace)</a:t>
            </a:r>
            <a:endParaRPr lang="en-US" sz="1300" dirty="0"/>
          </a:p>
          <a:p>
            <a:pPr algn="l" indent="0" marL="0">
              <a:buNone/>
            </a:pPr>
            <a:r>
              <a:rPr lang="en-US" sz="1100" dirty="0">
                <a:solidFill>
                  <a:srgbClr val="8F5208"/>
                </a:solidFill>
                <a:latin typeface="Malgun Gothic" pitchFamily="34" charset="0"/>
                <a:ea typeface="Malgun Gothic" pitchFamily="34" charset="-122"/>
                <a:cs typeface="Malgun Gothic" pitchFamily="34" charset="-120"/>
              </a:rPr>
              <a:t>PDF에 없음 · 우리 시스템 실행 시 기록</a:t>
            </a:r>
            <a:endParaRPr lang="en-US" sz="1300" dirty="0"/>
          </a:p>
        </p:txBody>
      </p:sp>
      <p:sp>
        <p:nvSpPr>
          <p:cNvPr id="10" name="Text 8"/>
          <p:cNvSpPr txBox="1"/>
          <p:nvPr/>
        </p:nvSpPr>
        <p:spPr>
          <a:xfrm>
            <a:off x="6428232" y="2423160"/>
            <a:ext cx="5031943" cy="1828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질문과 해석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실행한 쿼리·파라미터와 조회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반환한 조건·조항</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생성 답변과 근거 일치 여부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프롬프트·모델·데이터 버전</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94415" cy="914400"/>
        </p:xfrm>
        <a:graphic>
          <a:graphicData uri="http://schemas.openxmlformats.org/drawingml/2006/table">
            <a:tbl>
              <a:tblPr/>
              <a:tblGrid>
                <a:gridCol w="1828800"/>
                <a:gridCol w="5669280"/>
                <a:gridCol w="3593592"/>
              </a:tblGrid>
              <a:tr h="41148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외부 AI 경유 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카드사가 할 수 있는 것</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전제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11480">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기록 가능</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MCP 요청 파라미터, 공급한 조건·근거·trace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카드사 서버 로그 (설계안)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조건부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고객 질문 원문, 외부 AI 최종 답변과 근거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답변을 별도로 확보한 경우만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보장 불가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도구 호출 여부, 요약·변형, 문구 표시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2" name="Text 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그래프 경로 제시 ≠ LLM 내부 사고 과정 설명 · QueryLogger(쿼리 로그 포매터)는 구현, trace 저장 구조는 설계안</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I   예상 질문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받을 질문을 먼저 정리했습니다</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931920"/>
                <a:gridCol w="7159752"/>
              </a:tblGrid>
              <a:tr h="43891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질문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답변 요지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특정 고객이 혜택을 받는지 알려 주나요?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개인 실적·등록일·거래 내역은 쓰지 않습니다. 공식 약관의 조건과 적용 범위만 분석·안내합니다.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SQL로도 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됩니다. 관계 테이블·JOIN·재귀 CTE로 가능합니다. 그래프 방식의 장단점을 같은 질문으로 비교해 확인합니다.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일반 RAG도 원문 근거를 보여 주지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보여 줍니다. 차이는 적용 범위와 다단계 관계를 어떻게 저장·검증하느냐이며, 파일럿으로 비교합니다.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신한카드가 GraphRAG를 쓰나요? 두 발표는 연결돼 있나요?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공식 자료에 없습니다(미확인). 외부 AI 연결이 실제로 시작됐다는 근거로만 인용했습니다.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외부 AI가 카드사 도구를 반드시 쓰나요?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아닙니다. 호출 여부와 최종 답변은 외부 AI가 결정합니다. 신한 사례도 고객이 툴을 추가해 이용합니다.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외부 AI의 최종 답변도 검증할 수 있나요?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MCP 호출 기록만으로는 불가합니다. 최종 답변을 별도로 확보한 경우에만 사후 대조합니다.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AI(LLM)의 사고 과정까지 설명하나요?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기록 가능한 검색 경로·근거와 최종 답변의 일치 여부만 검증합니다.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카드사의 정본은 내부 상품 DB 아닌가요?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PDF는 고객에게 고지된 문구입니다. 내부 DB와 고지 문서의 불일치를 점검하는 보완 용도로 제안합니다(내부 구조 미확인).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문서가 최신인가요? 재배포는요?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시행일·유효 여부·재배포 조건은 미확인입니다. 문서 판과 해시를 기록하고 PDF는 저장소에 넣지 않습니다.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V4 예상 질문을 V5 범위(개인 적격성 제외, 공정 비교, 외부 AI 답변 검증 한계)에 맞춰 갱신</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J   출처와 검증 상태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무엇을 확인했고, 무엇을 정정했는가</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5120640"/>
                <a:gridCol w="4050792"/>
                <a:gridCol w="1920240"/>
              </a:tblGrid>
              <a:tr h="457200">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자료</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사용한 내용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신한금융그룹 보도자료 2026-09-09 “신한카드, 최적의 금융상품 추천하고 선택하는 AI 개발”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커넥셔너리와 개발, 기존 생성형 AI의 한계, 조건 구조화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신한카드 보도자료 2026-09-13 “카드사 최초 ‘ChatGPT for Kakao’와 연계한 AI 대화형 금융 서비스”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기능 4종, PlayMCP 기반 카카오 툴즈 연동, MCP 설명 문장</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하나카드 상품설명서 STYLE·PLAY·BT·에너지 더블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대중교통 조건, 상품권 실적·서비스 제외, 혜택별 실적 조건</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원문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card_pdf_structuring_validation.md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표 추출 실패 사례 (STYLE·PLAY 0개, BT 셀 병합, 에너지 더블 열 누락)</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검증 2026-10-29</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card_benefit/README.md · src/common · payment_card · sql</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구현 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저장소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Shape 2"/>
          <p:cNvSpPr/>
          <p:nvPr/>
        </p:nvSpPr>
        <p:spPr>
          <a:xfrm>
            <a:off x="548640" y="4526280"/>
            <a:ext cx="11094415" cy="1481328"/>
          </a:xfrm>
          <a:prstGeom prst="roundRect">
            <a:avLst>
              <a:gd name="adj" fmla="val 6173"/>
            </a:avLst>
          </a:prstGeom>
          <a:solidFill>
            <a:srgbClr val="FDF0DC"/>
          </a:solidFill>
          <a:ln w="12700">
            <a:solidFill>
              <a:srgbClr val="FDF0DC"/>
            </a:solidFill>
            <a:prstDash val="solid"/>
          </a:ln>
        </p:spPr>
      </p:sp>
      <p:sp>
        <p:nvSpPr>
          <p:cNvPr id="6" name="Text 3"/>
          <p:cNvSpPr txBox="1"/>
          <p:nvPr/>
        </p:nvSpPr>
        <p:spPr>
          <a:xfrm>
            <a:off x="731520" y="4599432"/>
            <a:ext cx="10728655" cy="1627632"/>
          </a:xfrm>
          <a:prstGeom prst="rect">
            <a:avLst/>
          </a:prstGeom>
          <a:noFill/>
          <a:ln/>
        </p:spPr>
        <p:txBody>
          <a:bodyPr wrap="square" lIns="0" tIns="0" rIns="0" bIns="0" rtlCol="0" anchor="t"/>
          <a:lstStyle/>
          <a:p>
            <a:pPr indent="0" marL="0">
              <a:spcAft>
                <a:spcPts val="200"/>
              </a:spcAft>
              <a:buNone/>
            </a:pPr>
            <a:r>
              <a:rPr lang="en-US" sz="1300" b="1" dirty="0">
                <a:solidFill>
                  <a:srgbClr val="8F5208"/>
                </a:solidFill>
                <a:latin typeface="Malgun Gothic" pitchFamily="34" charset="0"/>
                <a:ea typeface="Malgun Gothic" pitchFamily="34" charset="-122"/>
                <a:cs typeface="Malgun Gothic" pitchFamily="34" charset="-120"/>
              </a:rPr>
              <a:t>정정 사항</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V3 ‘대중교통 5% 할인’ → 원문은 ‘5% 캐시백, 월 최대 1천원’ (V4부터 반영)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9월 9일 발표 제목은 의역이었음 → V5는 원제목 사용</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‘실적·등록일 정보를 요청해 판단’ 표현 삭제 — 개인 적격성 판단은 범위 밖</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 비교표 → V5는 구현 방식 차이만 기술 (우열 표시 삭제)</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STYLE 문서는 15650_20260429판 기준. 일부 조사 문서의 15650_20260316판과는 대조하지 않음</a:t>
            </a:r>
            <a:endParaRPr lang="en-US" sz="12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PDF는 저장소에 추가하지 않았습니다 (재배포 조건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K   진행 현황 상세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실제로 한 것과 앞으로 검증할 것</a:t>
            </a:r>
            <a:endParaRPr lang="en-US" sz="2400" dirty="0"/>
          </a:p>
        </p:txBody>
      </p:sp>
      <p:sp>
        <p:nvSpPr>
          <p:cNvPr id="4" name="Shape 2"/>
          <p:cNvSpPr/>
          <p:nvPr/>
        </p:nvSpPr>
        <p:spPr>
          <a:xfrm>
            <a:off x="548640" y="1691640"/>
            <a:ext cx="2670734" cy="3429000"/>
          </a:xfrm>
          <a:prstGeom prst="roundRect">
            <a:avLst>
              <a:gd name="adj" fmla="val 3424"/>
            </a:avLst>
          </a:prstGeom>
          <a:solidFill>
            <a:srgbClr val="FFFFFF"/>
          </a:solidFill>
          <a:ln w="15875">
            <a:solidFill>
              <a:srgbClr val="159A8C"/>
            </a:solidFill>
            <a:prstDash val="solid"/>
          </a:ln>
        </p:spPr>
      </p:sp>
      <p:sp>
        <p:nvSpPr>
          <p:cNvPr id="5" name="Text 3"/>
          <p:cNvSpPr txBox="1"/>
          <p:nvPr/>
        </p:nvSpPr>
        <p:spPr>
          <a:xfrm>
            <a:off x="548640" y="1691640"/>
            <a:ext cx="2670734" cy="475488"/>
          </a:xfrm>
          <a:prstGeom prst="roundRect">
            <a:avLst>
              <a:gd name="adj" fmla="val 19231"/>
            </a:avLst>
          </a:prstGeom>
          <a:solidFill>
            <a:srgbClr val="E3F4F1"/>
          </a:solidFill>
          <a:ln>
            <a:solidFill>
              <a:srgbClr val="159A8C"/>
            </a:solidFill>
          </a:ln>
        </p:spPr>
        <p:txBody>
          <a:bodyPr wrap="square" lIns="76200" tIns="76200" rIns="76200" bIns="76200" rtlCol="0" anchor="ctr"/>
          <a:lstStyle/>
          <a:p>
            <a:pPr algn="ctr" indent="0" marL="0">
              <a:buNone/>
            </a:pPr>
            <a:r>
              <a:rPr lang="en-US" sz="1500" b="1" dirty="0">
                <a:solidFill>
                  <a:srgbClr val="0D6F64"/>
                </a:solidFill>
                <a:latin typeface="Malgun Gothic" pitchFamily="34" charset="0"/>
                <a:ea typeface="Malgun Gothic" pitchFamily="34" charset="-122"/>
                <a:cs typeface="Malgun Gothic" pitchFamily="34" charset="-120"/>
              </a:rPr>
              <a:t>원문 확인</a:t>
            </a:r>
            <a:endParaRPr lang="en-US" sz="1500" dirty="0"/>
          </a:p>
        </p:txBody>
      </p:sp>
      <p:sp>
        <p:nvSpPr>
          <p:cNvPr id="6" name="Text 4"/>
          <p:cNvSpPr txBox="1"/>
          <p:nvPr/>
        </p:nvSpPr>
        <p:spPr>
          <a:xfrm>
            <a:off x="658368"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하나카드 4종 원문 대조 (체크 2 · 신용 2)</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PDF 텍스트·표 추출 표본 검증 (기본 옵션)</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신한 공식 발표 2건 재확인</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목표 약 10종 — 선정 전</a:t>
            </a:r>
            <a:endParaRPr lang="en-US" sz="1400" dirty="0"/>
          </a:p>
        </p:txBody>
      </p:sp>
      <p:sp>
        <p:nvSpPr>
          <p:cNvPr id="7" name="Shape 5"/>
          <p:cNvSpPr/>
          <p:nvPr/>
        </p:nvSpPr>
        <p:spPr>
          <a:xfrm>
            <a:off x="3356534" y="1691640"/>
            <a:ext cx="2670734" cy="3429000"/>
          </a:xfrm>
          <a:prstGeom prst="roundRect">
            <a:avLst>
              <a:gd name="adj" fmla="val 3424"/>
            </a:avLst>
          </a:prstGeom>
          <a:solidFill>
            <a:srgbClr val="FFFFFF"/>
          </a:solidFill>
          <a:ln w="15875">
            <a:solidFill>
              <a:srgbClr val="159A8C"/>
            </a:solidFill>
            <a:prstDash val="solid"/>
          </a:ln>
        </p:spPr>
      </p:sp>
      <p:sp>
        <p:nvSpPr>
          <p:cNvPr id="8" name="Text 6"/>
          <p:cNvSpPr txBox="1"/>
          <p:nvPr/>
        </p:nvSpPr>
        <p:spPr>
          <a:xfrm>
            <a:off x="3356534" y="1691640"/>
            <a:ext cx="2670734" cy="475488"/>
          </a:xfrm>
          <a:prstGeom prst="roundRect">
            <a:avLst>
              <a:gd name="adj" fmla="val 19231"/>
            </a:avLst>
          </a:prstGeom>
          <a:solidFill>
            <a:srgbClr val="159A8C"/>
          </a:solidFill>
          <a:ln>
            <a:solidFill>
              <a:srgbClr val="159A8C"/>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코드 존재 확인</a:t>
            </a:r>
            <a:endParaRPr lang="en-US" sz="1500" dirty="0"/>
          </a:p>
        </p:txBody>
      </p:sp>
      <p:sp>
        <p:nvSpPr>
          <p:cNvPr id="9" name="Text 7"/>
          <p:cNvSpPr txBox="1"/>
          <p:nvPr/>
        </p:nvSpPr>
        <p:spPr>
          <a:xfrm>
            <a:off x="3466262"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카드 등록·조회 코드 및 단위 테스트 코드</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공통 기반 코드: DB·Neo4j 세션, 쿼리 로그, PDF 읽기</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참고 구현: graph_rag_sample (카드 아님)</a:t>
            </a:r>
            <a:endParaRPr lang="en-US" sz="1400" dirty="0"/>
          </a:p>
        </p:txBody>
      </p:sp>
      <p:sp>
        <p:nvSpPr>
          <p:cNvPr id="10" name="Text 8"/>
          <p:cNvSpPr txBox="1"/>
          <p:nvPr/>
        </p:nvSpPr>
        <p:spPr>
          <a:xfrm>
            <a:off x="3447974" y="4389120"/>
            <a:ext cx="2487854" cy="640080"/>
          </a:xfrm>
          <a:prstGeom prst="roundRect">
            <a:avLst>
              <a:gd name="adj" fmla="val 11429"/>
            </a:avLst>
          </a:prstGeom>
          <a:solidFill>
            <a:srgbClr val="FBE6E2"/>
          </a:solidFill>
          <a:ln>
            <a:solidFill>
              <a:srgbClr val="FBE6E2"/>
            </a:solidFill>
          </a:ln>
        </p:spPr>
        <p:txBody>
          <a:bodyPr wrap="square" lIns="101600" tIns="101600" rIns="101600" bIns="1016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테스트 통과 여부: 이번 검토에서 미확인</a:t>
            </a:r>
            <a:endParaRPr lang="en-US" sz="1200" dirty="0"/>
          </a:p>
          <a:p>
            <a:pPr algn="l" indent="0" marL="0">
              <a:buNone/>
            </a:pPr>
            <a:r>
              <a:rPr lang="en-US" sz="1100" dirty="0">
                <a:solidFill>
                  <a:srgbClr val="A8311A"/>
                </a:solidFill>
                <a:latin typeface="Malgun Gothic" pitchFamily="34" charset="0"/>
                <a:ea typeface="Malgun Gothic" pitchFamily="34" charset="-122"/>
                <a:cs typeface="Malgun Gothic" pitchFamily="34" charset="-120"/>
              </a:rPr>
              <a:t>DB 통합 테스트: 실행 기록 없음</a:t>
            </a:r>
            <a:endParaRPr lang="en-US" sz="1200" dirty="0"/>
          </a:p>
        </p:txBody>
      </p:sp>
      <p:sp>
        <p:nvSpPr>
          <p:cNvPr id="11" name="Shape 9"/>
          <p:cNvSpPr/>
          <p:nvPr/>
        </p:nvSpPr>
        <p:spPr>
          <a:xfrm>
            <a:off x="6164428" y="1691640"/>
            <a:ext cx="2670734" cy="3429000"/>
          </a:xfrm>
          <a:prstGeom prst="roundRect">
            <a:avLst>
              <a:gd name="adj" fmla="val 3424"/>
            </a:avLst>
          </a:prstGeom>
          <a:solidFill>
            <a:srgbClr val="FFFFFF"/>
          </a:solidFill>
          <a:ln w="15875">
            <a:solidFill>
              <a:srgbClr val="3A4A60"/>
            </a:solidFill>
            <a:prstDash val="solid"/>
          </a:ln>
        </p:spPr>
      </p:sp>
      <p:sp>
        <p:nvSpPr>
          <p:cNvPr id="12" name="Text 10"/>
          <p:cNvSpPr txBox="1"/>
          <p:nvPr/>
        </p:nvSpPr>
        <p:spPr>
          <a:xfrm>
            <a:off x="6164428" y="1691640"/>
            <a:ext cx="2670734" cy="475488"/>
          </a:xfrm>
          <a:prstGeom prst="roundRect">
            <a:avLst>
              <a:gd name="adj" fmla="val 19231"/>
            </a:avLst>
          </a:prstGeom>
          <a:solidFill>
            <a:srgbClr val="3A4A60"/>
          </a:solidFill>
          <a:ln>
            <a:solidFill>
              <a:srgbClr val="3A4A60"/>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설계안</a:t>
            </a:r>
            <a:endParaRPr lang="en-US" sz="1500" dirty="0"/>
          </a:p>
        </p:txBody>
      </p:sp>
      <p:sp>
        <p:nvSpPr>
          <p:cNvPr id="13" name="Text 11"/>
          <p:cNvSpPr txBox="1"/>
          <p:nvPr/>
        </p:nvSpPr>
        <p:spPr>
          <a:xfrm>
            <a:off x="6274156"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그래프 스키마 (카드·혜택·규칙·개념·조항)</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추출·검증 테이블 DDL 초안 (DB 미적용)</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MCP 도구 2안</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검증 기준: 오류 6분류, 파일럿 질문</a:t>
            </a:r>
            <a:endParaRPr lang="en-US" sz="1400" dirty="0"/>
          </a:p>
        </p:txBody>
      </p:sp>
      <p:sp>
        <p:nvSpPr>
          <p:cNvPr id="14" name="Shape 12"/>
          <p:cNvSpPr/>
          <p:nvPr/>
        </p:nvSpPr>
        <p:spPr>
          <a:xfrm>
            <a:off x="8972321" y="1691640"/>
            <a:ext cx="2670734" cy="3429000"/>
          </a:xfrm>
          <a:prstGeom prst="roundRect">
            <a:avLst>
              <a:gd name="adj" fmla="val 3424"/>
            </a:avLst>
          </a:prstGeom>
          <a:solidFill>
            <a:srgbClr val="FFFFFF"/>
          </a:solidFill>
          <a:ln w="15875">
            <a:solidFill>
              <a:srgbClr val="E8A33D"/>
            </a:solidFill>
            <a:prstDash val="solid"/>
          </a:ln>
        </p:spPr>
      </p:sp>
      <p:sp>
        <p:nvSpPr>
          <p:cNvPr id="15" name="Text 13"/>
          <p:cNvSpPr txBox="1"/>
          <p:nvPr/>
        </p:nvSpPr>
        <p:spPr>
          <a:xfrm>
            <a:off x="8972321" y="1691640"/>
            <a:ext cx="2670734" cy="475488"/>
          </a:xfrm>
          <a:prstGeom prst="roundRect">
            <a:avLst>
              <a:gd name="adj" fmla="val 19231"/>
            </a:avLst>
          </a:prstGeom>
          <a:solidFill>
            <a:srgbClr val="E8A33D"/>
          </a:solidFill>
          <a:ln>
            <a:solidFill>
              <a:srgbClr val="E8A33D"/>
            </a:solidFill>
          </a:ln>
        </p:spPr>
        <p:txBody>
          <a:bodyPr wrap="square" lIns="76200" tIns="76200" rIns="76200" bIns="7620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구현·검증 예정</a:t>
            </a:r>
            <a:endParaRPr lang="en-US" sz="1500" dirty="0"/>
          </a:p>
        </p:txBody>
      </p:sp>
      <p:sp>
        <p:nvSpPr>
          <p:cNvPr id="16" name="Text 14"/>
          <p:cNvSpPr txBox="1"/>
          <p:nvPr/>
        </p:nvSpPr>
        <p:spPr>
          <a:xfrm>
            <a:off x="9082049"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파이프라인 A(파일)·B(DB) 독립 추출 → 결과 비교</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Neo4j 적재·Cypher 탐색</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근거 기반 GraphRAG 답변</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MCP 도구 1개</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파일럿 질문 15~20개 검증</a:t>
            </a:r>
            <a:endParaRPr lang="en-US" sz="1400" dirty="0"/>
          </a:p>
        </p:txBody>
      </p:sp>
      <p:sp>
        <p:nvSpPr>
          <p:cNvPr id="17" name="Text 15"/>
          <p:cNvSpPr txBox="1"/>
          <p:nvPr/>
        </p:nvSpPr>
        <p:spPr>
          <a:xfrm>
            <a:off x="548640" y="5230368"/>
            <a:ext cx="11094415" cy="502920"/>
          </a:xfrm>
          <a:prstGeom prst="roundRect">
            <a:avLst>
              <a:gd name="adj" fmla="val 14545"/>
            </a:avLst>
          </a:prstGeom>
          <a:solidFill>
            <a:srgbClr val="0E1A2B"/>
          </a:solidFill>
          <a:ln>
            <a:solidFill>
              <a:srgbClr val="0E1A2B"/>
            </a:solidFill>
          </a:ln>
        </p:spPr>
        <p:txBody>
          <a:bodyPr wrap="square" lIns="152400" tIns="152400" rIns="152400" bIns="1524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2인 팀 우선순위  </a:t>
            </a:r>
            <a:pPr algn="l" indent="0" marL="0">
              <a:buNone/>
            </a:pPr>
            <a:r>
              <a:rPr lang="en-US" sz="1200" dirty="0">
                <a:solidFill>
                  <a:srgbClr val="FFFFFF"/>
                </a:solidFill>
                <a:latin typeface="Malgun Gothic" pitchFamily="34" charset="0"/>
                <a:ea typeface="Malgun Gothic" pitchFamily="34" charset="-122"/>
                <a:cs typeface="Malgun Gothic" pitchFamily="34" charset="-120"/>
              </a:rPr>
              <a:t>① 4종 추출·관계 검증 → ② Neo4j·Cypher → ③ 근거 기반 답변 → ④ MCP 도구 1개 → ⑤ 검증·실패 사례 → ⑥ 약 10종 (여력 시)</a:t>
            </a:r>
            <a:endParaRPr lang="en-US" sz="1200" dirty="0"/>
          </a:p>
        </p:txBody>
      </p:sp>
      <p:sp>
        <p:nvSpPr>
          <p:cNvPr id="18" name="Text 1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2026-10-30 저장소 확인: card_benefit/README.md · payment_card · src/common · sql · 저장소에 카드 코드의 테스트 실행 기록 없음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   문제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‘대중교통 5% 캐시백’, 정말 이 한 문장으로 충분할까요?</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27" name="Hero"/>
          <p:cNvSpPr/>
          <p:nvPr/>
        </p:nvSpPr>
        <p:spPr>
          <a:xfrm>
            <a:off x="548640" y="1650000"/>
            <a:ext cx="4300000" cy="1250000"/>
          </a:xfrm>
          <a:prstGeom prst="roundRect">
            <a:avLst>
              <a:gd name="adj" fmla="val 6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square"/>
          <a:lstStyle/>
          <a:p>
            <a:pPr algn="l">
              <a:spcAft>
                <a:spcPts val="200"/>
              </a:spcAft>
            </a:pPr>
            <a:r>
              <a:rPr sz="1300" b="0">
                <a:solidFill>
                  <a:srgbClr val="AEB8CC"/>
                </a:solidFill>
                <a:latin typeface="Malgun Gothic"/>
                <a:ea typeface="Malgun Gothic"/>
                <a:cs typeface="Malgun Gothic"/>
              </a:rPr>
              <a:t>ONE PICK STYLE · ONE MORE 대중교통</a:t>
            </a:r>
          </a:p>
          <a:p>
            <a:pPr algn="l">
              <a:spcAft>
                <a:spcPts val="0"/>
              </a:spcAft>
            </a:pPr>
            <a:r>
              <a:rPr sz="3600" b="1">
                <a:solidFill>
                  <a:srgbClr val="FFFFFF"/>
                </a:solidFill>
                <a:latin typeface="Malgun Gothic"/>
                <a:ea typeface="Malgun Gothic"/>
                <a:cs typeface="Malgun Gothic"/>
              </a:rPr>
              <a:t>5% 캐시백</a:t>
            </a:r>
          </a:p>
        </p:txBody>
      </p:sp>
      <p:sp>
        <p:nvSpPr>
          <p:cNvPr id="28" name="Arrow"/>
          <p:cNvSpPr/>
          <p:nvPr/>
        </p:nvSpPr>
        <p:spPr>
          <a:xfrm>
            <a:off x="4990000" y="2130000"/>
            <a:ext cx="520000" cy="30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p:cNvSpPr txBox="1"/>
          <p:nvPr/>
        </p:nvSpPr>
        <p:spPr>
          <a:xfrm>
            <a:off x="5700000" y="1750000"/>
            <a:ext cx="5900000" cy="1100000"/>
          </a:xfrm>
          <a:prstGeom prst="rect">
            <a:avLst/>
          </a:prstGeom>
          <a:noFill/>
        </p:spPr>
        <p:txBody>
          <a:bodyPr wrap="square" lIns="0" rIns="0" anchor="t">
            <a:spAutoFit/>
          </a:bodyPr>
          <a:lstStyle/>
          <a:p>
            <a:pPr algn="l">
              <a:spcAft>
                <a:spcPts val="200"/>
              </a:spcAft>
            </a:pPr>
            <a:r>
              <a:rPr sz="1600" b="0">
                <a:solidFill>
                  <a:srgbClr val="5A6478"/>
                </a:solidFill>
                <a:latin typeface="Malgun Gothic"/>
                <a:ea typeface="Malgun Gothic"/>
                <a:cs typeface="Malgun Gothic"/>
              </a:rPr>
              <a:t>고객이 기억하는 한 줄 뒤에</a:t>
            </a:r>
          </a:p>
          <a:p>
            <a:pPr algn="l">
              <a:spcAft>
                <a:spcPts val="0"/>
              </a:spcAft>
            </a:pPr>
            <a:r>
              <a:rPr sz="2800" b="1">
                <a:solidFill>
                  <a:srgbClr val="0E1A2B"/>
                </a:solidFill>
                <a:latin typeface="Malgun Gothic"/>
                <a:ea typeface="Malgun Gothic"/>
                <a:cs typeface="Malgun Gothic"/>
              </a:rPr>
              <a:t>조건이 5개 붙어 있습니다</a:t>
            </a:r>
          </a:p>
        </p:txBody>
      </p:sp>
      <p:sp>
        <p:nvSpPr>
          <p:cNvPr id="30" name="Box"/>
          <p:cNvSpPr/>
          <p:nvPr/>
        </p:nvSpPr>
        <p:spPr>
          <a:xfrm>
            <a:off x="548640" y="3150000"/>
            <a:ext cx="2098883" cy="2000000"/>
          </a:xfrm>
          <a:prstGeom prst="roundRect">
            <a:avLst>
              <a:gd name="adj" fmla="val 5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ox"/>
          <p:cNvSpPr/>
          <p:nvPr/>
        </p:nvSpPr>
        <p:spPr>
          <a:xfrm>
            <a:off x="698640" y="3280000"/>
            <a:ext cx="420000" cy="42000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spcAft>
                <a:spcPts val="0"/>
              </a:spcAft>
            </a:pPr>
            <a:r>
              <a:rPr sz="1600" b="1">
                <a:solidFill>
                  <a:srgbClr val="0E1A2B"/>
                </a:solidFill>
                <a:latin typeface="Malgun Gothic"/>
                <a:ea typeface="Malgun Gothic"/>
                <a:cs typeface="Malgun Gothic"/>
              </a:rPr>
              <a:t>1</a:t>
            </a:r>
          </a:p>
        </p:txBody>
      </p:sp>
      <p:sp>
        <p:nvSpPr>
          <p:cNvPr id="32" name="Text"/>
          <p:cNvSpPr txBox="1"/>
          <p:nvPr/>
        </p:nvSpPr>
        <p:spPr>
          <a:xfrm>
            <a:off x="698640" y="3800000"/>
            <a:ext cx="1798883" cy="1300000"/>
          </a:xfrm>
          <a:prstGeom prst="rect">
            <a:avLst/>
          </a:prstGeom>
          <a:noFill/>
        </p:spPr>
        <p:txBody>
          <a:bodyPr wrap="square" lIns="0" rIns="0" anchor="t">
            <a:spAutoFit/>
          </a:bodyPr>
          <a:lstStyle/>
          <a:p>
            <a:pPr algn="l">
              <a:spcAft>
                <a:spcPts val="400"/>
              </a:spcAft>
            </a:pPr>
            <a:r>
              <a:rPr sz="1400" b="1">
                <a:solidFill>
                  <a:srgbClr val="8F5208"/>
                </a:solidFill>
                <a:latin typeface="Malgun Gothic"/>
                <a:ea typeface="Malgun Gothic"/>
                <a:cs typeface="Malgun Gothic"/>
              </a:rPr>
              <a:t>전월실적</a:t>
            </a:r>
          </a:p>
          <a:p>
            <a:pPr algn="l">
              <a:spcAft>
                <a:spcPts val="400"/>
              </a:spcAft>
            </a:pPr>
            <a:r>
              <a:rPr sz="2000" b="1">
                <a:solidFill>
                  <a:srgbClr val="0E1A2B"/>
                </a:solidFill>
                <a:latin typeface="Malgun Gothic"/>
                <a:ea typeface="Malgun Gothic"/>
                <a:cs typeface="Malgun Gothic"/>
              </a:rPr>
              <a:t>10만원 이상</a:t>
            </a:r>
          </a:p>
          <a:p>
            <a:pPr algn="l">
              <a:spcAft>
                <a:spcPts val="0"/>
              </a:spcAft>
            </a:pPr>
            <a:r>
              <a:rPr sz="1200" b="0">
                <a:solidFill>
                  <a:srgbClr val="5A6478"/>
                </a:solidFill>
                <a:latin typeface="Malgun Gothic"/>
                <a:ea typeface="Malgun Gothic"/>
                <a:cs typeface="Malgun Gothic"/>
              </a:rPr>
              <a:t>지난달 국내외 일시불</a:t>
            </a:r>
          </a:p>
        </p:txBody>
      </p:sp>
      <p:sp>
        <p:nvSpPr>
          <p:cNvPr id="33" name="Box"/>
          <p:cNvSpPr/>
          <p:nvPr/>
        </p:nvSpPr>
        <p:spPr>
          <a:xfrm>
            <a:off x="2797523" y="3150000"/>
            <a:ext cx="2098883" cy="2000000"/>
          </a:xfrm>
          <a:prstGeom prst="roundRect">
            <a:avLst>
              <a:gd name="adj" fmla="val 5000"/>
            </a:avLst>
          </a:prstGeom>
          <a:solidFill>
            <a:srgbClr val="E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ox"/>
          <p:cNvSpPr/>
          <p:nvPr/>
        </p:nvSpPr>
        <p:spPr>
          <a:xfrm>
            <a:off x="2947523" y="3280000"/>
            <a:ext cx="420000" cy="4200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spcAft>
                <a:spcPts val="0"/>
              </a:spcAft>
            </a:pPr>
            <a:r>
              <a:rPr sz="1600" b="1">
                <a:solidFill>
                  <a:srgbClr val="FFFFFF"/>
                </a:solidFill>
                <a:latin typeface="Malgun Gothic"/>
                <a:ea typeface="Malgun Gothic"/>
                <a:cs typeface="Malgun Gothic"/>
              </a:rPr>
              <a:t>2</a:t>
            </a:r>
          </a:p>
        </p:txBody>
      </p:sp>
      <p:sp>
        <p:nvSpPr>
          <p:cNvPr id="35" name="Text"/>
          <p:cNvSpPr txBox="1"/>
          <p:nvPr/>
        </p:nvSpPr>
        <p:spPr>
          <a:xfrm>
            <a:off x="2947523" y="3800000"/>
            <a:ext cx="1798883" cy="1300000"/>
          </a:xfrm>
          <a:prstGeom prst="rect">
            <a:avLst/>
          </a:prstGeom>
          <a:noFill/>
        </p:spPr>
        <p:txBody>
          <a:bodyPr wrap="square" lIns="0" rIns="0" anchor="t">
            <a:spAutoFit/>
          </a:bodyPr>
          <a:lstStyle/>
          <a:p>
            <a:pPr algn="l">
              <a:spcAft>
                <a:spcPts val="400"/>
              </a:spcAft>
            </a:pPr>
            <a:r>
              <a:rPr sz="1400" b="1">
                <a:solidFill>
                  <a:srgbClr val="0D6F64"/>
                </a:solidFill>
                <a:latin typeface="Malgun Gothic"/>
                <a:ea typeface="Malgun Gothic"/>
                <a:cs typeface="Malgun Gothic"/>
              </a:rPr>
              <a:t>한도</a:t>
            </a:r>
          </a:p>
          <a:p>
            <a:pPr algn="l">
              <a:spcAft>
                <a:spcPts val="400"/>
              </a:spcAft>
            </a:pPr>
            <a:r>
              <a:rPr sz="2000" b="1">
                <a:solidFill>
                  <a:srgbClr val="0E1A2B"/>
                </a:solidFill>
                <a:latin typeface="Malgun Gothic"/>
                <a:ea typeface="Malgun Gothic"/>
                <a:cs typeface="Malgun Gothic"/>
              </a:rPr>
              <a:t>월 1,000원</a:t>
            </a:r>
          </a:p>
          <a:p>
            <a:pPr algn="l">
              <a:spcAft>
                <a:spcPts val="0"/>
              </a:spcAft>
            </a:pPr>
            <a:r>
              <a:rPr sz="1200" b="0">
                <a:solidFill>
                  <a:srgbClr val="5A6478"/>
                </a:solidFill>
                <a:latin typeface="Malgun Gothic"/>
                <a:ea typeface="Malgun Gothic"/>
                <a:cs typeface="Malgun Gothic"/>
              </a:rPr>
              <a:t>캐시백 최대</a:t>
            </a:r>
          </a:p>
        </p:txBody>
      </p:sp>
      <p:sp>
        <p:nvSpPr>
          <p:cNvPr id="36" name="Box"/>
          <p:cNvSpPr/>
          <p:nvPr/>
        </p:nvSpPr>
        <p:spPr>
          <a:xfrm>
            <a:off x="5046406" y="3150000"/>
            <a:ext cx="2098883" cy="2000000"/>
          </a:xfrm>
          <a:prstGeom prst="roundRect">
            <a:avLst>
              <a:gd name="adj" fmla="val 5000"/>
            </a:avLst>
          </a:prstGeom>
          <a:solidFill>
            <a:srgbClr val="E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ox"/>
          <p:cNvSpPr/>
          <p:nvPr/>
        </p:nvSpPr>
        <p:spPr>
          <a:xfrm>
            <a:off x="5196406" y="3280000"/>
            <a:ext cx="420000" cy="4200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spcAft>
                <a:spcPts val="0"/>
              </a:spcAft>
            </a:pPr>
            <a:r>
              <a:rPr sz="1600" b="1">
                <a:solidFill>
                  <a:srgbClr val="FFFFFF"/>
                </a:solidFill>
                <a:latin typeface="Malgun Gothic"/>
                <a:ea typeface="Malgun Gothic"/>
                <a:cs typeface="Malgun Gothic"/>
              </a:rPr>
              <a:t>3</a:t>
            </a:r>
          </a:p>
        </p:txBody>
      </p:sp>
      <p:sp>
        <p:nvSpPr>
          <p:cNvPr id="38" name="Text"/>
          <p:cNvSpPr txBox="1"/>
          <p:nvPr/>
        </p:nvSpPr>
        <p:spPr>
          <a:xfrm>
            <a:off x="5196406" y="3800000"/>
            <a:ext cx="1798883" cy="1300000"/>
          </a:xfrm>
          <a:prstGeom prst="rect">
            <a:avLst/>
          </a:prstGeom>
          <a:noFill/>
        </p:spPr>
        <p:txBody>
          <a:bodyPr wrap="square" lIns="0" rIns="0" anchor="t">
            <a:spAutoFit/>
          </a:bodyPr>
          <a:lstStyle/>
          <a:p>
            <a:pPr algn="l">
              <a:spcAft>
                <a:spcPts val="400"/>
              </a:spcAft>
            </a:pPr>
            <a:r>
              <a:rPr sz="1400" b="1">
                <a:solidFill>
                  <a:srgbClr val="0D6F64"/>
                </a:solidFill>
                <a:latin typeface="Malgun Gothic"/>
                <a:ea typeface="Malgun Gothic"/>
                <a:cs typeface="Malgun Gothic"/>
              </a:rPr>
              <a:t>혜택 제외</a:t>
            </a:r>
          </a:p>
          <a:p>
            <a:pPr algn="l">
              <a:spcAft>
                <a:spcPts val="400"/>
              </a:spcAft>
            </a:pPr>
            <a:r>
              <a:rPr sz="2000" b="1">
                <a:solidFill>
                  <a:srgbClr val="0E1A2B"/>
                </a:solidFill>
                <a:latin typeface="Malgun Gothic"/>
                <a:ea typeface="Malgun Gothic"/>
                <a:cs typeface="Malgun Gothic"/>
              </a:rPr>
              <a:t>시외·고속버스, 철도</a:t>
            </a:r>
          </a:p>
          <a:p>
            <a:pPr algn="l">
              <a:spcAft>
                <a:spcPts val="0"/>
              </a:spcAft>
            </a:pPr>
            <a:r>
              <a:rPr sz="1200" b="0">
                <a:solidFill>
                  <a:srgbClr val="5A6478"/>
                </a:solidFill>
                <a:latin typeface="Malgun Gothic"/>
                <a:ea typeface="Malgun Gothic"/>
                <a:cs typeface="Malgun Gothic"/>
              </a:rPr>
              <a:t>KTX·SRT·ITX 포함</a:t>
            </a:r>
          </a:p>
        </p:txBody>
      </p:sp>
      <p:sp>
        <p:nvSpPr>
          <p:cNvPr id="39" name="Box"/>
          <p:cNvSpPr/>
          <p:nvPr/>
        </p:nvSpPr>
        <p:spPr>
          <a:xfrm>
            <a:off x="7295289" y="3150000"/>
            <a:ext cx="2098883" cy="2000000"/>
          </a:xfrm>
          <a:prstGeom prst="roundRect">
            <a:avLst>
              <a:gd name="adj" fmla="val 5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x"/>
          <p:cNvSpPr/>
          <p:nvPr/>
        </p:nvSpPr>
        <p:spPr>
          <a:xfrm>
            <a:off x="7445289" y="3280000"/>
            <a:ext cx="420000" cy="42000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spcAft>
                <a:spcPts val="0"/>
              </a:spcAft>
            </a:pPr>
            <a:r>
              <a:rPr sz="1600" b="1">
                <a:solidFill>
                  <a:srgbClr val="0E1A2B"/>
                </a:solidFill>
                <a:latin typeface="Malgun Gothic"/>
                <a:ea typeface="Malgun Gothic"/>
                <a:cs typeface="Malgun Gothic"/>
              </a:rPr>
              <a:t>4</a:t>
            </a:r>
          </a:p>
        </p:txBody>
      </p:sp>
      <p:sp>
        <p:nvSpPr>
          <p:cNvPr id="41" name="Text"/>
          <p:cNvSpPr txBox="1"/>
          <p:nvPr/>
        </p:nvSpPr>
        <p:spPr>
          <a:xfrm>
            <a:off x="7445289" y="3800000"/>
            <a:ext cx="1798883" cy="1300000"/>
          </a:xfrm>
          <a:prstGeom prst="rect">
            <a:avLst/>
          </a:prstGeom>
          <a:noFill/>
        </p:spPr>
        <p:txBody>
          <a:bodyPr wrap="square" lIns="0" rIns="0" anchor="t">
            <a:spAutoFit/>
          </a:bodyPr>
          <a:lstStyle/>
          <a:p>
            <a:pPr algn="l">
              <a:spcAft>
                <a:spcPts val="400"/>
              </a:spcAft>
            </a:pPr>
            <a:r>
              <a:rPr sz="1400" b="1">
                <a:solidFill>
                  <a:srgbClr val="8F5208"/>
                </a:solidFill>
                <a:latin typeface="Malgun Gothic"/>
                <a:ea typeface="Malgun Gothic"/>
                <a:cs typeface="Malgun Gothic"/>
              </a:rPr>
              <a:t>실적 제외</a:t>
            </a:r>
          </a:p>
          <a:p>
            <a:pPr algn="l">
              <a:spcAft>
                <a:spcPts val="400"/>
              </a:spcAft>
            </a:pPr>
            <a:r>
              <a:rPr sz="2000" b="1">
                <a:solidFill>
                  <a:srgbClr val="0E1A2B"/>
                </a:solidFill>
                <a:latin typeface="Malgun Gothic"/>
                <a:ea typeface="Malgun Gothic"/>
                <a:cs typeface="Malgun Gothic"/>
              </a:rPr>
              <a:t>상품권·공과금</a:t>
            </a:r>
          </a:p>
          <a:p>
            <a:pPr algn="l">
              <a:spcAft>
                <a:spcPts val="0"/>
              </a:spcAft>
            </a:pPr>
            <a:r>
              <a:rPr sz="1200" b="0">
                <a:solidFill>
                  <a:srgbClr val="5A6478"/>
                </a:solidFill>
                <a:latin typeface="Malgun Gothic"/>
                <a:ea typeface="Malgun Gothic"/>
                <a:cs typeface="Malgun Gothic"/>
              </a:rPr>
              <a:t>등은 실적에 미산입</a:t>
            </a:r>
          </a:p>
        </p:txBody>
      </p:sp>
      <p:sp>
        <p:nvSpPr>
          <p:cNvPr id="42" name="Box"/>
          <p:cNvSpPr/>
          <p:nvPr/>
        </p:nvSpPr>
        <p:spPr>
          <a:xfrm>
            <a:off x="9544172" y="3150000"/>
            <a:ext cx="2098883" cy="2000000"/>
          </a:xfrm>
          <a:prstGeom prst="roundRect">
            <a:avLst>
              <a:gd name="adj" fmla="val 5000"/>
            </a:avLst>
          </a:prstGeom>
          <a:solidFill>
            <a:srgbClr val="EEE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x"/>
          <p:cNvSpPr/>
          <p:nvPr/>
        </p:nvSpPr>
        <p:spPr>
          <a:xfrm>
            <a:off x="9694172" y="3280000"/>
            <a:ext cx="420000" cy="420000"/>
          </a:xfrm>
          <a:prstGeom prst="ellipse">
            <a:avLst/>
          </a:prstGeom>
          <a:solidFill>
            <a:srgbClr val="6A4DA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spcAft>
                <a:spcPts val="0"/>
              </a:spcAft>
            </a:pPr>
            <a:r>
              <a:rPr sz="1600" b="1">
                <a:solidFill>
                  <a:srgbClr val="FFFFFF"/>
                </a:solidFill>
                <a:latin typeface="Malgun Gothic"/>
                <a:ea typeface="Malgun Gothic"/>
                <a:cs typeface="Malgun Gothic"/>
              </a:rPr>
              <a:t>5</a:t>
            </a:r>
          </a:p>
        </p:txBody>
      </p:sp>
      <p:sp>
        <p:nvSpPr>
          <p:cNvPr id="44" name="Text"/>
          <p:cNvSpPr txBox="1"/>
          <p:nvPr/>
        </p:nvSpPr>
        <p:spPr>
          <a:xfrm>
            <a:off x="9694172" y="3800000"/>
            <a:ext cx="1798883" cy="1300000"/>
          </a:xfrm>
          <a:prstGeom prst="rect">
            <a:avLst/>
          </a:prstGeom>
          <a:noFill/>
        </p:spPr>
        <p:txBody>
          <a:bodyPr wrap="square" lIns="0" rIns="0" anchor="t">
            <a:spAutoFit/>
          </a:bodyPr>
          <a:lstStyle/>
          <a:p>
            <a:pPr algn="l">
              <a:spcAft>
                <a:spcPts val="400"/>
              </a:spcAft>
            </a:pPr>
            <a:r>
              <a:rPr sz="1400" b="1">
                <a:solidFill>
                  <a:srgbClr val="4B3690"/>
                </a:solidFill>
                <a:latin typeface="Malgun Gothic"/>
                <a:ea typeface="Malgun Gothic"/>
                <a:cs typeface="Malgun Gothic"/>
              </a:rPr>
              <a:t>예외</a:t>
            </a:r>
          </a:p>
          <a:p>
            <a:pPr algn="l">
              <a:spcAft>
                <a:spcPts val="400"/>
              </a:spcAft>
            </a:pPr>
            <a:r>
              <a:rPr sz="2000" b="1">
                <a:solidFill>
                  <a:srgbClr val="0E1A2B"/>
                </a:solidFill>
                <a:latin typeface="Malgun Gothic"/>
                <a:ea typeface="Malgun Gothic"/>
                <a:cs typeface="Malgun Gothic"/>
              </a:rPr>
              <a:t>신규 등록 예외</a:t>
            </a:r>
          </a:p>
          <a:p>
            <a:pPr algn="l">
              <a:spcAft>
                <a:spcPts val="0"/>
              </a:spcAft>
            </a:pPr>
            <a:r>
              <a:rPr sz="1200" b="0">
                <a:solidFill>
                  <a:srgbClr val="5A6478"/>
                </a:solidFill>
                <a:latin typeface="Malgun Gothic"/>
                <a:ea typeface="Malgun Gothic"/>
                <a:cs typeface="Malgun Gothic"/>
              </a:rPr>
              <a:t>등록일~다음 달 말일은 실적 무관</a:t>
            </a:r>
          </a:p>
        </p:txBody>
      </p:sp>
      <p:sp>
        <p:nvSpPr>
          <p:cNvPr id="45" name="Box"/>
          <p:cNvSpPr/>
          <p:nvPr/>
        </p:nvSpPr>
        <p:spPr>
          <a:xfrm>
            <a:off x="548640" y="5300000"/>
            <a:ext cx="160000" cy="16000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6" name="Text"/>
          <p:cNvSpPr txBox="1"/>
          <p:nvPr/>
        </p:nvSpPr>
        <p:spPr>
          <a:xfrm>
            <a:off x="778640" y="5250000"/>
            <a:ext cx="2200000" cy="260000"/>
          </a:xfrm>
          <a:prstGeom prst="rect">
            <a:avLst/>
          </a:prstGeom>
          <a:noFill/>
        </p:spPr>
        <p:txBody>
          <a:bodyPr wrap="square" lIns="0" rIns="0" anchor="t">
            <a:spAutoFit/>
          </a:bodyPr>
          <a:lstStyle/>
          <a:p>
            <a:pPr algn="l">
              <a:spcAft>
                <a:spcPts val="0"/>
              </a:spcAft>
            </a:pPr>
            <a:r>
              <a:rPr sz="1200" b="0">
                <a:solidFill>
                  <a:srgbClr val="5A6478"/>
                </a:solidFill>
                <a:latin typeface="Malgun Gothic"/>
                <a:ea typeface="Malgun Gothic"/>
                <a:cs typeface="Malgun Gothic"/>
              </a:rPr>
              <a:t>실적에 걸리는 조건</a:t>
            </a:r>
          </a:p>
        </p:txBody>
      </p:sp>
      <p:sp>
        <p:nvSpPr>
          <p:cNvPr id="47" name="Box"/>
          <p:cNvSpPr/>
          <p:nvPr/>
        </p:nvSpPr>
        <p:spPr>
          <a:xfrm>
            <a:off x="3048640" y="5300000"/>
            <a:ext cx="160000" cy="1600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8" name="Text"/>
          <p:cNvSpPr txBox="1"/>
          <p:nvPr/>
        </p:nvSpPr>
        <p:spPr>
          <a:xfrm>
            <a:off x="3278640" y="5250000"/>
            <a:ext cx="2200000" cy="260000"/>
          </a:xfrm>
          <a:prstGeom prst="rect">
            <a:avLst/>
          </a:prstGeom>
          <a:noFill/>
        </p:spPr>
        <p:txBody>
          <a:bodyPr wrap="square" lIns="0" rIns="0" anchor="t">
            <a:spAutoFit/>
          </a:bodyPr>
          <a:lstStyle/>
          <a:p>
            <a:pPr algn="l">
              <a:spcAft>
                <a:spcPts val="0"/>
              </a:spcAft>
            </a:pPr>
            <a:r>
              <a:rPr sz="1200" b="0">
                <a:solidFill>
                  <a:srgbClr val="5A6478"/>
                </a:solidFill>
                <a:latin typeface="Malgun Gothic"/>
                <a:ea typeface="Malgun Gothic"/>
                <a:cs typeface="Malgun Gothic"/>
              </a:rPr>
              <a:t>혜택에 걸리는 조건</a:t>
            </a:r>
          </a:p>
        </p:txBody>
      </p:sp>
      <p:sp>
        <p:nvSpPr>
          <p:cNvPr id="49" name="Box"/>
          <p:cNvSpPr/>
          <p:nvPr/>
        </p:nvSpPr>
        <p:spPr>
          <a:xfrm>
            <a:off x="5548640" y="5300000"/>
            <a:ext cx="160000" cy="160000"/>
          </a:xfrm>
          <a:prstGeom prst="ellipse">
            <a:avLst/>
          </a:prstGeom>
          <a:solidFill>
            <a:srgbClr val="6A4DA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0" name="Text"/>
          <p:cNvSpPr txBox="1"/>
          <p:nvPr/>
        </p:nvSpPr>
        <p:spPr>
          <a:xfrm>
            <a:off x="5778640" y="5250000"/>
            <a:ext cx="2200000" cy="260000"/>
          </a:xfrm>
          <a:prstGeom prst="rect">
            <a:avLst/>
          </a:prstGeom>
          <a:noFill/>
        </p:spPr>
        <p:txBody>
          <a:bodyPr wrap="square" lIns="0" rIns="0" anchor="t">
            <a:spAutoFit/>
          </a:bodyPr>
          <a:lstStyle/>
          <a:p>
            <a:pPr algn="l">
              <a:spcAft>
                <a:spcPts val="0"/>
              </a:spcAft>
            </a:pPr>
            <a:r>
              <a:rPr sz="1200" b="0">
                <a:solidFill>
                  <a:srgbClr val="5A6478"/>
                </a:solidFill>
                <a:latin typeface="Malgun Gothic"/>
                <a:ea typeface="Malgun Gothic"/>
                <a:cs typeface="Malgun Gothic"/>
              </a:rPr>
              <a:t>예외</a:t>
            </a:r>
          </a:p>
        </p:txBody>
      </p:sp>
      <p:sp>
        <p:nvSpPr>
          <p:cNvPr id="51" name="Text"/>
          <p:cNvSpPr txBox="1"/>
          <p:nvPr/>
        </p:nvSpPr>
        <p:spPr>
          <a:xfrm>
            <a:off x="548640" y="5700000"/>
            <a:ext cx="11094415" cy="500000"/>
          </a:xfrm>
          <a:prstGeom prst="rect">
            <a:avLst/>
          </a:prstGeom>
          <a:noFill/>
        </p:spPr>
        <p:txBody>
          <a:bodyPr wrap="square" lIns="0" rIns="0" anchor="t">
            <a:spAutoFit/>
          </a:bodyPr>
          <a:lstStyle/>
          <a:p>
            <a:pPr algn="l">
              <a:spcAft>
                <a:spcPts val="0"/>
              </a:spcAft>
            </a:pPr>
            <a:r>
              <a:rPr sz="2200" b="1">
                <a:solidFill>
                  <a:srgbClr val="0E1A2B"/>
                </a:solidFill>
                <a:latin typeface="Malgun Gothic"/>
                <a:ea typeface="Malgun Gothic"/>
                <a:cs typeface="Malgun Gothic"/>
              </a:rPr>
              <a:t>한 줄로는 부족합니다 — 조건마다 걸리는 곳이 다릅니다.</a:t>
            </a:r>
          </a:p>
        </p:txBody>
      </p:sp>
      <p:sp>
        <p:nvSpPr>
          <p:cNvPr id="52" name="Source"/>
          <p:cNvSpPr txBox="1"/>
          <p:nvPr/>
        </p:nvSpPr>
        <p:spPr>
          <a:xfrm>
            <a:off x="548640" y="6400800"/>
            <a:ext cx="10515600" cy="292608"/>
          </a:xfrm>
          <a:prstGeom prst="rect">
            <a:avLst/>
          </a:prstGeom>
          <a:noFill/>
        </p:spPr>
        <p:txBody>
          <a:bodyPr wrap="square" lIns="0" rIns="0" anchor="t">
            <a:spAutoFit/>
          </a:bodyPr>
          <a:lstStyle/>
          <a:p>
            <a:pPr algn="l">
              <a:spcAft>
                <a:spcPts val="0"/>
              </a:spcAft>
            </a:pPr>
            <a:r>
              <a:rPr sz="1000" b="0">
                <a:solidFill>
                  <a:srgbClr val="5A6478"/>
                </a:solidFill>
                <a:latin typeface="Malgun Gothic"/>
                <a:ea typeface="Malgun Gothic"/>
                <a:cs typeface="Malgun Gothic"/>
              </a:rPr>
              <a:t>원문: 하나카드 ONE PICK STYLE 상품설명서(15650_20260429) 1쪽 · 2026-10-30 대조</a:t>
            </a:r>
          </a:p>
        </p:txBody>
      </p:sp>
      <p:sp>
        <p:nvSpPr>
          <p:cNvPr id="26"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   문제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같은 ‘상품권 제외’도 걸리는 곳이 다릅니다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26" name="Box"/>
          <p:cNvSpPr/>
          <p:nvPr/>
        </p:nvSpPr>
        <p:spPr>
          <a:xfrm>
            <a:off x="3996000" y="1650000"/>
            <a:ext cx="4200000" cy="640000"/>
          </a:xfrm>
          <a:prstGeom prst="roundRect">
            <a:avLst>
              <a:gd name="adj" fmla="val 15000"/>
            </a:avLst>
          </a:prstGeom>
          <a:solidFill>
            <a:srgbClr val="D94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700" b="1">
                <a:solidFill>
                  <a:srgbClr val="FFFFFF"/>
                </a:solidFill>
                <a:latin typeface="Malgun Gothic"/>
                <a:ea typeface="Malgun Gothic"/>
                <a:cs typeface="Malgun Gothic"/>
              </a:rPr>
              <a:t>상품권·기프트카드 구매 — 원문에 두 군데</a:t>
            </a:r>
          </a:p>
        </p:txBody>
      </p:sp>
      <p:sp>
        <p:nvSpPr>
          <p:cNvPr id="27" name="Arrow"/>
          <p:cNvSpPr/>
          <p:nvPr/>
        </p:nvSpPr>
        <p:spPr>
          <a:xfrm>
            <a:off x="3300000" y="2330000"/>
            <a:ext cx="260000" cy="260000"/>
          </a:xfrm>
          <a:prstGeom prst="down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rrow"/>
          <p:cNvSpPr/>
          <p:nvPr/>
        </p:nvSpPr>
        <p:spPr>
          <a:xfrm>
            <a:off x="8630000" y="2330000"/>
            <a:ext cx="260000" cy="260000"/>
          </a:xfrm>
          <a:prstGeom prst="down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x"/>
          <p:cNvSpPr/>
          <p:nvPr/>
        </p:nvSpPr>
        <p:spPr>
          <a:xfrm>
            <a:off x="548640" y="2650000"/>
            <a:ext cx="5400000" cy="1150000"/>
          </a:xfrm>
          <a:prstGeom prst="roundRect">
            <a:avLst>
              <a:gd name="adj" fmla="val 6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square"/>
          <a:lstStyle/>
          <a:p>
            <a:pPr algn="l">
              <a:spcAft>
                <a:spcPts val="400"/>
              </a:spcAft>
            </a:pPr>
            <a:r>
              <a:rPr sz="1800" b="1">
                <a:solidFill>
                  <a:srgbClr val="8F5208"/>
                </a:solidFill>
                <a:latin typeface="Malgun Gothic"/>
                <a:ea typeface="Malgun Gothic"/>
                <a:cs typeface="Malgun Gothic"/>
              </a:rPr>
              <a:t>① 전월실적 계산에서 제외</a:t>
            </a:r>
          </a:p>
          <a:p>
            <a:pPr algn="l">
              <a:spcAft>
                <a:spcPts val="0"/>
              </a:spcAft>
            </a:pPr>
            <a:r>
              <a:rPr sz="1300" b="0">
                <a:solidFill>
                  <a:srgbClr val="0E1A2B"/>
                </a:solidFill>
                <a:latin typeface="Malgun Gothic"/>
                <a:ea typeface="Malgun Gothic"/>
                <a:cs typeface="Malgun Gothic"/>
              </a:rPr>
              <a:t>상품권으로 쓴 금액은 ‘지난달 10만원’에 안 들어감</a:t>
            </a:r>
          </a:p>
        </p:txBody>
      </p:sp>
      <p:sp>
        <p:nvSpPr>
          <p:cNvPr id="30" name="Box"/>
          <p:cNvSpPr/>
          <p:nvPr/>
        </p:nvSpPr>
        <p:spPr>
          <a:xfrm>
            <a:off x="6243055" y="2650000"/>
            <a:ext cx="5400000" cy="1150000"/>
          </a:xfrm>
          <a:prstGeom prst="roundRect">
            <a:avLst>
              <a:gd name="adj" fmla="val 6000"/>
            </a:avLst>
          </a:prstGeom>
          <a:solidFill>
            <a:srgbClr val="FDE8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square"/>
          <a:lstStyle/>
          <a:p>
            <a:pPr algn="l">
              <a:spcAft>
                <a:spcPts val="400"/>
              </a:spcAft>
            </a:pPr>
            <a:r>
              <a:rPr sz="1800" b="1">
                <a:solidFill>
                  <a:srgbClr val="9C2F17"/>
                </a:solidFill>
                <a:latin typeface="Malgun Gothic"/>
                <a:ea typeface="Malgun Gothic"/>
                <a:cs typeface="Malgun Gothic"/>
              </a:rPr>
              <a:t>② 혜택 적용에서 제외</a:t>
            </a:r>
          </a:p>
          <a:p>
            <a:pPr algn="l">
              <a:spcAft>
                <a:spcPts val="0"/>
              </a:spcAft>
            </a:pPr>
            <a:r>
              <a:rPr sz="1300" b="0">
                <a:solidFill>
                  <a:srgbClr val="0E1A2B"/>
                </a:solidFill>
                <a:latin typeface="Malgun Gothic"/>
                <a:ea typeface="Malgun Gothic"/>
                <a:cs typeface="Malgun Gothic"/>
              </a:rPr>
              <a:t>상품권 결제 자체에는 캐시백·할인이 없음</a:t>
            </a:r>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4050000"/>
          <a:ext cx="11094415" cy="2000000"/>
        </p:xfrm>
        <a:graphic>
          <a:graphicData uri="http://schemas.openxmlformats.org/drawingml/2006/table">
            <a:tbl>
              <a:tblPr/>
              <a:tblGrid>
                <a:gridCol w="4202429"/>
                <a:gridCol w="2689555"/>
                <a:gridCol w="4202431"/>
              </a:tblGrid>
              <a:tr h="400000">
                <a:tc>
                  <a:txBody>
                    <a:bodyP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하나카드 상품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실적 산정 제외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혜택 적용 제외 범위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00000">
                <a:tc>
                  <a:txBody>
                    <a:bodyPr/>
                    <a:lstStyle/>
                    <a:p>
                      <a:pPr indent="0" marL="0">
                        <a:buNone/>
                      </a:pPr>
                      <a:r>
                        <a:rPr lang="en-US" sz="1500" dirty="0">
                          <a:solidFill>
                            <a:srgbClr val="1A2433"/>
                          </a:solidFill>
                          <a:latin typeface="Malgun Gothic" pitchFamily="34" charset="0"/>
                          <a:ea typeface="Malgun Gothic" pitchFamily="34" charset="-122"/>
                          <a:cs typeface="Malgun Gothic" pitchFamily="34" charset="-120"/>
                        </a:rPr>
                        <a:t>ONE PICK STYLE (체크)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A2433"/>
                          </a:solidFill>
                          <a:latin typeface="Malgun Gothic" pitchFamily="34" charset="0"/>
                          <a:ea typeface="Malgun Gothic" pitchFamily="34" charset="-122"/>
                          <a:cs typeface="Malgun Gothic" pitchFamily="34" charset="-120"/>
                        </a:rPr>
                        <a:t>서비스 공통</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0000">
                <a:tc>
                  <a:txBody>
                    <a:bodyPr/>
                    <a:lstStyle/>
                    <a:p>
                      <a:pPr indent="0" marL="0">
                        <a:buNone/>
                      </a:pPr>
                      <a:r>
                        <a:rPr lang="en-US" sz="1500" dirty="0">
                          <a:solidFill>
                            <a:srgbClr val="1A2433"/>
                          </a:solidFill>
                          <a:latin typeface="Malgun Gothic" pitchFamily="34" charset="0"/>
                          <a:ea typeface="Malgun Gothic" pitchFamily="34" charset="-122"/>
                          <a:cs typeface="Malgun Gothic" pitchFamily="34" charset="-120"/>
                        </a:rPr>
                        <a:t>ONE PICK PLAY (체크)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A2433"/>
                          </a:solidFill>
                          <a:latin typeface="Malgun Gothic" pitchFamily="34" charset="0"/>
                          <a:ea typeface="Malgun Gothic" pitchFamily="34" charset="-122"/>
                          <a:cs typeface="Malgun Gothic" pitchFamily="34" charset="-120"/>
                        </a:rPr>
                        <a:t>서비스 공통</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0000">
                <a:tc>
                  <a:txBody>
                    <a:bodyPr/>
                    <a:lstStyle/>
                    <a:p>
                      <a:pPr indent="0" marL="0">
                        <a:buNone/>
                      </a:pPr>
                      <a:r>
                        <a:rPr lang="en-US" sz="1500" dirty="0">
                          <a:solidFill>
                            <a:srgbClr val="1A2433"/>
                          </a:solidFill>
                          <a:latin typeface="Malgun Gothic" pitchFamily="34" charset="0"/>
                          <a:ea typeface="Malgun Gothic" pitchFamily="34" charset="-122"/>
                          <a:cs typeface="Malgun Gothic" pitchFamily="34" charset="-120"/>
                        </a:rPr>
                        <a:t>BT (신용)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A2433"/>
                          </a:solidFill>
                          <a:latin typeface="Malgun Gothic" pitchFamily="34" charset="0"/>
                          <a:ea typeface="Malgun Gothic" pitchFamily="34" charset="-122"/>
                          <a:cs typeface="Malgun Gothic" pitchFamily="34" charset="-120"/>
                        </a:rPr>
                        <a:t>BIG TICKET 할인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0000">
                <a:tc>
                  <a:txBody>
                    <a:bodyPr/>
                    <a:lstStyle/>
                    <a:p>
                      <a:pPr indent="0" marL="0">
                        <a:buNone/>
                      </a:pPr>
                      <a:r>
                        <a:rPr lang="en-US" sz="1500" dirty="0">
                          <a:solidFill>
                            <a:srgbClr val="1A2433"/>
                          </a:solidFill>
                          <a:latin typeface="Malgun Gothic" pitchFamily="34" charset="0"/>
                          <a:ea typeface="Malgun Gothic" pitchFamily="34" charset="-122"/>
                          <a:cs typeface="Malgun Gothic" pitchFamily="34" charset="-120"/>
                        </a:rPr>
                        <a:t>에너지 더블 (신용)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A2433"/>
                          </a:solidFill>
                          <a:latin typeface="Malgun Gothic" pitchFamily="34" charset="0"/>
                          <a:ea typeface="Malgun Gothic" pitchFamily="34" charset="-122"/>
                          <a:cs typeface="Malgun Gothic" pitchFamily="34" charset="-120"/>
                        </a:rPr>
                        <a:t>대형마트 할인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31" name="Source"/>
          <p:cNvSpPr txBox="1"/>
          <p:nvPr/>
        </p:nvSpPr>
        <p:spPr>
          <a:xfrm>
            <a:off x="548640" y="6400800"/>
            <a:ext cx="10515600" cy="292608"/>
          </a:xfrm>
          <a:prstGeom prst="rect">
            <a:avLst/>
          </a:prstGeom>
          <a:noFill/>
        </p:spPr>
        <p:txBody>
          <a:bodyPr wrap="square" lIns="0" rIns="0" anchor="t">
            <a:spAutoFit/>
          </a:bodyPr>
          <a:lstStyle/>
          <a:p>
            <a:pPr algn="l">
              <a:spcAft>
                <a:spcPts val="0"/>
              </a:spcAft>
            </a:pPr>
            <a:r>
              <a:rPr sz="1000" b="0">
                <a:solidFill>
                  <a:srgbClr val="5A6478"/>
                </a:solidFill>
                <a:latin typeface="Malgun Gothic"/>
                <a:ea typeface="Malgun Gothic"/>
                <a:cs typeface="Malgun Gothic"/>
              </a:rPr>
              <a:t>원문: ONE PICK STYLE·PLAY·BT·에너지 더블 상품설명서 1쪽 · 2026-10-30 대조</a:t>
            </a:r>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2   왜 어려운가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숫자는 읽혀도, 조건 사이의 관계는 끊어집니다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검증 수행</a:t>
            </a:r>
            <a:endParaRPr lang="en-US" sz="1100" dirty="0"/>
          </a:p>
        </p:txBody>
      </p:sp>
      <p:sp>
        <p:nvSpPr>
          <p:cNvPr id="26" name="Text"/>
          <p:cNvSpPr txBox="1"/>
          <p:nvPr/>
        </p:nvSpPr>
        <p:spPr>
          <a:xfrm>
            <a:off x="548640" y="1650000"/>
            <a:ext cx="5029200" cy="300000"/>
          </a:xfrm>
          <a:prstGeom prst="rect">
            <a:avLst/>
          </a:prstGeom>
          <a:noFill/>
        </p:spPr>
        <p:txBody>
          <a:bodyPr wrap="square" lIns="0" rIns="0" anchor="t">
            <a:spAutoFit/>
          </a:bodyPr>
          <a:lstStyle/>
          <a:p>
            <a:pPr algn="l">
              <a:spcAft>
                <a:spcPts val="0"/>
              </a:spcAft>
            </a:pPr>
            <a:r>
              <a:rPr sz="1400" b="1">
                <a:solidFill>
                  <a:srgbClr val="0E1A2B"/>
                </a:solidFill>
                <a:latin typeface="Malgun Gothic"/>
                <a:ea typeface="Malgun Gothic"/>
                <a:cs typeface="Malgun Gothic"/>
              </a:rPr>
              <a:t>원문 표 — BT · BIG TICKET (도식)</a:t>
            </a:r>
          </a:p>
        </p:txBody>
      </p:sp>
      <p:sp>
        <p:nvSpPr>
          <p:cNvPr id="27" name="Text"/>
          <p:cNvSpPr txBox="1"/>
          <p:nvPr/>
        </p:nvSpPr>
        <p:spPr>
          <a:xfrm>
            <a:off x="6350000" y="1650000"/>
            <a:ext cx="5290000" cy="300000"/>
          </a:xfrm>
          <a:prstGeom prst="rect">
            <a:avLst/>
          </a:prstGeom>
          <a:noFill/>
        </p:spPr>
        <p:txBody>
          <a:bodyPr wrap="square" lIns="0" rIns="0" anchor="t">
            <a:spAutoFit/>
          </a:bodyPr>
          <a:lstStyle/>
          <a:p>
            <a:pPr algn="l">
              <a:spcAft>
                <a:spcPts val="0"/>
              </a:spcAft>
            </a:pPr>
            <a:r>
              <a:rPr sz="1400" b="1">
                <a:solidFill>
                  <a:srgbClr val="0E1A2B"/>
                </a:solidFill>
                <a:latin typeface="Malgun Gothic"/>
                <a:ea typeface="Malgun Gothic"/>
                <a:cs typeface="Malgun Gothic"/>
              </a:rPr>
              <a:t>자동 추출 결과 (기본 설정)</a:t>
            </a: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100000"/>
          <a:ext cx="5029200" cy="2600000"/>
        </p:xfrm>
        <a:graphic>
          <a:graphicData uri="http://schemas.openxmlformats.org/drawingml/2006/table">
            <a:tbl>
              <a:tblPr/>
              <a:tblGrid>
                <a:gridCol w="1645920"/>
                <a:gridCol w="1280160"/>
                <a:gridCol w="2103120"/>
              </a:tblGrid>
              <a:tr h="520000">
                <a:tc>
                  <a:txBody>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이용금액 구간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할인율</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월 할인한도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520000">
                <a:tc>
                  <a:txBody>
                    <a:bodyPr/>
                    <a:lstStyle/>
                    <a:p>
                      <a:pPr algn="ctr" indent="0" marL="0">
                        <a:buNone/>
                      </a:pPr>
                      <a:r>
                        <a:rPr lang="en-US" sz="1600" dirty="0">
                          <a:solidFill>
                            <a:srgbClr val="1A2433"/>
                          </a:solidFill>
                          <a:latin typeface="Malgun Gothic" pitchFamily="34" charset="0"/>
                          <a:ea typeface="Malgun Gothic" pitchFamily="34" charset="-122"/>
                          <a:cs typeface="Malgun Gothic" pitchFamily="34" charset="-120"/>
                        </a:rPr>
                        <a:t>구간 1</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rgbClr val="1A2433"/>
                          </a:solidFill>
                          <a:latin typeface="Malgun Gothic" pitchFamily="34" charset="0"/>
                          <a:ea typeface="Malgun Gothic" pitchFamily="34" charset="-122"/>
                          <a:cs typeface="Malgun Gothic" pitchFamily="34" charset="-120"/>
                        </a:rPr>
                        <a:t>1.5%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rowSpan="4">
                  <a:txBody>
                    <a:bodyPr/>
                    <a:lstStyle/>
                    <a:p>
                      <a:pPr algn="ctr" indent="0" marL="0">
                        <a:buNone/>
                      </a:pPr>
                      <a:r>
                        <a:rPr lang="en-US" sz="1600" dirty="0">
                          <a:solidFill>
                            <a:srgbClr val="1A2433"/>
                          </a:solidFill>
                          <a:latin typeface="Malgun Gothic" pitchFamily="34" charset="0"/>
                          <a:ea typeface="Malgun Gothic" pitchFamily="34" charset="-122"/>
                          <a:cs typeface="Malgun Gothic" pitchFamily="34" charset="-120"/>
                        </a:rPr>
                        <a:t>300만원 · 한도 없음</a:t>
                      </a:r>
                      <a:endParaRPr lang="en-US" sz="1300" dirty="0">
                        <a:latin typeface="Malgun Gothic" charset="0"/>
                        <a:ea typeface="Malgun Gothic" charset="0"/>
                        <a:cs typeface="Malgun Gothic" charset="0"/>
                      </a:endParaRPr>
                    </a:p>
                    <a:p>
                      <a:pPr algn="ctr" indent="0" marL="0">
                        <a:buNone/>
                      </a:pPr>
                      <a:r>
                        <a:rPr lang="en-US" sz="1600" dirty="0">
                          <a:solidFill>
                            <a:srgbClr val="1A2433"/>
                          </a:solidFill>
                          <a:latin typeface="Malgun Gothic" pitchFamily="34" charset="0"/>
                          <a:ea typeface="Malgun Gothic" pitchFamily="34" charset="-122"/>
                          <a:cs typeface="Malgun Gothic" pitchFamily="34" charset="-120"/>
                        </a:rPr>
                        <a:t>(구간별로 대응)</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20000">
                <a:tc>
                  <a:txBody>
                    <a:bodyPr/>
                    <a:lstStyle/>
                    <a:p>
                      <a:pPr algn="ctr" indent="0" marL="0">
                        <a:buNone/>
                      </a:pPr>
                      <a:r>
                        <a:rPr lang="en-US" sz="1600" dirty="0">
                          <a:solidFill>
                            <a:srgbClr val="1A2433"/>
                          </a:solidFill>
                          <a:latin typeface="Malgun Gothic" pitchFamily="34" charset="0"/>
                          <a:ea typeface="Malgun Gothic" pitchFamily="34" charset="-122"/>
                          <a:cs typeface="Malgun Gothic" pitchFamily="34" charset="-120"/>
                        </a:rPr>
                        <a:t>구간 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rgbClr val="1A2433"/>
                          </a:solidFill>
                          <a:latin typeface="Malgun Gothic" pitchFamily="34" charset="0"/>
                          <a:ea typeface="Malgun Gothic" pitchFamily="34" charset="-122"/>
                          <a:cs typeface="Malgun Gothic" pitchFamily="34" charset="-120"/>
                        </a:rPr>
                        <a:t>1.2%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xBody>
                    <a:bodyPr/>
                    <a:p/>
                  </a:txBody>
                  <a:tcPr/>
                </a:tc>
              </a:tr>
              <a:tr h="520000">
                <a:tc>
                  <a:txBody>
                    <a:bodyPr/>
                    <a:lstStyle/>
                    <a:p>
                      <a:pPr algn="ctr" indent="0" marL="0">
                        <a:buNone/>
                      </a:pPr>
                      <a:r>
                        <a:rPr lang="en-US" sz="1600" dirty="0">
                          <a:solidFill>
                            <a:srgbClr val="1A2433"/>
                          </a:solidFill>
                          <a:latin typeface="Malgun Gothic" pitchFamily="34" charset="0"/>
                          <a:ea typeface="Malgun Gothic" pitchFamily="34" charset="-122"/>
                          <a:cs typeface="Malgun Gothic" pitchFamily="34" charset="-120"/>
                        </a:rPr>
                        <a:t>구간 3</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rgbClr val="1A2433"/>
                          </a:solidFill>
                          <a:latin typeface="Malgun Gothic" pitchFamily="34" charset="0"/>
                          <a:ea typeface="Malgun Gothic" pitchFamily="34" charset="-122"/>
                          <a:cs typeface="Malgun Gothic" pitchFamily="34" charset="-120"/>
                        </a:rPr>
                        <a:t>1.0%</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xBody>
                    <a:bodyPr/>
                    <a:p/>
                  </a:txBody>
                  <a:tcPr/>
                </a:tc>
              </a:tr>
              <a:tr h="520000">
                <a:tc>
                  <a:txBody>
                    <a:bodyPr/>
                    <a:lstStyle/>
                    <a:p>
                      <a:pPr algn="ctr" indent="0" marL="0">
                        <a:buNone/>
                      </a:pPr>
                      <a:r>
                        <a:rPr lang="en-US" sz="1600" dirty="0">
                          <a:solidFill>
                            <a:srgbClr val="1A2433"/>
                          </a:solidFill>
                          <a:latin typeface="Malgun Gothic" pitchFamily="34" charset="0"/>
                          <a:ea typeface="Malgun Gothic" pitchFamily="34" charset="-122"/>
                          <a:cs typeface="Malgun Gothic" pitchFamily="34" charset="-120"/>
                        </a:rPr>
                        <a:t>구간 4</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600" dirty="0">
                          <a:solidFill>
                            <a:srgbClr val="1A2433"/>
                          </a:solidFill>
                          <a:latin typeface="Malgun Gothic" pitchFamily="34" charset="0"/>
                          <a:ea typeface="Malgun Gothic" pitchFamily="34" charset="-122"/>
                          <a:cs typeface="Malgun Gothic" pitchFamily="34" charset="-120"/>
                        </a:rPr>
                        <a:t>0.5%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xBody>
                    <a:bodyPr/>
                    <a:p/>
                  </a:txBody>
                  <a:tcPr/>
                </a:tc>
              </a:tr>
            </a:tbl>
          </a:graphicData>
        </a:graphic>
      </p:graphicFrame>
      <p:sp>
        <p:nvSpPr>
          <p:cNvPr id="28" name="Arrow"/>
          <p:cNvSpPr/>
          <p:nvPr/>
        </p:nvSpPr>
        <p:spPr>
          <a:xfrm>
            <a:off x="5700000" y="3250000"/>
            <a:ext cx="520000" cy="30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x"/>
          <p:cNvSpPr/>
          <p:nvPr/>
        </p:nvSpPr>
        <p:spPr>
          <a:xfrm>
            <a:off x="6350000" y="2100000"/>
            <a:ext cx="1400000" cy="2600000"/>
          </a:xfrm>
          <a:prstGeom prst="roundRect">
            <a:avLst>
              <a:gd name="adj" fmla="val 6000"/>
            </a:avLst>
          </a:prstGeom>
          <a:solidFill>
            <a:srgbClr val="FDE8E4"/>
          </a:solidFill>
          <a:ln w="25400">
            <a:solidFill>
              <a:srgbClr val="C0392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500" b="1">
                <a:solidFill>
                  <a:srgbClr val="C0392B"/>
                </a:solidFill>
                <a:latin typeface="Malgun Gothic"/>
                <a:ea typeface="Malgun Gothic"/>
                <a:cs typeface="Malgun Gothic"/>
              </a:rPr>
              <a:t>이용금액 구간</a:t>
            </a:r>
          </a:p>
          <a:p>
            <a:pPr algn="ctr">
              <a:spcAft>
                <a:spcPts val="0"/>
              </a:spcAft>
            </a:pPr>
            <a:r>
              <a:rPr sz="1400" b="1">
                <a:solidFill>
                  <a:srgbClr val="C0392B"/>
                </a:solidFill>
                <a:latin typeface="Malgun Gothic"/>
                <a:ea typeface="Malgun Gothic"/>
                <a:cs typeface="Malgun Gothic"/>
              </a:rPr>
              <a:t>사라짐</a:t>
            </a:r>
          </a:p>
        </p:txBody>
      </p:sp>
      <p:sp>
        <p:nvSpPr>
          <p:cNvPr id="30" name="Box"/>
          <p:cNvSpPr/>
          <p:nvPr/>
        </p:nvSpPr>
        <p:spPr>
          <a:xfrm>
            <a:off x="7850000" y="2100000"/>
            <a:ext cx="1900000" cy="2600000"/>
          </a:xfrm>
          <a:prstGeom prst="roundRect">
            <a:avLst>
              <a:gd name="adj" fmla="val 6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200" b="0">
                <a:solidFill>
                  <a:srgbClr val="AEB8CC"/>
                </a:solidFill>
                <a:latin typeface="Malgun Gothic"/>
                <a:ea typeface="Malgun Gothic"/>
                <a:cs typeface="Malgun Gothic"/>
              </a:rPr>
              <a:t>할인율</a:t>
            </a:r>
          </a:p>
          <a:p>
            <a:pPr algn="ctr">
              <a:spcAft>
                <a:spcPts val="200"/>
              </a:spcAft>
            </a:pPr>
            <a:r>
              <a:rPr sz="2000" b="1">
                <a:solidFill>
                  <a:srgbClr val="FFFFFF"/>
                </a:solidFill>
                <a:latin typeface="Malgun Gothic"/>
                <a:ea typeface="Malgun Gothic"/>
                <a:cs typeface="Malgun Gothic"/>
              </a:rPr>
              <a:t>1.5%  1.2%</a:t>
            </a:r>
          </a:p>
          <a:p>
            <a:pPr algn="ctr">
              <a:spcAft>
                <a:spcPts val="800"/>
              </a:spcAft>
            </a:pPr>
            <a:r>
              <a:rPr sz="2000" b="1">
                <a:solidFill>
                  <a:srgbClr val="FFFFFF"/>
                </a:solidFill>
                <a:latin typeface="Malgun Gothic"/>
                <a:ea typeface="Malgun Gothic"/>
                <a:cs typeface="Malgun Gothic"/>
              </a:rPr>
              <a:t>1.0%  0.5%</a:t>
            </a:r>
          </a:p>
          <a:p>
            <a:pPr algn="ctr">
              <a:spcAft>
                <a:spcPts val="0"/>
              </a:spcAft>
            </a:pPr>
            <a:r>
              <a:rPr sz="1200" b="0">
                <a:solidFill>
                  <a:srgbClr val="F4B740"/>
                </a:solidFill>
                <a:latin typeface="Malgun Gothic"/>
                <a:ea typeface="Malgun Gothic"/>
                <a:cs typeface="Malgun Gothic"/>
              </a:rPr>
              <a:t>한 칸에 묶임</a:t>
            </a:r>
          </a:p>
        </p:txBody>
      </p:sp>
      <p:sp>
        <p:nvSpPr>
          <p:cNvPr id="31" name="Box"/>
          <p:cNvSpPr/>
          <p:nvPr/>
        </p:nvSpPr>
        <p:spPr>
          <a:xfrm>
            <a:off x="9850000" y="2100000"/>
            <a:ext cx="1790000" cy="2600000"/>
          </a:xfrm>
          <a:prstGeom prst="roundRect">
            <a:avLst>
              <a:gd name="adj" fmla="val 6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200" b="0">
                <a:solidFill>
                  <a:srgbClr val="AEB8CC"/>
                </a:solidFill>
                <a:latin typeface="Malgun Gothic"/>
                <a:ea typeface="Malgun Gothic"/>
                <a:cs typeface="Malgun Gothic"/>
              </a:rPr>
              <a:t>월 할인한도</a:t>
            </a:r>
          </a:p>
          <a:p>
            <a:pPr algn="ctr">
              <a:spcAft>
                <a:spcPts val="200"/>
              </a:spcAft>
            </a:pPr>
            <a:r>
              <a:rPr sz="1600" b="1">
                <a:solidFill>
                  <a:srgbClr val="FFFFFF"/>
                </a:solidFill>
                <a:latin typeface="Malgun Gothic"/>
                <a:ea typeface="Malgun Gothic"/>
                <a:cs typeface="Malgun Gothic"/>
              </a:rPr>
              <a:t>300만원</a:t>
            </a:r>
          </a:p>
          <a:p>
            <a:pPr algn="ctr">
              <a:spcAft>
                <a:spcPts val="0"/>
              </a:spcAft>
            </a:pPr>
            <a:r>
              <a:rPr sz="1600" b="1">
                <a:solidFill>
                  <a:srgbClr val="FFFFFF"/>
                </a:solidFill>
                <a:latin typeface="Malgun Gothic"/>
                <a:ea typeface="Malgun Gothic"/>
                <a:cs typeface="Malgun Gothic"/>
              </a:rPr>
              <a:t>한도 없음</a:t>
            </a:r>
          </a:p>
        </p:txBody>
      </p:sp>
      <p:sp>
        <p:nvSpPr>
          <p:cNvPr id="32" name="Text"/>
          <p:cNvSpPr txBox="1"/>
          <p:nvPr/>
        </p:nvSpPr>
        <p:spPr>
          <a:xfrm>
            <a:off x="548640" y="5100000"/>
            <a:ext cx="11094415" cy="300000"/>
          </a:xfrm>
          <a:prstGeom prst="rect">
            <a:avLst/>
          </a:prstGeom>
          <a:noFill/>
        </p:spPr>
        <p:txBody>
          <a:bodyPr wrap="square" lIns="0" rIns="0" anchor="t">
            <a:spAutoFit/>
          </a:bodyPr>
          <a:lstStyle/>
          <a:p>
            <a:pPr algn="l">
              <a:spcAft>
                <a:spcPts val="0"/>
              </a:spcAft>
            </a:pPr>
            <a:r>
              <a:rPr sz="1200" b="0">
                <a:solidFill>
                  <a:srgbClr val="5A6478"/>
                </a:solidFill>
                <a:latin typeface="Malgun Gothic"/>
                <a:ea typeface="Malgun Gothic"/>
                <a:cs typeface="Malgun Gothic"/>
              </a:rPr>
              <a:t>BT 카드 한 사례의 표본 결과입니다. 설정·OCR·수작업 보정으로 달라질 수 있고, 다른 카드 결과는 부록 L에 있습니다.</a:t>
            </a:r>
          </a:p>
        </p:txBody>
      </p:sp>
      <p:sp>
        <p:nvSpPr>
          <p:cNvPr id="33" name="Source"/>
          <p:cNvSpPr txBox="1"/>
          <p:nvPr/>
        </p:nvSpPr>
        <p:spPr>
          <a:xfrm>
            <a:off x="548640" y="6400800"/>
            <a:ext cx="10515600" cy="292608"/>
          </a:xfrm>
          <a:prstGeom prst="rect">
            <a:avLst/>
          </a:prstGeom>
          <a:noFill/>
        </p:spPr>
        <p:txBody>
          <a:bodyPr wrap="square" lIns="0" rIns="0" anchor="t">
            <a:spAutoFit/>
          </a:bodyPr>
          <a:lstStyle/>
          <a:p>
            <a:pPr algn="l">
              <a:spcAft>
                <a:spcPts val="0"/>
              </a:spcAft>
            </a:pPr>
            <a:r>
              <a:rPr sz="1000" b="0">
                <a:solidFill>
                  <a:srgbClr val="5A6478"/>
                </a:solidFill>
                <a:latin typeface="Malgun Gothic"/>
                <a:ea typeface="Malgun Gothic"/>
                <a:cs typeface="Malgun Gothic"/>
              </a:rPr>
              <a:t>출처: 팀 검증 2026-10-29 (대표 페이지 원문 이미지 대조) · 왼쪽 표는 단순화한 도식</a:t>
            </a:r>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2   왜 어려운가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틀린 답이 어느 단계에서 생겼는지 찾아 고칩니다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상황</a:t>
            </a:r>
            <a:endParaRPr lang="en-US" sz="1100" dirty="0"/>
          </a:p>
        </p:txBody>
      </p:sp>
      <p:sp>
        <p:nvSpPr>
          <p:cNvPr id="37" name="Box"/>
          <p:cNvSpPr/>
          <p:nvPr/>
        </p:nvSpPr>
        <p:spPr>
          <a:xfrm>
            <a:off x="548640" y="1650000"/>
            <a:ext cx="2640000" cy="1300000"/>
          </a:xfrm>
          <a:prstGeom prst="roundRect">
            <a:avLst>
              <a:gd name="adj" fmla="val 7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80000" rIns="180000" wrap="square"/>
          <a:lstStyle/>
          <a:p>
            <a:pPr algn="l">
              <a:spcAft>
                <a:spcPts val="400"/>
              </a:spcAft>
            </a:pPr>
            <a:r>
              <a:rPr sz="1200" b="1">
                <a:solidFill>
                  <a:srgbClr val="5A6478"/>
                </a:solidFill>
                <a:latin typeface="Malgun Gothic"/>
                <a:ea typeface="Malgun Gothic"/>
                <a:cs typeface="Malgun Gothic"/>
              </a:rPr>
              <a:t>질문</a:t>
            </a:r>
          </a:p>
          <a:p>
            <a:pPr algn="l">
              <a:spcAft>
                <a:spcPts val="0"/>
              </a:spcAft>
            </a:pPr>
            <a:r>
              <a:rPr sz="1600" b="1">
                <a:solidFill>
                  <a:srgbClr val="0E1A2B"/>
                </a:solidFill>
                <a:latin typeface="Malgun Gothic"/>
                <a:ea typeface="Malgun Gothic"/>
                <a:cs typeface="Malgun Gothic"/>
              </a:rPr>
              <a:t>상품권 구매도 실적에 포함되나요?</a:t>
            </a:r>
          </a:p>
        </p:txBody>
      </p:sp>
      <p:sp>
        <p:nvSpPr>
          <p:cNvPr id="38" name="Arrow"/>
          <p:cNvSpPr/>
          <p:nvPr/>
        </p:nvSpPr>
        <p:spPr>
          <a:xfrm>
            <a:off x="3213640" y="2200000"/>
            <a:ext cx="130000" cy="20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ox"/>
          <p:cNvSpPr/>
          <p:nvPr/>
        </p:nvSpPr>
        <p:spPr>
          <a:xfrm>
            <a:off x="3368640" y="1650000"/>
            <a:ext cx="2640000" cy="1300000"/>
          </a:xfrm>
          <a:prstGeom prst="roundRect">
            <a:avLst>
              <a:gd name="adj" fmla="val 7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0000" rIns="180000" wrap="square"/>
          <a:lstStyle/>
          <a:p>
            <a:pPr algn="l">
              <a:spcAft>
                <a:spcPts val="400"/>
              </a:spcAft>
            </a:pPr>
            <a:r>
              <a:rPr sz="1200" b="1">
                <a:solidFill>
                  <a:srgbClr val="F4B740"/>
                </a:solidFill>
                <a:latin typeface="Malgun Gothic"/>
                <a:ea typeface="Malgun Gothic"/>
                <a:cs typeface="Malgun Gothic"/>
              </a:rPr>
              <a:t>AI 오답</a:t>
            </a:r>
          </a:p>
          <a:p>
            <a:pPr algn="l">
              <a:spcAft>
                <a:spcPts val="0"/>
              </a:spcAft>
            </a:pPr>
            <a:r>
              <a:rPr sz="1600" b="1">
                <a:solidFill>
                  <a:srgbClr val="FFFFFF"/>
                </a:solidFill>
                <a:latin typeface="Malgun Gothic"/>
                <a:ea typeface="Malgun Gothic"/>
                <a:cs typeface="Malgun Gothic"/>
              </a:rPr>
              <a:t>“네, 포함됩니다”</a:t>
            </a:r>
          </a:p>
        </p:txBody>
      </p:sp>
      <p:sp>
        <p:nvSpPr>
          <p:cNvPr id="40" name="Arrow"/>
          <p:cNvSpPr/>
          <p:nvPr/>
        </p:nvSpPr>
        <p:spPr>
          <a:xfrm>
            <a:off x="6033640" y="2200000"/>
            <a:ext cx="130000" cy="20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x"/>
          <p:cNvSpPr/>
          <p:nvPr/>
        </p:nvSpPr>
        <p:spPr>
          <a:xfrm>
            <a:off x="6188640" y="1650000"/>
            <a:ext cx="2640000" cy="1300000"/>
          </a:xfrm>
          <a:prstGeom prst="roundRect">
            <a:avLst>
              <a:gd name="adj" fmla="val 7000"/>
            </a:avLst>
          </a:prstGeom>
          <a:solidFill>
            <a:srgbClr val="FDE8E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0000" rIns="180000" wrap="square"/>
          <a:lstStyle/>
          <a:p>
            <a:pPr algn="l">
              <a:spcAft>
                <a:spcPts val="400"/>
              </a:spcAft>
            </a:pPr>
            <a:r>
              <a:rPr sz="1200" b="1">
                <a:solidFill>
                  <a:srgbClr val="9C2F17"/>
                </a:solidFill>
                <a:latin typeface="Malgun Gothic"/>
                <a:ea typeface="Malgun Gothic"/>
                <a:cs typeface="Malgun Gothic"/>
              </a:rPr>
              <a:t>잘못 저장된 관계</a:t>
            </a:r>
          </a:p>
          <a:p>
            <a:pPr algn="l">
              <a:spcAft>
                <a:spcPts val="0"/>
              </a:spcAft>
            </a:pPr>
            <a:r>
              <a:rPr sz="1600" b="1">
                <a:solidFill>
                  <a:srgbClr val="0E1A2B"/>
                </a:solidFill>
                <a:latin typeface="Malgun Gothic"/>
                <a:ea typeface="Malgun Gothic"/>
                <a:cs typeface="Malgun Gothic"/>
              </a:rPr>
              <a:t>‘실적 제외’ 관계가 빠짐</a:t>
            </a:r>
          </a:p>
        </p:txBody>
      </p:sp>
      <p:sp>
        <p:nvSpPr>
          <p:cNvPr id="42" name="Arrow"/>
          <p:cNvSpPr/>
          <p:nvPr/>
        </p:nvSpPr>
        <p:spPr>
          <a:xfrm>
            <a:off x="8853640" y="2200000"/>
            <a:ext cx="130000" cy="20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x"/>
          <p:cNvSpPr/>
          <p:nvPr/>
        </p:nvSpPr>
        <p:spPr>
          <a:xfrm>
            <a:off x="9008640" y="1650000"/>
            <a:ext cx="2640000" cy="1300000"/>
          </a:xfrm>
          <a:prstGeom prst="roundRect">
            <a:avLst>
              <a:gd name="adj" fmla="val 7000"/>
            </a:avLst>
          </a:prstGeom>
          <a:solidFill>
            <a:srgbClr val="E3F4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0000" rIns="180000" wrap="square"/>
          <a:lstStyle/>
          <a:p>
            <a:pPr algn="l">
              <a:spcAft>
                <a:spcPts val="400"/>
              </a:spcAft>
            </a:pPr>
            <a:r>
              <a:rPr sz="1200" b="1">
                <a:solidFill>
                  <a:srgbClr val="0D6F64"/>
                </a:solidFill>
                <a:latin typeface="Malgun Gothic"/>
                <a:ea typeface="Malgun Gothic"/>
                <a:cs typeface="Malgun Gothic"/>
              </a:rPr>
              <a:t>원문</a:t>
            </a:r>
          </a:p>
          <a:p>
            <a:pPr algn="l">
              <a:spcAft>
                <a:spcPts val="0"/>
              </a:spcAft>
            </a:pPr>
            <a:r>
              <a:rPr sz="1600" b="1">
                <a:solidFill>
                  <a:srgbClr val="0E1A2B"/>
                </a:solidFill>
                <a:latin typeface="Malgun Gothic"/>
                <a:ea typeface="Malgun Gothic"/>
                <a:cs typeface="Malgun Gothic"/>
              </a:rPr>
              <a:t>상품권은 실적 제외 대상</a:t>
            </a:r>
          </a:p>
        </p:txBody>
      </p:sp>
      <p:sp>
        <p:nvSpPr>
          <p:cNvPr id="44" name="Text"/>
          <p:cNvSpPr txBox="1"/>
          <p:nvPr/>
        </p:nvSpPr>
        <p:spPr>
          <a:xfrm>
            <a:off x="548640" y="3250000"/>
            <a:ext cx="8000000" cy="300000"/>
          </a:xfrm>
          <a:prstGeom prst="rect">
            <a:avLst/>
          </a:prstGeom>
          <a:noFill/>
        </p:spPr>
        <p:txBody>
          <a:bodyPr wrap="square" lIns="0" rIns="0" anchor="t">
            <a:spAutoFit/>
          </a:bodyPr>
          <a:lstStyle/>
          <a:p>
            <a:pPr algn="l">
              <a:spcAft>
                <a:spcPts val="0"/>
              </a:spcAft>
            </a:pPr>
            <a:r>
              <a:rPr sz="1400" b="1">
                <a:solidFill>
                  <a:srgbClr val="0E1A2B"/>
                </a:solidFill>
                <a:latin typeface="Malgun Gothic"/>
                <a:ea typeface="Malgun Gothic"/>
                <a:cs typeface="Malgun Gothic"/>
              </a:rPr>
              <a:t>오류는 어느 단계에서 생겼을까?</a:t>
            </a:r>
          </a:p>
        </p:txBody>
      </p:sp>
      <p:sp>
        <p:nvSpPr>
          <p:cNvPr id="45" name="Box"/>
          <p:cNvSpPr/>
          <p:nvPr/>
        </p:nvSpPr>
        <p:spPr>
          <a:xfrm>
            <a:off x="548640" y="3650000"/>
            <a:ext cx="2000000" cy="700000"/>
          </a:xfrm>
          <a:prstGeom prst="roundRect">
            <a:avLst>
              <a:gd name="adj" fmla="val 12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0E1A2B"/>
                </a:solidFill>
                <a:latin typeface="Malgun Gothic"/>
                <a:ea typeface="Malgun Gothic"/>
                <a:cs typeface="Malgun Gothic"/>
              </a:rPr>
              <a:t>① PDF 추출</a:t>
            </a:r>
          </a:p>
        </p:txBody>
      </p:sp>
      <p:sp>
        <p:nvSpPr>
          <p:cNvPr id="46" name="Arrow"/>
          <p:cNvSpPr/>
          <p:nvPr/>
        </p:nvSpPr>
        <p:spPr>
          <a:xfrm>
            <a:off x="2588640" y="3880000"/>
            <a:ext cx="193603" cy="24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x"/>
          <p:cNvSpPr/>
          <p:nvPr/>
        </p:nvSpPr>
        <p:spPr>
          <a:xfrm>
            <a:off x="2822243" y="3650000"/>
            <a:ext cx="2000000" cy="700000"/>
          </a:xfrm>
          <a:prstGeom prst="roundRect">
            <a:avLst>
              <a:gd name="adj" fmla="val 12000"/>
            </a:avLst>
          </a:prstGeom>
          <a:solidFill>
            <a:srgbClr val="D94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FFFFFF"/>
                </a:solidFill>
                <a:latin typeface="Malgun Gothic"/>
                <a:ea typeface="Malgun Gothic"/>
                <a:cs typeface="Malgun Gothic"/>
              </a:rPr>
              <a:t>② 조건·범위 추출</a:t>
            </a:r>
          </a:p>
        </p:txBody>
      </p:sp>
      <p:sp>
        <p:nvSpPr>
          <p:cNvPr id="48" name="Arrow"/>
          <p:cNvSpPr/>
          <p:nvPr/>
        </p:nvSpPr>
        <p:spPr>
          <a:xfrm>
            <a:off x="4862243" y="3880000"/>
            <a:ext cx="193603" cy="24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x"/>
          <p:cNvSpPr/>
          <p:nvPr/>
        </p:nvSpPr>
        <p:spPr>
          <a:xfrm>
            <a:off x="5095846" y="3650000"/>
            <a:ext cx="2000000" cy="700000"/>
          </a:xfrm>
          <a:prstGeom prst="roundRect">
            <a:avLst>
              <a:gd name="adj" fmla="val 12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0E1A2B"/>
                </a:solidFill>
                <a:latin typeface="Malgun Gothic"/>
                <a:ea typeface="Malgun Gothic"/>
                <a:cs typeface="Malgun Gothic"/>
              </a:rPr>
              <a:t>③ 관계 정리</a:t>
            </a:r>
          </a:p>
        </p:txBody>
      </p:sp>
      <p:sp>
        <p:nvSpPr>
          <p:cNvPr id="50" name="Arrow"/>
          <p:cNvSpPr/>
          <p:nvPr/>
        </p:nvSpPr>
        <p:spPr>
          <a:xfrm>
            <a:off x="7135846" y="3880000"/>
            <a:ext cx="193603" cy="24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x"/>
          <p:cNvSpPr/>
          <p:nvPr/>
        </p:nvSpPr>
        <p:spPr>
          <a:xfrm>
            <a:off x="7369449" y="3650000"/>
            <a:ext cx="2000000" cy="700000"/>
          </a:xfrm>
          <a:prstGeom prst="roundRect">
            <a:avLst>
              <a:gd name="adj" fmla="val 12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0E1A2B"/>
                </a:solidFill>
                <a:latin typeface="Malgun Gothic"/>
                <a:ea typeface="Malgun Gothic"/>
                <a:cs typeface="Malgun Gothic"/>
              </a:rPr>
              <a:t>④ 그래프 검색</a:t>
            </a:r>
          </a:p>
        </p:txBody>
      </p:sp>
      <p:sp>
        <p:nvSpPr>
          <p:cNvPr id="52" name="Arrow"/>
          <p:cNvSpPr/>
          <p:nvPr/>
        </p:nvSpPr>
        <p:spPr>
          <a:xfrm>
            <a:off x="9409449" y="3880000"/>
            <a:ext cx="193603" cy="24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ox"/>
          <p:cNvSpPr/>
          <p:nvPr/>
        </p:nvSpPr>
        <p:spPr>
          <a:xfrm>
            <a:off x="9643052" y="3650000"/>
            <a:ext cx="2000000" cy="700000"/>
          </a:xfrm>
          <a:prstGeom prst="roundRect">
            <a:avLst>
              <a:gd name="adj" fmla="val 12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0E1A2B"/>
                </a:solidFill>
                <a:latin typeface="Malgun Gothic"/>
                <a:ea typeface="Malgun Gothic"/>
                <a:cs typeface="Malgun Gothic"/>
              </a:rPr>
              <a:t>⑤ AI 답변</a:t>
            </a:r>
          </a:p>
        </p:txBody>
      </p:sp>
      <p:sp>
        <p:nvSpPr>
          <p:cNvPr id="54" name="Text"/>
          <p:cNvSpPr txBox="1"/>
          <p:nvPr/>
        </p:nvSpPr>
        <p:spPr>
          <a:xfrm>
            <a:off x="2822243" y="4400000"/>
            <a:ext cx="2000000" cy="300000"/>
          </a:xfrm>
          <a:prstGeom prst="rect">
            <a:avLst/>
          </a:prstGeom>
          <a:noFill/>
        </p:spPr>
        <p:txBody>
          <a:bodyPr wrap="square" lIns="0" rIns="0" anchor="t">
            <a:spAutoFit/>
          </a:bodyPr>
          <a:lstStyle/>
          <a:p>
            <a:pPr algn="ctr">
              <a:spcAft>
                <a:spcPts val="0"/>
              </a:spcAft>
            </a:pPr>
            <a:r>
              <a:rPr sz="1200" b="1">
                <a:solidFill>
                  <a:srgbClr val="C0392B"/>
                </a:solidFill>
                <a:latin typeface="Malgun Gothic"/>
                <a:ea typeface="Malgun Gothic"/>
                <a:cs typeface="Malgun Gothic"/>
              </a:rPr>
              <a:t>적용 범위가 빠진 지점</a:t>
            </a:r>
          </a:p>
        </p:txBody>
      </p:sp>
      <p:sp>
        <p:nvSpPr>
          <p:cNvPr id="55" name="Text"/>
          <p:cNvSpPr txBox="1"/>
          <p:nvPr/>
        </p:nvSpPr>
        <p:spPr>
          <a:xfrm>
            <a:off x="548640" y="4950000"/>
            <a:ext cx="3000000" cy="300000"/>
          </a:xfrm>
          <a:prstGeom prst="rect">
            <a:avLst/>
          </a:prstGeom>
          <a:noFill/>
        </p:spPr>
        <p:txBody>
          <a:bodyPr wrap="square" lIns="0" rIns="0" anchor="t">
            <a:spAutoFit/>
          </a:bodyPr>
          <a:lstStyle/>
          <a:p>
            <a:pPr algn="l">
              <a:spcAft>
                <a:spcPts val="0"/>
              </a:spcAft>
            </a:pPr>
            <a:r>
              <a:rPr sz="1400" b="1">
                <a:solidFill>
                  <a:srgbClr val="0E1A2B"/>
                </a:solidFill>
                <a:latin typeface="Malgun Gothic"/>
                <a:ea typeface="Malgun Gothic"/>
                <a:cs typeface="Malgun Gothic"/>
              </a:rPr>
              <a:t>찾은 뒤에는</a:t>
            </a:r>
          </a:p>
        </p:txBody>
      </p:sp>
      <p:sp>
        <p:nvSpPr>
          <p:cNvPr id="56" name="Box"/>
          <p:cNvSpPr/>
          <p:nvPr/>
        </p:nvSpPr>
        <p:spPr>
          <a:xfrm>
            <a:off x="548640" y="5300000"/>
            <a:ext cx="2500000" cy="600000"/>
          </a:xfrm>
          <a:prstGeom prst="roundRect">
            <a:avLst>
              <a:gd name="adj" fmla="val 12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0E1A2B"/>
                </a:solidFill>
                <a:latin typeface="Malgun Gothic"/>
                <a:ea typeface="Malgun Gothic"/>
                <a:cs typeface="Malgun Gothic"/>
              </a:rPr>
              <a:t>실적 제외 관계 보정</a:t>
            </a:r>
          </a:p>
        </p:txBody>
      </p:sp>
      <p:sp>
        <p:nvSpPr>
          <p:cNvPr id="57" name="Box"/>
          <p:cNvSpPr/>
          <p:nvPr/>
        </p:nvSpPr>
        <p:spPr>
          <a:xfrm>
            <a:off x="3246778" y="5300000"/>
            <a:ext cx="1800000" cy="600000"/>
          </a:xfrm>
          <a:prstGeom prst="roundRect">
            <a:avLst>
              <a:gd name="adj" fmla="val 12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0E1A2B"/>
                </a:solidFill>
                <a:latin typeface="Malgun Gothic"/>
                <a:ea typeface="Malgun Gothic"/>
                <a:cs typeface="Malgun Gothic"/>
              </a:rPr>
              <a:t>다시 저장</a:t>
            </a:r>
          </a:p>
        </p:txBody>
      </p:sp>
      <p:sp>
        <p:nvSpPr>
          <p:cNvPr id="58" name="Box"/>
          <p:cNvSpPr/>
          <p:nvPr/>
        </p:nvSpPr>
        <p:spPr>
          <a:xfrm>
            <a:off x="5244916" y="5300000"/>
            <a:ext cx="2500000" cy="600000"/>
          </a:xfrm>
          <a:prstGeom prst="roundRect">
            <a:avLst>
              <a:gd name="adj" fmla="val 12000"/>
            </a:avLst>
          </a:prstGeom>
          <a:solidFill>
            <a:srgbClr val="F4F6FA"/>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0E1A2B"/>
                </a:solidFill>
                <a:latin typeface="Malgun Gothic"/>
                <a:ea typeface="Malgun Gothic"/>
                <a:cs typeface="Malgun Gothic"/>
              </a:rPr>
              <a:t>같은 질문 재검증</a:t>
            </a:r>
          </a:p>
        </p:txBody>
      </p:sp>
      <p:sp>
        <p:nvSpPr>
          <p:cNvPr id="59" name="Box"/>
          <p:cNvSpPr/>
          <p:nvPr/>
        </p:nvSpPr>
        <p:spPr>
          <a:xfrm>
            <a:off x="7943054" y="5300000"/>
            <a:ext cx="3700000" cy="600000"/>
          </a:xfrm>
          <a:prstGeom prst="roundRect">
            <a:avLst>
              <a:gd name="adj" fmla="val 12000"/>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400" b="1">
                <a:solidFill>
                  <a:srgbClr val="FFFFFF"/>
                </a:solidFill>
                <a:latin typeface="Malgun Gothic"/>
                <a:ea typeface="Malgun Gothic"/>
                <a:cs typeface="Malgun Gothic"/>
              </a:rPr>
              <a:t>실적에 포함되지 않음 (원문 근거)</a:t>
            </a:r>
          </a:p>
        </p:txBody>
      </p:sp>
      <p:sp>
        <p:nvSpPr>
          <p:cNvPr id="60" name="Source"/>
          <p:cNvSpPr txBox="1"/>
          <p:nvPr/>
        </p:nvSpPr>
        <p:spPr>
          <a:xfrm>
            <a:off x="548640" y="6400800"/>
            <a:ext cx="10515600" cy="292608"/>
          </a:xfrm>
          <a:prstGeom prst="rect">
            <a:avLst/>
          </a:prstGeom>
          <a:noFill/>
        </p:spPr>
        <p:txBody>
          <a:bodyPr wrap="square" lIns="0" rIns="0" anchor="t">
            <a:spAutoFit/>
          </a:bodyPr>
          <a:lstStyle/>
          <a:p>
            <a:pPr algn="l">
              <a:spcAft>
                <a:spcPts val="0"/>
              </a:spcAft>
            </a:pPr>
            <a:r>
              <a:rPr sz="1000" b="0">
                <a:solidFill>
                  <a:srgbClr val="5A6478"/>
                </a:solidFill>
                <a:latin typeface="Malgun Gothic"/>
                <a:ea typeface="Malgun Gothic"/>
                <a:cs typeface="Malgun Gothic"/>
              </a:rPr>
              <a:t>공식 조건 질문으로 재구성한 가상 시나리오입니다 · 실제 실행 로그가 아닙니다</a:t>
            </a:r>
          </a:p>
        </p:txBody>
      </p:sp>
      <p:sp>
        <p:nvSpPr>
          <p:cNvPr id="36"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3   해결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그래서 조건과 근거를 관계 그대로 저장해 찾습니다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37" name="Text"/>
          <p:cNvSpPr txBox="1"/>
          <p:nvPr/>
        </p:nvSpPr>
        <p:spPr>
          <a:xfrm>
            <a:off x="548640" y="1500000"/>
            <a:ext cx="8000000" cy="300000"/>
          </a:xfrm>
          <a:prstGeom prst="rect">
            <a:avLst/>
          </a:prstGeom>
          <a:noFill/>
        </p:spPr>
        <p:txBody>
          <a:bodyPr wrap="square" lIns="0" rIns="0" anchor="t">
            <a:spAutoFit/>
          </a:bodyPr>
          <a:lstStyle/>
          <a:p>
            <a:pPr algn="l">
              <a:spcAft>
                <a:spcPts val="0"/>
              </a:spcAft>
            </a:pPr>
            <a:r>
              <a:rPr sz="1400" b="1">
                <a:solidFill>
                  <a:srgbClr val="0E1A2B"/>
                </a:solidFill>
                <a:latin typeface="Malgun Gothic"/>
                <a:ea typeface="Malgun Gothic"/>
                <a:cs typeface="Malgun Gothic"/>
              </a:rPr>
              <a:t>이렇게 저장합니다 — 질문에 필요한 관계만</a:t>
            </a:r>
          </a:p>
        </p:txBody>
      </p:sp>
      <p:sp>
        <p:nvSpPr>
          <p:cNvPr id="38" name="Box"/>
          <p:cNvSpPr/>
          <p:nvPr/>
        </p:nvSpPr>
        <p:spPr>
          <a:xfrm>
            <a:off x="548640" y="1900000"/>
            <a:ext cx="1940000" cy="1050000"/>
          </a:xfrm>
          <a:prstGeom prst="roundRect">
            <a:avLst>
              <a:gd name="adj" fmla="val 8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200" b="0">
                <a:solidFill>
                  <a:srgbClr val="AEB8CC"/>
                </a:solidFill>
                <a:latin typeface="Malgun Gothic"/>
                <a:ea typeface="Malgun Gothic"/>
                <a:cs typeface="Malgun Gothic"/>
              </a:rPr>
              <a:t>카드</a:t>
            </a:r>
          </a:p>
          <a:p>
            <a:pPr algn="ctr">
              <a:spcAft>
                <a:spcPts val="0"/>
              </a:spcAft>
            </a:pPr>
            <a:r>
              <a:rPr sz="1600" b="1">
                <a:solidFill>
                  <a:srgbClr val="FFFFFF"/>
                </a:solidFill>
                <a:latin typeface="Malgun Gothic"/>
                <a:ea typeface="Malgun Gothic"/>
                <a:cs typeface="Malgun Gothic"/>
              </a:rPr>
              <a:t>ONE PICK STYLE</a:t>
            </a:r>
          </a:p>
        </p:txBody>
      </p:sp>
      <p:sp>
        <p:nvSpPr>
          <p:cNvPr id="39" name="Arrow"/>
          <p:cNvSpPr/>
          <p:nvPr/>
        </p:nvSpPr>
        <p:spPr>
          <a:xfrm>
            <a:off x="2538640" y="2315000"/>
            <a:ext cx="248603" cy="22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x"/>
          <p:cNvSpPr/>
          <p:nvPr/>
        </p:nvSpPr>
        <p:spPr>
          <a:xfrm>
            <a:off x="2837243" y="1900000"/>
            <a:ext cx="1940000" cy="1050000"/>
          </a:xfrm>
          <a:prstGeom prst="roundRect">
            <a:avLst>
              <a:gd name="adj" fmla="val 8000"/>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200" b="0">
                <a:solidFill>
                  <a:srgbClr val="D3EFEA"/>
                </a:solidFill>
                <a:latin typeface="Malgun Gothic"/>
                <a:ea typeface="Malgun Gothic"/>
                <a:cs typeface="Malgun Gothic"/>
              </a:rPr>
              <a:t>혜택</a:t>
            </a:r>
          </a:p>
          <a:p>
            <a:pPr algn="ctr">
              <a:spcAft>
                <a:spcPts val="0"/>
              </a:spcAft>
            </a:pPr>
            <a:r>
              <a:rPr sz="1600" b="1">
                <a:solidFill>
                  <a:srgbClr val="FFFFFF"/>
                </a:solidFill>
                <a:latin typeface="Malgun Gothic"/>
                <a:ea typeface="Malgun Gothic"/>
                <a:cs typeface="Malgun Gothic"/>
              </a:rPr>
              <a:t>ONE MORE 대중교통</a:t>
            </a:r>
          </a:p>
        </p:txBody>
      </p:sp>
      <p:sp>
        <p:nvSpPr>
          <p:cNvPr id="41" name="Arrow"/>
          <p:cNvSpPr/>
          <p:nvPr/>
        </p:nvSpPr>
        <p:spPr>
          <a:xfrm>
            <a:off x="4827243" y="2315000"/>
            <a:ext cx="248603" cy="22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x"/>
          <p:cNvSpPr/>
          <p:nvPr/>
        </p:nvSpPr>
        <p:spPr>
          <a:xfrm>
            <a:off x="5125846" y="1900000"/>
            <a:ext cx="1940000" cy="1050000"/>
          </a:xfrm>
          <a:prstGeom prst="roundRect">
            <a:avLst>
              <a:gd name="adj" fmla="val 8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200" b="0">
                <a:solidFill>
                  <a:srgbClr val="5A3A06"/>
                </a:solidFill>
                <a:latin typeface="Malgun Gothic"/>
                <a:ea typeface="Malgun Gothic"/>
                <a:cs typeface="Malgun Gothic"/>
              </a:rPr>
              <a:t>실적 조건</a:t>
            </a:r>
          </a:p>
          <a:p>
            <a:pPr algn="ctr">
              <a:spcAft>
                <a:spcPts val="0"/>
              </a:spcAft>
            </a:pPr>
            <a:r>
              <a:rPr sz="1600" b="1">
                <a:solidFill>
                  <a:srgbClr val="0E1A2B"/>
                </a:solidFill>
                <a:latin typeface="Malgun Gothic"/>
                <a:ea typeface="Malgun Gothic"/>
                <a:cs typeface="Malgun Gothic"/>
              </a:rPr>
              <a:t>지난달 10만원</a:t>
            </a:r>
          </a:p>
        </p:txBody>
      </p:sp>
      <p:sp>
        <p:nvSpPr>
          <p:cNvPr id="43" name="Arrow"/>
          <p:cNvSpPr/>
          <p:nvPr/>
        </p:nvSpPr>
        <p:spPr>
          <a:xfrm>
            <a:off x="7115846" y="2315000"/>
            <a:ext cx="248603" cy="22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x"/>
          <p:cNvSpPr/>
          <p:nvPr/>
        </p:nvSpPr>
        <p:spPr>
          <a:xfrm>
            <a:off x="7414449" y="1900000"/>
            <a:ext cx="1940000" cy="1050000"/>
          </a:xfrm>
          <a:prstGeom prst="roundRect">
            <a:avLst>
              <a:gd name="adj" fmla="val 8000"/>
            </a:avLst>
          </a:prstGeom>
          <a:solidFill>
            <a:srgbClr val="D94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200" b="0">
                <a:solidFill>
                  <a:srgbClr val="FBD7CE"/>
                </a:solidFill>
                <a:latin typeface="Malgun Gothic"/>
                <a:ea typeface="Malgun Gothic"/>
                <a:cs typeface="Malgun Gothic"/>
              </a:rPr>
              <a:t>제외 규칙</a:t>
            </a:r>
          </a:p>
          <a:p>
            <a:pPr algn="ctr">
              <a:spcAft>
                <a:spcPts val="0"/>
              </a:spcAft>
            </a:pPr>
            <a:r>
              <a:rPr sz="1600" b="1">
                <a:solidFill>
                  <a:srgbClr val="FFFFFF"/>
                </a:solidFill>
                <a:latin typeface="Malgun Gothic"/>
                <a:ea typeface="Malgun Gothic"/>
                <a:cs typeface="Malgun Gothic"/>
              </a:rPr>
              <a:t>상품권 실적 제외</a:t>
            </a:r>
          </a:p>
        </p:txBody>
      </p:sp>
      <p:sp>
        <p:nvSpPr>
          <p:cNvPr id="45" name="Arrow"/>
          <p:cNvSpPr/>
          <p:nvPr/>
        </p:nvSpPr>
        <p:spPr>
          <a:xfrm>
            <a:off x="9404449" y="2315000"/>
            <a:ext cx="248603" cy="22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x"/>
          <p:cNvSpPr/>
          <p:nvPr/>
        </p:nvSpPr>
        <p:spPr>
          <a:xfrm>
            <a:off x="9703052" y="1900000"/>
            <a:ext cx="1940000" cy="1050000"/>
          </a:xfrm>
          <a:prstGeom prst="roundRect">
            <a:avLst>
              <a:gd name="adj" fmla="val 8000"/>
            </a:avLst>
          </a:prstGeom>
          <a:solidFill>
            <a:srgbClr val="6A4D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200" b="0">
                <a:solidFill>
                  <a:srgbClr val="DCD3F2"/>
                </a:solidFill>
                <a:latin typeface="Malgun Gothic"/>
                <a:ea typeface="Malgun Gothic"/>
                <a:cs typeface="Malgun Gothic"/>
              </a:rPr>
              <a:t>공식 조항</a:t>
            </a:r>
          </a:p>
          <a:p>
            <a:pPr algn="ctr">
              <a:spcAft>
                <a:spcPts val="0"/>
              </a:spcAft>
            </a:pPr>
            <a:r>
              <a:rPr sz="1600" b="1">
                <a:solidFill>
                  <a:srgbClr val="FFFFFF"/>
                </a:solidFill>
                <a:latin typeface="Malgun Gothic"/>
                <a:ea typeface="Malgun Gothic"/>
                <a:cs typeface="Malgun Gothic"/>
              </a:rPr>
              <a:t>15650 · 1쪽</a:t>
            </a:r>
          </a:p>
        </p:txBody>
      </p:sp>
      <p:sp>
        <p:nvSpPr>
          <p:cNvPr id="47" name="Text"/>
          <p:cNvSpPr txBox="1"/>
          <p:nvPr/>
        </p:nvSpPr>
        <p:spPr>
          <a:xfrm>
            <a:off x="2212941" y="3040000"/>
            <a:ext cx="900000" cy="260000"/>
          </a:xfrm>
          <a:prstGeom prst="rect">
            <a:avLst/>
          </a:prstGeom>
          <a:noFill/>
        </p:spPr>
        <p:txBody>
          <a:bodyPr wrap="square" lIns="0" rIns="0" anchor="t">
            <a:spAutoFit/>
          </a:bodyPr>
          <a:lstStyle/>
          <a:p>
            <a:pPr algn="ctr">
              <a:spcAft>
                <a:spcPts val="0"/>
              </a:spcAft>
            </a:pPr>
            <a:r>
              <a:rPr sz="1200" b="0">
                <a:solidFill>
                  <a:srgbClr val="5A6478"/>
                </a:solidFill>
                <a:latin typeface="Malgun Gothic"/>
                <a:ea typeface="Malgun Gothic"/>
                <a:cs typeface="Malgun Gothic"/>
              </a:rPr>
              <a:t>보유</a:t>
            </a:r>
          </a:p>
        </p:txBody>
      </p:sp>
      <p:sp>
        <p:nvSpPr>
          <p:cNvPr id="48" name="Text"/>
          <p:cNvSpPr txBox="1"/>
          <p:nvPr/>
        </p:nvSpPr>
        <p:spPr>
          <a:xfrm>
            <a:off x="4501544" y="3040000"/>
            <a:ext cx="900000" cy="260000"/>
          </a:xfrm>
          <a:prstGeom prst="rect">
            <a:avLst/>
          </a:prstGeom>
          <a:noFill/>
        </p:spPr>
        <p:txBody>
          <a:bodyPr wrap="square" lIns="0" rIns="0" anchor="t">
            <a:spAutoFit/>
          </a:bodyPr>
          <a:lstStyle/>
          <a:p>
            <a:pPr algn="ctr">
              <a:spcAft>
                <a:spcPts val="0"/>
              </a:spcAft>
            </a:pPr>
            <a:r>
              <a:rPr sz="1200" b="0">
                <a:solidFill>
                  <a:srgbClr val="5A6478"/>
                </a:solidFill>
                <a:latin typeface="Malgun Gothic"/>
                <a:ea typeface="Malgun Gothic"/>
                <a:cs typeface="Malgun Gothic"/>
              </a:rPr>
              <a:t>요구</a:t>
            </a:r>
          </a:p>
        </p:txBody>
      </p:sp>
      <p:sp>
        <p:nvSpPr>
          <p:cNvPr id="49" name="Text"/>
          <p:cNvSpPr txBox="1"/>
          <p:nvPr/>
        </p:nvSpPr>
        <p:spPr>
          <a:xfrm>
            <a:off x="6790147" y="3040000"/>
            <a:ext cx="900000" cy="260000"/>
          </a:xfrm>
          <a:prstGeom prst="rect">
            <a:avLst/>
          </a:prstGeom>
          <a:noFill/>
        </p:spPr>
        <p:txBody>
          <a:bodyPr wrap="square" lIns="0" rIns="0" anchor="t">
            <a:spAutoFit/>
          </a:bodyPr>
          <a:lstStyle/>
          <a:p>
            <a:pPr algn="ctr">
              <a:spcAft>
                <a:spcPts val="0"/>
              </a:spcAft>
            </a:pPr>
            <a:r>
              <a:rPr sz="1200" b="0">
                <a:solidFill>
                  <a:srgbClr val="5A6478"/>
                </a:solidFill>
                <a:latin typeface="Malgun Gothic"/>
                <a:ea typeface="Malgun Gothic"/>
                <a:cs typeface="Malgun Gothic"/>
              </a:rPr>
              <a:t>제외</a:t>
            </a:r>
          </a:p>
        </p:txBody>
      </p:sp>
      <p:sp>
        <p:nvSpPr>
          <p:cNvPr id="50" name="Text"/>
          <p:cNvSpPr txBox="1"/>
          <p:nvPr/>
        </p:nvSpPr>
        <p:spPr>
          <a:xfrm>
            <a:off x="9078750" y="3040000"/>
            <a:ext cx="900000" cy="260000"/>
          </a:xfrm>
          <a:prstGeom prst="rect">
            <a:avLst/>
          </a:prstGeom>
          <a:noFill/>
        </p:spPr>
        <p:txBody>
          <a:bodyPr wrap="square" lIns="0" rIns="0" anchor="t">
            <a:spAutoFit/>
          </a:bodyPr>
          <a:lstStyle/>
          <a:p>
            <a:pPr algn="ctr">
              <a:spcAft>
                <a:spcPts val="0"/>
              </a:spcAft>
            </a:pPr>
            <a:r>
              <a:rPr sz="1200" b="0">
                <a:solidFill>
                  <a:srgbClr val="5A6478"/>
                </a:solidFill>
                <a:latin typeface="Malgun Gothic"/>
                <a:ea typeface="Malgun Gothic"/>
                <a:cs typeface="Malgun Gothic"/>
              </a:rPr>
              <a:t>근거</a:t>
            </a:r>
          </a:p>
        </p:txBody>
      </p:sp>
      <p:sp>
        <p:nvSpPr>
          <p:cNvPr id="51" name="Box"/>
          <p:cNvSpPr/>
          <p:nvPr/>
        </p:nvSpPr>
        <p:spPr>
          <a:xfrm>
            <a:off x="548640" y="3600000"/>
            <a:ext cx="5450000" cy="150000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
          <p:cNvSpPr txBox="1"/>
          <p:nvPr/>
        </p:nvSpPr>
        <p:spPr>
          <a:xfrm>
            <a:off x="748640" y="3710000"/>
            <a:ext cx="5050000" cy="280000"/>
          </a:xfrm>
          <a:prstGeom prst="rect">
            <a:avLst/>
          </a:prstGeom>
          <a:noFill/>
        </p:spPr>
        <p:txBody>
          <a:bodyPr wrap="square" lIns="0" rIns="0" anchor="t">
            <a:spAutoFit/>
          </a:bodyPr>
          <a:lstStyle/>
          <a:p>
            <a:pPr algn="l">
              <a:spcAft>
                <a:spcPts val="0"/>
              </a:spcAft>
            </a:pPr>
            <a:r>
              <a:rPr sz="1400" b="1">
                <a:solidFill>
                  <a:srgbClr val="0E1A2B"/>
                </a:solidFill>
                <a:latin typeface="Malgun Gothic"/>
                <a:ea typeface="Malgun Gothic"/>
                <a:cs typeface="Malgun Gothic"/>
              </a:rPr>
              <a:t>만들 때  (그래프 DB: Neo4j)</a:t>
            </a:r>
          </a:p>
        </p:txBody>
      </p:sp>
      <p:sp>
        <p:nvSpPr>
          <p:cNvPr id="53" name="Box"/>
          <p:cNvSpPr/>
          <p:nvPr/>
        </p:nvSpPr>
        <p:spPr>
          <a:xfrm>
            <a:off x="748640" y="4280000"/>
            <a:ext cx="1500000" cy="620000"/>
          </a:xfrm>
          <a:prstGeom prst="roundRect">
            <a:avLst>
              <a:gd name="adj" fmla="val 12000"/>
            </a:avLst>
          </a:prstGeom>
          <a:solidFill>
            <a:srgbClr val="FFFFFF"/>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a:solidFill>
                  <a:srgbClr val="0E1A2B"/>
                </a:solidFill>
                <a:latin typeface="Malgun Gothic"/>
                <a:ea typeface="Malgun Gothic"/>
                <a:cs typeface="Malgun Gothic"/>
              </a:rPr>
              <a:t>공식 PDF</a:t>
            </a:r>
          </a:p>
        </p:txBody>
      </p:sp>
      <p:sp>
        <p:nvSpPr>
          <p:cNvPr id="54" name="Arrow"/>
          <p:cNvSpPr/>
          <p:nvPr/>
        </p:nvSpPr>
        <p:spPr>
          <a:xfrm>
            <a:off x="2263640" y="4500000"/>
            <a:ext cx="160000" cy="18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ox"/>
          <p:cNvSpPr/>
          <p:nvPr/>
        </p:nvSpPr>
        <p:spPr>
          <a:xfrm>
            <a:off x="2438640" y="4280000"/>
            <a:ext cx="1500000" cy="620000"/>
          </a:xfrm>
          <a:prstGeom prst="roundRect">
            <a:avLst>
              <a:gd name="adj" fmla="val 12000"/>
            </a:avLst>
          </a:prstGeom>
          <a:solidFill>
            <a:srgbClr val="FFFFFF"/>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a:solidFill>
                  <a:srgbClr val="0E1A2B"/>
                </a:solidFill>
                <a:latin typeface="Malgun Gothic"/>
                <a:ea typeface="Malgun Gothic"/>
                <a:cs typeface="Malgun Gothic"/>
              </a:rPr>
              <a:t>AI가 관계 추출</a:t>
            </a:r>
          </a:p>
        </p:txBody>
      </p:sp>
      <p:sp>
        <p:nvSpPr>
          <p:cNvPr id="56" name="Arrow"/>
          <p:cNvSpPr/>
          <p:nvPr/>
        </p:nvSpPr>
        <p:spPr>
          <a:xfrm>
            <a:off x="3953640" y="4500000"/>
            <a:ext cx="160000" cy="18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ox"/>
          <p:cNvSpPr/>
          <p:nvPr/>
        </p:nvSpPr>
        <p:spPr>
          <a:xfrm>
            <a:off x="4128640" y="4280000"/>
            <a:ext cx="1500000" cy="620000"/>
          </a:xfrm>
          <a:prstGeom prst="roundRect">
            <a:avLst>
              <a:gd name="adj" fmla="val 12000"/>
            </a:avLst>
          </a:prstGeom>
          <a:solidFill>
            <a:srgbClr val="FFFFFF"/>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a:solidFill>
                  <a:srgbClr val="0E1A2B"/>
                </a:solidFill>
                <a:latin typeface="Malgun Gothic"/>
                <a:ea typeface="Malgun Gothic"/>
                <a:cs typeface="Malgun Gothic"/>
              </a:rPr>
              <a:t>원문 대조 후 저장</a:t>
            </a:r>
          </a:p>
        </p:txBody>
      </p:sp>
      <p:sp>
        <p:nvSpPr>
          <p:cNvPr id="58" name="Box"/>
          <p:cNvSpPr/>
          <p:nvPr/>
        </p:nvSpPr>
        <p:spPr>
          <a:xfrm>
            <a:off x="6193055" y="3600000"/>
            <a:ext cx="5450000" cy="150000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
          <p:cNvSpPr txBox="1"/>
          <p:nvPr/>
        </p:nvSpPr>
        <p:spPr>
          <a:xfrm>
            <a:off x="6393055" y="3710000"/>
            <a:ext cx="5050000" cy="280000"/>
          </a:xfrm>
          <a:prstGeom prst="rect">
            <a:avLst/>
          </a:prstGeom>
          <a:noFill/>
        </p:spPr>
        <p:txBody>
          <a:bodyPr wrap="square" lIns="0" rIns="0" anchor="t">
            <a:spAutoFit/>
          </a:bodyPr>
          <a:lstStyle/>
          <a:p>
            <a:pPr algn="l">
              <a:spcAft>
                <a:spcPts val="0"/>
              </a:spcAft>
            </a:pPr>
            <a:r>
              <a:rPr sz="1400" b="1">
                <a:solidFill>
                  <a:srgbClr val="0E1A2B"/>
                </a:solidFill>
                <a:latin typeface="Malgun Gothic"/>
                <a:ea typeface="Malgun Gothic"/>
                <a:cs typeface="Malgun Gothic"/>
              </a:rPr>
              <a:t>쓸 때  (GraphRAG)</a:t>
            </a:r>
          </a:p>
        </p:txBody>
      </p:sp>
      <p:sp>
        <p:nvSpPr>
          <p:cNvPr id="60" name="Box"/>
          <p:cNvSpPr/>
          <p:nvPr/>
        </p:nvSpPr>
        <p:spPr>
          <a:xfrm>
            <a:off x="6393055" y="4280000"/>
            <a:ext cx="1500000" cy="620000"/>
          </a:xfrm>
          <a:prstGeom prst="roundRect">
            <a:avLst>
              <a:gd name="adj" fmla="val 12000"/>
            </a:avLst>
          </a:prstGeom>
          <a:solidFill>
            <a:srgbClr val="FFFFFF"/>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a:solidFill>
                  <a:srgbClr val="0E1A2B"/>
                </a:solidFill>
                <a:latin typeface="Malgun Gothic"/>
                <a:ea typeface="Malgun Gothic"/>
                <a:cs typeface="Malgun Gothic"/>
              </a:rPr>
              <a:t>질문</a:t>
            </a:r>
          </a:p>
        </p:txBody>
      </p:sp>
      <p:sp>
        <p:nvSpPr>
          <p:cNvPr id="61" name="Arrow"/>
          <p:cNvSpPr/>
          <p:nvPr/>
        </p:nvSpPr>
        <p:spPr>
          <a:xfrm>
            <a:off x="7908055" y="4500000"/>
            <a:ext cx="160000" cy="18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x"/>
          <p:cNvSpPr/>
          <p:nvPr/>
        </p:nvSpPr>
        <p:spPr>
          <a:xfrm>
            <a:off x="8083055" y="4280000"/>
            <a:ext cx="1500000" cy="620000"/>
          </a:xfrm>
          <a:prstGeom prst="roundRect">
            <a:avLst>
              <a:gd name="adj" fmla="val 12000"/>
            </a:avLst>
          </a:prstGeom>
          <a:solidFill>
            <a:srgbClr val="FFFFFF"/>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a:solidFill>
                  <a:srgbClr val="0E1A2B"/>
                </a:solidFill>
                <a:latin typeface="Malgun Gothic"/>
                <a:ea typeface="Malgun Gothic"/>
                <a:cs typeface="Malgun Gothic"/>
              </a:rPr>
              <a:t>관계·근거 검색</a:t>
            </a:r>
          </a:p>
        </p:txBody>
      </p:sp>
      <p:sp>
        <p:nvSpPr>
          <p:cNvPr id="63" name="Arrow"/>
          <p:cNvSpPr/>
          <p:nvPr/>
        </p:nvSpPr>
        <p:spPr>
          <a:xfrm>
            <a:off x="9598055" y="4500000"/>
            <a:ext cx="160000" cy="18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x"/>
          <p:cNvSpPr/>
          <p:nvPr/>
        </p:nvSpPr>
        <p:spPr>
          <a:xfrm>
            <a:off x="9773055" y="4280000"/>
            <a:ext cx="1500000" cy="620000"/>
          </a:xfrm>
          <a:prstGeom prst="roundRect">
            <a:avLst>
              <a:gd name="adj" fmla="val 12000"/>
            </a:avLst>
          </a:prstGeom>
          <a:solidFill>
            <a:srgbClr val="FFFFFF"/>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300" b="1">
                <a:solidFill>
                  <a:srgbClr val="0E1A2B"/>
                </a:solidFill>
                <a:latin typeface="Malgun Gothic"/>
                <a:ea typeface="Malgun Gothic"/>
                <a:cs typeface="Malgun Gothic"/>
              </a:rPr>
              <a:t>근거 기반 답변</a:t>
            </a:r>
          </a:p>
        </p:txBody>
      </p:sp>
      <p:sp>
        <p:nvSpPr>
          <p:cNvPr id="65" name="Text"/>
          <p:cNvSpPr txBox="1"/>
          <p:nvPr/>
        </p:nvSpPr>
        <p:spPr>
          <a:xfrm>
            <a:off x="548640" y="5400000"/>
            <a:ext cx="11094415" cy="500000"/>
          </a:xfrm>
          <a:prstGeom prst="rect">
            <a:avLst/>
          </a:prstGeom>
          <a:noFill/>
        </p:spPr>
        <p:txBody>
          <a:bodyPr wrap="square" lIns="0" rIns="0" anchor="t">
            <a:spAutoFit/>
          </a:bodyPr>
          <a:lstStyle/>
          <a:p>
            <a:pPr algn="l">
              <a:spcAft>
                <a:spcPts val="0"/>
              </a:spcAft>
            </a:pPr>
            <a:r>
              <a:rPr sz="2000" b="1">
                <a:solidFill>
                  <a:srgbClr val="0E1A2B"/>
                </a:solidFill>
                <a:latin typeface="Malgun Gothic"/>
                <a:ea typeface="Malgun Gothic"/>
                <a:cs typeface="Malgun Gothic"/>
              </a:rPr>
              <a:t>GraphRAG = 그래프에서 찾은 관계와 원문 근거를 AI 답변에 넣는 방식</a:t>
            </a:r>
          </a:p>
        </p:txBody>
      </p:sp>
      <p:sp>
        <p:nvSpPr>
          <p:cNvPr id="66" name="Source"/>
          <p:cNvSpPr txBox="1"/>
          <p:nvPr/>
        </p:nvSpPr>
        <p:spPr>
          <a:xfrm>
            <a:off x="548640" y="6400800"/>
            <a:ext cx="10515600" cy="292608"/>
          </a:xfrm>
          <a:prstGeom prst="rect">
            <a:avLst/>
          </a:prstGeom>
          <a:noFill/>
        </p:spPr>
        <p:txBody>
          <a:bodyPr wrap="square" lIns="0" rIns="0" anchor="t">
            <a:spAutoFit/>
          </a:bodyPr>
          <a:lstStyle/>
          <a:p>
            <a:pPr algn="l">
              <a:spcAft>
                <a:spcPts val="0"/>
              </a:spcAft>
            </a:pPr>
            <a:r>
              <a:rPr sz="1000" b="0">
                <a:solidFill>
                  <a:srgbClr val="5A6478"/>
                </a:solidFill>
                <a:latin typeface="Malgun Gothic"/>
                <a:ea typeface="Malgun Gothic"/>
                <a:cs typeface="Malgun Gothic"/>
              </a:rPr>
              <a:t>설계안 · 파싱·추출·적재·검색·답변 모두 아직 구현 전입니다</a:t>
            </a:r>
          </a:p>
        </p:txBody>
      </p:sp>
      <p:sp>
        <p:nvSpPr>
          <p:cNvPr id="36"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3   해결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질문 하나에 공식 조건과 원문 근거를 함께 반환합니다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예상 결과</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28" name="Box"/>
          <p:cNvSpPr/>
          <p:nvPr/>
        </p:nvSpPr>
        <p:spPr>
          <a:xfrm>
            <a:off x="548640" y="1650000"/>
            <a:ext cx="6900000" cy="650000"/>
          </a:xfrm>
          <a:prstGeom prst="roundRect">
            <a:avLst>
              <a:gd name="adj" fmla="val 2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square"/>
          <a:lstStyle/>
          <a:p>
            <a:pPr algn="l">
              <a:spcAft>
                <a:spcPts val="0"/>
              </a:spcAft>
            </a:pPr>
            <a:r>
              <a:rPr sz="1600" b="1">
                <a:solidFill>
                  <a:srgbClr val="0E1A2B"/>
                </a:solidFill>
                <a:latin typeface="Malgun Gothic"/>
                <a:ea typeface="Malgun Gothic"/>
                <a:cs typeface="Malgun Gothic"/>
              </a:rPr>
              <a:t>Q.  ONE PICK STYLE 대중교통 캐시백의 전월실적 조건은?</a:t>
            </a:r>
          </a:p>
        </p:txBody>
      </p:sp>
      <p:sp>
        <p:nvSpPr>
          <p:cNvPr id="29" name="Box"/>
          <p:cNvSpPr/>
          <p:nvPr/>
        </p:nvSpPr>
        <p:spPr>
          <a:xfrm>
            <a:off x="548640" y="2500000"/>
            <a:ext cx="6900000" cy="3050000"/>
          </a:xfrm>
          <a:prstGeom prst="roundRect">
            <a:avLst>
              <a:gd name="adj" fmla="val 4000"/>
            </a:avLst>
          </a:prstGeom>
          <a:solidFill>
            <a:srgbClr val="FFFFFF"/>
          </a:solidFill>
          <a:ln w="12700">
            <a:solidFill>
              <a:srgbClr val="D5D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748640" y="2600000"/>
            <a:ext cx="6500000" cy="260000"/>
          </a:xfrm>
          <a:prstGeom prst="rect">
            <a:avLst/>
          </a:prstGeom>
          <a:noFill/>
        </p:spPr>
        <p:txBody>
          <a:bodyPr wrap="square" lIns="0" rIns="0" anchor="t">
            <a:spAutoFit/>
          </a:bodyPr>
          <a:lstStyle/>
          <a:p>
            <a:pPr algn="l">
              <a:spcAft>
                <a:spcPts val="0"/>
              </a:spcAft>
            </a:pPr>
            <a:r>
              <a:rPr sz="1200" b="0">
                <a:solidFill>
                  <a:srgbClr val="5A6478"/>
                </a:solidFill>
                <a:latin typeface="Malgun Gothic"/>
                <a:ea typeface="Malgun Gothic"/>
                <a:cs typeface="Malgun Gothic"/>
              </a:rPr>
              <a:t>AI 답변 (예상 결과 — 수작업 원문 대조)</a:t>
            </a:r>
          </a:p>
        </p:txBody>
      </p:sp>
      <p:sp>
        <p:nvSpPr>
          <p:cNvPr id="31" name="Box"/>
          <p:cNvSpPr/>
          <p:nvPr/>
        </p:nvSpPr>
        <p:spPr>
          <a:xfrm>
            <a:off x="748640" y="2950000"/>
            <a:ext cx="2100000" cy="1300000"/>
          </a:xfrm>
          <a:prstGeom prst="roundRect">
            <a:avLst>
              <a:gd name="adj" fmla="val 7000"/>
            </a:avLst>
          </a:prstGeom>
          <a:solidFill>
            <a:srgbClr val="E3F4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200" b="1">
                <a:solidFill>
                  <a:srgbClr val="0E1A2B"/>
                </a:solidFill>
                <a:latin typeface="Malgun Gothic"/>
                <a:ea typeface="Malgun Gothic"/>
                <a:cs typeface="Malgun Gothic"/>
              </a:rPr>
              <a:t>5%</a:t>
            </a:r>
          </a:p>
          <a:p>
            <a:pPr algn="ctr">
              <a:spcAft>
                <a:spcPts val="0"/>
              </a:spcAft>
            </a:pPr>
            <a:r>
              <a:rPr sz="1200" b="0">
                <a:solidFill>
                  <a:srgbClr val="0D6F64"/>
                </a:solidFill>
                <a:latin typeface="Malgun Gothic"/>
                <a:ea typeface="Malgun Gothic"/>
                <a:cs typeface="Malgun Gothic"/>
              </a:rPr>
              <a:t>버스·지하철 캐시백</a:t>
            </a:r>
          </a:p>
        </p:txBody>
      </p:sp>
      <p:sp>
        <p:nvSpPr>
          <p:cNvPr id="32" name="Box"/>
          <p:cNvSpPr/>
          <p:nvPr/>
        </p:nvSpPr>
        <p:spPr>
          <a:xfrm>
            <a:off x="2948640" y="2950000"/>
            <a:ext cx="2100000" cy="1300000"/>
          </a:xfrm>
          <a:prstGeom prst="roundRect">
            <a:avLst>
              <a:gd name="adj" fmla="val 7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200" b="1">
                <a:solidFill>
                  <a:srgbClr val="0E1A2B"/>
                </a:solidFill>
                <a:latin typeface="Malgun Gothic"/>
                <a:ea typeface="Malgun Gothic"/>
                <a:cs typeface="Malgun Gothic"/>
              </a:rPr>
              <a:t>10만원 이상</a:t>
            </a:r>
          </a:p>
          <a:p>
            <a:pPr algn="ctr">
              <a:spcAft>
                <a:spcPts val="0"/>
              </a:spcAft>
            </a:pPr>
            <a:r>
              <a:rPr sz="1200" b="0">
                <a:solidFill>
                  <a:srgbClr val="8F5208"/>
                </a:solidFill>
                <a:latin typeface="Malgun Gothic"/>
                <a:ea typeface="Malgun Gothic"/>
                <a:cs typeface="Malgun Gothic"/>
              </a:rPr>
              <a:t>지난달 국내외 일시불</a:t>
            </a:r>
          </a:p>
        </p:txBody>
      </p:sp>
      <p:sp>
        <p:nvSpPr>
          <p:cNvPr id="33" name="Box"/>
          <p:cNvSpPr/>
          <p:nvPr/>
        </p:nvSpPr>
        <p:spPr>
          <a:xfrm>
            <a:off x="5148640" y="2950000"/>
            <a:ext cx="2100000" cy="1300000"/>
          </a:xfrm>
          <a:prstGeom prst="roundRect">
            <a:avLst>
              <a:gd name="adj" fmla="val 7000"/>
            </a:avLst>
          </a:prstGeom>
          <a:solidFill>
            <a:srgbClr val="E3F4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200" b="1">
                <a:solidFill>
                  <a:srgbClr val="0E1A2B"/>
                </a:solidFill>
                <a:latin typeface="Malgun Gothic"/>
                <a:ea typeface="Malgun Gothic"/>
                <a:cs typeface="Malgun Gothic"/>
              </a:rPr>
              <a:t>월 1,000원</a:t>
            </a:r>
          </a:p>
          <a:p>
            <a:pPr algn="ctr">
              <a:spcAft>
                <a:spcPts val="0"/>
              </a:spcAft>
            </a:pPr>
            <a:r>
              <a:rPr sz="1200" b="0">
                <a:solidFill>
                  <a:srgbClr val="0D6F64"/>
                </a:solidFill>
                <a:latin typeface="Malgun Gothic"/>
                <a:ea typeface="Malgun Gothic"/>
                <a:cs typeface="Malgun Gothic"/>
              </a:rPr>
              <a:t>캐시백 한도</a:t>
            </a:r>
          </a:p>
        </p:txBody>
      </p:sp>
      <p:sp>
        <p:nvSpPr>
          <p:cNvPr id="34" name="Box"/>
          <p:cNvSpPr/>
          <p:nvPr/>
        </p:nvSpPr>
        <p:spPr>
          <a:xfrm>
            <a:off x="748640" y="4400000"/>
            <a:ext cx="6500000" cy="450000"/>
          </a:xfrm>
          <a:prstGeom prst="roundRect">
            <a:avLst>
              <a:gd name="adj" fmla="val 2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50000" rIns="150000" wrap="square"/>
          <a:lstStyle/>
          <a:p>
            <a:pPr algn="l">
              <a:spcAft>
                <a:spcPts val="0"/>
              </a:spcAft>
            </a:pPr>
            <a:r>
              <a:rPr sz="1300" b="0">
                <a:solidFill>
                  <a:srgbClr val="0E1A2B"/>
                </a:solidFill>
                <a:latin typeface="Malgun Gothic"/>
                <a:ea typeface="Malgun Gothic"/>
                <a:cs typeface="Malgun Gothic"/>
              </a:rPr>
              <a:t>제외  시외·고속버스·철도(혜택) · 상품권 등(실적)</a:t>
            </a:r>
          </a:p>
        </p:txBody>
      </p:sp>
      <p:sp>
        <p:nvSpPr>
          <p:cNvPr id="35" name="Box"/>
          <p:cNvSpPr/>
          <p:nvPr/>
        </p:nvSpPr>
        <p:spPr>
          <a:xfrm>
            <a:off x="748640" y="4930000"/>
            <a:ext cx="6500000" cy="450000"/>
          </a:xfrm>
          <a:prstGeom prst="roundRect">
            <a:avLst>
              <a:gd name="adj" fmla="val 2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50000" rIns="150000" wrap="square"/>
          <a:lstStyle/>
          <a:p>
            <a:pPr algn="l">
              <a:spcAft>
                <a:spcPts val="0"/>
              </a:spcAft>
            </a:pPr>
            <a:r>
              <a:rPr sz="1300" b="0">
                <a:solidFill>
                  <a:srgbClr val="0E1A2B"/>
                </a:solidFill>
                <a:latin typeface="Malgun Gothic"/>
                <a:ea typeface="Malgun Gothic"/>
                <a:cs typeface="Malgun Gothic"/>
              </a:rPr>
              <a:t>신규 예외  최초 사용 등록일~다음 달 말일은 실적 무관</a:t>
            </a:r>
          </a:p>
        </p:txBody>
      </p:sp>
      <p:sp>
        <p:nvSpPr>
          <p:cNvPr id="36" name="Box"/>
          <p:cNvSpPr/>
          <p:nvPr/>
        </p:nvSpPr>
        <p:spPr>
          <a:xfrm>
            <a:off x="7700000" y="2500000"/>
            <a:ext cx="3940000" cy="3050000"/>
          </a:xfrm>
          <a:prstGeom prst="roundRect">
            <a:avLst>
              <a:gd name="adj" fmla="val 5000"/>
            </a:avLst>
          </a:prstGeom>
          <a:solidFill>
            <a:srgbClr val="EEE9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square"/>
          <a:lstStyle/>
          <a:p>
            <a:pPr algn="l">
              <a:spcAft>
                <a:spcPts val="800"/>
              </a:spcAft>
            </a:pPr>
            <a:r>
              <a:rPr sz="1300" b="1">
                <a:solidFill>
                  <a:srgbClr val="4B3690"/>
                </a:solidFill>
                <a:latin typeface="Malgun Gothic"/>
                <a:ea typeface="Malgun Gothic"/>
                <a:cs typeface="Malgun Gothic"/>
              </a:rPr>
              <a:t>원문 근거</a:t>
            </a:r>
          </a:p>
          <a:p>
            <a:pPr algn="l">
              <a:spcAft>
                <a:spcPts val="600"/>
              </a:spcAft>
            </a:pPr>
            <a:r>
              <a:rPr sz="1800" b="1">
                <a:solidFill>
                  <a:srgbClr val="0E1A2B"/>
                </a:solidFill>
                <a:latin typeface="Malgun Gothic"/>
                <a:ea typeface="Malgun Gothic"/>
                <a:cs typeface="Malgun Gothic"/>
              </a:rPr>
              <a:t>ONE PICK STYLE 상품설명서</a:t>
            </a:r>
          </a:p>
          <a:p>
            <a:pPr algn="l">
              <a:spcAft>
                <a:spcPts val="1000"/>
              </a:spcAft>
            </a:pPr>
            <a:r>
              <a:rPr sz="1400" b="0">
                <a:solidFill>
                  <a:srgbClr val="0E1A2B"/>
                </a:solidFill>
                <a:latin typeface="Malgun Gothic"/>
                <a:ea typeface="Malgun Gothic"/>
                <a:cs typeface="Malgun Gothic"/>
              </a:rPr>
              <a:t>15650_20260429 · 1쪽</a:t>
            </a:r>
          </a:p>
          <a:p>
            <a:pPr algn="l">
              <a:spcAft>
                <a:spcPts val="200"/>
              </a:spcAft>
            </a:pPr>
            <a:r>
              <a:rPr sz="1300" b="0">
                <a:solidFill>
                  <a:srgbClr val="5A6478"/>
                </a:solidFill>
                <a:latin typeface="Malgun Gothic"/>
                <a:ea typeface="Malgun Gothic"/>
                <a:cs typeface="Malgun Gothic"/>
              </a:rPr>
              <a:t>ONE MORE 혜택 표 · 실적 산정 기준</a:t>
            </a:r>
          </a:p>
          <a:p>
            <a:pPr algn="l">
              <a:spcAft>
                <a:spcPts val="0"/>
              </a:spcAft>
            </a:pPr>
            <a:r>
              <a:rPr sz="1300" b="0">
                <a:solidFill>
                  <a:srgbClr val="5A6478"/>
                </a:solidFill>
                <a:latin typeface="Malgun Gothic"/>
                <a:ea typeface="Malgun Gothic"/>
                <a:cs typeface="Malgun Gothic"/>
              </a:rPr>
              <a:t>실적 제외 대상 · 서비스 제외 대상</a:t>
            </a:r>
          </a:p>
        </p:txBody>
      </p:sp>
      <p:sp>
        <p:nvSpPr>
          <p:cNvPr id="37" name="Source"/>
          <p:cNvSpPr txBox="1"/>
          <p:nvPr/>
        </p:nvSpPr>
        <p:spPr>
          <a:xfrm>
            <a:off x="548640" y="6400800"/>
            <a:ext cx="10515600" cy="292608"/>
          </a:xfrm>
          <a:prstGeom prst="rect">
            <a:avLst/>
          </a:prstGeom>
          <a:noFill/>
        </p:spPr>
        <p:txBody>
          <a:bodyPr wrap="square" lIns="0" rIns="0" anchor="t">
            <a:spAutoFit/>
          </a:bodyPr>
          <a:lstStyle/>
          <a:p>
            <a:pPr algn="l">
              <a:spcAft>
                <a:spcPts val="0"/>
              </a:spcAft>
            </a:pPr>
            <a:r>
              <a:rPr sz="1000" b="0">
                <a:solidFill>
                  <a:srgbClr val="5A6478"/>
                </a:solidFill>
                <a:latin typeface="Malgun Gothic"/>
                <a:ea typeface="Malgun Gothic"/>
                <a:cs typeface="Malgun Gothic"/>
              </a:rPr>
              <a:t>값은 STYLE 상품설명서 원문 기준 · 응답 화면은 구현 후 얻으려는 출력 예시입니다</a:t>
            </a:r>
          </a:p>
        </p:txBody>
      </p:sp>
      <p:sp>
        <p:nvSpPr>
          <p:cNvPr id="27"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3   해결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여러 AI가 같은 공식 정보를 조회하도록 MCP로 연결합니다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목표</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26" name="Text"/>
          <p:cNvSpPr txBox="1"/>
          <p:nvPr/>
        </p:nvSpPr>
        <p:spPr>
          <a:xfrm>
            <a:off x="548640" y="1620000"/>
            <a:ext cx="11094415" cy="320000"/>
          </a:xfrm>
          <a:prstGeom prst="rect">
            <a:avLst/>
          </a:prstGeom>
          <a:noFill/>
        </p:spPr>
        <p:txBody>
          <a:bodyPr wrap="square" lIns="0" rIns="0" anchor="t">
            <a:spAutoFit/>
          </a:bodyPr>
          <a:lstStyle/>
          <a:p>
            <a:pPr algn="l">
              <a:spcAft>
                <a:spcPts val="0"/>
              </a:spcAft>
            </a:pPr>
            <a:r>
              <a:rPr sz="1600" b="1">
                <a:solidFill>
                  <a:srgbClr val="0E1A2B"/>
                </a:solidFill>
                <a:latin typeface="Malgun Gothic"/>
                <a:ea typeface="Malgun Gothic"/>
                <a:cs typeface="Malgun Gothic"/>
              </a:rPr>
              <a:t>MCP = AI가 외부 서비스와 데이터를 주고받게 하는 표준 방식</a:t>
            </a:r>
          </a:p>
        </p:txBody>
      </p:sp>
      <p:sp>
        <p:nvSpPr>
          <p:cNvPr id="27" name="Box"/>
          <p:cNvSpPr/>
          <p:nvPr/>
        </p:nvSpPr>
        <p:spPr>
          <a:xfrm>
            <a:off x="548640" y="2300000"/>
            <a:ext cx="2300000" cy="840000"/>
          </a:xfrm>
          <a:prstGeom prst="roundRect">
            <a:avLst>
              <a:gd name="adj" fmla="val 1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0E1A2B"/>
                </a:solidFill>
                <a:latin typeface="Malgun Gothic"/>
                <a:ea typeface="Malgun Gothic"/>
                <a:cs typeface="Malgun Gothic"/>
              </a:rPr>
              <a:t>외부 AI 서비스</a:t>
            </a:r>
          </a:p>
        </p:txBody>
      </p:sp>
      <p:sp>
        <p:nvSpPr>
          <p:cNvPr id="28" name="Box"/>
          <p:cNvSpPr/>
          <p:nvPr/>
        </p:nvSpPr>
        <p:spPr>
          <a:xfrm>
            <a:off x="548640" y="3380000"/>
            <a:ext cx="2300000" cy="840000"/>
          </a:xfrm>
          <a:prstGeom prst="roundRect">
            <a:avLst>
              <a:gd name="adj" fmla="val 1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0E1A2B"/>
                </a:solidFill>
                <a:latin typeface="Malgun Gothic"/>
                <a:ea typeface="Malgun Gothic"/>
                <a:cs typeface="Malgun Gothic"/>
              </a:rPr>
              <a:t>자사 AI 상담</a:t>
            </a:r>
          </a:p>
        </p:txBody>
      </p:sp>
      <p:sp>
        <p:nvSpPr>
          <p:cNvPr id="29" name="Box"/>
          <p:cNvSpPr/>
          <p:nvPr/>
        </p:nvSpPr>
        <p:spPr>
          <a:xfrm>
            <a:off x="548640" y="4460000"/>
            <a:ext cx="2300000" cy="840000"/>
          </a:xfrm>
          <a:prstGeom prst="roundRect">
            <a:avLst>
              <a:gd name="adj" fmla="val 1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a:solidFill>
                  <a:srgbClr val="0E1A2B"/>
                </a:solidFill>
                <a:latin typeface="Malgun Gothic"/>
                <a:ea typeface="Malgun Gothic"/>
                <a:cs typeface="Malgun Gothic"/>
              </a:rPr>
              <a:t>내부 상담·검토 AI</a:t>
            </a:r>
          </a:p>
        </p:txBody>
      </p:sp>
      <p:sp>
        <p:nvSpPr>
          <p:cNvPr id="30" name="Arrow"/>
          <p:cNvSpPr/>
          <p:nvPr/>
        </p:nvSpPr>
        <p:spPr>
          <a:xfrm>
            <a:off x="2930000" y="3670000"/>
            <a:ext cx="350000" cy="26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ox"/>
          <p:cNvSpPr/>
          <p:nvPr/>
        </p:nvSpPr>
        <p:spPr>
          <a:xfrm>
            <a:off x="3350000" y="2300000"/>
            <a:ext cx="2600000" cy="1400000"/>
          </a:xfrm>
          <a:prstGeom prst="roundRect">
            <a:avLst>
              <a:gd name="adj" fmla="val 8000"/>
            </a:avLst>
          </a:prstGeom>
          <a:solidFill>
            <a:srgbClr val="FFFFFF"/>
          </a:solidFill>
          <a:ln w="25400">
            <a:solidFill>
              <a:srgbClr val="E9A2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700" b="1">
                <a:solidFill>
                  <a:srgbClr val="0E1A2B"/>
                </a:solidFill>
                <a:latin typeface="Malgun Gothic"/>
                <a:ea typeface="Malgun Gothic"/>
                <a:cs typeface="Malgun Gothic"/>
              </a:rPr>
              <a:t>MCP 서버</a:t>
            </a:r>
          </a:p>
          <a:p>
            <a:pPr algn="ctr">
              <a:spcAft>
                <a:spcPts val="0"/>
              </a:spcAft>
            </a:pPr>
            <a:r>
              <a:rPr sz="1200" b="0">
                <a:solidFill>
                  <a:srgbClr val="5A6478"/>
                </a:solidFill>
                <a:latin typeface="Malgun Gothic"/>
                <a:ea typeface="Malgun Gothic"/>
                <a:cs typeface="Malgun Gothic"/>
              </a:rPr>
              <a:t>외부 AI용</a:t>
            </a:r>
          </a:p>
        </p:txBody>
      </p:sp>
      <p:sp>
        <p:nvSpPr>
          <p:cNvPr id="32" name="Box"/>
          <p:cNvSpPr/>
          <p:nvPr/>
        </p:nvSpPr>
        <p:spPr>
          <a:xfrm>
            <a:off x="3350000" y="3900000"/>
            <a:ext cx="2600000" cy="1400000"/>
          </a:xfrm>
          <a:prstGeom prst="roundRect">
            <a:avLst>
              <a:gd name="adj" fmla="val 8000"/>
            </a:avLst>
          </a:prstGeom>
          <a:solidFill>
            <a:srgbClr val="FFFFFF"/>
          </a:solidFill>
          <a:ln w="25400">
            <a:solidFill>
              <a:srgbClr val="0E1A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700" b="1">
                <a:solidFill>
                  <a:srgbClr val="0E1A2B"/>
                </a:solidFill>
                <a:latin typeface="Malgun Gothic"/>
                <a:ea typeface="Malgun Gothic"/>
                <a:cs typeface="Malgun Gothic"/>
              </a:rPr>
              <a:t>내부 API</a:t>
            </a:r>
          </a:p>
          <a:p>
            <a:pPr algn="ctr">
              <a:spcAft>
                <a:spcPts val="0"/>
              </a:spcAft>
            </a:pPr>
            <a:r>
              <a:rPr sz="1200" b="0">
                <a:solidFill>
                  <a:srgbClr val="5A6478"/>
                </a:solidFill>
                <a:latin typeface="Malgun Gothic"/>
                <a:ea typeface="Malgun Gothic"/>
                <a:cs typeface="Malgun Gothic"/>
              </a:rPr>
              <a:t>자사 시스템용</a:t>
            </a:r>
          </a:p>
        </p:txBody>
      </p:sp>
      <p:sp>
        <p:nvSpPr>
          <p:cNvPr id="33" name="Arrow"/>
          <p:cNvSpPr/>
          <p:nvPr/>
        </p:nvSpPr>
        <p:spPr>
          <a:xfrm>
            <a:off x="6030000" y="3670000"/>
            <a:ext cx="300000" cy="26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ox"/>
          <p:cNvSpPr/>
          <p:nvPr/>
        </p:nvSpPr>
        <p:spPr>
          <a:xfrm>
            <a:off x="6400000" y="2300000"/>
            <a:ext cx="2800000" cy="3000000"/>
          </a:xfrm>
          <a:prstGeom prst="roundRect">
            <a:avLst>
              <a:gd name="adj" fmla="val 6000"/>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800" b="1">
                <a:solidFill>
                  <a:srgbClr val="FFFFFF"/>
                </a:solidFill>
                <a:latin typeface="Malgun Gothic"/>
                <a:ea typeface="Malgun Gothic"/>
                <a:cs typeface="Malgun Gothic"/>
              </a:rPr>
              <a:t>공통 GraphRAG 엔진</a:t>
            </a:r>
          </a:p>
          <a:p>
            <a:pPr algn="ctr">
              <a:spcAft>
                <a:spcPts val="0"/>
              </a:spcAft>
            </a:pPr>
            <a:r>
              <a:rPr sz="1200" b="0">
                <a:solidFill>
                  <a:srgbClr val="D3EFEA"/>
                </a:solidFill>
                <a:latin typeface="Malgun Gothic"/>
                <a:ea typeface="Malgun Gothic"/>
                <a:cs typeface="Malgun Gothic"/>
              </a:rPr>
              <a:t>질문 해석 · 관계 검색 · 근거 기반 답변</a:t>
            </a:r>
          </a:p>
        </p:txBody>
      </p:sp>
      <p:sp>
        <p:nvSpPr>
          <p:cNvPr id="35" name="Arrow"/>
          <p:cNvSpPr/>
          <p:nvPr/>
        </p:nvSpPr>
        <p:spPr>
          <a:xfrm>
            <a:off x="9260000" y="3670000"/>
            <a:ext cx="320000" cy="260000"/>
          </a:xfrm>
          <a:prstGeom prst="rightArrow">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ox"/>
          <p:cNvSpPr/>
          <p:nvPr/>
        </p:nvSpPr>
        <p:spPr>
          <a:xfrm>
            <a:off x="9650000" y="2300000"/>
            <a:ext cx="1990000" cy="3000000"/>
          </a:xfrm>
          <a:prstGeom prst="roundRect">
            <a:avLst>
              <a:gd name="adj" fmla="val 6000"/>
            </a:avLst>
          </a:prstGeom>
          <a:solidFill>
            <a:srgbClr val="6A4D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600" b="1">
                <a:solidFill>
                  <a:srgbClr val="FFFFFF"/>
                </a:solidFill>
                <a:latin typeface="Malgun Gothic"/>
                <a:ea typeface="Malgun Gothic"/>
                <a:cs typeface="Malgun Gothic"/>
              </a:rPr>
              <a:t>공식 혜택·조건</a:t>
            </a:r>
          </a:p>
          <a:p>
            <a:pPr algn="ctr">
              <a:spcAft>
                <a:spcPts val="0"/>
              </a:spcAft>
            </a:pPr>
            <a:r>
              <a:rPr sz="1600" b="1">
                <a:solidFill>
                  <a:srgbClr val="FFFFFF"/>
                </a:solidFill>
                <a:latin typeface="Malgun Gothic"/>
                <a:ea typeface="Malgun Gothic"/>
                <a:cs typeface="Malgun Gothic"/>
              </a:rPr>
              <a:t>+ 원문 근거</a:t>
            </a:r>
          </a:p>
        </p:txBody>
      </p:sp>
      <p:sp>
        <p:nvSpPr>
          <p:cNvPr id="37" name="Source"/>
          <p:cNvSpPr txBox="1"/>
          <p:nvPr/>
        </p:nvSpPr>
        <p:spPr>
          <a:xfrm>
            <a:off x="548640" y="6400800"/>
            <a:ext cx="10515600" cy="292608"/>
          </a:xfrm>
          <a:prstGeom prst="rect">
            <a:avLst/>
          </a:prstGeom>
          <a:noFill/>
        </p:spPr>
        <p:txBody>
          <a:bodyPr wrap="square" lIns="0" rIns="0" anchor="t">
            <a:spAutoFit/>
          </a:bodyPr>
          <a:lstStyle/>
          <a:p>
            <a:pPr algn="l">
              <a:spcAft>
                <a:spcPts val="0"/>
              </a:spcAft>
            </a:pPr>
            <a:r>
              <a:rPr sz="1000" b="0">
                <a:solidFill>
                  <a:srgbClr val="5A6478"/>
                </a:solidFill>
                <a:latin typeface="Malgun Gothic"/>
                <a:ea typeface="Malgun Gothic"/>
                <a:cs typeface="Malgun Gothic"/>
              </a:rPr>
              <a:t>설계안 · 구현 전 · 외부 플랫폼(카카오 등) 실연동은 범위 밖 · 도구 목록은 부록 M · MCP 설명: 신한카드 2026-09-13 보도자료</a:t>
            </a:r>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 name="Text"/>
          <p:cNvSpPr txBox="1"/>
          <p:nvPr/>
        </p:nvSpPr>
        <p:spPr>
          <a:xfrm>
            <a:off x="640080" y="502920"/>
            <a:ext cx="6000000" cy="274320"/>
          </a:xfrm>
          <a:prstGeom prst="rect">
            <a:avLst/>
          </a:prstGeom>
          <a:noFill/>
        </p:spPr>
        <p:txBody>
          <a:bodyPr wrap="square" lIns="0" rIns="0" anchor="t">
            <a:spAutoFit/>
          </a:bodyPr>
          <a:lstStyle/>
          <a:p>
            <a:pPr algn="l">
              <a:spcAft>
                <a:spcPts val="0"/>
              </a:spcAft>
            </a:pPr>
            <a:r>
              <a:rPr sz="1300" b="1">
                <a:solidFill>
                  <a:srgbClr val="F4B740"/>
                </a:solidFill>
                <a:latin typeface="Malgun Gothic"/>
                <a:ea typeface="Malgun Gothic"/>
                <a:cs typeface="Malgun Gothic"/>
              </a:rPr>
              <a:t>4   현황·결론</a:t>
            </a:r>
          </a:p>
        </p:txBody>
      </p:sp>
      <p:sp>
        <p:nvSpPr>
          <p:cNvPr id="27" name="Text"/>
          <p:cNvSpPr txBox="1"/>
          <p:nvPr/>
        </p:nvSpPr>
        <p:spPr>
          <a:xfrm>
            <a:off x="640080" y="850000"/>
            <a:ext cx="10972800" cy="1000000"/>
          </a:xfrm>
          <a:prstGeom prst="rect">
            <a:avLst/>
          </a:prstGeom>
          <a:noFill/>
        </p:spPr>
        <p:txBody>
          <a:bodyPr wrap="square" lIns="0" rIns="0" anchor="t">
            <a:spAutoFit/>
          </a:bodyPr>
          <a:lstStyle/>
          <a:p>
            <a:pPr algn="l">
              <a:spcAft>
                <a:spcPts val="0"/>
              </a:spcAft>
            </a:pPr>
            <a:r>
              <a:rPr sz="2600" b="1">
                <a:solidFill>
                  <a:srgbClr val="FFFFFF"/>
                </a:solidFill>
                <a:latin typeface="Malgun Gothic"/>
                <a:ea typeface="Malgun Gothic"/>
                <a:cs typeface="Malgun Gothic"/>
              </a:rPr>
              <a:t>AI 채널이 달라져도, 공식 조건과 근거는 일관되게 관리할 수 있어야 합니다</a:t>
            </a:r>
          </a:p>
        </p:txBody>
      </p:sp>
      <p:sp>
        <p:nvSpPr>
          <p:cNvPr id="28" name="Box"/>
          <p:cNvSpPr/>
          <p:nvPr/>
        </p:nvSpPr>
        <p:spPr>
          <a:xfrm>
            <a:off x="640080" y="2050000"/>
            <a:ext cx="3483864" cy="145000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x"/>
          <p:cNvSpPr/>
          <p:nvPr/>
        </p:nvSpPr>
        <p:spPr>
          <a:xfrm>
            <a:off x="840080" y="2250000"/>
            <a:ext cx="480000" cy="480000"/>
          </a:xfrm>
          <a:prstGeom prst="ellipse">
            <a:avLst/>
          </a:prstGeom>
          <a:solidFill>
            <a:srgbClr val="F4B7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spcAft>
                <a:spcPts val="0"/>
              </a:spcAft>
            </a:pPr>
            <a:r>
              <a:rPr sz="1800" b="1">
                <a:solidFill>
                  <a:srgbClr val="0E1A2B"/>
                </a:solidFill>
                <a:latin typeface="Malgun Gothic"/>
                <a:ea typeface="Malgun Gothic"/>
                <a:cs typeface="Malgun Gothic"/>
              </a:rPr>
              <a:t>1</a:t>
            </a:r>
          </a:p>
        </p:txBody>
      </p:sp>
      <p:sp>
        <p:nvSpPr>
          <p:cNvPr id="30" name="Text"/>
          <p:cNvSpPr txBox="1"/>
          <p:nvPr/>
        </p:nvSpPr>
        <p:spPr>
          <a:xfrm>
            <a:off x="1440080" y="2230000"/>
            <a:ext cx="2533864" cy="520000"/>
          </a:xfrm>
          <a:prstGeom prst="rect">
            <a:avLst/>
          </a:prstGeom>
          <a:noFill/>
        </p:spPr>
        <p:txBody>
          <a:bodyPr wrap="square" lIns="0" rIns="0" anchor="t">
            <a:spAutoFit/>
          </a:bodyPr>
          <a:lstStyle/>
          <a:p>
            <a:pPr algn="l">
              <a:spcAft>
                <a:spcPts val="0"/>
              </a:spcAft>
            </a:pPr>
            <a:r>
              <a:rPr sz="2200" b="1">
                <a:solidFill>
                  <a:srgbClr val="FFFFFF"/>
                </a:solidFill>
                <a:latin typeface="Malgun Gothic"/>
                <a:ea typeface="Malgun Gothic"/>
                <a:cs typeface="Malgun Gothic"/>
              </a:rPr>
              <a:t>조건이 많다</a:t>
            </a:r>
          </a:p>
        </p:txBody>
      </p:sp>
      <p:sp>
        <p:nvSpPr>
          <p:cNvPr id="31" name="Text"/>
          <p:cNvSpPr txBox="1"/>
          <p:nvPr/>
        </p:nvSpPr>
        <p:spPr>
          <a:xfrm>
            <a:off x="1440080" y="2820000"/>
            <a:ext cx="2533864" cy="520000"/>
          </a:xfrm>
          <a:prstGeom prst="rect">
            <a:avLst/>
          </a:prstGeom>
          <a:noFill/>
        </p:spPr>
        <p:txBody>
          <a:bodyPr wrap="square" lIns="0" rIns="0" anchor="t">
            <a:spAutoFit/>
          </a:bodyPr>
          <a:lstStyle/>
          <a:p>
            <a:pPr algn="l">
              <a:spcAft>
                <a:spcPts val="0"/>
              </a:spcAft>
            </a:pPr>
            <a:r>
              <a:rPr sz="1300" b="0">
                <a:solidFill>
                  <a:srgbClr val="C9D3E6"/>
                </a:solidFill>
                <a:latin typeface="Malgun Gothic"/>
                <a:ea typeface="Malgun Gothic"/>
                <a:cs typeface="Malgun Gothic"/>
              </a:rPr>
              <a:t>‘5%’ 뒤에 조건 5개</a:t>
            </a:r>
          </a:p>
        </p:txBody>
      </p:sp>
      <p:sp>
        <p:nvSpPr>
          <p:cNvPr id="32" name="Box"/>
          <p:cNvSpPr/>
          <p:nvPr/>
        </p:nvSpPr>
        <p:spPr>
          <a:xfrm>
            <a:off x="4384944" y="2050000"/>
            <a:ext cx="3483864" cy="1450000"/>
          </a:xfrm>
          <a:prstGeom prst="roundRect">
            <a:avLst>
              <a:gd name="adj" fmla="val 6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ox"/>
          <p:cNvSpPr/>
          <p:nvPr/>
        </p:nvSpPr>
        <p:spPr>
          <a:xfrm>
            <a:off x="4584944" y="2250000"/>
            <a:ext cx="480000" cy="480000"/>
          </a:xfrm>
          <a:prstGeom prst="ellipse">
            <a:avLst/>
          </a:prstGeom>
          <a:solidFill>
            <a:srgbClr val="F4B7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spcAft>
                <a:spcPts val="0"/>
              </a:spcAft>
            </a:pPr>
            <a:r>
              <a:rPr sz="1800" b="1">
                <a:solidFill>
                  <a:srgbClr val="0E1A2B"/>
                </a:solidFill>
                <a:latin typeface="Malgun Gothic"/>
                <a:ea typeface="Malgun Gothic"/>
                <a:cs typeface="Malgun Gothic"/>
              </a:rPr>
              <a:t>2</a:t>
            </a:r>
          </a:p>
        </p:txBody>
      </p:sp>
      <p:sp>
        <p:nvSpPr>
          <p:cNvPr id="34" name="Text"/>
          <p:cNvSpPr txBox="1"/>
          <p:nvPr/>
        </p:nvSpPr>
        <p:spPr>
          <a:xfrm>
            <a:off x="5184944" y="2230000"/>
            <a:ext cx="2533864" cy="520000"/>
          </a:xfrm>
          <a:prstGeom prst="rect">
            <a:avLst/>
          </a:prstGeom>
          <a:noFill/>
        </p:spPr>
        <p:txBody>
          <a:bodyPr wrap="square" lIns="0" rIns="0" anchor="t">
            <a:spAutoFit/>
          </a:bodyPr>
          <a:lstStyle/>
          <a:p>
            <a:pPr algn="l">
              <a:spcAft>
                <a:spcPts val="0"/>
              </a:spcAft>
            </a:pPr>
            <a:r>
              <a:rPr sz="2200" b="1">
                <a:solidFill>
                  <a:srgbClr val="FFFFFF"/>
                </a:solidFill>
                <a:latin typeface="Malgun Gothic"/>
                <a:ea typeface="Malgun Gothic"/>
                <a:cs typeface="Malgun Gothic"/>
              </a:rPr>
              <a:t>관계가 끊긴다</a:t>
            </a:r>
          </a:p>
        </p:txBody>
      </p:sp>
      <p:sp>
        <p:nvSpPr>
          <p:cNvPr id="35" name="Text"/>
          <p:cNvSpPr txBox="1"/>
          <p:nvPr/>
        </p:nvSpPr>
        <p:spPr>
          <a:xfrm>
            <a:off x="5184944" y="2820000"/>
            <a:ext cx="2533864" cy="520000"/>
          </a:xfrm>
          <a:prstGeom prst="rect">
            <a:avLst/>
          </a:prstGeom>
          <a:noFill/>
        </p:spPr>
        <p:txBody>
          <a:bodyPr wrap="square" lIns="0" rIns="0" anchor="t">
            <a:spAutoFit/>
          </a:bodyPr>
          <a:lstStyle/>
          <a:p>
            <a:pPr algn="l">
              <a:spcAft>
                <a:spcPts val="0"/>
              </a:spcAft>
            </a:pPr>
            <a:r>
              <a:rPr sz="1300" b="0">
                <a:solidFill>
                  <a:srgbClr val="C9D3E6"/>
                </a:solidFill>
                <a:latin typeface="Malgun Gothic"/>
                <a:ea typeface="Malgun Gothic"/>
                <a:cs typeface="Malgun Gothic"/>
              </a:rPr>
              <a:t>숫자만 남고 관계 소실</a:t>
            </a:r>
          </a:p>
        </p:txBody>
      </p:sp>
      <p:sp>
        <p:nvSpPr>
          <p:cNvPr id="36" name="Box"/>
          <p:cNvSpPr/>
          <p:nvPr/>
        </p:nvSpPr>
        <p:spPr>
          <a:xfrm>
            <a:off x="8129808" y="2050000"/>
            <a:ext cx="3483864" cy="1450000"/>
          </a:xfrm>
          <a:prstGeom prst="roundRect">
            <a:avLst>
              <a:gd name="adj" fmla="val 6000"/>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ox"/>
          <p:cNvSpPr/>
          <p:nvPr/>
        </p:nvSpPr>
        <p:spPr>
          <a:xfrm>
            <a:off x="8329808" y="2250000"/>
            <a:ext cx="480000" cy="480000"/>
          </a:xfrm>
          <a:prstGeom prst="ellipse">
            <a:avLst/>
          </a:prstGeom>
          <a:solidFill>
            <a:srgbClr val="F4B7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spcAft>
                <a:spcPts val="0"/>
              </a:spcAft>
            </a:pPr>
            <a:r>
              <a:rPr sz="1800" b="1">
                <a:solidFill>
                  <a:srgbClr val="0E1A2B"/>
                </a:solidFill>
                <a:latin typeface="Malgun Gothic"/>
                <a:ea typeface="Malgun Gothic"/>
                <a:cs typeface="Malgun Gothic"/>
              </a:rPr>
              <a:t>3</a:t>
            </a:r>
          </a:p>
        </p:txBody>
      </p:sp>
      <p:sp>
        <p:nvSpPr>
          <p:cNvPr id="38" name="Text"/>
          <p:cNvSpPr txBox="1"/>
          <p:nvPr/>
        </p:nvSpPr>
        <p:spPr>
          <a:xfrm>
            <a:off x="8929808" y="2230000"/>
            <a:ext cx="2533864" cy="520000"/>
          </a:xfrm>
          <a:prstGeom prst="rect">
            <a:avLst/>
          </a:prstGeom>
          <a:noFill/>
        </p:spPr>
        <p:txBody>
          <a:bodyPr wrap="square" lIns="0" rIns="0" anchor="t">
            <a:spAutoFit/>
          </a:bodyPr>
          <a:lstStyle/>
          <a:p>
            <a:pPr algn="l">
              <a:spcAft>
                <a:spcPts val="0"/>
              </a:spcAft>
            </a:pPr>
            <a:r>
              <a:rPr sz="2200" b="1">
                <a:solidFill>
                  <a:srgbClr val="FFFFFF"/>
                </a:solidFill>
                <a:latin typeface="Malgun Gothic"/>
                <a:ea typeface="Malgun Gothic"/>
                <a:cs typeface="Malgun Gothic"/>
              </a:rPr>
              <a:t>관계로 저장·대조</a:t>
            </a:r>
          </a:p>
        </p:txBody>
      </p:sp>
      <p:sp>
        <p:nvSpPr>
          <p:cNvPr id="39" name="Text"/>
          <p:cNvSpPr txBox="1"/>
          <p:nvPr/>
        </p:nvSpPr>
        <p:spPr>
          <a:xfrm>
            <a:off x="8929808" y="2820000"/>
            <a:ext cx="2533864" cy="520000"/>
          </a:xfrm>
          <a:prstGeom prst="rect">
            <a:avLst/>
          </a:prstGeom>
          <a:noFill/>
        </p:spPr>
        <p:txBody>
          <a:bodyPr wrap="square" lIns="0" rIns="0" anchor="t">
            <a:spAutoFit/>
          </a:bodyPr>
          <a:lstStyle/>
          <a:p>
            <a:pPr algn="l">
              <a:spcAft>
                <a:spcPts val="0"/>
              </a:spcAft>
            </a:pPr>
            <a:r>
              <a:rPr sz="1300" b="0">
                <a:solidFill>
                  <a:srgbClr val="C9D3E6"/>
                </a:solidFill>
                <a:latin typeface="Malgun Gothic"/>
                <a:ea typeface="Malgun Gothic"/>
                <a:cs typeface="Malgun Gothic"/>
              </a:rPr>
              <a:t>조건과 근거를 한 묶음으로</a:t>
            </a:r>
          </a:p>
        </p:txBody>
      </p:sp>
      <p:sp>
        <p:nvSpPr>
          <p:cNvPr id="40" name="Text"/>
          <p:cNvSpPr txBox="1"/>
          <p:nvPr/>
        </p:nvSpPr>
        <p:spPr>
          <a:xfrm>
            <a:off x="640080" y="3700000"/>
            <a:ext cx="6000000" cy="280000"/>
          </a:xfrm>
          <a:prstGeom prst="rect">
            <a:avLst/>
          </a:prstGeom>
          <a:noFill/>
        </p:spPr>
        <p:txBody>
          <a:bodyPr wrap="square" lIns="0" rIns="0" anchor="t">
            <a:spAutoFit/>
          </a:bodyPr>
          <a:lstStyle/>
          <a:p>
            <a:pPr algn="l">
              <a:spcAft>
                <a:spcPts val="0"/>
              </a:spcAft>
            </a:pPr>
            <a:r>
              <a:rPr sz="1300" b="1">
                <a:solidFill>
                  <a:srgbClr val="F4B740"/>
                </a:solidFill>
                <a:latin typeface="Malgun Gothic"/>
                <a:ea typeface="Malgun Gothic"/>
                <a:cs typeface="Malgun Gothic"/>
              </a:rPr>
              <a:t>지금 어디까지</a:t>
            </a:r>
          </a:p>
        </p:txBody>
      </p:sp>
      <p:sp>
        <p:nvSpPr>
          <p:cNvPr id="41" name="Box"/>
          <p:cNvSpPr/>
          <p:nvPr/>
        </p:nvSpPr>
        <p:spPr>
          <a:xfrm>
            <a:off x="640080" y="4020000"/>
            <a:ext cx="2633472" cy="1050000"/>
          </a:xfrm>
          <a:prstGeom prst="roundRect">
            <a:avLst>
              <a:gd name="adj" fmla="val 7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wrap="square"/>
          <a:lstStyle/>
          <a:p>
            <a:pPr algn="l">
              <a:spcAft>
                <a:spcPts val="200"/>
              </a:spcAft>
            </a:pPr>
            <a:r>
              <a:rPr sz="1100" b="1">
                <a:solidFill>
                  <a:srgbClr val="9FE3D6"/>
                </a:solidFill>
                <a:latin typeface="Malgun Gothic"/>
                <a:ea typeface="Malgun Gothic"/>
                <a:cs typeface="Malgun Gothic"/>
              </a:rPr>
              <a:t>완료</a:t>
            </a:r>
          </a:p>
          <a:p>
            <a:pPr algn="l">
              <a:spcAft>
                <a:spcPts val="200"/>
              </a:spcAft>
            </a:pPr>
            <a:r>
              <a:rPr sz="1500" b="1">
                <a:solidFill>
                  <a:srgbClr val="FFFFFF"/>
                </a:solidFill>
                <a:latin typeface="Malgun Gothic"/>
                <a:ea typeface="Malgun Gothic"/>
                <a:cs typeface="Malgun Gothic"/>
              </a:rPr>
              <a:t>원문 확인</a:t>
            </a:r>
          </a:p>
          <a:p>
            <a:pPr algn="l">
              <a:spcAft>
                <a:spcPts val="0"/>
              </a:spcAft>
            </a:pPr>
            <a:r>
              <a:rPr sz="1100" b="0">
                <a:solidFill>
                  <a:srgbClr val="C9D3E6"/>
                </a:solidFill>
                <a:latin typeface="Malgun Gothic"/>
                <a:ea typeface="Malgun Gothic"/>
                <a:cs typeface="Malgun Gothic"/>
              </a:rPr>
              <a:t>4종 대조 · 추출 검증</a:t>
            </a:r>
          </a:p>
        </p:txBody>
      </p:sp>
      <p:sp>
        <p:nvSpPr>
          <p:cNvPr id="42" name="Box"/>
          <p:cNvSpPr/>
          <p:nvPr/>
        </p:nvSpPr>
        <p:spPr>
          <a:xfrm>
            <a:off x="3419856" y="4020000"/>
            <a:ext cx="2633472" cy="1050000"/>
          </a:xfrm>
          <a:prstGeom prst="roundRect">
            <a:avLst>
              <a:gd name="adj" fmla="val 7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wrap="square"/>
          <a:lstStyle/>
          <a:p>
            <a:pPr algn="l">
              <a:spcAft>
                <a:spcPts val="200"/>
              </a:spcAft>
            </a:pPr>
            <a:r>
              <a:rPr sz="1100" b="1">
                <a:solidFill>
                  <a:srgbClr val="F4B740"/>
                </a:solidFill>
                <a:latin typeface="Malgun Gothic"/>
                <a:ea typeface="Malgun Gothic"/>
                <a:cs typeface="Malgun Gothic"/>
              </a:rPr>
              <a:t>일부</a:t>
            </a:r>
          </a:p>
          <a:p>
            <a:pPr algn="l">
              <a:spcAft>
                <a:spcPts val="200"/>
              </a:spcAft>
            </a:pPr>
            <a:r>
              <a:rPr sz="1500" b="1">
                <a:solidFill>
                  <a:srgbClr val="FFFFFF"/>
                </a:solidFill>
                <a:latin typeface="Malgun Gothic"/>
                <a:ea typeface="Malgun Gothic"/>
                <a:cs typeface="Malgun Gothic"/>
              </a:rPr>
              <a:t>코드 존재</a:t>
            </a:r>
          </a:p>
          <a:p>
            <a:pPr algn="l">
              <a:spcAft>
                <a:spcPts val="0"/>
              </a:spcAft>
            </a:pPr>
            <a:r>
              <a:rPr sz="1100" b="0">
                <a:solidFill>
                  <a:srgbClr val="C9D3E6"/>
                </a:solidFill>
                <a:latin typeface="Malgun Gothic"/>
                <a:ea typeface="Malgun Gothic"/>
                <a:cs typeface="Malgun Gothic"/>
              </a:rPr>
              <a:t>테스트 통과는 미확인</a:t>
            </a:r>
          </a:p>
        </p:txBody>
      </p:sp>
      <p:sp>
        <p:nvSpPr>
          <p:cNvPr id="43" name="Box"/>
          <p:cNvSpPr/>
          <p:nvPr/>
        </p:nvSpPr>
        <p:spPr>
          <a:xfrm>
            <a:off x="6199632" y="4020000"/>
            <a:ext cx="2633472" cy="1050000"/>
          </a:xfrm>
          <a:prstGeom prst="roundRect">
            <a:avLst>
              <a:gd name="adj" fmla="val 7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wrap="square"/>
          <a:lstStyle/>
          <a:p>
            <a:pPr algn="l">
              <a:spcAft>
                <a:spcPts val="200"/>
              </a:spcAft>
            </a:pPr>
            <a:r>
              <a:rPr sz="1100" b="1">
                <a:solidFill>
                  <a:srgbClr val="AEB8CC"/>
                </a:solidFill>
                <a:latin typeface="Malgun Gothic"/>
                <a:ea typeface="Malgun Gothic"/>
                <a:cs typeface="Malgun Gothic"/>
              </a:rPr>
              <a:t>설계</a:t>
            </a:r>
          </a:p>
          <a:p>
            <a:pPr algn="l">
              <a:spcAft>
                <a:spcPts val="200"/>
              </a:spcAft>
            </a:pPr>
            <a:r>
              <a:rPr sz="1500" b="1">
                <a:solidFill>
                  <a:srgbClr val="FFFFFF"/>
                </a:solidFill>
                <a:latin typeface="Malgun Gothic"/>
                <a:ea typeface="Malgun Gothic"/>
                <a:cs typeface="Malgun Gothic"/>
              </a:rPr>
              <a:t>설계안</a:t>
            </a:r>
          </a:p>
          <a:p>
            <a:pPr algn="l">
              <a:spcAft>
                <a:spcPts val="0"/>
              </a:spcAft>
            </a:pPr>
            <a:r>
              <a:rPr sz="1100" b="0">
                <a:solidFill>
                  <a:srgbClr val="C9D3E6"/>
                </a:solidFill>
                <a:latin typeface="Malgun Gothic"/>
                <a:ea typeface="Malgun Gothic"/>
                <a:cs typeface="Malgun Gothic"/>
              </a:rPr>
              <a:t>스키마 · MCP 도구안</a:t>
            </a:r>
          </a:p>
        </p:txBody>
      </p:sp>
      <p:sp>
        <p:nvSpPr>
          <p:cNvPr id="44" name="Box"/>
          <p:cNvSpPr/>
          <p:nvPr/>
        </p:nvSpPr>
        <p:spPr>
          <a:xfrm>
            <a:off x="8979408" y="4020000"/>
            <a:ext cx="2633472" cy="1050000"/>
          </a:xfrm>
          <a:prstGeom prst="roundRect">
            <a:avLst>
              <a:gd name="adj" fmla="val 7000"/>
            </a:avLst>
          </a:prstGeom>
          <a:noFill/>
          <a:ln w="19050">
            <a:solidFill>
              <a:srgbClr val="8FA3C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wrap="square"/>
          <a:lstStyle/>
          <a:p>
            <a:pPr algn="l">
              <a:spcAft>
                <a:spcPts val="200"/>
              </a:spcAft>
            </a:pPr>
            <a:r>
              <a:rPr sz="1100" b="1">
                <a:solidFill>
                  <a:srgbClr val="AEB8CC"/>
                </a:solidFill>
                <a:latin typeface="Malgun Gothic"/>
                <a:ea typeface="Malgun Gothic"/>
                <a:cs typeface="Malgun Gothic"/>
              </a:rPr>
              <a:t>예정</a:t>
            </a:r>
          </a:p>
          <a:p>
            <a:pPr algn="l">
              <a:spcAft>
                <a:spcPts val="200"/>
              </a:spcAft>
            </a:pPr>
            <a:r>
              <a:rPr sz="1500" b="1">
                <a:solidFill>
                  <a:srgbClr val="FFFFFF"/>
                </a:solidFill>
                <a:latin typeface="Malgun Gothic"/>
                <a:ea typeface="Malgun Gothic"/>
                <a:cs typeface="Malgun Gothic"/>
              </a:rPr>
              <a:t>구현·검증</a:t>
            </a:r>
          </a:p>
          <a:p>
            <a:pPr algn="l">
              <a:spcAft>
                <a:spcPts val="0"/>
              </a:spcAft>
            </a:pPr>
            <a:r>
              <a:rPr sz="1100" b="0">
                <a:solidFill>
                  <a:srgbClr val="C9D3E6"/>
                </a:solidFill>
                <a:latin typeface="Malgun Gothic"/>
                <a:ea typeface="Malgun Gothic"/>
                <a:cs typeface="Malgun Gothic"/>
              </a:rPr>
              <a:t>추출→저장→답변→MCP</a:t>
            </a:r>
          </a:p>
        </p:txBody>
      </p:sp>
      <p:sp>
        <p:nvSpPr>
          <p:cNvPr id="45" name="Text"/>
          <p:cNvSpPr txBox="1"/>
          <p:nvPr/>
        </p:nvSpPr>
        <p:spPr>
          <a:xfrm>
            <a:off x="640080" y="5445000"/>
            <a:ext cx="800000" cy="300000"/>
          </a:xfrm>
          <a:prstGeom prst="rect">
            <a:avLst/>
          </a:prstGeom>
          <a:noFill/>
        </p:spPr>
        <p:txBody>
          <a:bodyPr wrap="square" lIns="0" rIns="0" anchor="t">
            <a:spAutoFit/>
          </a:bodyPr>
          <a:lstStyle/>
          <a:p>
            <a:pPr algn="l">
              <a:spcAft>
                <a:spcPts val="0"/>
              </a:spcAft>
            </a:pPr>
            <a:r>
              <a:rPr sz="1300" b="1">
                <a:solidFill>
                  <a:srgbClr val="F4B740"/>
                </a:solidFill>
                <a:latin typeface="Malgun Gothic"/>
                <a:ea typeface="Malgun Gothic"/>
                <a:cs typeface="Malgun Gothic"/>
              </a:rPr>
              <a:t>한계</a:t>
            </a:r>
          </a:p>
        </p:txBody>
      </p:sp>
      <p:sp>
        <p:nvSpPr>
          <p:cNvPr id="46" name="Box"/>
          <p:cNvSpPr/>
          <p:nvPr/>
        </p:nvSpPr>
        <p:spPr>
          <a:xfrm>
            <a:off x="1450000" y="5345000"/>
            <a:ext cx="3330000" cy="460000"/>
          </a:xfrm>
          <a:prstGeom prst="roundRect">
            <a:avLst>
              <a:gd name="adj" fmla="val 30000"/>
            </a:avLst>
          </a:prstGeom>
          <a:noFill/>
          <a:ln w="12700">
            <a:solidFill>
              <a:srgbClr val="F4B7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200" b="0">
                <a:solidFill>
                  <a:srgbClr val="F4B740"/>
                </a:solidFill>
                <a:latin typeface="Malgun Gothic"/>
                <a:ea typeface="Malgun Gothic"/>
                <a:cs typeface="Malgun Gothic"/>
              </a:rPr>
              <a:t>개인 혜택 수령 여부는 판단하지 않음</a:t>
            </a:r>
          </a:p>
        </p:txBody>
      </p:sp>
      <p:sp>
        <p:nvSpPr>
          <p:cNvPr id="47" name="Box"/>
          <p:cNvSpPr/>
          <p:nvPr/>
        </p:nvSpPr>
        <p:spPr>
          <a:xfrm>
            <a:off x="4930000" y="5345000"/>
            <a:ext cx="3330000" cy="460000"/>
          </a:xfrm>
          <a:prstGeom prst="roundRect">
            <a:avLst>
              <a:gd name="adj" fmla="val 30000"/>
            </a:avLst>
          </a:prstGeom>
          <a:noFill/>
          <a:ln w="12700">
            <a:solidFill>
              <a:srgbClr val="F4B7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200" b="0">
                <a:solidFill>
                  <a:srgbClr val="F4B740"/>
                </a:solidFill>
                <a:latin typeface="Malgun Gothic"/>
                <a:ea typeface="Malgun Gothic"/>
                <a:cs typeface="Malgun Gothic"/>
              </a:rPr>
              <a:t>SQL 대비 우위는 비교 전 단정하지 않음</a:t>
            </a:r>
          </a:p>
        </p:txBody>
      </p:sp>
      <p:sp>
        <p:nvSpPr>
          <p:cNvPr id="48" name="Box"/>
          <p:cNvSpPr/>
          <p:nvPr/>
        </p:nvSpPr>
        <p:spPr>
          <a:xfrm>
            <a:off x="8410000" y="5345000"/>
            <a:ext cx="3330000" cy="460000"/>
          </a:xfrm>
          <a:prstGeom prst="roundRect">
            <a:avLst>
              <a:gd name="adj" fmla="val 30000"/>
            </a:avLst>
          </a:prstGeom>
          <a:noFill/>
          <a:ln w="12700">
            <a:solidFill>
              <a:srgbClr val="F4B7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200" b="0">
                <a:solidFill>
                  <a:srgbClr val="F4B740"/>
                </a:solidFill>
                <a:latin typeface="Malgun Gothic"/>
                <a:ea typeface="Malgun Gothic"/>
                <a:cs typeface="Malgun Gothic"/>
              </a:rPr>
              <a:t>외부 AI의 최종 답변은 보장하지 못함</a:t>
            </a:r>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cNvSpPr txBox="1"/>
          <p:nvPr/>
        </p:nvSpPr>
        <p:spPr>
          <a:xfrm>
            <a:off x="640080" y="1000000"/>
            <a:ext cx="6000000" cy="300000"/>
          </a:xfrm>
          <a:prstGeom prst="rect">
            <a:avLst/>
          </a:prstGeom>
          <a:noFill/>
        </p:spPr>
        <p:txBody>
          <a:bodyPr wrap="square" lIns="0" rIns="0" anchor="t">
            <a:spAutoFit/>
          </a:bodyPr>
          <a:lstStyle/>
          <a:p>
            <a:pPr algn="l">
              <a:spcAft>
                <a:spcPts val="0"/>
              </a:spcAft>
            </a:pPr>
            <a:r>
              <a:rPr sz="1400" b="1">
                <a:solidFill>
                  <a:srgbClr val="F4B740"/>
                </a:solidFill>
                <a:latin typeface="Malgun Gothic"/>
                <a:ea typeface="Malgun Gothic"/>
                <a:cs typeface="Malgun Gothic"/>
              </a:rPr>
              <a:t>2차 팀 프로젝트</a:t>
            </a:r>
          </a:p>
        </p:txBody>
      </p:sp>
      <p:sp>
        <p:nvSpPr>
          <p:cNvPr id="3" name="Text"/>
          <p:cNvSpPr txBox="1"/>
          <p:nvPr/>
        </p:nvSpPr>
        <p:spPr>
          <a:xfrm>
            <a:off x="640080" y="1700000"/>
            <a:ext cx="7000000" cy="2400000"/>
          </a:xfrm>
          <a:prstGeom prst="rect">
            <a:avLst/>
          </a:prstGeom>
          <a:noFill/>
        </p:spPr>
        <p:txBody>
          <a:bodyPr wrap="square" lIns="0" rIns="0" anchor="t">
            <a:spAutoFit/>
          </a:bodyPr>
          <a:lstStyle/>
          <a:p>
            <a:pPr algn="l">
              <a:spcAft>
                <a:spcPts val="400"/>
              </a:spcAft>
            </a:pPr>
            <a:r>
              <a:rPr sz="4600" b="1">
                <a:solidFill>
                  <a:srgbClr val="FFFFFF"/>
                </a:solidFill>
                <a:latin typeface="Malgun Gothic"/>
                <a:ea typeface="Malgun Gothic"/>
                <a:cs typeface="Malgun Gothic"/>
              </a:rPr>
              <a:t>근거까지 답하는</a:t>
            </a:r>
          </a:p>
          <a:p>
            <a:pPr algn="l">
              <a:spcAft>
                <a:spcPts val="0"/>
              </a:spcAft>
            </a:pPr>
            <a:r>
              <a:rPr sz="4600" b="1">
                <a:solidFill>
                  <a:srgbClr val="F4B740"/>
                </a:solidFill>
                <a:latin typeface="Malgun Gothic"/>
                <a:ea typeface="Malgun Gothic"/>
                <a:cs typeface="Malgun Gothic"/>
              </a:rPr>
              <a:t>카드 혜택 GraphRAG</a:t>
            </a:r>
          </a:p>
        </p:txBody>
      </p:sp>
      <p:sp>
        <p:nvSpPr>
          <p:cNvPr id="4" name="Text"/>
          <p:cNvSpPr txBox="1"/>
          <p:nvPr/>
        </p:nvSpPr>
        <p:spPr>
          <a:xfrm>
            <a:off x="640080" y="4350000"/>
            <a:ext cx="7000000" cy="400000"/>
          </a:xfrm>
          <a:prstGeom prst="rect">
            <a:avLst/>
          </a:prstGeom>
          <a:noFill/>
        </p:spPr>
        <p:txBody>
          <a:bodyPr wrap="square" lIns="0" rIns="0" anchor="t">
            <a:spAutoFit/>
          </a:bodyPr>
          <a:lstStyle/>
          <a:p>
            <a:pPr algn="l">
              <a:spcAft>
                <a:spcPts val="0"/>
              </a:spcAft>
            </a:pPr>
            <a:r>
              <a:rPr sz="2000" b="0">
                <a:solidFill>
                  <a:srgbClr val="C9D3E6"/>
                </a:solidFill>
                <a:latin typeface="Malgun Gothic"/>
                <a:ea typeface="Malgun Gothic"/>
                <a:cs typeface="Malgun Gothic"/>
              </a:rPr>
              <a:t>하나카드 상품설명서 기반</a:t>
            </a:r>
          </a:p>
        </p:txBody>
      </p:sp>
      <p:sp>
        <p:nvSpPr>
          <p:cNvPr id="5" name="Text"/>
          <p:cNvSpPr txBox="1"/>
          <p:nvPr/>
        </p:nvSpPr>
        <p:spPr>
          <a:xfrm>
            <a:off x="640080" y="6000000"/>
            <a:ext cx="7000000" cy="350000"/>
          </a:xfrm>
          <a:prstGeom prst="rect">
            <a:avLst/>
          </a:prstGeom>
          <a:noFill/>
        </p:spPr>
        <p:txBody>
          <a:bodyPr wrap="square" lIns="0" rIns="0" anchor="t">
            <a:spAutoFit/>
          </a:bodyPr>
          <a:lstStyle/>
          <a:p>
            <a:pPr algn="l">
              <a:spcAft>
                <a:spcPts val="0"/>
              </a:spcAft>
            </a:pPr>
            <a:r>
              <a:rPr sz="1600" b="0">
                <a:solidFill>
                  <a:srgbClr val="AEB8CC"/>
                </a:solidFill>
                <a:latin typeface="Malgun Gothic"/>
                <a:ea typeface="Malgun Gothic"/>
                <a:cs typeface="Malgun Gothic"/>
              </a:rPr>
              <a:t>이닛 (mle-02-p2-team3)</a:t>
            </a:r>
          </a:p>
        </p:txBody>
      </p:sp>
      <p:cxnSp>
        <p:nvCxnSpPr>
          <p:cNvPr id="6" name="Link"/>
          <p:cNvCxnSpPr/>
          <p:nvPr/>
        </p:nvCxnSpPr>
        <p:spPr>
          <a:xfrm flipV="1">
            <a:off x="8300000" y="1900000"/>
            <a:ext cx="1500000" cy="400000"/>
          </a:xfrm>
          <a:prstGeom prst="line">
            <a:avLst/>
          </a:prstGeom>
          <a:ln w="31750">
            <a:solidFill>
              <a:srgbClr val="3A4C73"/>
            </a:solidFill>
          </a:ln>
        </p:spPr>
        <p:style>
          <a:lnRef idx="2">
            <a:schemeClr val="accent1"/>
          </a:lnRef>
          <a:fillRef idx="0">
            <a:schemeClr val="accent1"/>
          </a:fillRef>
          <a:effectRef idx="1">
            <a:schemeClr val="accent1"/>
          </a:effectRef>
          <a:fontRef idx="minor">
            <a:schemeClr val="tx1"/>
          </a:fontRef>
        </p:style>
      </p:cxnSp>
      <p:cxnSp>
        <p:nvCxnSpPr>
          <p:cNvPr id="7" name="Link"/>
          <p:cNvCxnSpPr/>
          <p:nvPr/>
        </p:nvCxnSpPr>
        <p:spPr>
          <a:xfrm>
            <a:off x="9800000" y="1900000"/>
            <a:ext cx="1000000" cy="1400000"/>
          </a:xfrm>
          <a:prstGeom prst="line">
            <a:avLst/>
          </a:prstGeom>
          <a:ln w="31750">
            <a:solidFill>
              <a:srgbClr val="3A4C73"/>
            </a:solidFill>
          </a:ln>
        </p:spPr>
        <p:style>
          <a:lnRef idx="2">
            <a:schemeClr val="accent1"/>
          </a:lnRef>
          <a:fillRef idx="0">
            <a:schemeClr val="accent1"/>
          </a:fillRef>
          <a:effectRef idx="1">
            <a:schemeClr val="accent1"/>
          </a:effectRef>
          <a:fontRef idx="minor">
            <a:schemeClr val="tx1"/>
          </a:fontRef>
        </p:style>
      </p:cxnSp>
      <p:cxnSp>
        <p:nvCxnSpPr>
          <p:cNvPr id="8" name="Link"/>
          <p:cNvCxnSpPr/>
          <p:nvPr/>
        </p:nvCxnSpPr>
        <p:spPr>
          <a:xfrm flipH="1">
            <a:off x="9400000" y="3300000"/>
            <a:ext cx="1400000" cy="1100000"/>
          </a:xfrm>
          <a:prstGeom prst="line">
            <a:avLst/>
          </a:prstGeom>
          <a:ln w="31750">
            <a:solidFill>
              <a:srgbClr val="3A4C73"/>
            </a:solidFill>
          </a:ln>
        </p:spPr>
        <p:style>
          <a:lnRef idx="2">
            <a:schemeClr val="accent1"/>
          </a:lnRef>
          <a:fillRef idx="0">
            <a:schemeClr val="accent1"/>
          </a:fillRef>
          <a:effectRef idx="1">
            <a:schemeClr val="accent1"/>
          </a:effectRef>
          <a:fontRef idx="minor">
            <a:schemeClr val="tx1"/>
          </a:fontRef>
        </p:style>
      </p:cxnSp>
      <p:cxnSp>
        <p:nvCxnSpPr>
          <p:cNvPr id="9" name="Link"/>
          <p:cNvCxnSpPr/>
          <p:nvPr/>
        </p:nvCxnSpPr>
        <p:spPr>
          <a:xfrm flipH="1" flipV="1">
            <a:off x="8000000" y="3900000"/>
            <a:ext cx="1400000" cy="500000"/>
          </a:xfrm>
          <a:prstGeom prst="line">
            <a:avLst/>
          </a:prstGeom>
          <a:ln w="31750">
            <a:solidFill>
              <a:srgbClr val="3A4C73"/>
            </a:solidFill>
          </a:ln>
        </p:spPr>
        <p:style>
          <a:lnRef idx="2">
            <a:schemeClr val="accent1"/>
          </a:lnRef>
          <a:fillRef idx="0">
            <a:schemeClr val="accent1"/>
          </a:fillRef>
          <a:effectRef idx="1">
            <a:schemeClr val="accent1"/>
          </a:effectRef>
          <a:fontRef idx="minor">
            <a:schemeClr val="tx1"/>
          </a:fontRef>
        </p:style>
      </p:cxnSp>
      <p:cxnSp>
        <p:nvCxnSpPr>
          <p:cNvPr id="10" name="Link"/>
          <p:cNvCxnSpPr/>
          <p:nvPr/>
        </p:nvCxnSpPr>
        <p:spPr>
          <a:xfrm flipV="1">
            <a:off x="8000000" y="2300000"/>
            <a:ext cx="300000" cy="1600000"/>
          </a:xfrm>
          <a:prstGeom prst="line">
            <a:avLst/>
          </a:prstGeom>
          <a:ln w="31750">
            <a:solidFill>
              <a:srgbClr val="3A4C73"/>
            </a:solidFill>
          </a:ln>
        </p:spPr>
        <p:style>
          <a:lnRef idx="2">
            <a:schemeClr val="accent1"/>
          </a:lnRef>
          <a:fillRef idx="0">
            <a:schemeClr val="accent1"/>
          </a:fillRef>
          <a:effectRef idx="1">
            <a:schemeClr val="accent1"/>
          </a:effectRef>
          <a:fontRef idx="minor">
            <a:schemeClr val="tx1"/>
          </a:fontRef>
        </p:style>
      </p:cxnSp>
      <p:cxnSp>
        <p:nvCxnSpPr>
          <p:cNvPr id="11" name="Link"/>
          <p:cNvCxnSpPr/>
          <p:nvPr/>
        </p:nvCxnSpPr>
        <p:spPr>
          <a:xfrm flipH="1">
            <a:off x="9400000" y="1900000"/>
            <a:ext cx="400000" cy="2500000"/>
          </a:xfrm>
          <a:prstGeom prst="line">
            <a:avLst/>
          </a:prstGeom>
          <a:ln w="31750">
            <a:solidFill>
              <a:srgbClr val="3A4C73"/>
            </a:solidFill>
          </a:ln>
        </p:spPr>
        <p:style>
          <a:lnRef idx="2">
            <a:schemeClr val="accent1"/>
          </a:lnRef>
          <a:fillRef idx="0">
            <a:schemeClr val="accent1"/>
          </a:fillRef>
          <a:effectRef idx="1">
            <a:schemeClr val="accent1"/>
          </a:effectRef>
          <a:fontRef idx="minor">
            <a:schemeClr val="tx1"/>
          </a:fontRef>
        </p:style>
      </p:cxnSp>
      <p:sp>
        <p:nvSpPr>
          <p:cNvPr id="12" name="Node"/>
          <p:cNvSpPr/>
          <p:nvPr/>
        </p:nvSpPr>
        <p:spPr>
          <a:xfrm>
            <a:off x="7970000" y="1970000"/>
            <a:ext cx="660000" cy="660000"/>
          </a:xfrm>
          <a:prstGeom prst="ellipse">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ode"/>
          <p:cNvSpPr/>
          <p:nvPr/>
        </p:nvSpPr>
        <p:spPr>
          <a:xfrm>
            <a:off x="9470000" y="1570000"/>
            <a:ext cx="660000" cy="66000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ode"/>
          <p:cNvSpPr/>
          <p:nvPr/>
        </p:nvSpPr>
        <p:spPr>
          <a:xfrm>
            <a:off x="10470000" y="2970000"/>
            <a:ext cx="660000" cy="660000"/>
          </a:xfrm>
          <a:prstGeom prst="ellipse">
            <a:avLst/>
          </a:prstGeom>
          <a:solidFill>
            <a:srgbClr val="D94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ode"/>
          <p:cNvSpPr/>
          <p:nvPr/>
        </p:nvSpPr>
        <p:spPr>
          <a:xfrm>
            <a:off x="9070000" y="4070000"/>
            <a:ext cx="660000" cy="660000"/>
          </a:xfrm>
          <a:prstGeom prst="ellipse">
            <a:avLst/>
          </a:prstGeom>
          <a:solidFill>
            <a:srgbClr val="6A4D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ode"/>
          <p:cNvSpPr/>
          <p:nvPr/>
        </p:nvSpPr>
        <p:spPr>
          <a:xfrm>
            <a:off x="7670000" y="3570000"/>
            <a:ext cx="660000" cy="6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CardEngine">
  <a:themeElements>
    <a:clrScheme name="CardEngine">
      <a:dk1>
        <a:srgbClr val="1A2433"/>
      </a:dk1>
      <a:lt1>
        <a:srgbClr val="FFFFFF"/>
      </a:lt1>
      <a:dk2>
        <a:srgbClr val="0E1A2B"/>
      </a:dk2>
      <a:lt2>
        <a:srgbClr val="F3F5F8"/>
      </a:lt2>
      <a:accent1>
        <a:srgbClr val="E8A33D"/>
      </a:accent1>
      <a:accent2>
        <a:srgbClr val="159A8C"/>
      </a:accent2>
      <a:accent3>
        <a:srgbClr val="D9472B"/>
      </a:accent3>
      <a:accent4>
        <a:srgbClr val="6A4FB0"/>
      </a:accent4>
      <a:accent5>
        <a:srgbClr val="3A4A60"/>
      </a:accent5>
      <a:accent6>
        <a:srgbClr val="1F3350"/>
      </a:accent6>
      <a:hlink>
        <a:srgbClr val="0D6F64"/>
      </a:hlink>
      <a:folHlink>
        <a:srgbClr val="6A4FB0"/>
      </a:folHlink>
    </a:clrScheme>
    <a:fontScheme name="CardEngin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카드사 공식 혜택 정보를 AI에 — 하나카드 상품설명서 기반 GraphRAG</dc:title>
  <dc:subject>PptxGenJS Presentation</dc:subject>
  <dc:creator>mle-02-p2-team3</dc:creator>
  <cp:lastModifiedBy>mle-02-p2-team3</cp:lastModifiedBy>
  <cp:revision>1</cp:revision>
  <dcterms:created xsi:type="dcterms:W3CDTF">2026-10-30T01:51:54Z</dcterms:created>
  <dcterms:modified xsi:type="dcterms:W3CDTF">2026-10-30T01:51:54Z</dcterms:modified>
</cp:coreProperties>
</file>