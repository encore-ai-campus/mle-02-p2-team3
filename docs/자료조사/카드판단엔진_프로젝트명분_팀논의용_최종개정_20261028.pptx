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오프닝 제안: 카드 혜택을 안내하는 AI 서비스가 늘어나고 있습니다. 그런데 금융상품의 혜택 조건은 상품과 약관에 따라 바뀝니다. 저희는 또 하나의 추천 챗봇보다는, 바뀐 조건을 한곳에서 관리하고 여러 채널의 판단에 빠르게 반영할 수 있는 공통 기반에 주목했습니다. 이 가치는 아직 검증할 프로젝트 가설입니다.
[Sources]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13일 신한카드는 ChatGPT for Kakao를 통해 카드 추천, 인기카드 조회, 상세 혜택 조회, 소비 인사이트 서비스를 제공한다고 발표했습니다. 즉 외부 AI 플랫폼을 고객 접점으로 활용하는 사례입니다. 이 슬라이드의 채팅 화면은 발표용 개념도이며 실제 UI를 재현한 것은 아닙니다.
[Sources]
- https://press1.newswire.co.kr/newsRead.php?no=1042468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신한카드의 2026년 9월 9일 공식 발표에는 서비스·정책·규정에 내재된 복합 조건을 구조화하고, 상품이나 규정 변경 시 조건 수정만으로 실시간 반영할 수 있다는 개발 목표가 담겨 있습니다. 9월 13일에는 ChatGPT for Kakao에 카드 추천과 혜택 조회 등을 연동한 별도의 서비스 발표가 있었습니다. 이 두 발표의 인과관계나 동일 시스템 연동을 단정하지 않습니다. 9월 9일 발표는 개발 착수·목표로 소개합니다.
[Sources]
- https://www.shinhangroup.com/kr/archive/press/detail/966
- https://press1.newswire.co.kr/newsRead.php?no=1042468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핵심 슬라이드입니다. 외부 AI가 느리다는 주장이 아니라, 카드 혜택 조건의 원본을 직접 관리하면 한곳에서 변경하고 여러 채널이 같은 최신 기준을 참조하도록 설계할 수 있다는 설명입니다. 신한카드는 조건 수정만으로 실시간 반영을 목표로 한다고 발표했습니다. 우리가 할 일은 공개 약관에 기반한 가상 조건 변경(예시 30만→40만)을 적용해 다음 판정 요청에서 새 기준이 반영되는지 관찰하는 것입니다. 실제 외부 약관의 변경을 자동 감지하는 것과 운영 환경 지연시간 검증은 별도 문제입니다.
[Sources]
- https://www.shinhangroup.com/kr/archive/press/detail/966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팀이 신한카드의 모든 금융상품과 내부 정책 데이터를 보유하는 것은 아닙니다. 고객별 실제 소비 데이터도 없습니다. 따라서 공개 카드 상품설명서와 약관에서 전월 실적, 이용 업종, 제외·예외, 한도를 추출해 구조화합니다. 시연은 가상 거래 입력을 사용하고 실데이터 운영 성능을 주장하지 않습니다. 공개 약관 사용·재배포 가능 범위도 확인해야 합니다.
[Sources]
- https://www.shinhangroup.com/kr/archive/press/detail/966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American Express는 2026년 주주서한에서 외부 AI 생태계에 자사 자산을 연결하면서 자체 플랫폼의 AI 경험도 개발한다고 밝혔습니다. Mastercard는 은행용 혜택 AI인 Mastercard Max를 출시했고 발급사가 연동할 수 있게 했습니다. 따라서 반드시 카드사가 AI 전체를 직접 구축해야 한다는 주장을 해서는 안 됩니다. 우리 프로젝트의 초점은 혜택 조건과 근거를 관리하는 기능입니다.
[Sources]
- https://www.americanexpress.com/en-us/newsroom/articles/financial-news/2026-chairman-s-letter-to-shareholders.html
- https://www.mastercard.com/global/en/news-and-trends/press/2026/october/Mastercard-Max-makes-benefits-easy.html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2026년 6월 시행된 금융분야 AI 가이드라인은 AI를 보조수단으로 보고 최종 의사결정과 책임이 임직원에게 있다는 원칙을 제시합니다. 이 원칙에서 특정 외부 AI 서비스가 잘못 답하면 카드사가 무조건 책임진다는 결론을 끌어내지 않습니다. 우리는 판정 기준과 기록을 설명할 수 있는 구조의 필요성을 뒷받침하는 맥락으로만 제시합니다.
[Sources]
- https://fsc.go.kr/po010102/87142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한번의 조건 변경이 모든 채널의 일관된 판단에 반영되는지 검증하고 싶습니다. 공개 약관→혜택 조건 구조화→조건 버전·검증→판정 결과를 기준으로 설계합니다. 꼭 GraphRAG가 필요한지는 SQL과 규칙 엔진, 간단한 PDF RAG와 비교해 결정합니다. 아직 이 기술 구성의 우수성을 입증한 것은 아닙니다.
[Sources]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계획입니다. 먼저 약관 조건 수정 전후의 판정이 달라지는지 확인합니다. 이어서 동일 조건의 질문을 웹과 MCP에서 실행해 결과 일치 여부를 기록합니다. 마지막으로 판정 결과의 근거 조항과 경로를 보여줍니다. 수정 후 반영 시점을 측정하되 상용 환경의 실시간 성능이나 외부 서비스보다 빠르다고 단정하지 않습니다. 오답 원인 분류와 회귀 테스트도 실제 수행 결과가 있을 때에만 제시합니다.
[Sources]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내외 발표 문안(개정): 신한카드는 9월 ChatGPT for Kakao를 통해 카드 추천과 혜택 조회를 연동했습니다. 그리고 이와 별도로 상품과 정책의 복합 조건을 구조화해, 조건 변경만으로 판단 기준을 실시간 반영하는 AI 엔진 개발도 발표했습니다. 저희는 AI가 고객을 만나는 창구가 늘어날수록, 혜택 판단의 기준을 한곳에서 관리하고 변경 내용을 빠르게 반영하는 역량이 중요해진다고 보았습니다. 그래서 외부 AI와 경쟁하는 추천 서비스 대신 공개 카드 약관을 구조화한 공통 판단 엔진을 검토합니다. 조건을 바꿨을 때 웹과 MCP에서 동일하게 새 기준이 적용되는지, 근거와 함께 검증하겠습니다. 이 프로젝트 방향은 팀 논의가 필요한 재검토안입니다.
[Sources]
- https://www.shinhangroup.com/kr/archive/press/detail/966
- https://press1.newswire.co.kr/newsRead.php?no=1042468
- https://www.americanexpress.com/en-us/newsroom/articles/financial-news/2026-chairman-s-letter-to-shareholders.html
- https://www.mastercard.com/global/en/news-and-trends/press/2026/october/Mastercard-Max-makes-benefits-easy.html
- https://fsc.go.kr/po010102/87142
- https://github.com/encore-ai-campus/mle-02-p2-team3/blob/main/docs/%EC%9E%90%EB%A3%8C%EC%A1%B0%EC%82%AC/%EA%B9%80%EB%B3%91%EC%A3%BC/2026-10-28/%EC%B5%9C%EC%A2%85_Claude_%EC%B9%B4%EB%93%9C%ED%8C%90%EB%8B%A8%EC%97%94%EC%A7%84_%ED%94%84%EB%A1%9C%EC%A0%9D%ED%8A%B8%EB%AA%85%EB%B6%84_%EB%B0%9C%ED%91%9C%EB%AC%B8%EC%95%88%EC%A0%95%EB%A6%AC_20261028.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525"/>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3A4F60"/>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9DAFBE"/>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9DAFBE"/>
                </a:solidFill>
                <a:latin typeface="Noto Sans CJK KR" pitchFamily="34" charset="0"/>
                <a:ea typeface="Noto Sans CJK KR" pitchFamily="34" charset="-122"/>
                <a:cs typeface="Noto Sans CJK KR" pitchFamily="34" charset="-120"/>
              </a:rPr>
              <a:t>01 / 10</a:t>
            </a:r>
            <a:endParaRPr lang="en-US" sz="1050" dirty="0"/>
          </a:p>
        </p:txBody>
      </p:sp>
      <p:sp>
        <p:nvSpPr>
          <p:cNvPr id="5" name="Shape 3"/>
          <p:cNvSpPr/>
          <p:nvPr/>
        </p:nvSpPr>
        <p:spPr>
          <a:xfrm>
            <a:off x="0" y="0"/>
            <a:ext cx="146304" cy="6858000"/>
          </a:xfrm>
          <a:prstGeom prst="rect">
            <a:avLst/>
          </a:prstGeom>
          <a:solidFill>
            <a:srgbClr val="159F94"/>
          </a:solidFill>
          <a:ln w="12700">
            <a:solidFill>
              <a:srgbClr val="159F94"/>
            </a:solidFill>
            <a:prstDash val="solid"/>
          </a:ln>
        </p:spPr>
      </p:sp>
      <p:sp>
        <p:nvSpPr>
          <p:cNvPr id="6" name="Text 4"/>
          <p:cNvSpPr/>
          <p:nvPr/>
        </p:nvSpPr>
        <p:spPr>
          <a:xfrm>
            <a:off x="832104" y="768096"/>
            <a:ext cx="8229600" cy="283464"/>
          </a:xfrm>
          <a:prstGeom prst="rect">
            <a:avLst/>
          </a:prstGeom>
          <a:noFill/>
          <a:ln/>
        </p:spPr>
        <p:txBody>
          <a:bodyPr wrap="square" lIns="0" tIns="0" rIns="0" bIns="0" rtlCol="0" anchor="ctr"/>
          <a:lstStyle/>
          <a:p>
            <a:pPr indent="0" marL="0">
              <a:buNone/>
            </a:pPr>
            <a:r>
              <a:rPr lang="en-US" sz="1210" b="1" spc="140" kern="0" dirty="0">
                <a:solidFill>
                  <a:srgbClr val="B5EEE2"/>
                </a:solidFill>
                <a:latin typeface="Noto Sans CJK KR" pitchFamily="34" charset="0"/>
                <a:ea typeface="Noto Sans CJK KR" pitchFamily="34" charset="-122"/>
                <a:cs typeface="Noto Sans CJK KR" pitchFamily="34" charset="-120"/>
              </a:rPr>
              <a:t>CARD BENEFITS  ·  TEAM DISCUSSION</a:t>
            </a:r>
            <a:endParaRPr lang="en-US" sz="1210" dirty="0"/>
          </a:p>
        </p:txBody>
      </p:sp>
      <p:sp>
        <p:nvSpPr>
          <p:cNvPr id="7" name="Text 5"/>
          <p:cNvSpPr/>
          <p:nvPr/>
        </p:nvSpPr>
        <p:spPr>
          <a:xfrm>
            <a:off x="804672" y="1517904"/>
            <a:ext cx="10469880" cy="685800"/>
          </a:xfrm>
          <a:prstGeom prst="rect">
            <a:avLst/>
          </a:prstGeom>
          <a:noFill/>
          <a:ln/>
        </p:spPr>
        <p:txBody>
          <a:bodyPr wrap="square" lIns="0" tIns="0" rIns="0" bIns="0" rtlCol="0" anchor="ctr"/>
          <a:lstStyle/>
          <a:p>
            <a:pPr indent="0" marL="0">
              <a:buNone/>
            </a:pPr>
            <a:r>
              <a:rPr lang="en-US" sz="3300" b="1" dirty="0">
                <a:solidFill>
                  <a:srgbClr val="FFFFFF"/>
                </a:solidFill>
                <a:latin typeface="Noto Sans CJK KR" pitchFamily="34" charset="0"/>
                <a:ea typeface="Noto Sans CJK KR" pitchFamily="34" charset="-122"/>
                <a:cs typeface="Noto Sans CJK KR" pitchFamily="34" charset="-120"/>
              </a:rPr>
              <a:t>카드 혜택 AI의 가치는</a:t>
            </a:r>
            <a:endParaRPr lang="en-US" sz="3300" dirty="0"/>
          </a:p>
        </p:txBody>
      </p:sp>
      <p:sp>
        <p:nvSpPr>
          <p:cNvPr id="8" name="Text 6"/>
          <p:cNvSpPr/>
          <p:nvPr/>
        </p:nvSpPr>
        <p:spPr>
          <a:xfrm>
            <a:off x="804672" y="2340864"/>
            <a:ext cx="10469880" cy="731520"/>
          </a:xfrm>
          <a:prstGeom prst="rect">
            <a:avLst/>
          </a:prstGeom>
          <a:noFill/>
          <a:ln/>
        </p:spPr>
        <p:txBody>
          <a:bodyPr wrap="square" lIns="0" tIns="0" rIns="0" bIns="0" rtlCol="0" anchor="ctr"/>
          <a:lstStyle/>
          <a:p>
            <a:pPr indent="0" marL="0">
              <a:buNone/>
            </a:pPr>
            <a:r>
              <a:rPr lang="en-US" sz="3400" b="1" dirty="0">
                <a:solidFill>
                  <a:srgbClr val="FFFFFF"/>
                </a:solidFill>
                <a:latin typeface="Noto Sans CJK KR" pitchFamily="34" charset="0"/>
                <a:ea typeface="Noto Sans CJK KR" pitchFamily="34" charset="-122"/>
                <a:cs typeface="Noto Sans CJK KR" pitchFamily="34" charset="-120"/>
              </a:rPr>
              <a:t>“잘 안내하는 것”을 넘어,</a:t>
            </a:r>
            <a:endParaRPr lang="en-US" sz="3400" dirty="0"/>
          </a:p>
        </p:txBody>
      </p:sp>
      <p:sp>
        <p:nvSpPr>
          <p:cNvPr id="9" name="Text 7"/>
          <p:cNvSpPr/>
          <p:nvPr/>
        </p:nvSpPr>
        <p:spPr>
          <a:xfrm>
            <a:off x="804672" y="3191256"/>
            <a:ext cx="10643616" cy="896112"/>
          </a:xfrm>
          <a:prstGeom prst="rect">
            <a:avLst/>
          </a:prstGeom>
          <a:noFill/>
          <a:ln/>
        </p:spPr>
        <p:txBody>
          <a:bodyPr wrap="square" lIns="0" tIns="0" rIns="0" bIns="0" rtlCol="0" anchor="ctr"/>
          <a:lstStyle/>
          <a:p>
            <a:pPr indent="0" marL="0">
              <a:buNone/>
            </a:pPr>
            <a:r>
              <a:rPr lang="en-US" sz="3150" b="1" dirty="0">
                <a:solidFill>
                  <a:srgbClr val="B5EEE2"/>
                </a:solidFill>
                <a:latin typeface="Noto Sans CJK KR" pitchFamily="34" charset="0"/>
                <a:ea typeface="Noto Sans CJK KR" pitchFamily="34" charset="-122"/>
                <a:cs typeface="Noto Sans CJK KR" pitchFamily="34" charset="-120"/>
              </a:rPr>
              <a:t>“바뀐 조건을 바로 반영하는 것”까지.</a:t>
            </a:r>
            <a:endParaRPr lang="en-US" sz="3150" dirty="0"/>
          </a:p>
        </p:txBody>
      </p:sp>
      <p:sp>
        <p:nvSpPr>
          <p:cNvPr id="10" name="Shape 8"/>
          <p:cNvSpPr/>
          <p:nvPr/>
        </p:nvSpPr>
        <p:spPr>
          <a:xfrm>
            <a:off x="841248" y="4507992"/>
            <a:ext cx="10158984" cy="0"/>
          </a:xfrm>
          <a:prstGeom prst="line">
            <a:avLst/>
          </a:prstGeom>
          <a:noFill/>
          <a:ln w="17780">
            <a:solidFill>
              <a:srgbClr val="426075"/>
            </a:solidFill>
            <a:prstDash val="solid"/>
          </a:ln>
        </p:spPr>
      </p:sp>
      <p:sp>
        <p:nvSpPr>
          <p:cNvPr id="11" name="Text 9"/>
          <p:cNvSpPr/>
          <p:nvPr/>
        </p:nvSpPr>
        <p:spPr>
          <a:xfrm>
            <a:off x="841248" y="4745736"/>
            <a:ext cx="10479024" cy="530352"/>
          </a:xfrm>
          <a:prstGeom prst="rect">
            <a:avLst/>
          </a:prstGeom>
          <a:noFill/>
          <a:ln/>
        </p:spPr>
        <p:txBody>
          <a:bodyPr wrap="square" lIns="0" tIns="0" rIns="0" bIns="0" rtlCol="0" anchor="ctr"/>
          <a:lstStyle/>
          <a:p>
            <a:pPr indent="0" marL="0">
              <a:buNone/>
            </a:pPr>
            <a:r>
              <a:rPr lang="en-US" sz="1820" dirty="0">
                <a:solidFill>
                  <a:srgbClr val="D5E0EB"/>
                </a:solidFill>
                <a:latin typeface="Noto Sans CJK KR" pitchFamily="34" charset="0"/>
                <a:ea typeface="Noto Sans CJK KR" pitchFamily="34" charset="-122"/>
                <a:cs typeface="Noto Sans CJK KR" pitchFamily="34" charset="-120"/>
              </a:rPr>
              <a:t>여러 AI 채널이 공유하는 혜택 판단 기준을 한 곳에서 관리한다</a:t>
            </a:r>
            <a:endParaRPr lang="en-US" sz="1820" dirty="0"/>
          </a:p>
        </p:txBody>
      </p:sp>
      <p:sp>
        <p:nvSpPr>
          <p:cNvPr id="12" name="Shape 10"/>
          <p:cNvSpPr/>
          <p:nvPr/>
        </p:nvSpPr>
        <p:spPr>
          <a:xfrm>
            <a:off x="822960" y="5733288"/>
            <a:ext cx="4087368" cy="347472"/>
          </a:xfrm>
          <a:prstGeom prst="roundRect">
            <a:avLst>
              <a:gd name="adj" fmla="val 44737"/>
            </a:avLst>
          </a:prstGeom>
          <a:solidFill>
            <a:srgbClr val="253950"/>
          </a:solidFill>
          <a:ln w="12700">
            <a:solidFill>
              <a:srgbClr val="253950">
                <a:alpha val="0"/>
              </a:srgbClr>
            </a:solidFill>
            <a:prstDash val="solid"/>
          </a:ln>
        </p:spPr>
      </p:sp>
      <p:sp>
        <p:nvSpPr>
          <p:cNvPr id="13" name="Text 11"/>
          <p:cNvSpPr/>
          <p:nvPr/>
        </p:nvSpPr>
        <p:spPr>
          <a:xfrm>
            <a:off x="905256" y="5742432"/>
            <a:ext cx="3922776" cy="320040"/>
          </a:xfrm>
          <a:prstGeom prst="rect">
            <a:avLst/>
          </a:prstGeom>
          <a:noFill/>
          <a:ln/>
        </p:spPr>
        <p:txBody>
          <a:bodyPr wrap="square" lIns="0" tIns="0" rIns="0" bIns="0" rtlCol="0" anchor="ctr"/>
          <a:lstStyle/>
          <a:p>
            <a:pPr algn="ctr" indent="0" marL="0">
              <a:buNone/>
            </a:pPr>
            <a:r>
              <a:rPr lang="en-US" sz="1150" b="1" dirty="0">
                <a:solidFill>
                  <a:srgbClr val="CAEDE2"/>
                </a:solidFill>
                <a:latin typeface="Noto Sans CJK KR" pitchFamily="34" charset="0"/>
                <a:ea typeface="Noto Sans CJK KR" pitchFamily="34" charset="-122"/>
                <a:cs typeface="Noto Sans CJK KR" pitchFamily="34" charset="-120"/>
              </a:rPr>
              <a:t>주제 재검토용 초안 · 팀 논의 전 확정 아님</a:t>
            </a:r>
            <a:endParaRPr lang="en-US" sz="1150" dirty="0"/>
          </a:p>
        </p:txBody>
      </p:sp>
      <p:sp>
        <p:nvSpPr>
          <p:cNvPr id="14" name="Shape 12"/>
          <p:cNvSpPr/>
          <p:nvPr/>
        </p:nvSpPr>
        <p:spPr>
          <a:xfrm>
            <a:off x="10497312" y="932688"/>
            <a:ext cx="146304" cy="146304"/>
          </a:xfrm>
          <a:prstGeom prst="ellipse">
            <a:avLst/>
          </a:prstGeom>
          <a:solidFill>
            <a:srgbClr val="159F94"/>
          </a:solidFill>
          <a:ln w="12700">
            <a:solidFill>
              <a:srgbClr val="159F94"/>
            </a:solidFill>
            <a:prstDash val="solid"/>
          </a:ln>
        </p:spPr>
      </p:sp>
      <p:sp>
        <p:nvSpPr>
          <p:cNvPr id="15" name="Shape 13"/>
          <p:cNvSpPr/>
          <p:nvPr/>
        </p:nvSpPr>
        <p:spPr>
          <a:xfrm>
            <a:off x="10908792" y="1508760"/>
            <a:ext cx="146304" cy="146304"/>
          </a:xfrm>
          <a:prstGeom prst="ellipse">
            <a:avLst/>
          </a:prstGeom>
          <a:solidFill>
            <a:srgbClr val="159F94"/>
          </a:solidFill>
          <a:ln w="12700">
            <a:solidFill>
              <a:srgbClr val="159F94"/>
            </a:solidFill>
            <a:prstDash val="solid"/>
          </a:ln>
        </p:spPr>
      </p:sp>
      <p:sp>
        <p:nvSpPr>
          <p:cNvPr id="16" name="Shape 14"/>
          <p:cNvSpPr/>
          <p:nvPr/>
        </p:nvSpPr>
        <p:spPr>
          <a:xfrm>
            <a:off x="10332720" y="2029968"/>
            <a:ext cx="146304" cy="146304"/>
          </a:xfrm>
          <a:prstGeom prst="ellipse">
            <a:avLst/>
          </a:prstGeom>
          <a:solidFill>
            <a:srgbClr val="159F94"/>
          </a:solidFill>
          <a:ln w="12700">
            <a:solidFill>
              <a:srgbClr val="159F94"/>
            </a:solidFill>
            <a:prstDash val="solid"/>
          </a:ln>
        </p:spPr>
      </p:sp>
      <p:sp>
        <p:nvSpPr>
          <p:cNvPr id="17" name="Shape 15"/>
          <p:cNvSpPr/>
          <p:nvPr/>
        </p:nvSpPr>
        <p:spPr>
          <a:xfrm>
            <a:off x="10963656" y="2615184"/>
            <a:ext cx="146304" cy="146304"/>
          </a:xfrm>
          <a:prstGeom prst="ellipse">
            <a:avLst/>
          </a:prstGeom>
          <a:solidFill>
            <a:srgbClr val="159F94"/>
          </a:solidFill>
          <a:ln w="12700">
            <a:solidFill>
              <a:srgbClr val="159F94"/>
            </a:solidFill>
            <a:prstDash val="solid"/>
          </a:ln>
        </p:spPr>
      </p:sp>
      <p:sp>
        <p:nvSpPr>
          <p:cNvPr id="18" name="Shape 16"/>
          <p:cNvSpPr/>
          <p:nvPr/>
        </p:nvSpPr>
        <p:spPr>
          <a:xfrm>
            <a:off x="10415016" y="3099816"/>
            <a:ext cx="146304" cy="146304"/>
          </a:xfrm>
          <a:prstGeom prst="ellipse">
            <a:avLst/>
          </a:prstGeom>
          <a:solidFill>
            <a:srgbClr val="159F94"/>
          </a:solidFill>
          <a:ln w="12700">
            <a:solidFill>
              <a:srgbClr val="159F9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DAE5EB"/>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62758A"/>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62758A"/>
                </a:solidFill>
                <a:latin typeface="Noto Sans CJK KR" pitchFamily="34" charset="0"/>
                <a:ea typeface="Noto Sans CJK KR" pitchFamily="34" charset="-122"/>
                <a:cs typeface="Noto Sans CJK KR" pitchFamily="34" charset="-120"/>
              </a:rPr>
              <a:t>02 / 10</a:t>
            </a:r>
            <a:endParaRPr lang="en-US" sz="1050" dirty="0"/>
          </a:p>
        </p:txBody>
      </p:sp>
      <p:sp>
        <p:nvSpPr>
          <p:cNvPr id="5" name="Text 3"/>
          <p:cNvSpPr/>
          <p:nvPr/>
        </p:nvSpPr>
        <p:spPr>
          <a:xfrm>
            <a:off x="704088" y="438912"/>
            <a:ext cx="10789920" cy="237744"/>
          </a:xfrm>
          <a:prstGeom prst="rect">
            <a:avLst/>
          </a:prstGeom>
          <a:noFill/>
          <a:ln/>
        </p:spPr>
        <p:txBody>
          <a:bodyPr wrap="square" lIns="0" tIns="0" rIns="0" bIns="0" rtlCol="0" anchor="ctr"/>
          <a:lstStyle/>
          <a:p>
            <a:pPr indent="0" marL="0">
              <a:buNone/>
            </a:pPr>
            <a:r>
              <a:rPr lang="en-US" sz="1050" b="1" spc="150" kern="0" dirty="0">
                <a:solidFill>
                  <a:srgbClr val="159F94"/>
                </a:solidFill>
                <a:latin typeface="Noto Sans CJK KR" pitchFamily="34" charset="0"/>
                <a:ea typeface="Noto Sans CJK KR" pitchFamily="34" charset="-122"/>
                <a:cs typeface="Noto Sans CJK KR" pitchFamily="34" charset="-120"/>
              </a:rPr>
              <a:t>01  ·  CUSTOMER CHANNEL</a:t>
            </a:r>
            <a:endParaRPr lang="en-US" sz="1050" dirty="0"/>
          </a:p>
        </p:txBody>
      </p:sp>
      <p:sp>
        <p:nvSpPr>
          <p:cNvPr id="6" name="Text 4"/>
          <p:cNvSpPr/>
          <p:nvPr/>
        </p:nvSpPr>
        <p:spPr>
          <a:xfrm>
            <a:off x="704088" y="841248"/>
            <a:ext cx="10872216" cy="694944"/>
          </a:xfrm>
          <a:prstGeom prst="rect">
            <a:avLst/>
          </a:prstGeom>
          <a:noFill/>
          <a:ln/>
        </p:spPr>
        <p:txBody>
          <a:bodyPr wrap="square" lIns="0" tIns="0" rIns="0" bIns="0" rtlCol="0" anchor="ctr"/>
          <a:lstStyle/>
          <a:p>
            <a:pPr indent="0" marL="0">
              <a:buNone/>
            </a:pPr>
            <a:r>
              <a:rPr lang="en-US" sz="2700" b="1" dirty="0">
                <a:solidFill>
                  <a:srgbClr val="101E32"/>
                </a:solidFill>
                <a:latin typeface="Noto Sans CJK KR" pitchFamily="34" charset="0"/>
                <a:ea typeface="Noto Sans CJK KR" pitchFamily="34" charset="-122"/>
                <a:cs typeface="Noto Sans CJK KR" pitchFamily="34" charset="-120"/>
              </a:rPr>
              <a:t>신한카드는 이미 ChatGPT for Kakao에서 카드 혜택을 안내합니다</a:t>
            </a:r>
            <a:endParaRPr lang="en-US" sz="2700" dirty="0"/>
          </a:p>
        </p:txBody>
      </p:sp>
      <p:sp>
        <p:nvSpPr>
          <p:cNvPr id="7" name="Text 5"/>
          <p:cNvSpPr/>
          <p:nvPr/>
        </p:nvSpPr>
        <p:spPr>
          <a:xfrm>
            <a:off x="722376" y="1581912"/>
            <a:ext cx="10789920" cy="365760"/>
          </a:xfrm>
          <a:prstGeom prst="rect">
            <a:avLst/>
          </a:prstGeom>
          <a:noFill/>
          <a:ln/>
        </p:spPr>
        <p:txBody>
          <a:bodyPr wrap="square" lIns="0" tIns="0" rIns="0" bIns="0" rtlCol="0" anchor="ctr"/>
          <a:lstStyle/>
          <a:p>
            <a:pPr indent="0" marL="0">
              <a:buNone/>
            </a:pPr>
            <a:r>
              <a:rPr lang="en-US" sz="1330" dirty="0">
                <a:solidFill>
                  <a:srgbClr val="62758A"/>
                </a:solidFill>
                <a:latin typeface="Noto Sans CJK KR" pitchFamily="34" charset="0"/>
                <a:ea typeface="Noto Sans CJK KR" pitchFamily="34" charset="-122"/>
                <a:cs typeface="Noto Sans CJK KR" pitchFamily="34" charset="-120"/>
              </a:rPr>
              <a:t>2026.09.13 발표 · 새로운 AI 고객 접점 확보</a:t>
            </a:r>
            <a:endParaRPr lang="en-US" sz="1330" dirty="0"/>
          </a:p>
        </p:txBody>
      </p:sp>
      <p:sp>
        <p:nvSpPr>
          <p:cNvPr id="8" name="Shape 6"/>
          <p:cNvSpPr/>
          <p:nvPr/>
        </p:nvSpPr>
        <p:spPr>
          <a:xfrm>
            <a:off x="758952" y="2185416"/>
            <a:ext cx="4736592" cy="3593592"/>
          </a:xfrm>
          <a:prstGeom prst="roundRect">
            <a:avLst>
              <a:gd name="adj" fmla="val 4326"/>
            </a:avLst>
          </a:prstGeom>
          <a:solidFill>
            <a:srgbClr val="101E32"/>
          </a:solidFill>
          <a:ln w="12700">
            <a:solidFill>
              <a:srgbClr val="101E32">
                <a:alpha val="0"/>
              </a:srgbClr>
            </a:solidFill>
            <a:prstDash val="solid"/>
          </a:ln>
        </p:spPr>
      </p:sp>
      <p:sp>
        <p:nvSpPr>
          <p:cNvPr id="9" name="Shape 7"/>
          <p:cNvSpPr/>
          <p:nvPr/>
        </p:nvSpPr>
        <p:spPr>
          <a:xfrm>
            <a:off x="1078992" y="2459736"/>
            <a:ext cx="1993392" cy="347472"/>
          </a:xfrm>
          <a:prstGeom prst="roundRect">
            <a:avLst>
              <a:gd name="adj" fmla="val 44737"/>
            </a:avLst>
          </a:prstGeom>
          <a:solidFill>
            <a:srgbClr val="21445B"/>
          </a:solidFill>
          <a:ln w="12700">
            <a:solidFill>
              <a:srgbClr val="21445B">
                <a:alpha val="0"/>
              </a:srgbClr>
            </a:solidFill>
            <a:prstDash val="solid"/>
          </a:ln>
        </p:spPr>
      </p:sp>
      <p:sp>
        <p:nvSpPr>
          <p:cNvPr id="10" name="Text 8"/>
          <p:cNvSpPr/>
          <p:nvPr/>
        </p:nvSpPr>
        <p:spPr>
          <a:xfrm>
            <a:off x="1161288" y="2468880"/>
            <a:ext cx="1828800" cy="320040"/>
          </a:xfrm>
          <a:prstGeom prst="rect">
            <a:avLst/>
          </a:prstGeom>
          <a:noFill/>
          <a:ln/>
        </p:spPr>
        <p:txBody>
          <a:bodyPr wrap="square" lIns="0" tIns="0" rIns="0" bIns="0" rtlCol="0" anchor="ctr"/>
          <a:lstStyle/>
          <a:p>
            <a:pPr algn="ctr" indent="0" marL="0">
              <a:buNone/>
            </a:pPr>
            <a:r>
              <a:rPr lang="en-US" sz="1150" b="1" dirty="0">
                <a:solidFill>
                  <a:srgbClr val="B5EEE2"/>
                </a:solidFill>
                <a:latin typeface="Noto Sans CJK KR" pitchFamily="34" charset="0"/>
                <a:ea typeface="Noto Sans CJK KR" pitchFamily="34" charset="-122"/>
                <a:cs typeface="Noto Sans CJK KR" pitchFamily="34" charset="-120"/>
              </a:rPr>
              <a:t>외부 AI 플랫폼 연동</a:t>
            </a:r>
            <a:endParaRPr lang="en-US" sz="1150" dirty="0"/>
          </a:p>
        </p:txBody>
      </p:sp>
      <p:sp>
        <p:nvSpPr>
          <p:cNvPr id="11" name="Text 9"/>
          <p:cNvSpPr/>
          <p:nvPr/>
        </p:nvSpPr>
        <p:spPr>
          <a:xfrm>
            <a:off x="1115568" y="3081528"/>
            <a:ext cx="950976" cy="365760"/>
          </a:xfrm>
          <a:prstGeom prst="rect">
            <a:avLst/>
          </a:prstGeom>
          <a:noFill/>
          <a:ln/>
        </p:spPr>
        <p:txBody>
          <a:bodyPr wrap="square" lIns="0" tIns="0" rIns="0" bIns="0" rtlCol="0" anchor="ctr"/>
          <a:lstStyle/>
          <a:p>
            <a:pPr indent="0" marL="0">
              <a:buNone/>
            </a:pPr>
            <a:r>
              <a:rPr lang="en-US" sz="1500" dirty="0">
                <a:solidFill>
                  <a:srgbClr val="B6CBDC"/>
                </a:solidFill>
                <a:latin typeface="Noto Sans CJK KR" pitchFamily="34" charset="0"/>
                <a:ea typeface="Noto Sans CJK KR" pitchFamily="34" charset="-122"/>
                <a:cs typeface="Noto Sans CJK KR" pitchFamily="34" charset="-120"/>
              </a:rPr>
              <a:t>고객</a:t>
            </a:r>
            <a:endParaRPr lang="en-US" sz="1500" dirty="0"/>
          </a:p>
        </p:txBody>
      </p:sp>
      <p:sp>
        <p:nvSpPr>
          <p:cNvPr id="12" name="Shape 10"/>
          <p:cNvSpPr/>
          <p:nvPr/>
        </p:nvSpPr>
        <p:spPr>
          <a:xfrm>
            <a:off x="1106424" y="3547872"/>
            <a:ext cx="3401568" cy="521208"/>
          </a:xfrm>
          <a:prstGeom prst="roundRect">
            <a:avLst>
              <a:gd name="adj" fmla="val 29825"/>
            </a:avLst>
          </a:prstGeom>
          <a:solidFill>
            <a:srgbClr val="243A52"/>
          </a:solidFill>
          <a:ln w="12700">
            <a:solidFill>
              <a:srgbClr val="243A52">
                <a:alpha val="0"/>
              </a:srgbClr>
            </a:solidFill>
            <a:prstDash val="solid"/>
          </a:ln>
        </p:spPr>
      </p:sp>
      <p:sp>
        <p:nvSpPr>
          <p:cNvPr id="13" name="Text 11"/>
          <p:cNvSpPr/>
          <p:nvPr/>
        </p:nvSpPr>
        <p:spPr>
          <a:xfrm>
            <a:off x="1298448" y="3584448"/>
            <a:ext cx="3008376" cy="420624"/>
          </a:xfrm>
          <a:prstGeom prst="rect">
            <a:avLst/>
          </a:prstGeom>
          <a:noFill/>
          <a:ln/>
        </p:spPr>
        <p:txBody>
          <a:bodyPr wrap="square" lIns="0" tIns="0" rIns="0" bIns="0" rtlCol="0" anchor="ctr"/>
          <a:lstStyle/>
          <a:p>
            <a:pPr indent="0" marL="0">
              <a:buNone/>
            </a:pPr>
            <a:r>
              <a:rPr lang="en-US" sz="1530" dirty="0">
                <a:solidFill>
                  <a:srgbClr val="FFFFFF"/>
                </a:solidFill>
                <a:latin typeface="Noto Sans CJK KR" pitchFamily="34" charset="0"/>
                <a:ea typeface="Noto Sans CJK KR" pitchFamily="34" charset="-122"/>
                <a:cs typeface="Noto Sans CJK KR" pitchFamily="34" charset="-120"/>
              </a:rPr>
              <a:t>“내 카드 혜택이 뭐야?”</a:t>
            </a:r>
            <a:endParaRPr lang="en-US" sz="1530" dirty="0"/>
          </a:p>
        </p:txBody>
      </p:sp>
      <p:sp>
        <p:nvSpPr>
          <p:cNvPr id="14" name="Shape 12"/>
          <p:cNvSpPr/>
          <p:nvPr/>
        </p:nvSpPr>
        <p:spPr>
          <a:xfrm>
            <a:off x="1636776" y="4315968"/>
            <a:ext cx="3456432" cy="685800"/>
          </a:xfrm>
          <a:prstGeom prst="roundRect">
            <a:avLst>
              <a:gd name="adj" fmla="val 22667"/>
            </a:avLst>
          </a:prstGeom>
          <a:solidFill>
            <a:srgbClr val="1A766F"/>
          </a:solidFill>
          <a:ln w="12700">
            <a:solidFill>
              <a:srgbClr val="1A766F">
                <a:alpha val="0"/>
              </a:srgbClr>
            </a:solidFill>
            <a:prstDash val="solid"/>
          </a:ln>
        </p:spPr>
      </p:sp>
      <p:sp>
        <p:nvSpPr>
          <p:cNvPr id="15" name="Text 13"/>
          <p:cNvSpPr/>
          <p:nvPr/>
        </p:nvSpPr>
        <p:spPr>
          <a:xfrm>
            <a:off x="1837944" y="4489704"/>
            <a:ext cx="3081528" cy="310896"/>
          </a:xfrm>
          <a:prstGeom prst="rect">
            <a:avLst/>
          </a:prstGeom>
          <a:noFill/>
          <a:ln/>
        </p:spPr>
        <p:txBody>
          <a:bodyPr wrap="square" lIns="0" tIns="0" rIns="0" bIns="0" rtlCol="0" anchor="ctr"/>
          <a:lstStyle/>
          <a:p>
            <a:pPr indent="0" marL="0">
              <a:buNone/>
            </a:pPr>
            <a:r>
              <a:rPr lang="en-US" sz="1420" b="1" dirty="0">
                <a:solidFill>
                  <a:srgbClr val="FFFFFF"/>
                </a:solidFill>
                <a:latin typeface="Noto Sans CJK KR" pitchFamily="34" charset="0"/>
                <a:ea typeface="Noto Sans CJK KR" pitchFamily="34" charset="-122"/>
                <a:cs typeface="Noto Sans CJK KR" pitchFamily="34" charset="-120"/>
              </a:rPr>
              <a:t>카드 추천 · 상세 혜택 조회</a:t>
            </a:r>
            <a:endParaRPr lang="en-US" sz="1420" dirty="0"/>
          </a:p>
        </p:txBody>
      </p:sp>
      <p:sp>
        <p:nvSpPr>
          <p:cNvPr id="16" name="Text 14"/>
          <p:cNvSpPr/>
          <p:nvPr/>
        </p:nvSpPr>
        <p:spPr>
          <a:xfrm>
            <a:off x="1097280" y="5358384"/>
            <a:ext cx="3749040" cy="237744"/>
          </a:xfrm>
          <a:prstGeom prst="rect">
            <a:avLst/>
          </a:prstGeom>
          <a:noFill/>
          <a:ln/>
        </p:spPr>
        <p:txBody>
          <a:bodyPr wrap="square" lIns="0" tIns="0" rIns="0" bIns="0" rtlCol="0" anchor="ctr"/>
          <a:lstStyle/>
          <a:p>
            <a:pPr indent="0" marL="0">
              <a:buNone/>
            </a:pPr>
            <a:r>
              <a:rPr lang="en-US" sz="1110" dirty="0">
                <a:solidFill>
                  <a:srgbClr val="B6CBDC"/>
                </a:solidFill>
                <a:latin typeface="Noto Sans CJK KR" pitchFamily="34" charset="0"/>
                <a:ea typeface="Noto Sans CJK KR" pitchFamily="34" charset="-122"/>
                <a:cs typeface="Noto Sans CJK KR" pitchFamily="34" charset="-120"/>
              </a:rPr>
              <a:t>서비스 흐름 개념도 · 실제 화면 아님</a:t>
            </a:r>
            <a:endParaRPr lang="en-US" sz="1110" dirty="0"/>
          </a:p>
        </p:txBody>
      </p:sp>
      <p:sp>
        <p:nvSpPr>
          <p:cNvPr id="17" name="Shape 15"/>
          <p:cNvSpPr/>
          <p:nvPr/>
        </p:nvSpPr>
        <p:spPr>
          <a:xfrm>
            <a:off x="5843016" y="2185416"/>
            <a:ext cx="5586984" cy="3593592"/>
          </a:xfrm>
          <a:prstGeom prst="roundRect">
            <a:avLst>
              <a:gd name="adj" fmla="val 4326"/>
            </a:avLst>
          </a:prstGeom>
          <a:solidFill>
            <a:srgbClr val="FFFFFF"/>
          </a:solidFill>
          <a:ln w="12700">
            <a:solidFill>
              <a:srgbClr val="FFFFFF">
                <a:alpha val="0"/>
              </a:srgbClr>
            </a:solidFill>
            <a:prstDash val="solid"/>
          </a:ln>
        </p:spPr>
      </p:sp>
      <p:sp>
        <p:nvSpPr>
          <p:cNvPr id="18" name="Text 16"/>
          <p:cNvSpPr/>
          <p:nvPr/>
        </p:nvSpPr>
        <p:spPr>
          <a:xfrm>
            <a:off x="6190488" y="2487168"/>
            <a:ext cx="4681728" cy="438912"/>
          </a:xfrm>
          <a:prstGeom prst="rect">
            <a:avLst/>
          </a:prstGeom>
          <a:noFill/>
          <a:ln/>
        </p:spPr>
        <p:txBody>
          <a:bodyPr wrap="square" lIns="0" tIns="0" rIns="0" bIns="0" rtlCol="0" anchor="ctr"/>
          <a:lstStyle/>
          <a:p>
            <a:pPr indent="0" marL="0">
              <a:buNone/>
            </a:pPr>
            <a:r>
              <a:rPr lang="en-US" sz="1940" b="1" dirty="0">
                <a:solidFill>
                  <a:srgbClr val="16263C"/>
                </a:solidFill>
                <a:latin typeface="Noto Sans CJK KR" pitchFamily="34" charset="0"/>
                <a:ea typeface="Noto Sans CJK KR" pitchFamily="34" charset="-122"/>
                <a:cs typeface="Noto Sans CJK KR" pitchFamily="34" charset="-120"/>
              </a:rPr>
              <a:t>공식 발표의 서비스 4종</a:t>
            </a:r>
            <a:endParaRPr lang="en-US" sz="1940" dirty="0"/>
          </a:p>
        </p:txBody>
      </p:sp>
      <p:sp>
        <p:nvSpPr>
          <p:cNvPr id="19" name="Shape 17"/>
          <p:cNvSpPr/>
          <p:nvPr/>
        </p:nvSpPr>
        <p:spPr>
          <a:xfrm>
            <a:off x="6181344" y="3035808"/>
            <a:ext cx="521208" cy="347472"/>
          </a:xfrm>
          <a:prstGeom prst="roundRect">
            <a:avLst>
              <a:gd name="adj" fmla="val 44737"/>
            </a:avLst>
          </a:prstGeom>
          <a:solidFill>
            <a:srgbClr val="EAF1FF"/>
          </a:solidFill>
          <a:ln w="12700">
            <a:solidFill>
              <a:srgbClr val="EAF1FF">
                <a:alpha val="0"/>
              </a:srgbClr>
            </a:solidFill>
            <a:prstDash val="solid"/>
          </a:ln>
        </p:spPr>
      </p:sp>
      <p:sp>
        <p:nvSpPr>
          <p:cNvPr id="20" name="Text 18"/>
          <p:cNvSpPr/>
          <p:nvPr/>
        </p:nvSpPr>
        <p:spPr>
          <a:xfrm>
            <a:off x="6263640" y="3044952"/>
            <a:ext cx="356616"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01</a:t>
            </a:r>
            <a:endParaRPr lang="en-US" sz="1150" dirty="0"/>
          </a:p>
        </p:txBody>
      </p:sp>
      <p:sp>
        <p:nvSpPr>
          <p:cNvPr id="21" name="Text 19"/>
          <p:cNvSpPr/>
          <p:nvPr/>
        </p:nvSpPr>
        <p:spPr>
          <a:xfrm>
            <a:off x="6922008" y="3035808"/>
            <a:ext cx="4169664" cy="347472"/>
          </a:xfrm>
          <a:prstGeom prst="rect">
            <a:avLst/>
          </a:prstGeom>
          <a:noFill/>
          <a:ln/>
        </p:spPr>
        <p:txBody>
          <a:bodyPr wrap="square" lIns="0" tIns="0" rIns="0" bIns="0" rtlCol="0" anchor="ctr"/>
          <a:lstStyle/>
          <a:p>
            <a:pPr indent="0" marL="0">
              <a:buNone/>
            </a:pPr>
            <a:r>
              <a:rPr lang="en-US" sz="1600" dirty="0">
                <a:solidFill>
                  <a:srgbClr val="16263C"/>
                </a:solidFill>
                <a:latin typeface="Noto Sans CJK KR" pitchFamily="34" charset="0"/>
                <a:ea typeface="Noto Sans CJK KR" pitchFamily="34" charset="-122"/>
                <a:cs typeface="Noto Sans CJK KR" pitchFamily="34" charset="-120"/>
              </a:rPr>
              <a:t>맞춤 카드 추천</a:t>
            </a:r>
            <a:endParaRPr lang="en-US" sz="1600" dirty="0"/>
          </a:p>
        </p:txBody>
      </p:sp>
      <p:sp>
        <p:nvSpPr>
          <p:cNvPr id="22" name="Shape 20"/>
          <p:cNvSpPr/>
          <p:nvPr/>
        </p:nvSpPr>
        <p:spPr>
          <a:xfrm>
            <a:off x="6181344" y="3584448"/>
            <a:ext cx="521208" cy="347472"/>
          </a:xfrm>
          <a:prstGeom prst="roundRect">
            <a:avLst>
              <a:gd name="adj" fmla="val 44737"/>
            </a:avLst>
          </a:prstGeom>
          <a:solidFill>
            <a:srgbClr val="EAF1FF"/>
          </a:solidFill>
          <a:ln w="12700">
            <a:solidFill>
              <a:srgbClr val="EAF1FF">
                <a:alpha val="0"/>
              </a:srgbClr>
            </a:solidFill>
            <a:prstDash val="solid"/>
          </a:ln>
        </p:spPr>
      </p:sp>
      <p:sp>
        <p:nvSpPr>
          <p:cNvPr id="23" name="Text 21"/>
          <p:cNvSpPr/>
          <p:nvPr/>
        </p:nvSpPr>
        <p:spPr>
          <a:xfrm>
            <a:off x="6263640" y="3593592"/>
            <a:ext cx="356616"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02</a:t>
            </a:r>
            <a:endParaRPr lang="en-US" sz="1150" dirty="0"/>
          </a:p>
        </p:txBody>
      </p:sp>
      <p:sp>
        <p:nvSpPr>
          <p:cNvPr id="24" name="Text 22"/>
          <p:cNvSpPr/>
          <p:nvPr/>
        </p:nvSpPr>
        <p:spPr>
          <a:xfrm>
            <a:off x="6922008" y="3584448"/>
            <a:ext cx="4169664" cy="347472"/>
          </a:xfrm>
          <a:prstGeom prst="rect">
            <a:avLst/>
          </a:prstGeom>
          <a:noFill/>
          <a:ln/>
        </p:spPr>
        <p:txBody>
          <a:bodyPr wrap="square" lIns="0" tIns="0" rIns="0" bIns="0" rtlCol="0" anchor="ctr"/>
          <a:lstStyle/>
          <a:p>
            <a:pPr indent="0" marL="0">
              <a:buNone/>
            </a:pPr>
            <a:r>
              <a:rPr lang="en-US" sz="1600" dirty="0">
                <a:solidFill>
                  <a:srgbClr val="16263C"/>
                </a:solidFill>
                <a:latin typeface="Noto Sans CJK KR" pitchFamily="34" charset="0"/>
                <a:ea typeface="Noto Sans CJK KR" pitchFamily="34" charset="-122"/>
                <a:cs typeface="Noto Sans CJK KR" pitchFamily="34" charset="-120"/>
              </a:rPr>
              <a:t>인기카드 TOP 10</a:t>
            </a:r>
            <a:endParaRPr lang="en-US" sz="1600" dirty="0"/>
          </a:p>
        </p:txBody>
      </p:sp>
      <p:sp>
        <p:nvSpPr>
          <p:cNvPr id="25" name="Shape 23"/>
          <p:cNvSpPr/>
          <p:nvPr/>
        </p:nvSpPr>
        <p:spPr>
          <a:xfrm>
            <a:off x="6181344" y="4133088"/>
            <a:ext cx="521208" cy="347472"/>
          </a:xfrm>
          <a:prstGeom prst="roundRect">
            <a:avLst>
              <a:gd name="adj" fmla="val 44737"/>
            </a:avLst>
          </a:prstGeom>
          <a:solidFill>
            <a:srgbClr val="EAF1FF"/>
          </a:solidFill>
          <a:ln w="12700">
            <a:solidFill>
              <a:srgbClr val="EAF1FF">
                <a:alpha val="0"/>
              </a:srgbClr>
            </a:solidFill>
            <a:prstDash val="solid"/>
          </a:ln>
        </p:spPr>
      </p:sp>
      <p:sp>
        <p:nvSpPr>
          <p:cNvPr id="26" name="Text 24"/>
          <p:cNvSpPr/>
          <p:nvPr/>
        </p:nvSpPr>
        <p:spPr>
          <a:xfrm>
            <a:off x="6263640" y="4142232"/>
            <a:ext cx="356616"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03</a:t>
            </a:r>
            <a:endParaRPr lang="en-US" sz="1150" dirty="0"/>
          </a:p>
        </p:txBody>
      </p:sp>
      <p:sp>
        <p:nvSpPr>
          <p:cNvPr id="27" name="Text 25"/>
          <p:cNvSpPr/>
          <p:nvPr/>
        </p:nvSpPr>
        <p:spPr>
          <a:xfrm>
            <a:off x="6922008" y="4133088"/>
            <a:ext cx="4169664" cy="347472"/>
          </a:xfrm>
          <a:prstGeom prst="rect">
            <a:avLst/>
          </a:prstGeom>
          <a:noFill/>
          <a:ln/>
        </p:spPr>
        <p:txBody>
          <a:bodyPr wrap="square" lIns="0" tIns="0" rIns="0" bIns="0" rtlCol="0" anchor="ctr"/>
          <a:lstStyle/>
          <a:p>
            <a:pPr indent="0" marL="0">
              <a:buNone/>
            </a:pPr>
            <a:r>
              <a:rPr lang="en-US" sz="1600" b="1" dirty="0">
                <a:solidFill>
                  <a:srgbClr val="16263C"/>
                </a:solidFill>
                <a:latin typeface="Noto Sans CJK KR" pitchFamily="34" charset="0"/>
                <a:ea typeface="Noto Sans CJK KR" pitchFamily="34" charset="-122"/>
                <a:cs typeface="Noto Sans CJK KR" pitchFamily="34" charset="-120"/>
              </a:rPr>
              <a:t>카드 상세 혜택 조회</a:t>
            </a:r>
            <a:endParaRPr lang="en-US" sz="1600" dirty="0"/>
          </a:p>
        </p:txBody>
      </p:sp>
      <p:sp>
        <p:nvSpPr>
          <p:cNvPr id="28" name="Shape 26"/>
          <p:cNvSpPr/>
          <p:nvPr/>
        </p:nvSpPr>
        <p:spPr>
          <a:xfrm>
            <a:off x="6181344" y="4681728"/>
            <a:ext cx="521208" cy="347472"/>
          </a:xfrm>
          <a:prstGeom prst="roundRect">
            <a:avLst>
              <a:gd name="adj" fmla="val 44737"/>
            </a:avLst>
          </a:prstGeom>
          <a:solidFill>
            <a:srgbClr val="EAF1FF"/>
          </a:solidFill>
          <a:ln w="12700">
            <a:solidFill>
              <a:srgbClr val="EAF1FF">
                <a:alpha val="0"/>
              </a:srgbClr>
            </a:solidFill>
            <a:prstDash val="solid"/>
          </a:ln>
        </p:spPr>
      </p:sp>
      <p:sp>
        <p:nvSpPr>
          <p:cNvPr id="29" name="Text 27"/>
          <p:cNvSpPr/>
          <p:nvPr/>
        </p:nvSpPr>
        <p:spPr>
          <a:xfrm>
            <a:off x="6263640" y="4690872"/>
            <a:ext cx="356616"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04</a:t>
            </a:r>
            <a:endParaRPr lang="en-US" sz="1150" dirty="0"/>
          </a:p>
        </p:txBody>
      </p:sp>
      <p:sp>
        <p:nvSpPr>
          <p:cNvPr id="30" name="Text 28"/>
          <p:cNvSpPr/>
          <p:nvPr/>
        </p:nvSpPr>
        <p:spPr>
          <a:xfrm>
            <a:off x="6922008" y="4681728"/>
            <a:ext cx="4169664" cy="347472"/>
          </a:xfrm>
          <a:prstGeom prst="rect">
            <a:avLst/>
          </a:prstGeom>
          <a:noFill/>
          <a:ln/>
        </p:spPr>
        <p:txBody>
          <a:bodyPr wrap="square" lIns="0" tIns="0" rIns="0" bIns="0" rtlCol="0" anchor="ctr"/>
          <a:lstStyle/>
          <a:p>
            <a:pPr indent="0" marL="0">
              <a:buNone/>
            </a:pPr>
            <a:r>
              <a:rPr lang="en-US" sz="1600" dirty="0">
                <a:solidFill>
                  <a:srgbClr val="16263C"/>
                </a:solidFill>
                <a:latin typeface="Noto Sans CJK KR" pitchFamily="34" charset="0"/>
                <a:ea typeface="Noto Sans CJK KR" pitchFamily="34" charset="-122"/>
                <a:cs typeface="Noto Sans CJK KR" pitchFamily="34" charset="-120"/>
              </a:rPr>
              <a:t>소비 인사이트 · 금융생활 콘텐츠</a:t>
            </a:r>
            <a:endParaRPr lang="en-US" sz="1600" dirty="0"/>
          </a:p>
        </p:txBody>
      </p:sp>
      <p:sp>
        <p:nvSpPr>
          <p:cNvPr id="31" name="Shape 29"/>
          <p:cNvSpPr/>
          <p:nvPr/>
        </p:nvSpPr>
        <p:spPr>
          <a:xfrm>
            <a:off x="832104" y="5952744"/>
            <a:ext cx="10515600" cy="329184"/>
          </a:xfrm>
          <a:prstGeom prst="roundRect">
            <a:avLst>
              <a:gd name="adj" fmla="val 47222"/>
            </a:avLst>
          </a:prstGeom>
          <a:solidFill>
            <a:srgbClr val="DFEEE9"/>
          </a:solidFill>
          <a:ln w="12700">
            <a:solidFill>
              <a:srgbClr val="DFEEE9">
                <a:alpha val="0"/>
              </a:srgbClr>
            </a:solidFill>
            <a:prstDash val="solid"/>
          </a:ln>
        </p:spPr>
      </p:sp>
      <p:sp>
        <p:nvSpPr>
          <p:cNvPr id="32" name="Text 30"/>
          <p:cNvSpPr/>
          <p:nvPr/>
        </p:nvSpPr>
        <p:spPr>
          <a:xfrm>
            <a:off x="1060704" y="5971032"/>
            <a:ext cx="10094976" cy="283464"/>
          </a:xfrm>
          <a:prstGeom prst="rect">
            <a:avLst/>
          </a:prstGeom>
          <a:noFill/>
          <a:ln/>
        </p:spPr>
        <p:txBody>
          <a:bodyPr wrap="square" lIns="0" tIns="0" rIns="0" bIns="0" rtlCol="0" anchor="ctr"/>
          <a:lstStyle/>
          <a:p>
            <a:pPr algn="ctr" indent="0" marL="0">
              <a:buNone/>
            </a:pPr>
            <a:r>
              <a:rPr lang="en-US" sz="1240" dirty="0">
                <a:solidFill>
                  <a:srgbClr val="16263C"/>
                </a:solidFill>
                <a:latin typeface="Noto Sans CJK KR" pitchFamily="34" charset="0"/>
                <a:ea typeface="Noto Sans CJK KR" pitchFamily="34" charset="-122"/>
                <a:cs typeface="Noto Sans CJK KR" pitchFamily="34" charset="-120"/>
              </a:rPr>
              <a:t>외부 채널의 강점: 고객이 있는 곳에서 쉽게 발견하고 질문할 수 있다</a:t>
            </a:r>
            <a:endParaRPr lang="en-US" sz="12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DAE5EB"/>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62758A"/>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62758A"/>
                </a:solidFill>
                <a:latin typeface="Noto Sans CJK KR" pitchFamily="34" charset="0"/>
                <a:ea typeface="Noto Sans CJK KR" pitchFamily="34" charset="-122"/>
                <a:cs typeface="Noto Sans CJK KR" pitchFamily="34" charset="-120"/>
              </a:rPr>
              <a:t>03 / 10</a:t>
            </a:r>
            <a:endParaRPr lang="en-US" sz="1050" dirty="0"/>
          </a:p>
        </p:txBody>
      </p:sp>
      <p:sp>
        <p:nvSpPr>
          <p:cNvPr id="5" name="Text 3"/>
          <p:cNvSpPr/>
          <p:nvPr/>
        </p:nvSpPr>
        <p:spPr>
          <a:xfrm>
            <a:off x="704088" y="438912"/>
            <a:ext cx="10789920" cy="237744"/>
          </a:xfrm>
          <a:prstGeom prst="rect">
            <a:avLst/>
          </a:prstGeom>
          <a:noFill/>
          <a:ln/>
        </p:spPr>
        <p:txBody>
          <a:bodyPr wrap="square" lIns="0" tIns="0" rIns="0" bIns="0" rtlCol="0" anchor="ctr"/>
          <a:lstStyle/>
          <a:p>
            <a:pPr indent="0" marL="0">
              <a:buNone/>
            </a:pPr>
            <a:r>
              <a:rPr lang="en-US" sz="1050" b="1" spc="150" kern="0" dirty="0">
                <a:solidFill>
                  <a:srgbClr val="159F94"/>
                </a:solidFill>
                <a:latin typeface="Noto Sans CJK KR" pitchFamily="34" charset="0"/>
                <a:ea typeface="Noto Sans CJK KR" pitchFamily="34" charset="-122"/>
                <a:cs typeface="Noto Sans CJK KR" pitchFamily="34" charset="-120"/>
              </a:rPr>
              <a:t>02  ·  SHINHAN CARD</a:t>
            </a:r>
            <a:endParaRPr lang="en-US" sz="1050" dirty="0"/>
          </a:p>
        </p:txBody>
      </p:sp>
      <p:sp>
        <p:nvSpPr>
          <p:cNvPr id="6" name="Text 4"/>
          <p:cNvSpPr/>
          <p:nvPr/>
        </p:nvSpPr>
        <p:spPr>
          <a:xfrm>
            <a:off x="704088" y="841248"/>
            <a:ext cx="10872216" cy="694944"/>
          </a:xfrm>
          <a:prstGeom prst="rect">
            <a:avLst/>
          </a:prstGeom>
          <a:noFill/>
          <a:ln/>
        </p:spPr>
        <p:txBody>
          <a:bodyPr wrap="square" lIns="0" tIns="0" rIns="0" bIns="0" rtlCol="0" anchor="ctr"/>
          <a:lstStyle/>
          <a:p>
            <a:pPr indent="0" marL="0">
              <a:buNone/>
            </a:pPr>
            <a:r>
              <a:rPr lang="en-US" sz="2700" b="1" dirty="0">
                <a:solidFill>
                  <a:srgbClr val="101E32"/>
                </a:solidFill>
                <a:latin typeface="Noto Sans CJK KR" pitchFamily="34" charset="0"/>
                <a:ea typeface="Noto Sans CJK KR" pitchFamily="34" charset="-122"/>
                <a:cs typeface="Noto Sans CJK KR" pitchFamily="34" charset="-120"/>
              </a:rPr>
              <a:t>신한카드는 별도의 ‘조건 판단 엔진’ 개발도 발표했습니다</a:t>
            </a:r>
            <a:endParaRPr lang="en-US" sz="2700" dirty="0"/>
          </a:p>
        </p:txBody>
      </p:sp>
      <p:sp>
        <p:nvSpPr>
          <p:cNvPr id="7" name="Text 5"/>
          <p:cNvSpPr/>
          <p:nvPr/>
        </p:nvSpPr>
        <p:spPr>
          <a:xfrm>
            <a:off x="722376" y="1581912"/>
            <a:ext cx="10789920" cy="365760"/>
          </a:xfrm>
          <a:prstGeom prst="rect">
            <a:avLst/>
          </a:prstGeom>
          <a:noFill/>
          <a:ln/>
        </p:spPr>
        <p:txBody>
          <a:bodyPr wrap="square" lIns="0" tIns="0" rIns="0" bIns="0" rtlCol="0" anchor="ctr"/>
          <a:lstStyle/>
          <a:p>
            <a:pPr indent="0" marL="0">
              <a:buNone/>
            </a:pPr>
            <a:r>
              <a:rPr lang="en-US" sz="1330" dirty="0">
                <a:solidFill>
                  <a:srgbClr val="62758A"/>
                </a:solidFill>
                <a:latin typeface="Noto Sans CJK KR" pitchFamily="34" charset="0"/>
                <a:ea typeface="Noto Sans CJK KR" pitchFamily="34" charset="-122"/>
                <a:cs typeface="Noto Sans CJK KR" pitchFamily="34" charset="-120"/>
              </a:rPr>
              <a:t>9월 9일: 판단 엔진 개발 착수   ·   9월 13일: ChatGPT for Kakao 연동 발표</a:t>
            </a:r>
            <a:endParaRPr lang="en-US" sz="1330" dirty="0"/>
          </a:p>
        </p:txBody>
      </p:sp>
      <p:sp>
        <p:nvSpPr>
          <p:cNvPr id="8" name="Shape 6"/>
          <p:cNvSpPr/>
          <p:nvPr/>
        </p:nvSpPr>
        <p:spPr>
          <a:xfrm>
            <a:off x="758952" y="2148840"/>
            <a:ext cx="5193792" cy="3621024"/>
          </a:xfrm>
          <a:prstGeom prst="roundRect">
            <a:avLst>
              <a:gd name="adj" fmla="val 4293"/>
            </a:avLst>
          </a:prstGeom>
          <a:solidFill>
            <a:srgbClr val="FFFFFF"/>
          </a:solidFill>
          <a:ln w="12700">
            <a:solidFill>
              <a:srgbClr val="FFFFFF">
                <a:alpha val="0"/>
              </a:srgbClr>
            </a:solidFill>
            <a:prstDash val="solid"/>
          </a:ln>
        </p:spPr>
      </p:sp>
      <p:sp>
        <p:nvSpPr>
          <p:cNvPr id="9" name="Shape 7"/>
          <p:cNvSpPr/>
          <p:nvPr/>
        </p:nvSpPr>
        <p:spPr>
          <a:xfrm>
            <a:off x="1060704" y="2414016"/>
            <a:ext cx="1170432" cy="347472"/>
          </a:xfrm>
          <a:prstGeom prst="roundRect">
            <a:avLst>
              <a:gd name="adj" fmla="val 44737"/>
            </a:avLst>
          </a:prstGeom>
          <a:solidFill>
            <a:srgbClr val="EAF1FF"/>
          </a:solidFill>
          <a:ln w="12700">
            <a:solidFill>
              <a:srgbClr val="EAF1FF">
                <a:alpha val="0"/>
              </a:srgbClr>
            </a:solidFill>
            <a:prstDash val="solid"/>
          </a:ln>
        </p:spPr>
      </p:sp>
      <p:sp>
        <p:nvSpPr>
          <p:cNvPr id="10" name="Text 8"/>
          <p:cNvSpPr/>
          <p:nvPr/>
        </p:nvSpPr>
        <p:spPr>
          <a:xfrm>
            <a:off x="1143000" y="2423160"/>
            <a:ext cx="1005840"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9월 9일</a:t>
            </a:r>
            <a:endParaRPr lang="en-US" sz="1150" dirty="0"/>
          </a:p>
        </p:txBody>
      </p:sp>
      <p:sp>
        <p:nvSpPr>
          <p:cNvPr id="11" name="Text 9"/>
          <p:cNvSpPr/>
          <p:nvPr/>
        </p:nvSpPr>
        <p:spPr>
          <a:xfrm>
            <a:off x="1051560" y="2862072"/>
            <a:ext cx="4626864" cy="1225296"/>
          </a:xfrm>
          <a:prstGeom prst="rect">
            <a:avLst/>
          </a:prstGeom>
          <a:noFill/>
          <a:ln/>
        </p:spPr>
        <p:txBody>
          <a:bodyPr wrap="square" lIns="0" tIns="0" rIns="0" bIns="0" rtlCol="0" anchor="ctr"/>
          <a:lstStyle/>
          <a:p>
            <a:pPr indent="0" marL="0">
              <a:buNone/>
            </a:pPr>
            <a:r>
              <a:rPr lang="en-US" sz="2480" b="1" dirty="0">
                <a:solidFill>
                  <a:srgbClr val="16263C"/>
                </a:solidFill>
                <a:latin typeface="Noto Sans CJK KR" pitchFamily="34" charset="0"/>
                <a:ea typeface="Noto Sans CJK KR" pitchFamily="34" charset="-122"/>
                <a:cs typeface="Noto Sans CJK KR" pitchFamily="34" charset="-120"/>
              </a:rPr>
              <a:t>복합 조건을 구조화하는</a:t>
            </a:r>
            <a:endParaRPr lang="en-US" sz="2480" dirty="0"/>
          </a:p>
          <a:p>
            <a:pPr indent="0" marL="0">
              <a:buNone/>
            </a:pPr>
            <a:r>
              <a:rPr lang="en-US" sz="2480" b="1" dirty="0">
                <a:solidFill>
                  <a:srgbClr val="16263C"/>
                </a:solidFill>
                <a:latin typeface="Noto Sans CJK KR" pitchFamily="34" charset="0"/>
                <a:ea typeface="Noto Sans CJK KR" pitchFamily="34" charset="-122"/>
                <a:cs typeface="Noto Sans CJK KR" pitchFamily="34" charset="-120"/>
              </a:rPr>
              <a:t>금융상품 판단 엔진</a:t>
            </a:r>
            <a:endParaRPr lang="en-US" sz="2480" dirty="0"/>
          </a:p>
        </p:txBody>
      </p:sp>
      <p:sp>
        <p:nvSpPr>
          <p:cNvPr id="12" name="Shape 10"/>
          <p:cNvSpPr/>
          <p:nvPr/>
        </p:nvSpPr>
        <p:spPr>
          <a:xfrm>
            <a:off x="1069848" y="4453128"/>
            <a:ext cx="4507992" cy="877824"/>
          </a:xfrm>
          <a:prstGeom prst="roundRect">
            <a:avLst>
              <a:gd name="adj" fmla="val 17708"/>
            </a:avLst>
          </a:prstGeom>
          <a:solidFill>
            <a:srgbClr val="E8F7F2"/>
          </a:solidFill>
          <a:ln w="12700">
            <a:solidFill>
              <a:srgbClr val="E8F7F2">
                <a:alpha val="0"/>
              </a:srgbClr>
            </a:solidFill>
            <a:prstDash val="solid"/>
          </a:ln>
        </p:spPr>
      </p:sp>
      <p:sp>
        <p:nvSpPr>
          <p:cNvPr id="13" name="Text 11"/>
          <p:cNvSpPr/>
          <p:nvPr/>
        </p:nvSpPr>
        <p:spPr>
          <a:xfrm>
            <a:off x="1252728" y="4608576"/>
            <a:ext cx="4114800" cy="585216"/>
          </a:xfrm>
          <a:prstGeom prst="rect">
            <a:avLst/>
          </a:prstGeom>
          <a:noFill/>
          <a:ln/>
        </p:spPr>
        <p:txBody>
          <a:bodyPr wrap="square" lIns="0" tIns="0" rIns="0" bIns="0" rtlCol="0" anchor="ctr"/>
          <a:lstStyle/>
          <a:p>
            <a:pPr indent="0" marL="0">
              <a:buNone/>
            </a:pPr>
            <a:r>
              <a:rPr lang="en-US" sz="1600" b="1" dirty="0">
                <a:solidFill>
                  <a:srgbClr val="101E32"/>
                </a:solidFill>
                <a:latin typeface="Noto Sans CJK KR" pitchFamily="34" charset="0"/>
                <a:ea typeface="Noto Sans CJK KR" pitchFamily="34" charset="-122"/>
                <a:cs typeface="Noto Sans CJK KR" pitchFamily="34" charset="-120"/>
              </a:rPr>
              <a:t>조건 수정만으로 변경사항을</a:t>
            </a:r>
            <a:endParaRPr lang="en-US" sz="1600" dirty="0"/>
          </a:p>
          <a:p>
            <a:pPr indent="0" marL="0">
              <a:buNone/>
            </a:pPr>
            <a:r>
              <a:rPr lang="en-US" sz="1600" b="1" dirty="0">
                <a:solidFill>
                  <a:srgbClr val="101E32"/>
                </a:solidFill>
                <a:latin typeface="Noto Sans CJK KR" pitchFamily="34" charset="0"/>
                <a:ea typeface="Noto Sans CJK KR" pitchFamily="34" charset="-122"/>
                <a:cs typeface="Noto Sans CJK KR" pitchFamily="34" charset="-120"/>
              </a:rPr>
              <a:t>실시간 반영하는 것을 목표</a:t>
            </a:r>
            <a:endParaRPr lang="en-US" sz="1600" dirty="0"/>
          </a:p>
        </p:txBody>
      </p:sp>
      <p:sp>
        <p:nvSpPr>
          <p:cNvPr id="14" name="Shape 12"/>
          <p:cNvSpPr/>
          <p:nvPr/>
        </p:nvSpPr>
        <p:spPr>
          <a:xfrm>
            <a:off x="6190488" y="2148840"/>
            <a:ext cx="5239512" cy="3621024"/>
          </a:xfrm>
          <a:prstGeom prst="roundRect">
            <a:avLst>
              <a:gd name="adj" fmla="val 4293"/>
            </a:avLst>
          </a:prstGeom>
          <a:solidFill>
            <a:srgbClr val="101E32"/>
          </a:solidFill>
          <a:ln w="12700">
            <a:solidFill>
              <a:srgbClr val="101E32">
                <a:alpha val="0"/>
              </a:srgbClr>
            </a:solidFill>
            <a:prstDash val="solid"/>
          </a:ln>
        </p:spPr>
      </p:sp>
      <p:sp>
        <p:nvSpPr>
          <p:cNvPr id="15" name="Shape 13"/>
          <p:cNvSpPr/>
          <p:nvPr/>
        </p:nvSpPr>
        <p:spPr>
          <a:xfrm>
            <a:off x="6510528" y="2414016"/>
            <a:ext cx="1234440" cy="347472"/>
          </a:xfrm>
          <a:prstGeom prst="roundRect">
            <a:avLst>
              <a:gd name="adj" fmla="val 44737"/>
            </a:avLst>
          </a:prstGeom>
          <a:solidFill>
            <a:srgbClr val="244B5A"/>
          </a:solidFill>
          <a:ln w="12700">
            <a:solidFill>
              <a:srgbClr val="244B5A">
                <a:alpha val="0"/>
              </a:srgbClr>
            </a:solidFill>
            <a:prstDash val="solid"/>
          </a:ln>
        </p:spPr>
      </p:sp>
      <p:sp>
        <p:nvSpPr>
          <p:cNvPr id="16" name="Text 14"/>
          <p:cNvSpPr/>
          <p:nvPr/>
        </p:nvSpPr>
        <p:spPr>
          <a:xfrm>
            <a:off x="6592824" y="2423160"/>
            <a:ext cx="1069848" cy="320040"/>
          </a:xfrm>
          <a:prstGeom prst="rect">
            <a:avLst/>
          </a:prstGeom>
          <a:noFill/>
          <a:ln/>
        </p:spPr>
        <p:txBody>
          <a:bodyPr wrap="square" lIns="0" tIns="0" rIns="0" bIns="0" rtlCol="0" anchor="ctr"/>
          <a:lstStyle/>
          <a:p>
            <a:pPr algn="ctr" indent="0" marL="0">
              <a:buNone/>
            </a:pPr>
            <a:r>
              <a:rPr lang="en-US" sz="1150" b="1" dirty="0">
                <a:solidFill>
                  <a:srgbClr val="B5EEE2"/>
                </a:solidFill>
                <a:latin typeface="Noto Sans CJK KR" pitchFamily="34" charset="0"/>
                <a:ea typeface="Noto Sans CJK KR" pitchFamily="34" charset="-122"/>
                <a:cs typeface="Noto Sans CJK KR" pitchFamily="34" charset="-120"/>
              </a:rPr>
              <a:t>9월 13일</a:t>
            </a:r>
            <a:endParaRPr lang="en-US" sz="1150" dirty="0"/>
          </a:p>
        </p:txBody>
      </p:sp>
      <p:sp>
        <p:nvSpPr>
          <p:cNvPr id="17" name="Text 15"/>
          <p:cNvSpPr/>
          <p:nvPr/>
        </p:nvSpPr>
        <p:spPr>
          <a:xfrm>
            <a:off x="6492240" y="2862072"/>
            <a:ext cx="4572000" cy="1225296"/>
          </a:xfrm>
          <a:prstGeom prst="rect">
            <a:avLst/>
          </a:prstGeom>
          <a:noFill/>
          <a:ln/>
        </p:spPr>
        <p:txBody>
          <a:bodyPr wrap="square" lIns="0" tIns="0" rIns="0" bIns="0" rtlCol="0" anchor="ctr"/>
          <a:lstStyle/>
          <a:p>
            <a:pPr indent="0" marL="0">
              <a:buNone/>
            </a:pPr>
            <a:r>
              <a:rPr lang="en-US" sz="2500" b="1" dirty="0">
                <a:solidFill>
                  <a:srgbClr val="FFFFFF"/>
                </a:solidFill>
                <a:latin typeface="Noto Sans CJK KR" pitchFamily="34" charset="0"/>
                <a:ea typeface="Noto Sans CJK KR" pitchFamily="34" charset="-122"/>
                <a:cs typeface="Noto Sans CJK KR" pitchFamily="34" charset="-120"/>
              </a:rPr>
              <a:t>ChatGPT for Kakao</a:t>
            </a:r>
            <a:endParaRPr lang="en-US" sz="2500" dirty="0"/>
          </a:p>
          <a:p>
            <a:pPr indent="0" marL="0">
              <a:buNone/>
            </a:pPr>
            <a:r>
              <a:rPr lang="en-US" sz="2500" b="1" dirty="0">
                <a:solidFill>
                  <a:srgbClr val="FFFFFF"/>
                </a:solidFill>
                <a:latin typeface="Noto Sans CJK KR" pitchFamily="34" charset="0"/>
                <a:ea typeface="Noto Sans CJK KR" pitchFamily="34" charset="-122"/>
                <a:cs typeface="Noto Sans CJK KR" pitchFamily="34" charset="-120"/>
              </a:rPr>
              <a:t>카드 혜택 안내 연동</a:t>
            </a:r>
            <a:endParaRPr lang="en-US" sz="2500" dirty="0"/>
          </a:p>
        </p:txBody>
      </p:sp>
      <p:sp>
        <p:nvSpPr>
          <p:cNvPr id="18" name="Text 16"/>
          <p:cNvSpPr/>
          <p:nvPr/>
        </p:nvSpPr>
        <p:spPr>
          <a:xfrm>
            <a:off x="6501384" y="4517136"/>
            <a:ext cx="4434840" cy="722376"/>
          </a:xfrm>
          <a:prstGeom prst="rect">
            <a:avLst/>
          </a:prstGeom>
          <a:noFill/>
          <a:ln/>
        </p:spPr>
        <p:txBody>
          <a:bodyPr wrap="square" lIns="0" tIns="0" rIns="0" bIns="0" rtlCol="0" anchor="ctr"/>
          <a:lstStyle/>
          <a:p>
            <a:pPr indent="0" marL="0">
              <a:buNone/>
            </a:pPr>
            <a:r>
              <a:rPr lang="en-US" sz="1410" dirty="0">
                <a:solidFill>
                  <a:srgbClr val="C8D6E1"/>
                </a:solidFill>
                <a:latin typeface="Noto Sans CJK KR" pitchFamily="34" charset="0"/>
                <a:ea typeface="Noto Sans CJK KR" pitchFamily="34" charset="-122"/>
                <a:cs typeface="Noto Sans CJK KR" pitchFamily="34" charset="-120"/>
              </a:rPr>
              <a:t>카드 추천 · 인기카드 · 상세 혜택 조회</a:t>
            </a:r>
            <a:endParaRPr lang="en-US" sz="1410" dirty="0"/>
          </a:p>
          <a:p>
            <a:pPr indent="0" marL="0">
              <a:buNone/>
            </a:pPr>
            <a:r>
              <a:rPr lang="en-US" sz="1410" dirty="0">
                <a:solidFill>
                  <a:srgbClr val="C8D6E1"/>
                </a:solidFill>
                <a:latin typeface="Noto Sans CJK KR" pitchFamily="34" charset="0"/>
                <a:ea typeface="Noto Sans CJK KR" pitchFamily="34" charset="-122"/>
                <a:cs typeface="Noto Sans CJK KR" pitchFamily="34" charset="-120"/>
              </a:rPr>
              <a:t>고객이 외부 AI 채널에서 정보를 확인</a:t>
            </a:r>
            <a:endParaRPr lang="en-US" sz="1410" dirty="0"/>
          </a:p>
        </p:txBody>
      </p:sp>
      <p:sp>
        <p:nvSpPr>
          <p:cNvPr id="19" name="Shape 17"/>
          <p:cNvSpPr/>
          <p:nvPr/>
        </p:nvSpPr>
        <p:spPr>
          <a:xfrm>
            <a:off x="923544" y="5925312"/>
            <a:ext cx="10351008" cy="384048"/>
          </a:xfrm>
          <a:prstGeom prst="roundRect">
            <a:avLst>
              <a:gd name="adj" fmla="val 40476"/>
            </a:avLst>
          </a:prstGeom>
          <a:solidFill>
            <a:srgbClr val="DDEFEA"/>
          </a:solidFill>
          <a:ln w="12700">
            <a:solidFill>
              <a:srgbClr val="DDEFEA">
                <a:alpha val="0"/>
              </a:srgbClr>
            </a:solidFill>
            <a:prstDash val="solid"/>
          </a:ln>
        </p:spPr>
      </p:sp>
      <p:sp>
        <p:nvSpPr>
          <p:cNvPr id="20" name="Text 18"/>
          <p:cNvSpPr/>
          <p:nvPr/>
        </p:nvSpPr>
        <p:spPr>
          <a:xfrm>
            <a:off x="1124712" y="5971032"/>
            <a:ext cx="9957816" cy="265176"/>
          </a:xfrm>
          <a:prstGeom prst="rect">
            <a:avLst/>
          </a:prstGeom>
          <a:noFill/>
          <a:ln/>
        </p:spPr>
        <p:txBody>
          <a:bodyPr wrap="square" lIns="0" tIns="0" rIns="0" bIns="0" rtlCol="0" anchor="ctr"/>
          <a:lstStyle/>
          <a:p>
            <a:pPr algn="ctr" indent="0" marL="0">
              <a:buNone/>
            </a:pPr>
            <a:r>
              <a:rPr lang="en-US" sz="1190" dirty="0">
                <a:solidFill>
                  <a:srgbClr val="16263C"/>
                </a:solidFill>
                <a:latin typeface="Noto Sans CJK KR" pitchFamily="34" charset="0"/>
                <a:ea typeface="Noto Sans CJK KR" pitchFamily="34" charset="-122"/>
                <a:cs typeface="Noto Sans CJK KR" pitchFamily="34" charset="-120"/>
              </a:rPr>
              <a:t>서로 별개의 공식 발표입니다. 실제 서비스 간 연결 여부는 확인된 바 없습니다.</a:t>
            </a:r>
            <a:endParaRPr lang="en-US" sz="119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DAE5EB"/>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62758A"/>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62758A"/>
                </a:solidFill>
                <a:latin typeface="Noto Sans CJK KR" pitchFamily="34" charset="0"/>
                <a:ea typeface="Noto Sans CJK KR" pitchFamily="34" charset="-122"/>
                <a:cs typeface="Noto Sans CJK KR" pitchFamily="34" charset="-120"/>
              </a:rPr>
              <a:t>04 / 10</a:t>
            </a:r>
            <a:endParaRPr lang="en-US" sz="1050" dirty="0"/>
          </a:p>
        </p:txBody>
      </p:sp>
      <p:sp>
        <p:nvSpPr>
          <p:cNvPr id="5" name="Text 3"/>
          <p:cNvSpPr/>
          <p:nvPr/>
        </p:nvSpPr>
        <p:spPr>
          <a:xfrm>
            <a:off x="704088" y="438912"/>
            <a:ext cx="10789920" cy="237744"/>
          </a:xfrm>
          <a:prstGeom prst="rect">
            <a:avLst/>
          </a:prstGeom>
          <a:noFill/>
          <a:ln/>
        </p:spPr>
        <p:txBody>
          <a:bodyPr wrap="square" lIns="0" tIns="0" rIns="0" bIns="0" rtlCol="0" anchor="ctr"/>
          <a:lstStyle/>
          <a:p>
            <a:pPr indent="0" marL="0">
              <a:buNone/>
            </a:pPr>
            <a:r>
              <a:rPr lang="en-US" sz="1050" b="1" spc="150" kern="0" dirty="0">
                <a:solidFill>
                  <a:srgbClr val="159F94"/>
                </a:solidFill>
                <a:latin typeface="Noto Sans CJK KR" pitchFamily="34" charset="0"/>
                <a:ea typeface="Noto Sans CJK KR" pitchFamily="34" charset="-122"/>
                <a:cs typeface="Noto Sans CJK KR" pitchFamily="34" charset="-120"/>
              </a:rPr>
              <a:t>03  ·  THE KEY IDEA</a:t>
            </a:r>
            <a:endParaRPr lang="en-US" sz="1050" dirty="0"/>
          </a:p>
        </p:txBody>
      </p:sp>
      <p:sp>
        <p:nvSpPr>
          <p:cNvPr id="6" name="Text 4"/>
          <p:cNvSpPr/>
          <p:nvPr/>
        </p:nvSpPr>
        <p:spPr>
          <a:xfrm>
            <a:off x="704088" y="841248"/>
            <a:ext cx="10872216" cy="694944"/>
          </a:xfrm>
          <a:prstGeom prst="rect">
            <a:avLst/>
          </a:prstGeom>
          <a:noFill/>
          <a:ln/>
        </p:spPr>
        <p:txBody>
          <a:bodyPr wrap="square" lIns="0" tIns="0" rIns="0" bIns="0" rtlCol="0" anchor="ctr"/>
          <a:lstStyle/>
          <a:p>
            <a:pPr indent="0" marL="0">
              <a:buNone/>
            </a:pPr>
            <a:r>
              <a:rPr lang="en-US" sz="2700" b="1" dirty="0">
                <a:solidFill>
                  <a:srgbClr val="101E32"/>
                </a:solidFill>
                <a:latin typeface="Noto Sans CJK KR" pitchFamily="34" charset="0"/>
                <a:ea typeface="Noto Sans CJK KR" pitchFamily="34" charset="-122"/>
                <a:cs typeface="Noto Sans CJK KR" pitchFamily="34" charset="-120"/>
              </a:rPr>
              <a:t>핵심은 조건이 바뀔 때, 판단 기준에도 빠르게 반영하는 구조</a:t>
            </a:r>
            <a:endParaRPr lang="en-US" sz="2700" dirty="0"/>
          </a:p>
        </p:txBody>
      </p:sp>
      <p:sp>
        <p:nvSpPr>
          <p:cNvPr id="7" name="Text 5"/>
          <p:cNvSpPr/>
          <p:nvPr/>
        </p:nvSpPr>
        <p:spPr>
          <a:xfrm>
            <a:off x="722376" y="1581912"/>
            <a:ext cx="10789920" cy="365760"/>
          </a:xfrm>
          <a:prstGeom prst="rect">
            <a:avLst/>
          </a:prstGeom>
          <a:noFill/>
          <a:ln/>
        </p:spPr>
        <p:txBody>
          <a:bodyPr wrap="square" lIns="0" tIns="0" rIns="0" bIns="0" rtlCol="0" anchor="ctr"/>
          <a:lstStyle/>
          <a:p>
            <a:pPr indent="0" marL="0">
              <a:buNone/>
            </a:pPr>
            <a:r>
              <a:rPr lang="en-US" sz="1330" dirty="0">
                <a:solidFill>
                  <a:srgbClr val="62758A"/>
                </a:solidFill>
                <a:latin typeface="Noto Sans CJK KR" pitchFamily="34" charset="0"/>
                <a:ea typeface="Noto Sans CJK KR" pitchFamily="34" charset="-122"/>
                <a:cs typeface="Noto Sans CJK KR" pitchFamily="34" charset="-120"/>
              </a:rPr>
              <a:t>실시간 반영은 신한카드의 개발 목표입니다. 우리는 공개 약관 범위에서 변경 전후를 시연합니다.</a:t>
            </a:r>
            <a:endParaRPr lang="en-US" sz="1330" dirty="0"/>
          </a:p>
        </p:txBody>
      </p:sp>
      <p:sp>
        <p:nvSpPr>
          <p:cNvPr id="8" name="Shape 6"/>
          <p:cNvSpPr/>
          <p:nvPr/>
        </p:nvSpPr>
        <p:spPr>
          <a:xfrm>
            <a:off x="768096" y="2167128"/>
            <a:ext cx="3959352" cy="3163824"/>
          </a:xfrm>
          <a:prstGeom prst="roundRect">
            <a:avLst>
              <a:gd name="adj" fmla="val 4913"/>
            </a:avLst>
          </a:prstGeom>
          <a:solidFill>
            <a:srgbClr val="FFFFFF"/>
          </a:solidFill>
          <a:ln w="12700">
            <a:solidFill>
              <a:srgbClr val="FFFFFF">
                <a:alpha val="0"/>
              </a:srgbClr>
            </a:solidFill>
            <a:prstDash val="solid"/>
          </a:ln>
        </p:spPr>
      </p:sp>
      <p:sp>
        <p:nvSpPr>
          <p:cNvPr id="9" name="Shape 7"/>
          <p:cNvSpPr/>
          <p:nvPr/>
        </p:nvSpPr>
        <p:spPr>
          <a:xfrm>
            <a:off x="1033272" y="2414016"/>
            <a:ext cx="1490472" cy="347472"/>
          </a:xfrm>
          <a:prstGeom prst="roundRect">
            <a:avLst>
              <a:gd name="adj" fmla="val 44737"/>
            </a:avLst>
          </a:prstGeom>
          <a:solidFill>
            <a:srgbClr val="EAF1FF"/>
          </a:solidFill>
          <a:ln w="12700">
            <a:solidFill>
              <a:srgbClr val="EAF1FF">
                <a:alpha val="0"/>
              </a:srgbClr>
            </a:solidFill>
            <a:prstDash val="solid"/>
          </a:ln>
        </p:spPr>
      </p:sp>
      <p:sp>
        <p:nvSpPr>
          <p:cNvPr id="10" name="Text 8"/>
          <p:cNvSpPr/>
          <p:nvPr/>
        </p:nvSpPr>
        <p:spPr>
          <a:xfrm>
            <a:off x="1115568" y="2423160"/>
            <a:ext cx="1325880"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가상 변경 예시</a:t>
            </a:r>
            <a:endParaRPr lang="en-US" sz="1150" dirty="0"/>
          </a:p>
        </p:txBody>
      </p:sp>
      <p:sp>
        <p:nvSpPr>
          <p:cNvPr id="11" name="Text 9"/>
          <p:cNvSpPr/>
          <p:nvPr/>
        </p:nvSpPr>
        <p:spPr>
          <a:xfrm>
            <a:off x="1024128" y="2953512"/>
            <a:ext cx="3465576" cy="429768"/>
          </a:xfrm>
          <a:prstGeom prst="rect">
            <a:avLst/>
          </a:prstGeom>
          <a:noFill/>
          <a:ln/>
        </p:spPr>
        <p:txBody>
          <a:bodyPr wrap="square" lIns="0" tIns="0" rIns="0" bIns="0" rtlCol="0" anchor="ctr"/>
          <a:lstStyle/>
          <a:p>
            <a:pPr indent="0" marL="0">
              <a:buNone/>
            </a:pPr>
            <a:r>
              <a:rPr lang="en-US" sz="2130" b="1" dirty="0">
                <a:solidFill>
                  <a:srgbClr val="16263C"/>
                </a:solidFill>
                <a:latin typeface="Noto Sans CJK KR" pitchFamily="34" charset="0"/>
                <a:ea typeface="Noto Sans CJK KR" pitchFamily="34" charset="-122"/>
                <a:cs typeface="Noto Sans CJK KR" pitchFamily="34" charset="-120"/>
              </a:rPr>
              <a:t>혜택 적용 기준 변경</a:t>
            </a:r>
            <a:endParaRPr lang="en-US" sz="2130" dirty="0"/>
          </a:p>
        </p:txBody>
      </p:sp>
      <p:sp>
        <p:nvSpPr>
          <p:cNvPr id="12" name="Shape 10"/>
          <p:cNvSpPr/>
          <p:nvPr/>
        </p:nvSpPr>
        <p:spPr>
          <a:xfrm>
            <a:off x="1024128" y="3639312"/>
            <a:ext cx="3337560" cy="475488"/>
          </a:xfrm>
          <a:prstGeom prst="roundRect">
            <a:avLst>
              <a:gd name="adj" fmla="val 32692"/>
            </a:avLst>
          </a:prstGeom>
          <a:solidFill>
            <a:srgbClr val="EAF0F6"/>
          </a:solidFill>
          <a:ln w="12700">
            <a:solidFill>
              <a:srgbClr val="EAF0F6">
                <a:alpha val="0"/>
              </a:srgbClr>
            </a:solidFill>
            <a:prstDash val="solid"/>
          </a:ln>
        </p:spPr>
      </p:sp>
      <p:sp>
        <p:nvSpPr>
          <p:cNvPr id="13" name="Text 11"/>
          <p:cNvSpPr/>
          <p:nvPr/>
        </p:nvSpPr>
        <p:spPr>
          <a:xfrm>
            <a:off x="1188720" y="3712464"/>
            <a:ext cx="3026664" cy="301752"/>
          </a:xfrm>
          <a:prstGeom prst="rect">
            <a:avLst/>
          </a:prstGeom>
          <a:noFill/>
          <a:ln/>
        </p:spPr>
        <p:txBody>
          <a:bodyPr wrap="square" lIns="0" tIns="0" rIns="0" bIns="0" rtlCol="0" anchor="ctr"/>
          <a:lstStyle/>
          <a:p>
            <a:pPr indent="0" marL="0">
              <a:buNone/>
            </a:pPr>
            <a:r>
              <a:rPr lang="en-US" sz="1500" dirty="0">
                <a:solidFill>
                  <a:srgbClr val="16263C"/>
                </a:solidFill>
                <a:latin typeface="Noto Sans CJK KR" pitchFamily="34" charset="0"/>
                <a:ea typeface="Noto Sans CJK KR" pitchFamily="34" charset="-122"/>
                <a:cs typeface="Noto Sans CJK KR" pitchFamily="34" charset="-120"/>
              </a:rPr>
              <a:t>변경 전   실적 30만 원 이상</a:t>
            </a:r>
            <a:endParaRPr lang="en-US" sz="1500" dirty="0"/>
          </a:p>
        </p:txBody>
      </p:sp>
      <p:sp>
        <p:nvSpPr>
          <p:cNvPr id="14" name="Shape 12"/>
          <p:cNvSpPr/>
          <p:nvPr/>
        </p:nvSpPr>
        <p:spPr>
          <a:xfrm>
            <a:off x="2633472" y="4215384"/>
            <a:ext cx="0" cy="310896"/>
          </a:xfrm>
          <a:prstGeom prst="line">
            <a:avLst/>
          </a:prstGeom>
          <a:noFill/>
          <a:ln w="25400">
            <a:solidFill>
              <a:srgbClr val="159F94"/>
            </a:solidFill>
            <a:prstDash val="solid"/>
            <a:headEnd type="none"/>
            <a:tailEnd type="triangle"/>
          </a:ln>
        </p:spPr>
      </p:sp>
      <p:sp>
        <p:nvSpPr>
          <p:cNvPr id="15" name="Shape 13"/>
          <p:cNvSpPr/>
          <p:nvPr/>
        </p:nvSpPr>
        <p:spPr>
          <a:xfrm>
            <a:off x="1024128" y="4636008"/>
            <a:ext cx="3337560" cy="475488"/>
          </a:xfrm>
          <a:prstGeom prst="roundRect">
            <a:avLst>
              <a:gd name="adj" fmla="val 32692"/>
            </a:avLst>
          </a:prstGeom>
          <a:solidFill>
            <a:srgbClr val="E8F7F2"/>
          </a:solidFill>
          <a:ln w="12700">
            <a:solidFill>
              <a:srgbClr val="E8F7F2">
                <a:alpha val="0"/>
              </a:srgbClr>
            </a:solidFill>
            <a:prstDash val="solid"/>
          </a:ln>
        </p:spPr>
      </p:sp>
      <p:sp>
        <p:nvSpPr>
          <p:cNvPr id="16" name="Text 14"/>
          <p:cNvSpPr/>
          <p:nvPr/>
        </p:nvSpPr>
        <p:spPr>
          <a:xfrm>
            <a:off x="1188720" y="4709160"/>
            <a:ext cx="3026664" cy="301752"/>
          </a:xfrm>
          <a:prstGeom prst="rect">
            <a:avLst/>
          </a:prstGeom>
          <a:noFill/>
          <a:ln/>
        </p:spPr>
        <p:txBody>
          <a:bodyPr wrap="square" lIns="0" tIns="0" rIns="0" bIns="0" rtlCol="0" anchor="ctr"/>
          <a:lstStyle/>
          <a:p>
            <a:pPr indent="0" marL="0">
              <a:buNone/>
            </a:pPr>
            <a:r>
              <a:rPr lang="en-US" sz="1500" b="1" dirty="0">
                <a:solidFill>
                  <a:srgbClr val="101E32"/>
                </a:solidFill>
                <a:latin typeface="Noto Sans CJK KR" pitchFamily="34" charset="0"/>
                <a:ea typeface="Noto Sans CJK KR" pitchFamily="34" charset="-122"/>
                <a:cs typeface="Noto Sans CJK KR" pitchFamily="34" charset="-120"/>
              </a:rPr>
              <a:t>변경 후   실적 40만 원 이상</a:t>
            </a:r>
            <a:endParaRPr lang="en-US" sz="1500" dirty="0"/>
          </a:p>
        </p:txBody>
      </p:sp>
      <p:sp>
        <p:nvSpPr>
          <p:cNvPr id="17" name="Shape 15"/>
          <p:cNvSpPr/>
          <p:nvPr/>
        </p:nvSpPr>
        <p:spPr>
          <a:xfrm>
            <a:off x="4773168" y="3749040"/>
            <a:ext cx="603504" cy="0"/>
          </a:xfrm>
          <a:prstGeom prst="line">
            <a:avLst/>
          </a:prstGeom>
          <a:noFill/>
          <a:ln w="30480">
            <a:solidFill>
              <a:srgbClr val="159F94"/>
            </a:solidFill>
            <a:prstDash val="solid"/>
            <a:headEnd type="none"/>
            <a:tailEnd type="triangle"/>
          </a:ln>
        </p:spPr>
      </p:sp>
      <p:sp>
        <p:nvSpPr>
          <p:cNvPr id="18" name="Shape 16"/>
          <p:cNvSpPr/>
          <p:nvPr/>
        </p:nvSpPr>
        <p:spPr>
          <a:xfrm>
            <a:off x="5495544" y="2167128"/>
            <a:ext cx="5934456" cy="3163824"/>
          </a:xfrm>
          <a:prstGeom prst="roundRect">
            <a:avLst>
              <a:gd name="adj" fmla="val 4913"/>
            </a:avLst>
          </a:prstGeom>
          <a:solidFill>
            <a:srgbClr val="101E32"/>
          </a:solidFill>
          <a:ln w="12700">
            <a:solidFill>
              <a:srgbClr val="101E32">
                <a:alpha val="0"/>
              </a:srgbClr>
            </a:solidFill>
            <a:prstDash val="solid"/>
          </a:ln>
        </p:spPr>
      </p:sp>
      <p:sp>
        <p:nvSpPr>
          <p:cNvPr id="19" name="Text 17"/>
          <p:cNvSpPr/>
          <p:nvPr/>
        </p:nvSpPr>
        <p:spPr>
          <a:xfrm>
            <a:off x="5833872" y="2532888"/>
            <a:ext cx="5230368" cy="438912"/>
          </a:xfrm>
          <a:prstGeom prst="rect">
            <a:avLst/>
          </a:prstGeom>
          <a:noFill/>
          <a:ln/>
        </p:spPr>
        <p:txBody>
          <a:bodyPr wrap="square" lIns="0" tIns="0" rIns="0" bIns="0" rtlCol="0" anchor="ctr"/>
          <a:lstStyle/>
          <a:p>
            <a:pPr indent="0" marL="0">
              <a:buNone/>
            </a:pPr>
            <a:r>
              <a:rPr lang="en-US" sz="2150" b="1" dirty="0">
                <a:solidFill>
                  <a:srgbClr val="B5EEE2"/>
                </a:solidFill>
                <a:latin typeface="Noto Sans CJK KR" pitchFamily="34" charset="0"/>
                <a:ea typeface="Noto Sans CJK KR" pitchFamily="34" charset="-122"/>
                <a:cs typeface="Noto Sans CJK KR" pitchFamily="34" charset="-120"/>
              </a:rPr>
              <a:t>한 곳의 조건 수정</a:t>
            </a:r>
            <a:endParaRPr lang="en-US" sz="2150" dirty="0"/>
          </a:p>
        </p:txBody>
      </p:sp>
      <p:sp>
        <p:nvSpPr>
          <p:cNvPr id="20" name="Text 18"/>
          <p:cNvSpPr/>
          <p:nvPr/>
        </p:nvSpPr>
        <p:spPr>
          <a:xfrm>
            <a:off x="8046720" y="3099816"/>
            <a:ext cx="685800" cy="292608"/>
          </a:xfrm>
          <a:prstGeom prst="rect">
            <a:avLst/>
          </a:prstGeom>
          <a:noFill/>
          <a:ln/>
        </p:spPr>
        <p:txBody>
          <a:bodyPr wrap="square" lIns="0" tIns="0" rIns="0" bIns="0" rtlCol="0" anchor="ctr"/>
          <a:lstStyle/>
          <a:p>
            <a:pPr algn="ctr" indent="0" marL="0">
              <a:buNone/>
            </a:pPr>
            <a:r>
              <a:rPr lang="en-US" sz="2400" b="1" dirty="0">
                <a:solidFill>
                  <a:srgbClr val="B5EEE2"/>
                </a:solidFill>
                <a:latin typeface="Noto Sans CJK KR" pitchFamily="34" charset="0"/>
                <a:ea typeface="Noto Sans CJK KR" pitchFamily="34" charset="-122"/>
                <a:cs typeface="Noto Sans CJK KR" pitchFamily="34" charset="-120"/>
              </a:rPr>
              <a:t>↓</a:t>
            </a:r>
            <a:endParaRPr lang="en-US" sz="2400" dirty="0"/>
          </a:p>
        </p:txBody>
      </p:sp>
      <p:sp>
        <p:nvSpPr>
          <p:cNvPr id="21" name="Shape 19"/>
          <p:cNvSpPr/>
          <p:nvPr/>
        </p:nvSpPr>
        <p:spPr>
          <a:xfrm>
            <a:off x="5916168" y="3474720"/>
            <a:ext cx="5102352" cy="640080"/>
          </a:xfrm>
          <a:prstGeom prst="roundRect">
            <a:avLst>
              <a:gd name="adj" fmla="val 24286"/>
            </a:avLst>
          </a:prstGeom>
          <a:solidFill>
            <a:srgbClr val="263C50"/>
          </a:solidFill>
          <a:ln w="12700">
            <a:solidFill>
              <a:srgbClr val="263C50">
                <a:alpha val="0"/>
              </a:srgbClr>
            </a:solidFill>
            <a:prstDash val="solid"/>
          </a:ln>
        </p:spPr>
      </p:sp>
      <p:sp>
        <p:nvSpPr>
          <p:cNvPr id="22" name="Text 20"/>
          <p:cNvSpPr/>
          <p:nvPr/>
        </p:nvSpPr>
        <p:spPr>
          <a:xfrm>
            <a:off x="6099048" y="3602736"/>
            <a:ext cx="4727448" cy="365760"/>
          </a:xfrm>
          <a:prstGeom prst="rect">
            <a:avLst/>
          </a:prstGeom>
          <a:noFill/>
          <a:ln/>
        </p:spPr>
        <p:txBody>
          <a:bodyPr wrap="square" lIns="0" tIns="0" rIns="0" bIns="0" rtlCol="0" anchor="ctr"/>
          <a:lstStyle/>
          <a:p>
            <a:pPr algn="ctr" indent="0" marL="0">
              <a:buNone/>
            </a:pPr>
            <a:r>
              <a:rPr lang="en-US" sz="1640" b="1" dirty="0">
                <a:solidFill>
                  <a:srgbClr val="FFFFFF"/>
                </a:solidFill>
                <a:latin typeface="Noto Sans CJK KR" pitchFamily="34" charset="0"/>
                <a:ea typeface="Noto Sans CJK KR" pitchFamily="34" charset="-122"/>
                <a:cs typeface="Noto Sans CJK KR" pitchFamily="34" charset="-120"/>
              </a:rPr>
              <a:t>공통 판단 엔진에 새 조건 반영</a:t>
            </a:r>
            <a:endParaRPr lang="en-US" sz="1640" dirty="0"/>
          </a:p>
        </p:txBody>
      </p:sp>
      <p:sp>
        <p:nvSpPr>
          <p:cNvPr id="23" name="Shape 21"/>
          <p:cNvSpPr/>
          <p:nvPr/>
        </p:nvSpPr>
        <p:spPr>
          <a:xfrm>
            <a:off x="8485632" y="4206240"/>
            <a:ext cx="0" cy="329184"/>
          </a:xfrm>
          <a:prstGeom prst="line">
            <a:avLst/>
          </a:prstGeom>
          <a:noFill/>
          <a:ln w="25400">
            <a:solidFill>
              <a:srgbClr val="B5EEE2"/>
            </a:solidFill>
            <a:prstDash val="solid"/>
            <a:headEnd type="none"/>
            <a:tailEnd type="triangle"/>
          </a:ln>
        </p:spPr>
      </p:sp>
      <p:sp>
        <p:nvSpPr>
          <p:cNvPr id="24" name="Shape 22"/>
          <p:cNvSpPr/>
          <p:nvPr/>
        </p:nvSpPr>
        <p:spPr>
          <a:xfrm>
            <a:off x="5916168" y="4654296"/>
            <a:ext cx="2450592" cy="429768"/>
          </a:xfrm>
          <a:prstGeom prst="roundRect">
            <a:avLst>
              <a:gd name="adj" fmla="val 36170"/>
            </a:avLst>
          </a:prstGeom>
          <a:solidFill>
            <a:srgbClr val="1A6F68"/>
          </a:solidFill>
          <a:ln w="12700">
            <a:solidFill>
              <a:srgbClr val="1A6F68">
                <a:alpha val="0"/>
              </a:srgbClr>
            </a:solidFill>
            <a:prstDash val="solid"/>
          </a:ln>
        </p:spPr>
      </p:sp>
      <p:sp>
        <p:nvSpPr>
          <p:cNvPr id="25" name="Text 23"/>
          <p:cNvSpPr/>
          <p:nvPr/>
        </p:nvSpPr>
        <p:spPr>
          <a:xfrm>
            <a:off x="6016752" y="4718304"/>
            <a:ext cx="2240280" cy="283464"/>
          </a:xfrm>
          <a:prstGeom prst="rect">
            <a:avLst/>
          </a:prstGeom>
          <a:noFill/>
          <a:ln/>
        </p:spPr>
        <p:txBody>
          <a:bodyPr wrap="square" lIns="0" tIns="0" rIns="0" bIns="0" rtlCol="0" anchor="ctr"/>
          <a:lstStyle/>
          <a:p>
            <a:pPr algn="ctr" indent="0" marL="0">
              <a:buNone/>
            </a:pPr>
            <a:r>
              <a:rPr lang="en-US" sz="1370" b="1" dirty="0">
                <a:solidFill>
                  <a:srgbClr val="FFFFFF"/>
                </a:solidFill>
                <a:latin typeface="Noto Sans CJK KR" pitchFamily="34" charset="0"/>
                <a:ea typeface="Noto Sans CJK KR" pitchFamily="34" charset="-122"/>
                <a:cs typeface="Noto Sans CJK KR" pitchFamily="34" charset="-120"/>
              </a:rPr>
              <a:t>웹 화면</a:t>
            </a:r>
            <a:endParaRPr lang="en-US" sz="1370" dirty="0"/>
          </a:p>
        </p:txBody>
      </p:sp>
      <p:sp>
        <p:nvSpPr>
          <p:cNvPr id="26" name="Shape 24"/>
          <p:cNvSpPr/>
          <p:nvPr/>
        </p:nvSpPr>
        <p:spPr>
          <a:xfrm>
            <a:off x="8558784" y="4654296"/>
            <a:ext cx="2450592" cy="429768"/>
          </a:xfrm>
          <a:prstGeom prst="roundRect">
            <a:avLst>
              <a:gd name="adj" fmla="val 36170"/>
            </a:avLst>
          </a:prstGeom>
          <a:solidFill>
            <a:srgbClr val="1A6F68"/>
          </a:solidFill>
          <a:ln w="12700">
            <a:solidFill>
              <a:srgbClr val="1A6F68">
                <a:alpha val="0"/>
              </a:srgbClr>
            </a:solidFill>
            <a:prstDash val="solid"/>
          </a:ln>
        </p:spPr>
      </p:sp>
      <p:sp>
        <p:nvSpPr>
          <p:cNvPr id="27" name="Text 25"/>
          <p:cNvSpPr/>
          <p:nvPr/>
        </p:nvSpPr>
        <p:spPr>
          <a:xfrm>
            <a:off x="8659368" y="4718304"/>
            <a:ext cx="2240280" cy="283464"/>
          </a:xfrm>
          <a:prstGeom prst="rect">
            <a:avLst/>
          </a:prstGeom>
          <a:noFill/>
          <a:ln/>
        </p:spPr>
        <p:txBody>
          <a:bodyPr wrap="square" lIns="0" tIns="0" rIns="0" bIns="0" rtlCol="0" anchor="ctr"/>
          <a:lstStyle/>
          <a:p>
            <a:pPr algn="ctr" indent="0" marL="0">
              <a:buNone/>
            </a:pPr>
            <a:r>
              <a:rPr lang="en-US" sz="1370" b="1" dirty="0">
                <a:solidFill>
                  <a:srgbClr val="FFFFFF"/>
                </a:solidFill>
                <a:latin typeface="Noto Sans CJK KR" pitchFamily="34" charset="0"/>
                <a:ea typeface="Noto Sans CJK KR" pitchFamily="34" charset="-122"/>
                <a:cs typeface="Noto Sans CJK KR" pitchFamily="34" charset="-120"/>
              </a:rPr>
              <a:t>MCP · 기타 채널</a:t>
            </a:r>
            <a:endParaRPr lang="en-US" sz="1370" dirty="0"/>
          </a:p>
        </p:txBody>
      </p:sp>
      <p:sp>
        <p:nvSpPr>
          <p:cNvPr id="28" name="Shape 26"/>
          <p:cNvSpPr/>
          <p:nvPr/>
        </p:nvSpPr>
        <p:spPr>
          <a:xfrm>
            <a:off x="868680" y="5660136"/>
            <a:ext cx="10506456" cy="530352"/>
          </a:xfrm>
          <a:prstGeom prst="roundRect">
            <a:avLst>
              <a:gd name="adj" fmla="val 29310"/>
            </a:avLst>
          </a:prstGeom>
          <a:solidFill>
            <a:srgbClr val="D7EDE8"/>
          </a:solidFill>
          <a:ln w="12700">
            <a:solidFill>
              <a:srgbClr val="D7EDE8">
                <a:alpha val="0"/>
              </a:srgbClr>
            </a:solidFill>
            <a:prstDash val="solid"/>
          </a:ln>
        </p:spPr>
      </p:sp>
      <p:sp>
        <p:nvSpPr>
          <p:cNvPr id="29" name="Text 27"/>
          <p:cNvSpPr/>
          <p:nvPr/>
        </p:nvSpPr>
        <p:spPr>
          <a:xfrm>
            <a:off x="1078992" y="5742432"/>
            <a:ext cx="10067544" cy="329184"/>
          </a:xfrm>
          <a:prstGeom prst="rect">
            <a:avLst/>
          </a:prstGeom>
          <a:noFill/>
          <a:ln/>
        </p:spPr>
        <p:txBody>
          <a:bodyPr wrap="square" lIns="0" tIns="0" rIns="0" bIns="0" rtlCol="0" anchor="ctr"/>
          <a:lstStyle/>
          <a:p>
            <a:pPr algn="ctr" indent="0" marL="0">
              <a:buNone/>
            </a:pPr>
            <a:r>
              <a:rPr lang="en-US" sz="1560" b="1" dirty="0">
                <a:solidFill>
                  <a:srgbClr val="101E32"/>
                </a:solidFill>
                <a:latin typeface="Noto Sans CJK KR" pitchFamily="34" charset="0"/>
                <a:ea typeface="Noto Sans CJK KR" pitchFamily="34" charset="-122"/>
                <a:cs typeface="Noto Sans CJK KR" pitchFamily="34" charset="-120"/>
              </a:rPr>
              <a:t>우리가 검증할 것: 조건 수정 후 동일 질문에 새 기준이 반영되는가?</a:t>
            </a:r>
            <a:endParaRPr lang="en-US" sz="15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DAE5EB"/>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62758A"/>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62758A"/>
                </a:solidFill>
                <a:latin typeface="Noto Sans CJK KR" pitchFamily="34" charset="0"/>
                <a:ea typeface="Noto Sans CJK KR" pitchFamily="34" charset="-122"/>
                <a:cs typeface="Noto Sans CJK KR" pitchFamily="34" charset="-120"/>
              </a:rPr>
              <a:t>05 / 10</a:t>
            </a:r>
            <a:endParaRPr lang="en-US" sz="1050" dirty="0"/>
          </a:p>
        </p:txBody>
      </p:sp>
      <p:sp>
        <p:nvSpPr>
          <p:cNvPr id="5" name="Text 3"/>
          <p:cNvSpPr/>
          <p:nvPr/>
        </p:nvSpPr>
        <p:spPr>
          <a:xfrm>
            <a:off x="704088" y="438912"/>
            <a:ext cx="10789920" cy="237744"/>
          </a:xfrm>
          <a:prstGeom prst="rect">
            <a:avLst/>
          </a:prstGeom>
          <a:noFill/>
          <a:ln/>
        </p:spPr>
        <p:txBody>
          <a:bodyPr wrap="square" lIns="0" tIns="0" rIns="0" bIns="0" rtlCol="0" anchor="ctr"/>
          <a:lstStyle/>
          <a:p>
            <a:pPr indent="0" marL="0">
              <a:buNone/>
            </a:pPr>
            <a:r>
              <a:rPr lang="en-US" sz="1050" b="1" spc="150" kern="0" dirty="0">
                <a:solidFill>
                  <a:srgbClr val="159F94"/>
                </a:solidFill>
                <a:latin typeface="Noto Sans CJK KR" pitchFamily="34" charset="0"/>
                <a:ea typeface="Noto Sans CJK KR" pitchFamily="34" charset="-122"/>
                <a:cs typeface="Noto Sans CJK KR" pitchFamily="34" charset="-120"/>
              </a:rPr>
              <a:t>04  ·  FEASIBLE SCOPE</a:t>
            </a:r>
            <a:endParaRPr lang="en-US" sz="1050" dirty="0"/>
          </a:p>
        </p:txBody>
      </p:sp>
      <p:sp>
        <p:nvSpPr>
          <p:cNvPr id="6" name="Text 4"/>
          <p:cNvSpPr/>
          <p:nvPr/>
        </p:nvSpPr>
        <p:spPr>
          <a:xfrm>
            <a:off x="704088" y="841248"/>
            <a:ext cx="10872216" cy="694944"/>
          </a:xfrm>
          <a:prstGeom prst="rect">
            <a:avLst/>
          </a:prstGeom>
          <a:noFill/>
          <a:ln/>
        </p:spPr>
        <p:txBody>
          <a:bodyPr wrap="square" lIns="0" tIns="0" rIns="0" bIns="0" rtlCol="0" anchor="ctr"/>
          <a:lstStyle/>
          <a:p>
            <a:pPr indent="0" marL="0">
              <a:buNone/>
            </a:pPr>
            <a:r>
              <a:rPr lang="en-US" sz="2700" b="1" dirty="0">
                <a:solidFill>
                  <a:srgbClr val="101E32"/>
                </a:solidFill>
                <a:latin typeface="Noto Sans CJK KR" pitchFamily="34" charset="0"/>
                <a:ea typeface="Noto Sans CJK KR" pitchFamily="34" charset="-122"/>
                <a:cs typeface="Noto Sans CJK KR" pitchFamily="34" charset="-120"/>
              </a:rPr>
              <a:t>우리는 카드사 내부 데이터 없이, 공개 약관부터 검증합니다</a:t>
            </a:r>
            <a:endParaRPr lang="en-US" sz="2700" dirty="0"/>
          </a:p>
        </p:txBody>
      </p:sp>
      <p:sp>
        <p:nvSpPr>
          <p:cNvPr id="7" name="Text 5"/>
          <p:cNvSpPr/>
          <p:nvPr/>
        </p:nvSpPr>
        <p:spPr>
          <a:xfrm>
            <a:off x="722376" y="1581912"/>
            <a:ext cx="10789920" cy="365760"/>
          </a:xfrm>
          <a:prstGeom prst="rect">
            <a:avLst/>
          </a:prstGeom>
          <a:noFill/>
          <a:ln/>
        </p:spPr>
        <p:txBody>
          <a:bodyPr wrap="square" lIns="0" tIns="0" rIns="0" bIns="0" rtlCol="0" anchor="ctr"/>
          <a:lstStyle/>
          <a:p>
            <a:pPr indent="0" marL="0">
              <a:buNone/>
            </a:pPr>
            <a:r>
              <a:rPr lang="en-US" sz="1330" dirty="0">
                <a:solidFill>
                  <a:srgbClr val="62758A"/>
                </a:solidFill>
                <a:latin typeface="Noto Sans CJK KR" pitchFamily="34" charset="0"/>
                <a:ea typeface="Noto Sans CJK KR" pitchFamily="34" charset="-122"/>
                <a:cs typeface="Noto Sans CJK KR" pitchFamily="34" charset="-120"/>
              </a:rPr>
              <a:t>신한카드의 금융상품·정책·규정 전체가 아니라 공개된 혜택 조건에 범위를 한정합니다.</a:t>
            </a:r>
            <a:endParaRPr lang="en-US" sz="1330" dirty="0"/>
          </a:p>
        </p:txBody>
      </p:sp>
      <p:sp>
        <p:nvSpPr>
          <p:cNvPr id="8" name="Shape 6"/>
          <p:cNvSpPr/>
          <p:nvPr/>
        </p:nvSpPr>
        <p:spPr>
          <a:xfrm>
            <a:off x="768096" y="2185416"/>
            <a:ext cx="3666744" cy="3419856"/>
          </a:xfrm>
          <a:prstGeom prst="roundRect">
            <a:avLst>
              <a:gd name="adj" fmla="val 4545"/>
            </a:avLst>
          </a:prstGeom>
          <a:solidFill>
            <a:srgbClr val="101E32"/>
          </a:solidFill>
          <a:ln w="12700">
            <a:solidFill>
              <a:srgbClr val="101E32">
                <a:alpha val="0"/>
              </a:srgbClr>
            </a:solidFill>
            <a:prstDash val="solid"/>
          </a:ln>
        </p:spPr>
      </p:sp>
      <p:sp>
        <p:nvSpPr>
          <p:cNvPr id="9" name="Shape 7"/>
          <p:cNvSpPr/>
          <p:nvPr/>
        </p:nvSpPr>
        <p:spPr>
          <a:xfrm>
            <a:off x="1060704" y="2468880"/>
            <a:ext cx="1252728" cy="347472"/>
          </a:xfrm>
          <a:prstGeom prst="roundRect">
            <a:avLst>
              <a:gd name="adj" fmla="val 44737"/>
            </a:avLst>
          </a:prstGeom>
          <a:solidFill>
            <a:srgbClr val="244B5A"/>
          </a:solidFill>
          <a:ln w="12700">
            <a:solidFill>
              <a:srgbClr val="244B5A">
                <a:alpha val="0"/>
              </a:srgbClr>
            </a:solidFill>
            <a:prstDash val="solid"/>
          </a:ln>
        </p:spPr>
      </p:sp>
      <p:sp>
        <p:nvSpPr>
          <p:cNvPr id="10" name="Text 8"/>
          <p:cNvSpPr/>
          <p:nvPr/>
        </p:nvSpPr>
        <p:spPr>
          <a:xfrm>
            <a:off x="1143000" y="2478024"/>
            <a:ext cx="1088136" cy="320040"/>
          </a:xfrm>
          <a:prstGeom prst="rect">
            <a:avLst/>
          </a:prstGeom>
          <a:noFill/>
          <a:ln/>
        </p:spPr>
        <p:txBody>
          <a:bodyPr wrap="square" lIns="0" tIns="0" rIns="0" bIns="0" rtlCol="0" anchor="ctr"/>
          <a:lstStyle/>
          <a:p>
            <a:pPr algn="ctr" indent="0" marL="0">
              <a:buNone/>
            </a:pPr>
            <a:r>
              <a:rPr lang="en-US" sz="1150" b="1" dirty="0">
                <a:solidFill>
                  <a:srgbClr val="B5EEE2"/>
                </a:solidFill>
                <a:latin typeface="Noto Sans CJK KR" pitchFamily="34" charset="0"/>
                <a:ea typeface="Noto Sans CJK KR" pitchFamily="34" charset="-122"/>
                <a:cs typeface="Noto Sans CJK KR" pitchFamily="34" charset="-120"/>
              </a:rPr>
              <a:t>입력 데이터</a:t>
            </a:r>
            <a:endParaRPr lang="en-US" sz="1150" dirty="0"/>
          </a:p>
        </p:txBody>
      </p:sp>
      <p:sp>
        <p:nvSpPr>
          <p:cNvPr id="11" name="Text 9"/>
          <p:cNvSpPr/>
          <p:nvPr/>
        </p:nvSpPr>
        <p:spPr>
          <a:xfrm>
            <a:off x="1051560" y="3026664"/>
            <a:ext cx="3136392" cy="1207008"/>
          </a:xfrm>
          <a:prstGeom prst="rect">
            <a:avLst/>
          </a:prstGeom>
          <a:noFill/>
          <a:ln/>
        </p:spPr>
        <p:txBody>
          <a:bodyPr wrap="square" lIns="0" tIns="0" rIns="0" bIns="0" rtlCol="0" anchor="ctr"/>
          <a:lstStyle/>
          <a:p>
            <a:pPr indent="0" marL="0">
              <a:buNone/>
            </a:pPr>
            <a:r>
              <a:rPr lang="en-US" sz="2390" b="1" dirty="0">
                <a:solidFill>
                  <a:srgbClr val="FFFFFF"/>
                </a:solidFill>
                <a:latin typeface="Noto Sans CJK KR" pitchFamily="34" charset="0"/>
                <a:ea typeface="Noto Sans CJK KR" pitchFamily="34" charset="-122"/>
                <a:cs typeface="Noto Sans CJK KR" pitchFamily="34" charset="-120"/>
              </a:rPr>
              <a:t>공개 카드</a:t>
            </a:r>
            <a:endParaRPr lang="en-US" sz="2390" dirty="0"/>
          </a:p>
          <a:p>
            <a:pPr indent="0" marL="0">
              <a:buNone/>
            </a:pPr>
            <a:r>
              <a:rPr lang="en-US" sz="2390" b="1" dirty="0">
                <a:solidFill>
                  <a:srgbClr val="FFFFFF"/>
                </a:solidFill>
                <a:latin typeface="Noto Sans CJK KR" pitchFamily="34" charset="0"/>
                <a:ea typeface="Noto Sans CJK KR" pitchFamily="34" charset="-122"/>
                <a:cs typeface="Noto Sans CJK KR" pitchFamily="34" charset="-120"/>
              </a:rPr>
              <a:t>상품설명서 · 약관</a:t>
            </a:r>
            <a:endParaRPr lang="en-US" sz="2390" dirty="0"/>
          </a:p>
        </p:txBody>
      </p:sp>
      <p:sp>
        <p:nvSpPr>
          <p:cNvPr id="12" name="Text 10"/>
          <p:cNvSpPr/>
          <p:nvPr/>
        </p:nvSpPr>
        <p:spPr>
          <a:xfrm>
            <a:off x="1069848" y="4837176"/>
            <a:ext cx="3035808" cy="393192"/>
          </a:xfrm>
          <a:prstGeom prst="rect">
            <a:avLst/>
          </a:prstGeom>
          <a:noFill/>
          <a:ln/>
        </p:spPr>
        <p:txBody>
          <a:bodyPr wrap="square" lIns="0" tIns="0" rIns="0" bIns="0" rtlCol="0" anchor="ctr"/>
          <a:lstStyle/>
          <a:p>
            <a:pPr indent="0" marL="0">
              <a:buNone/>
            </a:pPr>
            <a:r>
              <a:rPr lang="en-US" sz="1270" dirty="0">
                <a:solidFill>
                  <a:srgbClr val="CBD9E4"/>
                </a:solidFill>
                <a:latin typeface="Noto Sans CJK KR" pitchFamily="34" charset="0"/>
                <a:ea typeface="Noto Sans CJK KR" pitchFamily="34" charset="-122"/>
                <a:cs typeface="Noto Sans CJK KR" pitchFamily="34" charset="-120"/>
              </a:rPr>
              <a:t>고객 거래 내역·내부 정책 없이 시작</a:t>
            </a:r>
            <a:endParaRPr lang="en-US" sz="1270" dirty="0"/>
          </a:p>
        </p:txBody>
      </p:sp>
      <p:sp>
        <p:nvSpPr>
          <p:cNvPr id="13" name="Shape 11"/>
          <p:cNvSpPr/>
          <p:nvPr/>
        </p:nvSpPr>
        <p:spPr>
          <a:xfrm>
            <a:off x="4754880" y="2276856"/>
            <a:ext cx="3108960" cy="1280160"/>
          </a:xfrm>
          <a:prstGeom prst="roundRect">
            <a:avLst>
              <a:gd name="adj" fmla="val 12143"/>
            </a:avLst>
          </a:prstGeom>
          <a:solidFill>
            <a:srgbClr val="FFFFFF"/>
          </a:solidFill>
          <a:ln w="12700">
            <a:solidFill>
              <a:srgbClr val="FFFFFF">
                <a:alpha val="0"/>
              </a:srgbClr>
            </a:solidFill>
            <a:prstDash val="solid"/>
          </a:ln>
        </p:spPr>
      </p:sp>
      <p:sp>
        <p:nvSpPr>
          <p:cNvPr id="14" name="Shape 12"/>
          <p:cNvSpPr/>
          <p:nvPr/>
        </p:nvSpPr>
        <p:spPr>
          <a:xfrm>
            <a:off x="4928616" y="2432304"/>
            <a:ext cx="438912" cy="347472"/>
          </a:xfrm>
          <a:prstGeom prst="roundRect">
            <a:avLst>
              <a:gd name="adj" fmla="val 44737"/>
            </a:avLst>
          </a:prstGeom>
          <a:solidFill>
            <a:srgbClr val="E8F7F2"/>
          </a:solidFill>
          <a:ln w="12700">
            <a:solidFill>
              <a:srgbClr val="E8F7F2">
                <a:alpha val="0"/>
              </a:srgbClr>
            </a:solidFill>
            <a:prstDash val="solid"/>
          </a:ln>
        </p:spPr>
      </p:sp>
      <p:sp>
        <p:nvSpPr>
          <p:cNvPr id="15" name="Text 13"/>
          <p:cNvSpPr/>
          <p:nvPr/>
        </p:nvSpPr>
        <p:spPr>
          <a:xfrm>
            <a:off x="5010912" y="2441448"/>
            <a:ext cx="274320" cy="320040"/>
          </a:xfrm>
          <a:prstGeom prst="rect">
            <a:avLst/>
          </a:prstGeom>
          <a:noFill/>
          <a:ln/>
        </p:spPr>
        <p:txBody>
          <a:bodyPr wrap="square" lIns="0" tIns="0" rIns="0" bIns="0" rtlCol="0" anchor="ctr"/>
          <a:lstStyle/>
          <a:p>
            <a:pPr algn="ctr" indent="0" marL="0">
              <a:buNone/>
            </a:pPr>
            <a:r>
              <a:rPr lang="en-US" sz="1150" b="1" dirty="0">
                <a:solidFill>
                  <a:srgbClr val="159F94"/>
                </a:solidFill>
                <a:latin typeface="Noto Sans CJK KR" pitchFamily="34" charset="0"/>
                <a:ea typeface="Noto Sans CJK KR" pitchFamily="34" charset="-122"/>
                <a:cs typeface="Noto Sans CJK KR" pitchFamily="34" charset="-120"/>
              </a:rPr>
              <a:t>1</a:t>
            </a:r>
            <a:endParaRPr lang="en-US" sz="1150" dirty="0"/>
          </a:p>
        </p:txBody>
      </p:sp>
      <p:sp>
        <p:nvSpPr>
          <p:cNvPr id="16" name="Text 14"/>
          <p:cNvSpPr/>
          <p:nvPr/>
        </p:nvSpPr>
        <p:spPr>
          <a:xfrm>
            <a:off x="5513832" y="2423160"/>
            <a:ext cx="2093976" cy="393192"/>
          </a:xfrm>
          <a:prstGeom prst="rect">
            <a:avLst/>
          </a:prstGeom>
          <a:noFill/>
          <a:ln/>
        </p:spPr>
        <p:txBody>
          <a:bodyPr wrap="square" lIns="0" tIns="0" rIns="0" bIns="0" rtlCol="0" anchor="ctr"/>
          <a:lstStyle/>
          <a:p>
            <a:pPr indent="0" marL="0">
              <a:buNone/>
            </a:pPr>
            <a:r>
              <a:rPr lang="en-US" sz="1810" b="1" dirty="0">
                <a:solidFill>
                  <a:srgbClr val="16263C"/>
                </a:solidFill>
                <a:latin typeface="Noto Sans CJK KR" pitchFamily="34" charset="0"/>
                <a:ea typeface="Noto Sans CJK KR" pitchFamily="34" charset="-122"/>
                <a:cs typeface="Noto Sans CJK KR" pitchFamily="34" charset="-120"/>
              </a:rPr>
              <a:t>전월 실적</a:t>
            </a:r>
            <a:endParaRPr lang="en-US" sz="1810" dirty="0"/>
          </a:p>
        </p:txBody>
      </p:sp>
      <p:sp>
        <p:nvSpPr>
          <p:cNvPr id="17" name="Text 15"/>
          <p:cNvSpPr/>
          <p:nvPr/>
        </p:nvSpPr>
        <p:spPr>
          <a:xfrm>
            <a:off x="4937760" y="3035808"/>
            <a:ext cx="2734056" cy="283464"/>
          </a:xfrm>
          <a:prstGeom prst="rect">
            <a:avLst/>
          </a:prstGeom>
          <a:noFill/>
          <a:ln/>
        </p:spPr>
        <p:txBody>
          <a:bodyPr wrap="square" lIns="0" tIns="0" rIns="0" bIns="0" rtlCol="0" anchor="ctr"/>
          <a:lstStyle/>
          <a:p>
            <a:pPr indent="0" marL="0">
              <a:buNone/>
            </a:pPr>
            <a:r>
              <a:rPr lang="en-US" sz="1230" dirty="0">
                <a:solidFill>
                  <a:srgbClr val="62758A"/>
                </a:solidFill>
                <a:latin typeface="Noto Sans CJK KR" pitchFamily="34" charset="0"/>
                <a:ea typeface="Noto Sans CJK KR" pitchFamily="34" charset="-122"/>
                <a:cs typeface="Noto Sans CJK KR" pitchFamily="34" charset="-120"/>
              </a:rPr>
              <a:t>충족 기준과 제외 항목</a:t>
            </a:r>
            <a:endParaRPr lang="en-US" sz="1230" dirty="0"/>
          </a:p>
        </p:txBody>
      </p:sp>
      <p:sp>
        <p:nvSpPr>
          <p:cNvPr id="18" name="Shape 16"/>
          <p:cNvSpPr/>
          <p:nvPr/>
        </p:nvSpPr>
        <p:spPr>
          <a:xfrm>
            <a:off x="8110728" y="2276856"/>
            <a:ext cx="3108960" cy="1280160"/>
          </a:xfrm>
          <a:prstGeom prst="roundRect">
            <a:avLst>
              <a:gd name="adj" fmla="val 12143"/>
            </a:avLst>
          </a:prstGeom>
          <a:solidFill>
            <a:srgbClr val="FFFFFF"/>
          </a:solidFill>
          <a:ln w="12700">
            <a:solidFill>
              <a:srgbClr val="FFFFFF">
                <a:alpha val="0"/>
              </a:srgbClr>
            </a:solidFill>
            <a:prstDash val="solid"/>
          </a:ln>
        </p:spPr>
      </p:sp>
      <p:sp>
        <p:nvSpPr>
          <p:cNvPr id="19" name="Shape 17"/>
          <p:cNvSpPr/>
          <p:nvPr/>
        </p:nvSpPr>
        <p:spPr>
          <a:xfrm>
            <a:off x="8284464" y="2432304"/>
            <a:ext cx="438912" cy="347472"/>
          </a:xfrm>
          <a:prstGeom prst="roundRect">
            <a:avLst>
              <a:gd name="adj" fmla="val 44737"/>
            </a:avLst>
          </a:prstGeom>
          <a:solidFill>
            <a:srgbClr val="E8F7F2"/>
          </a:solidFill>
          <a:ln w="12700">
            <a:solidFill>
              <a:srgbClr val="E8F7F2">
                <a:alpha val="0"/>
              </a:srgbClr>
            </a:solidFill>
            <a:prstDash val="solid"/>
          </a:ln>
        </p:spPr>
      </p:sp>
      <p:sp>
        <p:nvSpPr>
          <p:cNvPr id="20" name="Text 18"/>
          <p:cNvSpPr/>
          <p:nvPr/>
        </p:nvSpPr>
        <p:spPr>
          <a:xfrm>
            <a:off x="8366760" y="2441448"/>
            <a:ext cx="274320" cy="320040"/>
          </a:xfrm>
          <a:prstGeom prst="rect">
            <a:avLst/>
          </a:prstGeom>
          <a:noFill/>
          <a:ln/>
        </p:spPr>
        <p:txBody>
          <a:bodyPr wrap="square" lIns="0" tIns="0" rIns="0" bIns="0" rtlCol="0" anchor="ctr"/>
          <a:lstStyle/>
          <a:p>
            <a:pPr algn="ctr" indent="0" marL="0">
              <a:buNone/>
            </a:pPr>
            <a:r>
              <a:rPr lang="en-US" sz="1150" b="1" dirty="0">
                <a:solidFill>
                  <a:srgbClr val="159F94"/>
                </a:solidFill>
                <a:latin typeface="Noto Sans CJK KR" pitchFamily="34" charset="0"/>
                <a:ea typeface="Noto Sans CJK KR" pitchFamily="34" charset="-122"/>
                <a:cs typeface="Noto Sans CJK KR" pitchFamily="34" charset="-120"/>
              </a:rPr>
              <a:t>2</a:t>
            </a:r>
            <a:endParaRPr lang="en-US" sz="1150" dirty="0"/>
          </a:p>
        </p:txBody>
      </p:sp>
      <p:sp>
        <p:nvSpPr>
          <p:cNvPr id="21" name="Text 19"/>
          <p:cNvSpPr/>
          <p:nvPr/>
        </p:nvSpPr>
        <p:spPr>
          <a:xfrm>
            <a:off x="8869680" y="2423160"/>
            <a:ext cx="2093976" cy="393192"/>
          </a:xfrm>
          <a:prstGeom prst="rect">
            <a:avLst/>
          </a:prstGeom>
          <a:noFill/>
          <a:ln/>
        </p:spPr>
        <p:txBody>
          <a:bodyPr wrap="square" lIns="0" tIns="0" rIns="0" bIns="0" rtlCol="0" anchor="ctr"/>
          <a:lstStyle/>
          <a:p>
            <a:pPr indent="0" marL="0">
              <a:buNone/>
            </a:pPr>
            <a:r>
              <a:rPr lang="en-US" sz="1810" b="1" dirty="0">
                <a:solidFill>
                  <a:srgbClr val="16263C"/>
                </a:solidFill>
                <a:latin typeface="Noto Sans CJK KR" pitchFamily="34" charset="0"/>
                <a:ea typeface="Noto Sans CJK KR" pitchFamily="34" charset="-122"/>
                <a:cs typeface="Noto Sans CJK KR" pitchFamily="34" charset="-120"/>
              </a:rPr>
              <a:t>이용처</a:t>
            </a:r>
            <a:endParaRPr lang="en-US" sz="1810" dirty="0"/>
          </a:p>
        </p:txBody>
      </p:sp>
      <p:sp>
        <p:nvSpPr>
          <p:cNvPr id="22" name="Text 20"/>
          <p:cNvSpPr/>
          <p:nvPr/>
        </p:nvSpPr>
        <p:spPr>
          <a:xfrm>
            <a:off x="8293608" y="3035808"/>
            <a:ext cx="2734056" cy="283464"/>
          </a:xfrm>
          <a:prstGeom prst="rect">
            <a:avLst/>
          </a:prstGeom>
          <a:noFill/>
          <a:ln/>
        </p:spPr>
        <p:txBody>
          <a:bodyPr wrap="square" lIns="0" tIns="0" rIns="0" bIns="0" rtlCol="0" anchor="ctr"/>
          <a:lstStyle/>
          <a:p>
            <a:pPr indent="0" marL="0">
              <a:buNone/>
            </a:pPr>
            <a:r>
              <a:rPr lang="en-US" sz="1230" dirty="0">
                <a:solidFill>
                  <a:srgbClr val="62758A"/>
                </a:solidFill>
                <a:latin typeface="Noto Sans CJK KR" pitchFamily="34" charset="0"/>
                <a:ea typeface="Noto Sans CJK KR" pitchFamily="34" charset="-122"/>
                <a:cs typeface="Noto Sans CJK KR" pitchFamily="34" charset="-120"/>
              </a:rPr>
              <a:t>할인 대상 업종 · 서비스</a:t>
            </a:r>
            <a:endParaRPr lang="en-US" sz="1230" dirty="0"/>
          </a:p>
        </p:txBody>
      </p:sp>
      <p:sp>
        <p:nvSpPr>
          <p:cNvPr id="23" name="Shape 21"/>
          <p:cNvSpPr/>
          <p:nvPr/>
        </p:nvSpPr>
        <p:spPr>
          <a:xfrm>
            <a:off x="4754880" y="3767328"/>
            <a:ext cx="3108960" cy="1280160"/>
          </a:xfrm>
          <a:prstGeom prst="roundRect">
            <a:avLst>
              <a:gd name="adj" fmla="val 12143"/>
            </a:avLst>
          </a:prstGeom>
          <a:solidFill>
            <a:srgbClr val="FFFFFF"/>
          </a:solidFill>
          <a:ln w="12700">
            <a:solidFill>
              <a:srgbClr val="FFFFFF">
                <a:alpha val="0"/>
              </a:srgbClr>
            </a:solidFill>
            <a:prstDash val="solid"/>
          </a:ln>
        </p:spPr>
      </p:sp>
      <p:sp>
        <p:nvSpPr>
          <p:cNvPr id="24" name="Shape 22"/>
          <p:cNvSpPr/>
          <p:nvPr/>
        </p:nvSpPr>
        <p:spPr>
          <a:xfrm>
            <a:off x="4928616" y="3922776"/>
            <a:ext cx="438912" cy="347472"/>
          </a:xfrm>
          <a:prstGeom prst="roundRect">
            <a:avLst>
              <a:gd name="adj" fmla="val 44737"/>
            </a:avLst>
          </a:prstGeom>
          <a:solidFill>
            <a:srgbClr val="E8F7F2"/>
          </a:solidFill>
          <a:ln w="12700">
            <a:solidFill>
              <a:srgbClr val="E8F7F2">
                <a:alpha val="0"/>
              </a:srgbClr>
            </a:solidFill>
            <a:prstDash val="solid"/>
          </a:ln>
        </p:spPr>
      </p:sp>
      <p:sp>
        <p:nvSpPr>
          <p:cNvPr id="25" name="Text 23"/>
          <p:cNvSpPr/>
          <p:nvPr/>
        </p:nvSpPr>
        <p:spPr>
          <a:xfrm>
            <a:off x="5010912" y="3931920"/>
            <a:ext cx="274320" cy="320040"/>
          </a:xfrm>
          <a:prstGeom prst="rect">
            <a:avLst/>
          </a:prstGeom>
          <a:noFill/>
          <a:ln/>
        </p:spPr>
        <p:txBody>
          <a:bodyPr wrap="square" lIns="0" tIns="0" rIns="0" bIns="0" rtlCol="0" anchor="ctr"/>
          <a:lstStyle/>
          <a:p>
            <a:pPr algn="ctr" indent="0" marL="0">
              <a:buNone/>
            </a:pPr>
            <a:r>
              <a:rPr lang="en-US" sz="1150" b="1" dirty="0">
                <a:solidFill>
                  <a:srgbClr val="159F94"/>
                </a:solidFill>
                <a:latin typeface="Noto Sans CJK KR" pitchFamily="34" charset="0"/>
                <a:ea typeface="Noto Sans CJK KR" pitchFamily="34" charset="-122"/>
                <a:cs typeface="Noto Sans CJK KR" pitchFamily="34" charset="-120"/>
              </a:rPr>
              <a:t>3</a:t>
            </a:r>
            <a:endParaRPr lang="en-US" sz="1150" dirty="0"/>
          </a:p>
        </p:txBody>
      </p:sp>
      <p:sp>
        <p:nvSpPr>
          <p:cNvPr id="26" name="Text 24"/>
          <p:cNvSpPr/>
          <p:nvPr/>
        </p:nvSpPr>
        <p:spPr>
          <a:xfrm>
            <a:off x="5513832" y="3913632"/>
            <a:ext cx="2093976" cy="393192"/>
          </a:xfrm>
          <a:prstGeom prst="rect">
            <a:avLst/>
          </a:prstGeom>
          <a:noFill/>
          <a:ln/>
        </p:spPr>
        <p:txBody>
          <a:bodyPr wrap="square" lIns="0" tIns="0" rIns="0" bIns="0" rtlCol="0" anchor="ctr"/>
          <a:lstStyle/>
          <a:p>
            <a:pPr indent="0" marL="0">
              <a:buNone/>
            </a:pPr>
            <a:r>
              <a:rPr lang="en-US" sz="1810" b="1" dirty="0">
                <a:solidFill>
                  <a:srgbClr val="16263C"/>
                </a:solidFill>
                <a:latin typeface="Noto Sans CJK KR" pitchFamily="34" charset="0"/>
                <a:ea typeface="Noto Sans CJK KR" pitchFamily="34" charset="-122"/>
                <a:cs typeface="Noto Sans CJK KR" pitchFamily="34" charset="-120"/>
              </a:rPr>
              <a:t>예외 조건</a:t>
            </a:r>
            <a:endParaRPr lang="en-US" sz="1810" dirty="0"/>
          </a:p>
        </p:txBody>
      </p:sp>
      <p:sp>
        <p:nvSpPr>
          <p:cNvPr id="27" name="Text 25"/>
          <p:cNvSpPr/>
          <p:nvPr/>
        </p:nvSpPr>
        <p:spPr>
          <a:xfrm>
            <a:off x="4937760" y="4526280"/>
            <a:ext cx="2734056" cy="283464"/>
          </a:xfrm>
          <a:prstGeom prst="rect">
            <a:avLst/>
          </a:prstGeom>
          <a:noFill/>
          <a:ln/>
        </p:spPr>
        <p:txBody>
          <a:bodyPr wrap="square" lIns="0" tIns="0" rIns="0" bIns="0" rtlCol="0" anchor="ctr"/>
          <a:lstStyle/>
          <a:p>
            <a:pPr indent="0" marL="0">
              <a:buNone/>
            </a:pPr>
            <a:r>
              <a:rPr lang="en-US" sz="1230" dirty="0">
                <a:solidFill>
                  <a:srgbClr val="62758A"/>
                </a:solidFill>
                <a:latin typeface="Noto Sans CJK KR" pitchFamily="34" charset="0"/>
                <a:ea typeface="Noto Sans CJK KR" pitchFamily="34" charset="-122"/>
                <a:cs typeface="Noto Sans CJK KR" pitchFamily="34" charset="-120"/>
              </a:rPr>
              <a:t>간편결제 · 특정 거래 제외</a:t>
            </a:r>
            <a:endParaRPr lang="en-US" sz="1230" dirty="0"/>
          </a:p>
        </p:txBody>
      </p:sp>
      <p:sp>
        <p:nvSpPr>
          <p:cNvPr id="28" name="Shape 26"/>
          <p:cNvSpPr/>
          <p:nvPr/>
        </p:nvSpPr>
        <p:spPr>
          <a:xfrm>
            <a:off x="8110728" y="3767328"/>
            <a:ext cx="3108960" cy="1280160"/>
          </a:xfrm>
          <a:prstGeom prst="roundRect">
            <a:avLst>
              <a:gd name="adj" fmla="val 12143"/>
            </a:avLst>
          </a:prstGeom>
          <a:solidFill>
            <a:srgbClr val="FFFFFF"/>
          </a:solidFill>
          <a:ln w="12700">
            <a:solidFill>
              <a:srgbClr val="FFFFFF">
                <a:alpha val="0"/>
              </a:srgbClr>
            </a:solidFill>
            <a:prstDash val="solid"/>
          </a:ln>
        </p:spPr>
      </p:sp>
      <p:sp>
        <p:nvSpPr>
          <p:cNvPr id="29" name="Shape 27"/>
          <p:cNvSpPr/>
          <p:nvPr/>
        </p:nvSpPr>
        <p:spPr>
          <a:xfrm>
            <a:off x="8284464" y="3922776"/>
            <a:ext cx="438912" cy="347472"/>
          </a:xfrm>
          <a:prstGeom prst="roundRect">
            <a:avLst>
              <a:gd name="adj" fmla="val 44737"/>
            </a:avLst>
          </a:prstGeom>
          <a:solidFill>
            <a:srgbClr val="E8F7F2"/>
          </a:solidFill>
          <a:ln w="12700">
            <a:solidFill>
              <a:srgbClr val="E8F7F2">
                <a:alpha val="0"/>
              </a:srgbClr>
            </a:solidFill>
            <a:prstDash val="solid"/>
          </a:ln>
        </p:spPr>
      </p:sp>
      <p:sp>
        <p:nvSpPr>
          <p:cNvPr id="30" name="Text 28"/>
          <p:cNvSpPr/>
          <p:nvPr/>
        </p:nvSpPr>
        <p:spPr>
          <a:xfrm>
            <a:off x="8366760" y="3931920"/>
            <a:ext cx="274320" cy="320040"/>
          </a:xfrm>
          <a:prstGeom prst="rect">
            <a:avLst/>
          </a:prstGeom>
          <a:noFill/>
          <a:ln/>
        </p:spPr>
        <p:txBody>
          <a:bodyPr wrap="square" lIns="0" tIns="0" rIns="0" bIns="0" rtlCol="0" anchor="ctr"/>
          <a:lstStyle/>
          <a:p>
            <a:pPr algn="ctr" indent="0" marL="0">
              <a:buNone/>
            </a:pPr>
            <a:r>
              <a:rPr lang="en-US" sz="1150" b="1" dirty="0">
                <a:solidFill>
                  <a:srgbClr val="159F94"/>
                </a:solidFill>
                <a:latin typeface="Noto Sans CJK KR" pitchFamily="34" charset="0"/>
                <a:ea typeface="Noto Sans CJK KR" pitchFamily="34" charset="-122"/>
                <a:cs typeface="Noto Sans CJK KR" pitchFamily="34" charset="-120"/>
              </a:rPr>
              <a:t>4</a:t>
            </a:r>
            <a:endParaRPr lang="en-US" sz="1150" dirty="0"/>
          </a:p>
        </p:txBody>
      </p:sp>
      <p:sp>
        <p:nvSpPr>
          <p:cNvPr id="31" name="Text 29"/>
          <p:cNvSpPr/>
          <p:nvPr/>
        </p:nvSpPr>
        <p:spPr>
          <a:xfrm>
            <a:off x="8869680" y="3913632"/>
            <a:ext cx="2093976" cy="393192"/>
          </a:xfrm>
          <a:prstGeom prst="rect">
            <a:avLst/>
          </a:prstGeom>
          <a:noFill/>
          <a:ln/>
        </p:spPr>
        <p:txBody>
          <a:bodyPr wrap="square" lIns="0" tIns="0" rIns="0" bIns="0" rtlCol="0" anchor="ctr"/>
          <a:lstStyle/>
          <a:p>
            <a:pPr indent="0" marL="0">
              <a:buNone/>
            </a:pPr>
            <a:r>
              <a:rPr lang="en-US" sz="1810" b="1" dirty="0">
                <a:solidFill>
                  <a:srgbClr val="16263C"/>
                </a:solidFill>
                <a:latin typeface="Noto Sans CJK KR" pitchFamily="34" charset="0"/>
                <a:ea typeface="Noto Sans CJK KR" pitchFamily="34" charset="-122"/>
                <a:cs typeface="Noto Sans CJK KR" pitchFamily="34" charset="-120"/>
              </a:rPr>
              <a:t>월 한도</a:t>
            </a:r>
            <a:endParaRPr lang="en-US" sz="1810" dirty="0"/>
          </a:p>
        </p:txBody>
      </p:sp>
      <p:sp>
        <p:nvSpPr>
          <p:cNvPr id="32" name="Text 30"/>
          <p:cNvSpPr/>
          <p:nvPr/>
        </p:nvSpPr>
        <p:spPr>
          <a:xfrm>
            <a:off x="8293608" y="4526280"/>
            <a:ext cx="2734056" cy="283464"/>
          </a:xfrm>
          <a:prstGeom prst="rect">
            <a:avLst/>
          </a:prstGeom>
          <a:noFill/>
          <a:ln/>
        </p:spPr>
        <p:txBody>
          <a:bodyPr wrap="square" lIns="0" tIns="0" rIns="0" bIns="0" rtlCol="0" anchor="ctr"/>
          <a:lstStyle/>
          <a:p>
            <a:pPr indent="0" marL="0">
              <a:buNone/>
            </a:pPr>
            <a:r>
              <a:rPr lang="en-US" sz="1230" dirty="0">
                <a:solidFill>
                  <a:srgbClr val="62758A"/>
                </a:solidFill>
                <a:latin typeface="Noto Sans CJK KR" pitchFamily="34" charset="0"/>
                <a:ea typeface="Noto Sans CJK KR" pitchFamily="34" charset="-122"/>
                <a:cs typeface="Noto Sans CJK KR" pitchFamily="34" charset="-120"/>
              </a:rPr>
              <a:t>할인금액 제한 · 적용 범위</a:t>
            </a:r>
            <a:endParaRPr lang="en-US" sz="1230" dirty="0"/>
          </a:p>
        </p:txBody>
      </p:sp>
      <p:sp>
        <p:nvSpPr>
          <p:cNvPr id="33" name="Shape 31"/>
          <p:cNvSpPr/>
          <p:nvPr/>
        </p:nvSpPr>
        <p:spPr>
          <a:xfrm>
            <a:off x="4846320" y="5431536"/>
            <a:ext cx="6556248" cy="530352"/>
          </a:xfrm>
          <a:prstGeom prst="roundRect">
            <a:avLst>
              <a:gd name="adj" fmla="val 29310"/>
            </a:avLst>
          </a:prstGeom>
          <a:solidFill>
            <a:srgbClr val="E8F7F2"/>
          </a:solidFill>
          <a:ln w="12700">
            <a:solidFill>
              <a:srgbClr val="E8F7F2">
                <a:alpha val="0"/>
              </a:srgbClr>
            </a:solidFill>
            <a:prstDash val="solid"/>
          </a:ln>
        </p:spPr>
      </p:sp>
      <p:sp>
        <p:nvSpPr>
          <p:cNvPr id="34" name="Text 32"/>
          <p:cNvSpPr/>
          <p:nvPr/>
        </p:nvSpPr>
        <p:spPr>
          <a:xfrm>
            <a:off x="5020056" y="5522976"/>
            <a:ext cx="6208776" cy="347472"/>
          </a:xfrm>
          <a:prstGeom prst="rect">
            <a:avLst/>
          </a:prstGeom>
          <a:noFill/>
          <a:ln/>
        </p:spPr>
        <p:txBody>
          <a:bodyPr wrap="square" lIns="0" tIns="0" rIns="0" bIns="0" rtlCol="0" anchor="ctr"/>
          <a:lstStyle/>
          <a:p>
            <a:pPr algn="ctr" indent="0" marL="0">
              <a:buNone/>
            </a:pPr>
            <a:r>
              <a:rPr lang="en-US" sz="1450" b="1" dirty="0">
                <a:solidFill>
                  <a:srgbClr val="101E32"/>
                </a:solidFill>
                <a:latin typeface="Noto Sans CJK KR" pitchFamily="34" charset="0"/>
                <a:ea typeface="Noto Sans CJK KR" pitchFamily="34" charset="-122"/>
                <a:cs typeface="Noto Sans CJK KR" pitchFamily="34" charset="-120"/>
              </a:rPr>
              <a:t>가상 거래로 적용 여부와 조건 변경 전후를 비교</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DAE5EB"/>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62758A"/>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62758A"/>
                </a:solidFill>
                <a:latin typeface="Noto Sans CJK KR" pitchFamily="34" charset="0"/>
                <a:ea typeface="Noto Sans CJK KR" pitchFamily="34" charset="-122"/>
                <a:cs typeface="Noto Sans CJK KR" pitchFamily="34" charset="-120"/>
              </a:rPr>
              <a:t>06 / 10</a:t>
            </a:r>
            <a:endParaRPr lang="en-US" sz="1050" dirty="0"/>
          </a:p>
        </p:txBody>
      </p:sp>
      <p:sp>
        <p:nvSpPr>
          <p:cNvPr id="5" name="Text 3"/>
          <p:cNvSpPr/>
          <p:nvPr/>
        </p:nvSpPr>
        <p:spPr>
          <a:xfrm>
            <a:off x="704088" y="438912"/>
            <a:ext cx="10789920" cy="237744"/>
          </a:xfrm>
          <a:prstGeom prst="rect">
            <a:avLst/>
          </a:prstGeom>
          <a:noFill/>
          <a:ln/>
        </p:spPr>
        <p:txBody>
          <a:bodyPr wrap="square" lIns="0" tIns="0" rIns="0" bIns="0" rtlCol="0" anchor="ctr"/>
          <a:lstStyle/>
          <a:p>
            <a:pPr indent="0" marL="0">
              <a:buNone/>
            </a:pPr>
            <a:r>
              <a:rPr lang="en-US" sz="1050" b="1" spc="150" kern="0" dirty="0">
                <a:solidFill>
                  <a:srgbClr val="159F94"/>
                </a:solidFill>
                <a:latin typeface="Noto Sans CJK KR" pitchFamily="34" charset="0"/>
                <a:ea typeface="Noto Sans CJK KR" pitchFamily="34" charset="-122"/>
                <a:cs typeface="Noto Sans CJK KR" pitchFamily="34" charset="-120"/>
              </a:rPr>
              <a:t>05  ·  GLOBAL EXAMPLES</a:t>
            </a:r>
            <a:endParaRPr lang="en-US" sz="1050" dirty="0"/>
          </a:p>
        </p:txBody>
      </p:sp>
      <p:sp>
        <p:nvSpPr>
          <p:cNvPr id="6" name="Text 4"/>
          <p:cNvSpPr/>
          <p:nvPr/>
        </p:nvSpPr>
        <p:spPr>
          <a:xfrm>
            <a:off x="704088" y="841248"/>
            <a:ext cx="10872216" cy="694944"/>
          </a:xfrm>
          <a:prstGeom prst="rect">
            <a:avLst/>
          </a:prstGeom>
          <a:noFill/>
          <a:ln/>
        </p:spPr>
        <p:txBody>
          <a:bodyPr wrap="square" lIns="0" tIns="0" rIns="0" bIns="0" rtlCol="0" anchor="ctr"/>
          <a:lstStyle/>
          <a:p>
            <a:pPr indent="0" marL="0">
              <a:buNone/>
            </a:pPr>
            <a:r>
              <a:rPr lang="en-US" sz="2700" b="1" dirty="0">
                <a:solidFill>
                  <a:srgbClr val="101E32"/>
                </a:solidFill>
                <a:latin typeface="Noto Sans CJK KR" pitchFamily="34" charset="0"/>
                <a:ea typeface="Noto Sans CJK KR" pitchFamily="34" charset="-122"/>
                <a:cs typeface="Noto Sans CJK KR" pitchFamily="34" charset="-120"/>
              </a:rPr>
              <a:t>해외에서도 AI 접점과 혜택 활용 기반을 함께 확장합니다</a:t>
            </a:r>
            <a:endParaRPr lang="en-US" sz="2700" dirty="0"/>
          </a:p>
        </p:txBody>
      </p:sp>
      <p:sp>
        <p:nvSpPr>
          <p:cNvPr id="7" name="Text 5"/>
          <p:cNvSpPr/>
          <p:nvPr/>
        </p:nvSpPr>
        <p:spPr>
          <a:xfrm>
            <a:off x="722376" y="1581912"/>
            <a:ext cx="10789920" cy="365760"/>
          </a:xfrm>
          <a:prstGeom prst="rect">
            <a:avLst/>
          </a:prstGeom>
          <a:noFill/>
          <a:ln/>
        </p:spPr>
        <p:txBody>
          <a:bodyPr wrap="square" lIns="0" tIns="0" rIns="0" bIns="0" rtlCol="0" anchor="ctr"/>
          <a:lstStyle/>
          <a:p>
            <a:pPr indent="0" marL="0">
              <a:buNone/>
            </a:pPr>
            <a:r>
              <a:rPr lang="en-US" sz="1330" dirty="0">
                <a:solidFill>
                  <a:srgbClr val="62758A"/>
                </a:solidFill>
                <a:latin typeface="Noto Sans CJK KR" pitchFamily="34" charset="0"/>
                <a:ea typeface="Noto Sans CJK KR" pitchFamily="34" charset="-122"/>
                <a:cs typeface="Noto Sans CJK KR" pitchFamily="34" charset="-120"/>
              </a:rPr>
              <a:t>하나의 정답은 자체 개발만이 아닙니다. 외부 솔루션 도입 방식도 있습니다.</a:t>
            </a:r>
            <a:endParaRPr lang="en-US" sz="1330" dirty="0"/>
          </a:p>
        </p:txBody>
      </p:sp>
      <p:sp>
        <p:nvSpPr>
          <p:cNvPr id="8" name="Shape 6"/>
          <p:cNvSpPr/>
          <p:nvPr/>
        </p:nvSpPr>
        <p:spPr>
          <a:xfrm>
            <a:off x="749808" y="2203704"/>
            <a:ext cx="5221224" cy="3355848"/>
          </a:xfrm>
          <a:prstGeom prst="roundRect">
            <a:avLst>
              <a:gd name="adj" fmla="val 4632"/>
            </a:avLst>
          </a:prstGeom>
          <a:solidFill>
            <a:srgbClr val="FFFFFF"/>
          </a:solidFill>
          <a:ln w="12700">
            <a:solidFill>
              <a:srgbClr val="FFFFFF">
                <a:alpha val="0"/>
              </a:srgbClr>
            </a:solidFill>
            <a:prstDash val="solid"/>
          </a:ln>
        </p:spPr>
      </p:sp>
      <p:sp>
        <p:nvSpPr>
          <p:cNvPr id="9" name="Shape 7"/>
          <p:cNvSpPr/>
          <p:nvPr/>
        </p:nvSpPr>
        <p:spPr>
          <a:xfrm>
            <a:off x="1024128" y="2450592"/>
            <a:ext cx="2057400" cy="347472"/>
          </a:xfrm>
          <a:prstGeom prst="roundRect">
            <a:avLst>
              <a:gd name="adj" fmla="val 44737"/>
            </a:avLst>
          </a:prstGeom>
          <a:solidFill>
            <a:srgbClr val="EAF1FF"/>
          </a:solidFill>
          <a:ln w="12700">
            <a:solidFill>
              <a:srgbClr val="EAF1FF">
                <a:alpha val="0"/>
              </a:srgbClr>
            </a:solidFill>
            <a:prstDash val="solid"/>
          </a:ln>
        </p:spPr>
      </p:sp>
      <p:sp>
        <p:nvSpPr>
          <p:cNvPr id="10" name="Text 8"/>
          <p:cNvSpPr/>
          <p:nvPr/>
        </p:nvSpPr>
        <p:spPr>
          <a:xfrm>
            <a:off x="1106424" y="2459736"/>
            <a:ext cx="1892808"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AMERICAN EXPRESS</a:t>
            </a:r>
            <a:endParaRPr lang="en-US" sz="1150" dirty="0"/>
          </a:p>
        </p:txBody>
      </p:sp>
      <p:sp>
        <p:nvSpPr>
          <p:cNvPr id="11" name="Text 9"/>
          <p:cNvSpPr/>
          <p:nvPr/>
        </p:nvSpPr>
        <p:spPr>
          <a:xfrm>
            <a:off x="1024128" y="2971800"/>
            <a:ext cx="4608576" cy="466344"/>
          </a:xfrm>
          <a:prstGeom prst="rect">
            <a:avLst/>
          </a:prstGeom>
          <a:noFill/>
          <a:ln/>
        </p:spPr>
        <p:txBody>
          <a:bodyPr wrap="square" lIns="0" tIns="0" rIns="0" bIns="0" rtlCol="0" anchor="ctr"/>
          <a:lstStyle/>
          <a:p>
            <a:pPr indent="0" marL="0">
              <a:buNone/>
            </a:pPr>
            <a:r>
              <a:rPr lang="en-US" sz="2110" b="1" dirty="0">
                <a:solidFill>
                  <a:srgbClr val="16263C"/>
                </a:solidFill>
                <a:latin typeface="Noto Sans CJK KR" pitchFamily="34" charset="0"/>
                <a:ea typeface="Noto Sans CJK KR" pitchFamily="34" charset="-122"/>
                <a:cs typeface="Noto Sans CJK KR" pitchFamily="34" charset="-120"/>
              </a:rPr>
              <a:t>외부 AI 플랫폼 연동</a:t>
            </a:r>
            <a:endParaRPr lang="en-US" sz="2110" dirty="0"/>
          </a:p>
        </p:txBody>
      </p:sp>
      <p:sp>
        <p:nvSpPr>
          <p:cNvPr id="12" name="Text 10"/>
          <p:cNvSpPr/>
          <p:nvPr/>
        </p:nvSpPr>
        <p:spPr>
          <a:xfrm>
            <a:off x="1042416" y="3520440"/>
            <a:ext cx="365760" cy="365760"/>
          </a:xfrm>
          <a:prstGeom prst="rect">
            <a:avLst/>
          </a:prstGeom>
          <a:noFill/>
          <a:ln/>
        </p:spPr>
        <p:txBody>
          <a:bodyPr wrap="square" lIns="0" tIns="0" rIns="0" bIns="0" rtlCol="0" anchor="ctr"/>
          <a:lstStyle/>
          <a:p>
            <a:pPr indent="0" marL="0">
              <a:buNone/>
            </a:pPr>
            <a:r>
              <a:rPr lang="en-US" sz="2400" b="1" dirty="0">
                <a:solidFill>
                  <a:srgbClr val="159F94"/>
                </a:solidFill>
                <a:latin typeface="Noto Sans CJK KR" pitchFamily="34" charset="0"/>
                <a:ea typeface="Noto Sans CJK KR" pitchFamily="34" charset="-122"/>
                <a:cs typeface="Noto Sans CJK KR" pitchFamily="34" charset="-120"/>
              </a:rPr>
              <a:t>+</a:t>
            </a:r>
            <a:endParaRPr lang="en-US" sz="2400" dirty="0"/>
          </a:p>
        </p:txBody>
      </p:sp>
      <p:sp>
        <p:nvSpPr>
          <p:cNvPr id="13" name="Text 11"/>
          <p:cNvSpPr/>
          <p:nvPr/>
        </p:nvSpPr>
        <p:spPr>
          <a:xfrm>
            <a:off x="1508760" y="3520440"/>
            <a:ext cx="4059936" cy="384048"/>
          </a:xfrm>
          <a:prstGeom prst="rect">
            <a:avLst/>
          </a:prstGeom>
          <a:noFill/>
          <a:ln/>
        </p:spPr>
        <p:txBody>
          <a:bodyPr wrap="square" lIns="0" tIns="0" rIns="0" bIns="0" rtlCol="0" anchor="ctr"/>
          <a:lstStyle/>
          <a:p>
            <a:pPr indent="0" marL="0">
              <a:buNone/>
            </a:pPr>
            <a:r>
              <a:rPr lang="en-US" sz="1740" b="1" dirty="0">
                <a:solidFill>
                  <a:srgbClr val="16263C"/>
                </a:solidFill>
                <a:latin typeface="Noto Sans CJK KR" pitchFamily="34" charset="0"/>
                <a:ea typeface="Noto Sans CJK KR" pitchFamily="34" charset="-122"/>
                <a:cs typeface="Noto Sans CJK KR" pitchFamily="34" charset="-120"/>
              </a:rPr>
              <a:t>자사 플랫폼 AI 서비스 개발</a:t>
            </a:r>
            <a:endParaRPr lang="en-US" sz="1740" dirty="0"/>
          </a:p>
        </p:txBody>
      </p:sp>
      <p:sp>
        <p:nvSpPr>
          <p:cNvPr id="14" name="Text 12"/>
          <p:cNvSpPr/>
          <p:nvPr/>
        </p:nvSpPr>
        <p:spPr>
          <a:xfrm>
            <a:off x="1033272" y="4471416"/>
            <a:ext cx="4581144" cy="713232"/>
          </a:xfrm>
          <a:prstGeom prst="rect">
            <a:avLst/>
          </a:prstGeom>
          <a:noFill/>
          <a:ln/>
        </p:spPr>
        <p:txBody>
          <a:bodyPr wrap="square" lIns="0" tIns="0" rIns="0" bIns="0" rtlCol="0" anchor="ctr"/>
          <a:lstStyle/>
          <a:p>
            <a:pPr indent="0" marL="0">
              <a:buNone/>
            </a:pPr>
            <a:r>
              <a:rPr lang="en-US" sz="1410" dirty="0">
                <a:solidFill>
                  <a:srgbClr val="62758A"/>
                </a:solidFill>
                <a:latin typeface="Noto Sans CJK KR" pitchFamily="34" charset="0"/>
                <a:ea typeface="Noto Sans CJK KR" pitchFamily="34" charset="-122"/>
                <a:cs typeface="Noto Sans CJK KR" pitchFamily="34" charset="-120"/>
              </a:rPr>
              <a:t>혜택과 서비스를 외부 채널에서도 접하고</a:t>
            </a:r>
            <a:endParaRPr lang="en-US" sz="1410" dirty="0"/>
          </a:p>
          <a:p>
            <a:pPr indent="0" marL="0">
              <a:buNone/>
            </a:pPr>
            <a:r>
              <a:rPr lang="en-US" sz="1410" dirty="0">
                <a:solidFill>
                  <a:srgbClr val="62758A"/>
                </a:solidFill>
                <a:latin typeface="Noto Sans CJK KR" pitchFamily="34" charset="0"/>
                <a:ea typeface="Noto Sans CJK KR" pitchFamily="34" charset="-122"/>
                <a:cs typeface="Noto Sans CJK KR" pitchFamily="34" charset="-120"/>
              </a:rPr>
              <a:t>자사 앱에서도 활용하도록 추진</a:t>
            </a:r>
            <a:endParaRPr lang="en-US" sz="1410" dirty="0"/>
          </a:p>
        </p:txBody>
      </p:sp>
      <p:sp>
        <p:nvSpPr>
          <p:cNvPr id="15" name="Shape 13"/>
          <p:cNvSpPr/>
          <p:nvPr/>
        </p:nvSpPr>
        <p:spPr>
          <a:xfrm>
            <a:off x="6190488" y="2203704"/>
            <a:ext cx="5239512" cy="3355848"/>
          </a:xfrm>
          <a:prstGeom prst="roundRect">
            <a:avLst>
              <a:gd name="adj" fmla="val 4632"/>
            </a:avLst>
          </a:prstGeom>
          <a:solidFill>
            <a:srgbClr val="FFFFFF"/>
          </a:solidFill>
          <a:ln w="12700">
            <a:solidFill>
              <a:srgbClr val="FFFFFF">
                <a:alpha val="0"/>
              </a:srgbClr>
            </a:solidFill>
            <a:prstDash val="solid"/>
          </a:ln>
        </p:spPr>
      </p:sp>
      <p:sp>
        <p:nvSpPr>
          <p:cNvPr id="16" name="Shape 14"/>
          <p:cNvSpPr/>
          <p:nvPr/>
        </p:nvSpPr>
        <p:spPr>
          <a:xfrm>
            <a:off x="6455664" y="2450592"/>
            <a:ext cx="2185416" cy="347472"/>
          </a:xfrm>
          <a:prstGeom prst="roundRect">
            <a:avLst>
              <a:gd name="adj" fmla="val 44737"/>
            </a:avLst>
          </a:prstGeom>
          <a:solidFill>
            <a:srgbClr val="E8F7F2"/>
          </a:solidFill>
          <a:ln w="12700">
            <a:solidFill>
              <a:srgbClr val="E8F7F2">
                <a:alpha val="0"/>
              </a:srgbClr>
            </a:solidFill>
            <a:prstDash val="solid"/>
          </a:ln>
        </p:spPr>
      </p:sp>
      <p:sp>
        <p:nvSpPr>
          <p:cNvPr id="17" name="Text 15"/>
          <p:cNvSpPr/>
          <p:nvPr/>
        </p:nvSpPr>
        <p:spPr>
          <a:xfrm>
            <a:off x="6537960" y="2459736"/>
            <a:ext cx="2020824" cy="320040"/>
          </a:xfrm>
          <a:prstGeom prst="rect">
            <a:avLst/>
          </a:prstGeom>
          <a:noFill/>
          <a:ln/>
        </p:spPr>
        <p:txBody>
          <a:bodyPr wrap="square" lIns="0" tIns="0" rIns="0" bIns="0" rtlCol="0" anchor="ctr"/>
          <a:lstStyle/>
          <a:p>
            <a:pPr algn="ctr" indent="0" marL="0">
              <a:buNone/>
            </a:pPr>
            <a:r>
              <a:rPr lang="en-US" sz="1150" b="1" dirty="0">
                <a:solidFill>
                  <a:srgbClr val="159F94"/>
                </a:solidFill>
                <a:latin typeface="Noto Sans CJK KR" pitchFamily="34" charset="0"/>
                <a:ea typeface="Noto Sans CJK KR" pitchFamily="34" charset="-122"/>
                <a:cs typeface="Noto Sans CJK KR" pitchFamily="34" charset="-120"/>
              </a:rPr>
              <a:t>MASTERCARD  ·  10.21</a:t>
            </a:r>
            <a:endParaRPr lang="en-US" sz="1150" dirty="0"/>
          </a:p>
        </p:txBody>
      </p:sp>
      <p:sp>
        <p:nvSpPr>
          <p:cNvPr id="18" name="Text 16"/>
          <p:cNvSpPr/>
          <p:nvPr/>
        </p:nvSpPr>
        <p:spPr>
          <a:xfrm>
            <a:off x="6455664" y="2971800"/>
            <a:ext cx="4590288" cy="813816"/>
          </a:xfrm>
          <a:prstGeom prst="rect">
            <a:avLst/>
          </a:prstGeom>
          <a:noFill/>
          <a:ln/>
        </p:spPr>
        <p:txBody>
          <a:bodyPr wrap="square" lIns="0" tIns="0" rIns="0" bIns="0" rtlCol="0" anchor="ctr"/>
          <a:lstStyle/>
          <a:p>
            <a:pPr indent="0" marL="0">
              <a:buNone/>
            </a:pPr>
            <a:r>
              <a:rPr lang="en-US" sz="2060" b="1" dirty="0">
                <a:solidFill>
                  <a:srgbClr val="16263C"/>
                </a:solidFill>
                <a:latin typeface="Noto Sans CJK KR" pitchFamily="34" charset="0"/>
                <a:ea typeface="Noto Sans CJK KR" pitchFamily="34" charset="-122"/>
                <a:cs typeface="Noto Sans CJK KR" pitchFamily="34" charset="-120"/>
              </a:rPr>
              <a:t>은행용 혜택 AI, Mastercard Max</a:t>
            </a:r>
            <a:endParaRPr lang="en-US" sz="2060" dirty="0"/>
          </a:p>
        </p:txBody>
      </p:sp>
      <p:sp>
        <p:nvSpPr>
          <p:cNvPr id="19" name="Text 17"/>
          <p:cNvSpPr/>
          <p:nvPr/>
        </p:nvSpPr>
        <p:spPr>
          <a:xfrm>
            <a:off x="6455664" y="3867912"/>
            <a:ext cx="4626864" cy="402336"/>
          </a:xfrm>
          <a:prstGeom prst="rect">
            <a:avLst/>
          </a:prstGeom>
          <a:noFill/>
          <a:ln/>
        </p:spPr>
        <p:txBody>
          <a:bodyPr wrap="square" lIns="0" tIns="0" rIns="0" bIns="0" rtlCol="0" anchor="ctr"/>
          <a:lstStyle/>
          <a:p>
            <a:pPr indent="0" marL="0">
              <a:buNone/>
            </a:pPr>
            <a:r>
              <a:rPr lang="en-US" sz="1530" b="1" dirty="0">
                <a:solidFill>
                  <a:srgbClr val="16263C"/>
                </a:solidFill>
                <a:latin typeface="Noto Sans CJK KR" pitchFamily="34" charset="0"/>
                <a:ea typeface="Noto Sans CJK KR" pitchFamily="34" charset="-122"/>
                <a:cs typeface="Noto Sans CJK KR" pitchFamily="34" charset="-120"/>
              </a:rPr>
              <a:t>발급사 앱에 연동 가능한 전문 서비스</a:t>
            </a:r>
            <a:endParaRPr lang="en-US" sz="1530" dirty="0"/>
          </a:p>
        </p:txBody>
      </p:sp>
      <p:sp>
        <p:nvSpPr>
          <p:cNvPr id="20" name="Text 18"/>
          <p:cNvSpPr/>
          <p:nvPr/>
        </p:nvSpPr>
        <p:spPr>
          <a:xfrm>
            <a:off x="6455664" y="4471416"/>
            <a:ext cx="4608576" cy="704088"/>
          </a:xfrm>
          <a:prstGeom prst="rect">
            <a:avLst/>
          </a:prstGeom>
          <a:noFill/>
          <a:ln/>
        </p:spPr>
        <p:txBody>
          <a:bodyPr wrap="square" lIns="0" tIns="0" rIns="0" bIns="0" rtlCol="0" anchor="ctr"/>
          <a:lstStyle/>
          <a:p>
            <a:pPr indent="0" marL="0">
              <a:buNone/>
            </a:pPr>
            <a:r>
              <a:rPr lang="en-US" sz="1400" dirty="0">
                <a:solidFill>
                  <a:srgbClr val="62758A"/>
                </a:solidFill>
                <a:latin typeface="Noto Sans CJK KR" pitchFamily="34" charset="0"/>
                <a:ea typeface="Noto Sans CJK KR" pitchFamily="34" charset="-122"/>
                <a:cs typeface="Noto Sans CJK KR" pitchFamily="34" charset="-120"/>
              </a:rPr>
              <a:t>Mastercard와 발급사가 혜택 콘텐츠 공급</a:t>
            </a:r>
            <a:endParaRPr lang="en-US" sz="1400" dirty="0"/>
          </a:p>
          <a:p>
            <a:pPr indent="0" marL="0">
              <a:buNone/>
            </a:pPr>
            <a:r>
              <a:rPr lang="en-US" sz="1400" dirty="0">
                <a:solidFill>
                  <a:srgbClr val="62758A"/>
                </a:solidFill>
                <a:latin typeface="Noto Sans CJK KR" pitchFamily="34" charset="0"/>
                <a:ea typeface="Noto Sans CJK KR" pitchFamily="34" charset="-122"/>
                <a:cs typeface="Noto Sans CJK KR" pitchFamily="34" charset="-120"/>
              </a:rPr>
              <a:t>C6 Bank 등 금융기관 도입 추진</a:t>
            </a:r>
            <a:endParaRPr lang="en-US" sz="1400" dirty="0"/>
          </a:p>
        </p:txBody>
      </p:sp>
      <p:sp>
        <p:nvSpPr>
          <p:cNvPr id="21" name="Shape 19"/>
          <p:cNvSpPr/>
          <p:nvPr/>
        </p:nvSpPr>
        <p:spPr>
          <a:xfrm>
            <a:off x="1088136" y="5843016"/>
            <a:ext cx="9966960" cy="374904"/>
          </a:xfrm>
          <a:prstGeom prst="roundRect">
            <a:avLst>
              <a:gd name="adj" fmla="val 41463"/>
            </a:avLst>
          </a:prstGeom>
          <a:solidFill>
            <a:srgbClr val="D7EDE8"/>
          </a:solidFill>
          <a:ln w="12700">
            <a:solidFill>
              <a:srgbClr val="D7EDE8">
                <a:alpha val="0"/>
              </a:srgbClr>
            </a:solidFill>
            <a:prstDash val="solid"/>
          </a:ln>
        </p:spPr>
      </p:sp>
      <p:sp>
        <p:nvSpPr>
          <p:cNvPr id="22" name="Text 20"/>
          <p:cNvSpPr/>
          <p:nvPr/>
        </p:nvSpPr>
        <p:spPr>
          <a:xfrm>
            <a:off x="1234440" y="5879592"/>
            <a:ext cx="9674352" cy="256032"/>
          </a:xfrm>
          <a:prstGeom prst="rect">
            <a:avLst/>
          </a:prstGeom>
          <a:noFill/>
          <a:ln/>
        </p:spPr>
        <p:txBody>
          <a:bodyPr wrap="square" lIns="0" tIns="0" rIns="0" bIns="0" rtlCol="0" anchor="ctr"/>
          <a:lstStyle/>
          <a:p>
            <a:pPr algn="ctr" indent="0" marL="0">
              <a:buNone/>
            </a:pPr>
            <a:r>
              <a:rPr lang="en-US" sz="1220" b="1" dirty="0">
                <a:solidFill>
                  <a:srgbClr val="16263C"/>
                </a:solidFill>
                <a:latin typeface="Noto Sans CJK KR" pitchFamily="34" charset="0"/>
                <a:ea typeface="Noto Sans CJK KR" pitchFamily="34" charset="-122"/>
                <a:cs typeface="Noto Sans CJK KR" pitchFamily="34" charset="-120"/>
              </a:rPr>
              <a:t>시사점: 개발 방식은 달라도 혜택 데이터와 판단 기준의 관리가 핵심 과제로 남는다</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DAE5EB"/>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62758A"/>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62758A"/>
                </a:solidFill>
                <a:latin typeface="Noto Sans CJK KR" pitchFamily="34" charset="0"/>
                <a:ea typeface="Noto Sans CJK KR" pitchFamily="34" charset="-122"/>
                <a:cs typeface="Noto Sans CJK KR" pitchFamily="34" charset="-120"/>
              </a:rPr>
              <a:t>07 / 10</a:t>
            </a:r>
            <a:endParaRPr lang="en-US" sz="1050" dirty="0"/>
          </a:p>
        </p:txBody>
      </p:sp>
      <p:sp>
        <p:nvSpPr>
          <p:cNvPr id="5" name="Text 3"/>
          <p:cNvSpPr/>
          <p:nvPr/>
        </p:nvSpPr>
        <p:spPr>
          <a:xfrm>
            <a:off x="704088" y="438912"/>
            <a:ext cx="10789920" cy="237744"/>
          </a:xfrm>
          <a:prstGeom prst="rect">
            <a:avLst/>
          </a:prstGeom>
          <a:noFill/>
          <a:ln/>
        </p:spPr>
        <p:txBody>
          <a:bodyPr wrap="square" lIns="0" tIns="0" rIns="0" bIns="0" rtlCol="0" anchor="ctr"/>
          <a:lstStyle/>
          <a:p>
            <a:pPr indent="0" marL="0">
              <a:buNone/>
            </a:pPr>
            <a:r>
              <a:rPr lang="en-US" sz="1050" b="1" spc="150" kern="0" dirty="0">
                <a:solidFill>
                  <a:srgbClr val="159F94"/>
                </a:solidFill>
                <a:latin typeface="Noto Sans CJK KR" pitchFamily="34" charset="0"/>
                <a:ea typeface="Noto Sans CJK KR" pitchFamily="34" charset="-122"/>
                <a:cs typeface="Noto Sans CJK KR" pitchFamily="34" charset="-120"/>
              </a:rPr>
              <a:t>06  ·  FINANCIAL AI PRINCIPLES</a:t>
            </a:r>
            <a:endParaRPr lang="en-US" sz="1050" dirty="0"/>
          </a:p>
        </p:txBody>
      </p:sp>
      <p:sp>
        <p:nvSpPr>
          <p:cNvPr id="6" name="Text 4"/>
          <p:cNvSpPr/>
          <p:nvPr/>
        </p:nvSpPr>
        <p:spPr>
          <a:xfrm>
            <a:off x="704088" y="841248"/>
            <a:ext cx="10872216" cy="694944"/>
          </a:xfrm>
          <a:prstGeom prst="rect">
            <a:avLst/>
          </a:prstGeom>
          <a:noFill/>
          <a:ln/>
        </p:spPr>
        <p:txBody>
          <a:bodyPr wrap="square" lIns="0" tIns="0" rIns="0" bIns="0" rtlCol="0" anchor="ctr"/>
          <a:lstStyle/>
          <a:p>
            <a:pPr indent="0" marL="0">
              <a:buNone/>
            </a:pPr>
            <a:r>
              <a:rPr lang="en-US" sz="2700" b="1" dirty="0">
                <a:solidFill>
                  <a:srgbClr val="101E32"/>
                </a:solidFill>
                <a:latin typeface="Noto Sans CJK KR" pitchFamily="34" charset="0"/>
                <a:ea typeface="Noto Sans CJK KR" pitchFamily="34" charset="-122"/>
                <a:cs typeface="Noto Sans CJK KR" pitchFamily="34" charset="-120"/>
              </a:rPr>
              <a:t>금융 분야에서는 “어떤 기준으로 판단했는가”가 특히 중요합니다</a:t>
            </a:r>
            <a:endParaRPr lang="en-US" sz="2700" dirty="0"/>
          </a:p>
        </p:txBody>
      </p:sp>
      <p:sp>
        <p:nvSpPr>
          <p:cNvPr id="7" name="Text 5"/>
          <p:cNvSpPr/>
          <p:nvPr/>
        </p:nvSpPr>
        <p:spPr>
          <a:xfrm>
            <a:off x="722376" y="1581912"/>
            <a:ext cx="10789920" cy="365760"/>
          </a:xfrm>
          <a:prstGeom prst="rect">
            <a:avLst/>
          </a:prstGeom>
          <a:noFill/>
          <a:ln/>
        </p:spPr>
        <p:txBody>
          <a:bodyPr wrap="square" lIns="0" tIns="0" rIns="0" bIns="0" rtlCol="0" anchor="ctr"/>
          <a:lstStyle/>
          <a:p>
            <a:pPr indent="0" marL="0">
              <a:buNone/>
            </a:pPr>
            <a:r>
              <a:rPr lang="en-US" sz="1330" dirty="0">
                <a:solidFill>
                  <a:srgbClr val="62758A"/>
                </a:solidFill>
                <a:latin typeface="Noto Sans CJK KR" pitchFamily="34" charset="0"/>
                <a:ea typeface="Noto Sans CJK KR" pitchFamily="34" charset="-122"/>
                <a:cs typeface="Noto Sans CJK KR" pitchFamily="34" charset="-120"/>
              </a:rPr>
              <a:t>2026.06.22 시행 금융분야 AI 가이드라인의 보조수단성 원칙</a:t>
            </a:r>
            <a:endParaRPr lang="en-US" sz="1330" dirty="0"/>
          </a:p>
        </p:txBody>
      </p:sp>
      <p:sp>
        <p:nvSpPr>
          <p:cNvPr id="8" name="Shape 6"/>
          <p:cNvSpPr/>
          <p:nvPr/>
        </p:nvSpPr>
        <p:spPr>
          <a:xfrm>
            <a:off x="749808" y="2203704"/>
            <a:ext cx="10689336" cy="1243584"/>
          </a:xfrm>
          <a:prstGeom prst="roundRect">
            <a:avLst>
              <a:gd name="adj" fmla="val 12500"/>
            </a:avLst>
          </a:prstGeom>
          <a:solidFill>
            <a:srgbClr val="101E32"/>
          </a:solidFill>
          <a:ln w="12700">
            <a:solidFill>
              <a:srgbClr val="101E32">
                <a:alpha val="0"/>
              </a:srgbClr>
            </a:solidFill>
            <a:prstDash val="solid"/>
          </a:ln>
        </p:spPr>
      </p:sp>
      <p:sp>
        <p:nvSpPr>
          <p:cNvPr id="9" name="Text 7"/>
          <p:cNvSpPr/>
          <p:nvPr/>
        </p:nvSpPr>
        <p:spPr>
          <a:xfrm>
            <a:off x="1106424" y="2542032"/>
            <a:ext cx="4251960" cy="512064"/>
          </a:xfrm>
          <a:prstGeom prst="rect">
            <a:avLst/>
          </a:prstGeom>
          <a:noFill/>
          <a:ln/>
        </p:spPr>
        <p:txBody>
          <a:bodyPr wrap="square" lIns="0" tIns="0" rIns="0" bIns="0" rtlCol="0" anchor="ctr"/>
          <a:lstStyle/>
          <a:p>
            <a:pPr indent="0" marL="0">
              <a:buNone/>
            </a:pPr>
            <a:r>
              <a:rPr lang="en-US" sz="2380" b="1" dirty="0">
                <a:solidFill>
                  <a:srgbClr val="FFFFFF"/>
                </a:solidFill>
                <a:latin typeface="Noto Sans CJK KR" pitchFamily="34" charset="0"/>
                <a:ea typeface="Noto Sans CJK KR" pitchFamily="34" charset="-122"/>
                <a:cs typeface="Noto Sans CJK KR" pitchFamily="34" charset="-120"/>
              </a:rPr>
              <a:t>AI 활용이 확대되어도</a:t>
            </a:r>
            <a:endParaRPr lang="en-US" sz="2380" dirty="0"/>
          </a:p>
        </p:txBody>
      </p:sp>
      <p:sp>
        <p:nvSpPr>
          <p:cNvPr id="10" name="Text 8"/>
          <p:cNvSpPr/>
          <p:nvPr/>
        </p:nvSpPr>
        <p:spPr>
          <a:xfrm>
            <a:off x="5440680" y="2514600"/>
            <a:ext cx="5468112" cy="539496"/>
          </a:xfrm>
          <a:prstGeom prst="rect">
            <a:avLst/>
          </a:prstGeom>
          <a:noFill/>
          <a:ln/>
        </p:spPr>
        <p:txBody>
          <a:bodyPr wrap="square" lIns="0" tIns="0" rIns="0" bIns="0" rtlCol="0" anchor="ctr"/>
          <a:lstStyle/>
          <a:p>
            <a:pPr algn="r" indent="0" marL="0">
              <a:buNone/>
            </a:pPr>
            <a:r>
              <a:rPr lang="en-US" sz="2440" b="1" dirty="0">
                <a:solidFill>
                  <a:srgbClr val="B5EEE2"/>
                </a:solidFill>
                <a:latin typeface="Noto Sans CJK KR" pitchFamily="34" charset="0"/>
                <a:ea typeface="Noto Sans CJK KR" pitchFamily="34" charset="-122"/>
                <a:cs typeface="Noto Sans CJK KR" pitchFamily="34" charset="-120"/>
              </a:rPr>
              <a:t>최종 판단과 책임은 임직원</a:t>
            </a:r>
            <a:endParaRPr lang="en-US" sz="2440" dirty="0"/>
          </a:p>
        </p:txBody>
      </p:sp>
      <p:sp>
        <p:nvSpPr>
          <p:cNvPr id="11" name="Shape 9"/>
          <p:cNvSpPr/>
          <p:nvPr/>
        </p:nvSpPr>
        <p:spPr>
          <a:xfrm>
            <a:off x="749808" y="3840480"/>
            <a:ext cx="3410712" cy="1389888"/>
          </a:xfrm>
          <a:prstGeom prst="roundRect">
            <a:avLst>
              <a:gd name="adj" fmla="val 11184"/>
            </a:avLst>
          </a:prstGeom>
          <a:solidFill>
            <a:srgbClr val="FFFFFF"/>
          </a:solidFill>
          <a:ln w="12700">
            <a:solidFill>
              <a:srgbClr val="FFFFFF">
                <a:alpha val="0"/>
              </a:srgbClr>
            </a:solidFill>
            <a:prstDash val="solid"/>
          </a:ln>
        </p:spPr>
      </p:sp>
      <p:sp>
        <p:nvSpPr>
          <p:cNvPr id="12" name="Shape 10"/>
          <p:cNvSpPr/>
          <p:nvPr/>
        </p:nvSpPr>
        <p:spPr>
          <a:xfrm>
            <a:off x="950976" y="4169664"/>
            <a:ext cx="146304" cy="146304"/>
          </a:xfrm>
          <a:prstGeom prst="ellipse">
            <a:avLst/>
          </a:prstGeom>
          <a:solidFill>
            <a:srgbClr val="159F94"/>
          </a:solidFill>
          <a:ln w="12700">
            <a:solidFill>
              <a:srgbClr val="159F94"/>
            </a:solidFill>
            <a:prstDash val="solid"/>
          </a:ln>
        </p:spPr>
      </p:sp>
      <p:sp>
        <p:nvSpPr>
          <p:cNvPr id="13" name="Text 11"/>
          <p:cNvSpPr/>
          <p:nvPr/>
        </p:nvSpPr>
        <p:spPr>
          <a:xfrm>
            <a:off x="1234440" y="3995928"/>
            <a:ext cx="2670048" cy="384048"/>
          </a:xfrm>
          <a:prstGeom prst="rect">
            <a:avLst/>
          </a:prstGeom>
          <a:noFill/>
          <a:ln/>
        </p:spPr>
        <p:txBody>
          <a:bodyPr wrap="square" lIns="0" tIns="0" rIns="0" bIns="0" rtlCol="0" anchor="ctr"/>
          <a:lstStyle/>
          <a:p>
            <a:pPr indent="0" marL="0">
              <a:buNone/>
            </a:pPr>
            <a:r>
              <a:rPr lang="en-US" sz="1920" b="1" dirty="0">
                <a:solidFill>
                  <a:srgbClr val="16263C"/>
                </a:solidFill>
                <a:latin typeface="Noto Sans CJK KR" pitchFamily="34" charset="0"/>
                <a:ea typeface="Noto Sans CJK KR" pitchFamily="34" charset="-122"/>
                <a:cs typeface="Noto Sans CJK KR" pitchFamily="34" charset="-120"/>
              </a:rPr>
              <a:t>조건 원본</a:t>
            </a:r>
            <a:endParaRPr lang="en-US" sz="1920" dirty="0"/>
          </a:p>
        </p:txBody>
      </p:sp>
      <p:sp>
        <p:nvSpPr>
          <p:cNvPr id="14" name="Text 12"/>
          <p:cNvSpPr/>
          <p:nvPr/>
        </p:nvSpPr>
        <p:spPr>
          <a:xfrm>
            <a:off x="1024128" y="4599432"/>
            <a:ext cx="2843784" cy="320040"/>
          </a:xfrm>
          <a:prstGeom prst="rect">
            <a:avLst/>
          </a:prstGeom>
          <a:noFill/>
          <a:ln/>
        </p:spPr>
        <p:txBody>
          <a:bodyPr wrap="square" lIns="0" tIns="0" rIns="0" bIns="0" rtlCol="0" anchor="ctr"/>
          <a:lstStyle/>
          <a:p>
            <a:pPr indent="0" marL="0">
              <a:buNone/>
            </a:pPr>
            <a:r>
              <a:rPr lang="en-US" sz="1210" dirty="0">
                <a:solidFill>
                  <a:srgbClr val="62758A"/>
                </a:solidFill>
                <a:latin typeface="Noto Sans CJK KR" pitchFamily="34" charset="0"/>
                <a:ea typeface="Noto Sans CJK KR" pitchFamily="34" charset="-122"/>
                <a:cs typeface="Noto Sans CJK KR" pitchFamily="34" charset="-120"/>
              </a:rPr>
              <a:t>어떤 약관·정책을 사용했는가</a:t>
            </a:r>
            <a:endParaRPr lang="en-US" sz="1210" dirty="0"/>
          </a:p>
        </p:txBody>
      </p:sp>
      <p:sp>
        <p:nvSpPr>
          <p:cNvPr id="15" name="Shape 13"/>
          <p:cNvSpPr/>
          <p:nvPr/>
        </p:nvSpPr>
        <p:spPr>
          <a:xfrm>
            <a:off x="4407408" y="3840480"/>
            <a:ext cx="3410712" cy="1389888"/>
          </a:xfrm>
          <a:prstGeom prst="roundRect">
            <a:avLst>
              <a:gd name="adj" fmla="val 11184"/>
            </a:avLst>
          </a:prstGeom>
          <a:solidFill>
            <a:srgbClr val="FFFFFF"/>
          </a:solidFill>
          <a:ln w="12700">
            <a:solidFill>
              <a:srgbClr val="FFFFFF">
                <a:alpha val="0"/>
              </a:srgbClr>
            </a:solidFill>
            <a:prstDash val="solid"/>
          </a:ln>
        </p:spPr>
      </p:sp>
      <p:sp>
        <p:nvSpPr>
          <p:cNvPr id="16" name="Shape 14"/>
          <p:cNvSpPr/>
          <p:nvPr/>
        </p:nvSpPr>
        <p:spPr>
          <a:xfrm>
            <a:off x="4608576" y="4169664"/>
            <a:ext cx="146304" cy="146304"/>
          </a:xfrm>
          <a:prstGeom prst="ellipse">
            <a:avLst/>
          </a:prstGeom>
          <a:solidFill>
            <a:srgbClr val="159F94"/>
          </a:solidFill>
          <a:ln w="12700">
            <a:solidFill>
              <a:srgbClr val="159F94"/>
            </a:solidFill>
            <a:prstDash val="solid"/>
          </a:ln>
        </p:spPr>
      </p:sp>
      <p:sp>
        <p:nvSpPr>
          <p:cNvPr id="17" name="Text 15"/>
          <p:cNvSpPr/>
          <p:nvPr/>
        </p:nvSpPr>
        <p:spPr>
          <a:xfrm>
            <a:off x="4892040" y="3995928"/>
            <a:ext cx="2670048" cy="384048"/>
          </a:xfrm>
          <a:prstGeom prst="rect">
            <a:avLst/>
          </a:prstGeom>
          <a:noFill/>
          <a:ln/>
        </p:spPr>
        <p:txBody>
          <a:bodyPr wrap="square" lIns="0" tIns="0" rIns="0" bIns="0" rtlCol="0" anchor="ctr"/>
          <a:lstStyle/>
          <a:p>
            <a:pPr indent="0" marL="0">
              <a:buNone/>
            </a:pPr>
            <a:r>
              <a:rPr lang="en-US" sz="1920" b="1" dirty="0">
                <a:solidFill>
                  <a:srgbClr val="16263C"/>
                </a:solidFill>
                <a:latin typeface="Noto Sans CJK KR" pitchFamily="34" charset="0"/>
                <a:ea typeface="Noto Sans CJK KR" pitchFamily="34" charset="-122"/>
                <a:cs typeface="Noto Sans CJK KR" pitchFamily="34" charset="-120"/>
              </a:rPr>
              <a:t>판단 경로</a:t>
            </a:r>
            <a:endParaRPr lang="en-US" sz="1920" dirty="0"/>
          </a:p>
        </p:txBody>
      </p:sp>
      <p:sp>
        <p:nvSpPr>
          <p:cNvPr id="18" name="Text 16"/>
          <p:cNvSpPr/>
          <p:nvPr/>
        </p:nvSpPr>
        <p:spPr>
          <a:xfrm>
            <a:off x="4681728" y="4599432"/>
            <a:ext cx="2843784" cy="320040"/>
          </a:xfrm>
          <a:prstGeom prst="rect">
            <a:avLst/>
          </a:prstGeom>
          <a:noFill/>
          <a:ln/>
        </p:spPr>
        <p:txBody>
          <a:bodyPr wrap="square" lIns="0" tIns="0" rIns="0" bIns="0" rtlCol="0" anchor="ctr"/>
          <a:lstStyle/>
          <a:p>
            <a:pPr indent="0" marL="0">
              <a:buNone/>
            </a:pPr>
            <a:r>
              <a:rPr lang="en-US" sz="1210" dirty="0">
                <a:solidFill>
                  <a:srgbClr val="62758A"/>
                </a:solidFill>
                <a:latin typeface="Noto Sans CJK KR" pitchFamily="34" charset="0"/>
                <a:ea typeface="Noto Sans CJK KR" pitchFamily="34" charset="-122"/>
                <a:cs typeface="Noto Sans CJK KR" pitchFamily="34" charset="-120"/>
              </a:rPr>
              <a:t>어떤 조건을 거쳐 결론을 냈는가</a:t>
            </a:r>
            <a:endParaRPr lang="en-US" sz="1210" dirty="0"/>
          </a:p>
        </p:txBody>
      </p:sp>
      <p:sp>
        <p:nvSpPr>
          <p:cNvPr id="19" name="Shape 17"/>
          <p:cNvSpPr/>
          <p:nvPr/>
        </p:nvSpPr>
        <p:spPr>
          <a:xfrm>
            <a:off x="8065008" y="3840480"/>
            <a:ext cx="3410712" cy="1389888"/>
          </a:xfrm>
          <a:prstGeom prst="roundRect">
            <a:avLst>
              <a:gd name="adj" fmla="val 11184"/>
            </a:avLst>
          </a:prstGeom>
          <a:solidFill>
            <a:srgbClr val="FFFFFF"/>
          </a:solidFill>
          <a:ln w="12700">
            <a:solidFill>
              <a:srgbClr val="FFFFFF">
                <a:alpha val="0"/>
              </a:srgbClr>
            </a:solidFill>
            <a:prstDash val="solid"/>
          </a:ln>
        </p:spPr>
      </p:sp>
      <p:sp>
        <p:nvSpPr>
          <p:cNvPr id="20" name="Shape 18"/>
          <p:cNvSpPr/>
          <p:nvPr/>
        </p:nvSpPr>
        <p:spPr>
          <a:xfrm>
            <a:off x="8266176" y="4169664"/>
            <a:ext cx="146304" cy="146304"/>
          </a:xfrm>
          <a:prstGeom prst="ellipse">
            <a:avLst/>
          </a:prstGeom>
          <a:solidFill>
            <a:srgbClr val="159F94"/>
          </a:solidFill>
          <a:ln w="12700">
            <a:solidFill>
              <a:srgbClr val="159F94"/>
            </a:solidFill>
            <a:prstDash val="solid"/>
          </a:ln>
        </p:spPr>
      </p:sp>
      <p:sp>
        <p:nvSpPr>
          <p:cNvPr id="21" name="Text 19"/>
          <p:cNvSpPr/>
          <p:nvPr/>
        </p:nvSpPr>
        <p:spPr>
          <a:xfrm>
            <a:off x="8549640" y="3995928"/>
            <a:ext cx="2670048" cy="384048"/>
          </a:xfrm>
          <a:prstGeom prst="rect">
            <a:avLst/>
          </a:prstGeom>
          <a:noFill/>
          <a:ln/>
        </p:spPr>
        <p:txBody>
          <a:bodyPr wrap="square" lIns="0" tIns="0" rIns="0" bIns="0" rtlCol="0" anchor="ctr"/>
          <a:lstStyle/>
          <a:p>
            <a:pPr indent="0" marL="0">
              <a:buNone/>
            </a:pPr>
            <a:r>
              <a:rPr lang="en-US" sz="1920" b="1" dirty="0">
                <a:solidFill>
                  <a:srgbClr val="16263C"/>
                </a:solidFill>
                <a:latin typeface="Noto Sans CJK KR" pitchFamily="34" charset="0"/>
                <a:ea typeface="Noto Sans CJK KR" pitchFamily="34" charset="-122"/>
                <a:cs typeface="Noto Sans CJK KR" pitchFamily="34" charset="-120"/>
              </a:rPr>
              <a:t>변경과 검증</a:t>
            </a:r>
            <a:endParaRPr lang="en-US" sz="1920" dirty="0"/>
          </a:p>
        </p:txBody>
      </p:sp>
      <p:sp>
        <p:nvSpPr>
          <p:cNvPr id="22" name="Text 20"/>
          <p:cNvSpPr/>
          <p:nvPr/>
        </p:nvSpPr>
        <p:spPr>
          <a:xfrm>
            <a:off x="8339328" y="4599432"/>
            <a:ext cx="2843784" cy="320040"/>
          </a:xfrm>
          <a:prstGeom prst="rect">
            <a:avLst/>
          </a:prstGeom>
          <a:noFill/>
          <a:ln/>
        </p:spPr>
        <p:txBody>
          <a:bodyPr wrap="square" lIns="0" tIns="0" rIns="0" bIns="0" rtlCol="0" anchor="ctr"/>
          <a:lstStyle/>
          <a:p>
            <a:pPr indent="0" marL="0">
              <a:buNone/>
            </a:pPr>
            <a:r>
              <a:rPr lang="en-US" sz="1210" dirty="0">
                <a:solidFill>
                  <a:srgbClr val="62758A"/>
                </a:solidFill>
                <a:latin typeface="Noto Sans CJK KR" pitchFamily="34" charset="0"/>
                <a:ea typeface="Noto Sans CJK KR" pitchFamily="34" charset="-122"/>
                <a:cs typeface="Noto Sans CJK KR" pitchFamily="34" charset="-120"/>
              </a:rPr>
              <a:t>언제 바뀌었고 무엇을 검증했는가</a:t>
            </a:r>
            <a:endParaRPr lang="en-US" sz="1210" dirty="0"/>
          </a:p>
        </p:txBody>
      </p:sp>
      <p:sp>
        <p:nvSpPr>
          <p:cNvPr id="23" name="Text 21"/>
          <p:cNvSpPr/>
          <p:nvPr/>
        </p:nvSpPr>
        <p:spPr>
          <a:xfrm>
            <a:off x="832104" y="5907024"/>
            <a:ext cx="10616184" cy="274320"/>
          </a:xfrm>
          <a:prstGeom prst="rect">
            <a:avLst/>
          </a:prstGeom>
          <a:noFill/>
          <a:ln/>
        </p:spPr>
        <p:txBody>
          <a:bodyPr wrap="square" lIns="0" tIns="0" rIns="0" bIns="0" rtlCol="0" anchor="ctr"/>
          <a:lstStyle/>
          <a:p>
            <a:pPr indent="0" marL="0">
              <a:buNone/>
            </a:pPr>
            <a:r>
              <a:rPr lang="en-US" sz="1100" dirty="0">
                <a:solidFill>
                  <a:srgbClr val="62758A"/>
                </a:solidFill>
                <a:latin typeface="Noto Sans CJK KR" pitchFamily="34" charset="0"/>
                <a:ea typeface="Noto Sans CJK KR" pitchFamily="34" charset="-122"/>
                <a:cs typeface="Noto Sans CJK KR" pitchFamily="34" charset="-120"/>
              </a:rPr>
              <a:t>※ 가이드라인의 일반 원칙을 요약한 것입니다. 특정 서비스의 법적 책임 배분을 단정하지 않습니다.</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DAE5EB"/>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62758A"/>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62758A"/>
                </a:solidFill>
                <a:latin typeface="Noto Sans CJK KR" pitchFamily="34" charset="0"/>
                <a:ea typeface="Noto Sans CJK KR" pitchFamily="34" charset="-122"/>
                <a:cs typeface="Noto Sans CJK KR" pitchFamily="34" charset="-120"/>
              </a:rPr>
              <a:t>08 / 10</a:t>
            </a:r>
            <a:endParaRPr lang="en-US" sz="1050" dirty="0"/>
          </a:p>
        </p:txBody>
      </p:sp>
      <p:sp>
        <p:nvSpPr>
          <p:cNvPr id="5" name="Text 3"/>
          <p:cNvSpPr/>
          <p:nvPr/>
        </p:nvSpPr>
        <p:spPr>
          <a:xfrm>
            <a:off x="704088" y="438912"/>
            <a:ext cx="10789920" cy="237744"/>
          </a:xfrm>
          <a:prstGeom prst="rect">
            <a:avLst/>
          </a:prstGeom>
          <a:noFill/>
          <a:ln/>
        </p:spPr>
        <p:txBody>
          <a:bodyPr wrap="square" lIns="0" tIns="0" rIns="0" bIns="0" rtlCol="0" anchor="ctr"/>
          <a:lstStyle/>
          <a:p>
            <a:pPr indent="0" marL="0">
              <a:buNone/>
            </a:pPr>
            <a:r>
              <a:rPr lang="en-US" sz="1050" b="1" spc="150" kern="0" dirty="0">
                <a:solidFill>
                  <a:srgbClr val="159F94"/>
                </a:solidFill>
                <a:latin typeface="Noto Sans CJK KR" pitchFamily="34" charset="0"/>
                <a:ea typeface="Noto Sans CJK KR" pitchFamily="34" charset="-122"/>
                <a:cs typeface="Noto Sans CJK KR" pitchFamily="34" charset="-120"/>
              </a:rPr>
              <a:t>07  ·  PROPOSED FOUNDATION</a:t>
            </a:r>
            <a:endParaRPr lang="en-US" sz="1050" dirty="0"/>
          </a:p>
        </p:txBody>
      </p:sp>
      <p:sp>
        <p:nvSpPr>
          <p:cNvPr id="6" name="Text 4"/>
          <p:cNvSpPr/>
          <p:nvPr/>
        </p:nvSpPr>
        <p:spPr>
          <a:xfrm>
            <a:off x="704088" y="841248"/>
            <a:ext cx="10872216" cy="694944"/>
          </a:xfrm>
          <a:prstGeom prst="rect">
            <a:avLst/>
          </a:prstGeom>
          <a:noFill/>
          <a:ln/>
        </p:spPr>
        <p:txBody>
          <a:bodyPr wrap="square" lIns="0" tIns="0" rIns="0" bIns="0" rtlCol="0" anchor="ctr"/>
          <a:lstStyle/>
          <a:p>
            <a:pPr indent="0" marL="0">
              <a:buNone/>
            </a:pPr>
            <a:r>
              <a:rPr lang="en-US" sz="2700" b="1" dirty="0">
                <a:solidFill>
                  <a:srgbClr val="101E32"/>
                </a:solidFill>
                <a:latin typeface="Noto Sans CJK KR" pitchFamily="34" charset="0"/>
                <a:ea typeface="Noto Sans CJK KR" pitchFamily="34" charset="-122"/>
                <a:cs typeface="Noto Sans CJK KR" pitchFamily="34" charset="-120"/>
              </a:rPr>
              <a:t>공개 약관을 기반으로 조건을 관리하는 작은 판단 엔진부터</a:t>
            </a:r>
            <a:endParaRPr lang="en-US" sz="2700" dirty="0"/>
          </a:p>
        </p:txBody>
      </p:sp>
      <p:sp>
        <p:nvSpPr>
          <p:cNvPr id="7" name="Text 5"/>
          <p:cNvSpPr/>
          <p:nvPr/>
        </p:nvSpPr>
        <p:spPr>
          <a:xfrm>
            <a:off x="722376" y="1581912"/>
            <a:ext cx="10789920" cy="365760"/>
          </a:xfrm>
          <a:prstGeom prst="rect">
            <a:avLst/>
          </a:prstGeom>
          <a:noFill/>
          <a:ln/>
        </p:spPr>
        <p:txBody>
          <a:bodyPr wrap="square" lIns="0" tIns="0" rIns="0" bIns="0" rtlCol="0" anchor="ctr"/>
          <a:lstStyle/>
          <a:p>
            <a:pPr indent="0" marL="0">
              <a:buNone/>
            </a:pPr>
            <a:r>
              <a:rPr lang="en-US" sz="1330" dirty="0">
                <a:solidFill>
                  <a:srgbClr val="62758A"/>
                </a:solidFill>
                <a:latin typeface="Noto Sans CJK KR" pitchFamily="34" charset="0"/>
                <a:ea typeface="Noto Sans CJK KR" pitchFamily="34" charset="-122"/>
                <a:cs typeface="Noto Sans CJK KR" pitchFamily="34" charset="-120"/>
              </a:rPr>
              <a:t>고객 데이터나 내부 규정 없이도 조건 변경과 동일 판정 경로를 검증할 수 있습니다.</a:t>
            </a:r>
            <a:endParaRPr lang="en-US" sz="1330" dirty="0"/>
          </a:p>
        </p:txBody>
      </p:sp>
      <p:sp>
        <p:nvSpPr>
          <p:cNvPr id="8" name="Shape 6"/>
          <p:cNvSpPr/>
          <p:nvPr/>
        </p:nvSpPr>
        <p:spPr>
          <a:xfrm>
            <a:off x="749808" y="2450592"/>
            <a:ext cx="2350008" cy="2048256"/>
          </a:xfrm>
          <a:prstGeom prst="roundRect">
            <a:avLst>
              <a:gd name="adj" fmla="val 7589"/>
            </a:avLst>
          </a:prstGeom>
          <a:solidFill>
            <a:srgbClr val="FFFFFF"/>
          </a:solidFill>
          <a:ln w="12700">
            <a:solidFill>
              <a:srgbClr val="FFFFFF">
                <a:alpha val="0"/>
              </a:srgbClr>
            </a:solidFill>
            <a:prstDash val="solid"/>
          </a:ln>
        </p:spPr>
      </p:sp>
      <p:sp>
        <p:nvSpPr>
          <p:cNvPr id="9" name="Shape 7"/>
          <p:cNvSpPr/>
          <p:nvPr/>
        </p:nvSpPr>
        <p:spPr>
          <a:xfrm>
            <a:off x="950976" y="2715768"/>
            <a:ext cx="548640" cy="347472"/>
          </a:xfrm>
          <a:prstGeom prst="roundRect">
            <a:avLst>
              <a:gd name="adj" fmla="val 44737"/>
            </a:avLst>
          </a:prstGeom>
          <a:solidFill>
            <a:srgbClr val="EAF1FF"/>
          </a:solidFill>
          <a:ln w="12700">
            <a:solidFill>
              <a:srgbClr val="EAF1FF">
                <a:alpha val="0"/>
              </a:srgbClr>
            </a:solidFill>
            <a:prstDash val="solid"/>
          </a:ln>
        </p:spPr>
      </p:sp>
      <p:sp>
        <p:nvSpPr>
          <p:cNvPr id="10" name="Text 8"/>
          <p:cNvSpPr/>
          <p:nvPr/>
        </p:nvSpPr>
        <p:spPr>
          <a:xfrm>
            <a:off x="1033272" y="2724912"/>
            <a:ext cx="384048"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01</a:t>
            </a:r>
            <a:endParaRPr lang="en-US" sz="1150" dirty="0"/>
          </a:p>
        </p:txBody>
      </p:sp>
      <p:sp>
        <p:nvSpPr>
          <p:cNvPr id="11" name="Text 9"/>
          <p:cNvSpPr/>
          <p:nvPr/>
        </p:nvSpPr>
        <p:spPr>
          <a:xfrm>
            <a:off x="923544" y="3227832"/>
            <a:ext cx="1956816" cy="429768"/>
          </a:xfrm>
          <a:prstGeom prst="rect">
            <a:avLst/>
          </a:prstGeom>
          <a:noFill/>
          <a:ln/>
        </p:spPr>
        <p:txBody>
          <a:bodyPr wrap="square" lIns="0" tIns="0" rIns="0" bIns="0" rtlCol="0" anchor="ctr"/>
          <a:lstStyle/>
          <a:p>
            <a:pPr indent="0" marL="0">
              <a:buNone/>
            </a:pPr>
            <a:r>
              <a:rPr lang="en-US" sz="1960" b="1" dirty="0">
                <a:solidFill>
                  <a:srgbClr val="16263C"/>
                </a:solidFill>
                <a:latin typeface="Noto Sans CJK KR" pitchFamily="34" charset="0"/>
                <a:ea typeface="Noto Sans CJK KR" pitchFamily="34" charset="-122"/>
                <a:cs typeface="Noto Sans CJK KR" pitchFamily="34" charset="-120"/>
              </a:rPr>
              <a:t>공개 약관</a:t>
            </a:r>
            <a:endParaRPr lang="en-US" sz="1960" dirty="0"/>
          </a:p>
        </p:txBody>
      </p:sp>
      <p:sp>
        <p:nvSpPr>
          <p:cNvPr id="12" name="Text 10"/>
          <p:cNvSpPr/>
          <p:nvPr/>
        </p:nvSpPr>
        <p:spPr>
          <a:xfrm>
            <a:off x="932688" y="3886200"/>
            <a:ext cx="1965960" cy="310896"/>
          </a:xfrm>
          <a:prstGeom prst="rect">
            <a:avLst/>
          </a:prstGeom>
          <a:noFill/>
          <a:ln/>
        </p:spPr>
        <p:txBody>
          <a:bodyPr wrap="square" lIns="0" tIns="0" rIns="0" bIns="0" rtlCol="0" anchor="ctr"/>
          <a:lstStyle/>
          <a:p>
            <a:pPr indent="0" marL="0">
              <a:buNone/>
            </a:pPr>
            <a:r>
              <a:rPr lang="en-US" sz="1150" dirty="0">
                <a:solidFill>
                  <a:srgbClr val="62758A"/>
                </a:solidFill>
                <a:latin typeface="Noto Sans CJK KR" pitchFamily="34" charset="0"/>
                <a:ea typeface="Noto Sans CJK KR" pitchFamily="34" charset="-122"/>
                <a:cs typeface="Noto Sans CJK KR" pitchFamily="34" charset="-120"/>
              </a:rPr>
              <a:t>상품 정보 · 혜택</a:t>
            </a:r>
            <a:endParaRPr lang="en-US" sz="1150" dirty="0"/>
          </a:p>
        </p:txBody>
      </p:sp>
      <p:sp>
        <p:nvSpPr>
          <p:cNvPr id="13" name="Shape 11"/>
          <p:cNvSpPr/>
          <p:nvPr/>
        </p:nvSpPr>
        <p:spPr>
          <a:xfrm>
            <a:off x="3136392" y="3465576"/>
            <a:ext cx="393192" cy="0"/>
          </a:xfrm>
          <a:prstGeom prst="line">
            <a:avLst/>
          </a:prstGeom>
          <a:noFill/>
          <a:ln w="29210">
            <a:solidFill>
              <a:srgbClr val="159F94"/>
            </a:solidFill>
            <a:prstDash val="solid"/>
            <a:headEnd type="none"/>
            <a:tailEnd type="triangle"/>
          </a:ln>
        </p:spPr>
      </p:sp>
      <p:sp>
        <p:nvSpPr>
          <p:cNvPr id="14" name="Shape 12"/>
          <p:cNvSpPr/>
          <p:nvPr/>
        </p:nvSpPr>
        <p:spPr>
          <a:xfrm>
            <a:off x="3639312" y="2450592"/>
            <a:ext cx="2350008" cy="2048256"/>
          </a:xfrm>
          <a:prstGeom prst="roundRect">
            <a:avLst>
              <a:gd name="adj" fmla="val 7589"/>
            </a:avLst>
          </a:prstGeom>
          <a:solidFill>
            <a:srgbClr val="FFFFFF"/>
          </a:solidFill>
          <a:ln w="12700">
            <a:solidFill>
              <a:srgbClr val="FFFFFF">
                <a:alpha val="0"/>
              </a:srgbClr>
            </a:solidFill>
            <a:prstDash val="solid"/>
          </a:ln>
        </p:spPr>
      </p:sp>
      <p:sp>
        <p:nvSpPr>
          <p:cNvPr id="15" name="Shape 13"/>
          <p:cNvSpPr/>
          <p:nvPr/>
        </p:nvSpPr>
        <p:spPr>
          <a:xfrm>
            <a:off x="3840480" y="2715768"/>
            <a:ext cx="548640" cy="347472"/>
          </a:xfrm>
          <a:prstGeom prst="roundRect">
            <a:avLst>
              <a:gd name="adj" fmla="val 44737"/>
            </a:avLst>
          </a:prstGeom>
          <a:solidFill>
            <a:srgbClr val="EAF1FF"/>
          </a:solidFill>
          <a:ln w="12700">
            <a:solidFill>
              <a:srgbClr val="EAF1FF">
                <a:alpha val="0"/>
              </a:srgbClr>
            </a:solidFill>
            <a:prstDash val="solid"/>
          </a:ln>
        </p:spPr>
      </p:sp>
      <p:sp>
        <p:nvSpPr>
          <p:cNvPr id="16" name="Text 14"/>
          <p:cNvSpPr/>
          <p:nvPr/>
        </p:nvSpPr>
        <p:spPr>
          <a:xfrm>
            <a:off x="3922776" y="2724912"/>
            <a:ext cx="384048"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02</a:t>
            </a:r>
            <a:endParaRPr lang="en-US" sz="1150" dirty="0"/>
          </a:p>
        </p:txBody>
      </p:sp>
      <p:sp>
        <p:nvSpPr>
          <p:cNvPr id="17" name="Text 15"/>
          <p:cNvSpPr/>
          <p:nvPr/>
        </p:nvSpPr>
        <p:spPr>
          <a:xfrm>
            <a:off x="3813048" y="3227832"/>
            <a:ext cx="1956816" cy="429768"/>
          </a:xfrm>
          <a:prstGeom prst="rect">
            <a:avLst/>
          </a:prstGeom>
          <a:noFill/>
          <a:ln/>
        </p:spPr>
        <p:txBody>
          <a:bodyPr wrap="square" lIns="0" tIns="0" rIns="0" bIns="0" rtlCol="0" anchor="ctr"/>
          <a:lstStyle/>
          <a:p>
            <a:pPr indent="0" marL="0">
              <a:buNone/>
            </a:pPr>
            <a:r>
              <a:rPr lang="en-US" sz="1960" b="1" dirty="0">
                <a:solidFill>
                  <a:srgbClr val="16263C"/>
                </a:solidFill>
                <a:latin typeface="Noto Sans CJK KR" pitchFamily="34" charset="0"/>
                <a:ea typeface="Noto Sans CJK KR" pitchFamily="34" charset="-122"/>
                <a:cs typeface="Noto Sans CJK KR" pitchFamily="34" charset="-120"/>
              </a:rPr>
              <a:t>조건 구조화</a:t>
            </a:r>
            <a:endParaRPr lang="en-US" sz="1960" dirty="0"/>
          </a:p>
        </p:txBody>
      </p:sp>
      <p:sp>
        <p:nvSpPr>
          <p:cNvPr id="18" name="Text 16"/>
          <p:cNvSpPr/>
          <p:nvPr/>
        </p:nvSpPr>
        <p:spPr>
          <a:xfrm>
            <a:off x="3822192" y="3886200"/>
            <a:ext cx="1965960" cy="310896"/>
          </a:xfrm>
          <a:prstGeom prst="rect">
            <a:avLst/>
          </a:prstGeom>
          <a:noFill/>
          <a:ln/>
        </p:spPr>
        <p:txBody>
          <a:bodyPr wrap="square" lIns="0" tIns="0" rIns="0" bIns="0" rtlCol="0" anchor="ctr"/>
          <a:lstStyle/>
          <a:p>
            <a:pPr indent="0" marL="0">
              <a:buNone/>
            </a:pPr>
            <a:r>
              <a:rPr lang="en-US" sz="1150" dirty="0">
                <a:solidFill>
                  <a:srgbClr val="62758A"/>
                </a:solidFill>
                <a:latin typeface="Noto Sans CJK KR" pitchFamily="34" charset="0"/>
                <a:ea typeface="Noto Sans CJK KR" pitchFamily="34" charset="-122"/>
                <a:cs typeface="Noto Sans CJK KR" pitchFamily="34" charset="-120"/>
              </a:rPr>
              <a:t>실적 · 제외 · 예외</a:t>
            </a:r>
            <a:endParaRPr lang="en-US" sz="1150" dirty="0"/>
          </a:p>
        </p:txBody>
      </p:sp>
      <p:sp>
        <p:nvSpPr>
          <p:cNvPr id="19" name="Shape 17"/>
          <p:cNvSpPr/>
          <p:nvPr/>
        </p:nvSpPr>
        <p:spPr>
          <a:xfrm>
            <a:off x="6025896" y="3465576"/>
            <a:ext cx="393192" cy="0"/>
          </a:xfrm>
          <a:prstGeom prst="line">
            <a:avLst/>
          </a:prstGeom>
          <a:noFill/>
          <a:ln w="29210">
            <a:solidFill>
              <a:srgbClr val="159F94"/>
            </a:solidFill>
            <a:prstDash val="solid"/>
            <a:headEnd type="none"/>
            <a:tailEnd type="triangle"/>
          </a:ln>
        </p:spPr>
      </p:sp>
      <p:sp>
        <p:nvSpPr>
          <p:cNvPr id="20" name="Shape 18"/>
          <p:cNvSpPr/>
          <p:nvPr/>
        </p:nvSpPr>
        <p:spPr>
          <a:xfrm>
            <a:off x="6528816" y="2450592"/>
            <a:ext cx="2350008" cy="2048256"/>
          </a:xfrm>
          <a:prstGeom prst="roundRect">
            <a:avLst>
              <a:gd name="adj" fmla="val 7589"/>
            </a:avLst>
          </a:prstGeom>
          <a:solidFill>
            <a:srgbClr val="101E32"/>
          </a:solidFill>
          <a:ln w="12700">
            <a:solidFill>
              <a:srgbClr val="101E32">
                <a:alpha val="0"/>
              </a:srgbClr>
            </a:solidFill>
            <a:prstDash val="solid"/>
          </a:ln>
        </p:spPr>
      </p:sp>
      <p:sp>
        <p:nvSpPr>
          <p:cNvPr id="21" name="Shape 19"/>
          <p:cNvSpPr/>
          <p:nvPr/>
        </p:nvSpPr>
        <p:spPr>
          <a:xfrm>
            <a:off x="6729984" y="2715768"/>
            <a:ext cx="548640" cy="347472"/>
          </a:xfrm>
          <a:prstGeom prst="roundRect">
            <a:avLst>
              <a:gd name="adj" fmla="val 44737"/>
            </a:avLst>
          </a:prstGeom>
          <a:solidFill>
            <a:srgbClr val="29635F"/>
          </a:solidFill>
          <a:ln w="12700">
            <a:solidFill>
              <a:srgbClr val="29635F">
                <a:alpha val="0"/>
              </a:srgbClr>
            </a:solidFill>
            <a:prstDash val="solid"/>
          </a:ln>
        </p:spPr>
      </p:sp>
      <p:sp>
        <p:nvSpPr>
          <p:cNvPr id="22" name="Text 20"/>
          <p:cNvSpPr/>
          <p:nvPr/>
        </p:nvSpPr>
        <p:spPr>
          <a:xfrm>
            <a:off x="6812280" y="2724912"/>
            <a:ext cx="384048" cy="320040"/>
          </a:xfrm>
          <a:prstGeom prst="rect">
            <a:avLst/>
          </a:prstGeom>
          <a:noFill/>
          <a:ln/>
        </p:spPr>
        <p:txBody>
          <a:bodyPr wrap="square" lIns="0" tIns="0" rIns="0" bIns="0" rtlCol="0" anchor="ctr"/>
          <a:lstStyle/>
          <a:p>
            <a:pPr algn="ctr" indent="0" marL="0">
              <a:buNone/>
            </a:pPr>
            <a:r>
              <a:rPr lang="en-US" sz="1150" b="1" dirty="0">
                <a:solidFill>
                  <a:srgbClr val="B5EEE2"/>
                </a:solidFill>
                <a:latin typeface="Noto Sans CJK KR" pitchFamily="34" charset="0"/>
                <a:ea typeface="Noto Sans CJK KR" pitchFamily="34" charset="-122"/>
                <a:cs typeface="Noto Sans CJK KR" pitchFamily="34" charset="-120"/>
              </a:rPr>
              <a:t>03</a:t>
            </a:r>
            <a:endParaRPr lang="en-US" sz="1150" dirty="0"/>
          </a:p>
        </p:txBody>
      </p:sp>
      <p:sp>
        <p:nvSpPr>
          <p:cNvPr id="23" name="Text 21"/>
          <p:cNvSpPr/>
          <p:nvPr/>
        </p:nvSpPr>
        <p:spPr>
          <a:xfrm>
            <a:off x="6702552" y="3227832"/>
            <a:ext cx="1956816" cy="429768"/>
          </a:xfrm>
          <a:prstGeom prst="rect">
            <a:avLst/>
          </a:prstGeom>
          <a:noFill/>
          <a:ln/>
        </p:spPr>
        <p:txBody>
          <a:bodyPr wrap="square" lIns="0" tIns="0" rIns="0" bIns="0" rtlCol="0" anchor="ctr"/>
          <a:lstStyle/>
          <a:p>
            <a:pPr indent="0" marL="0">
              <a:buNone/>
            </a:pPr>
            <a:r>
              <a:rPr lang="en-US" sz="1960" b="1" dirty="0">
                <a:solidFill>
                  <a:srgbClr val="FFFFFF"/>
                </a:solidFill>
                <a:latin typeface="Noto Sans CJK KR" pitchFamily="34" charset="0"/>
                <a:ea typeface="Noto Sans CJK KR" pitchFamily="34" charset="-122"/>
                <a:cs typeface="Noto Sans CJK KR" pitchFamily="34" charset="-120"/>
              </a:rPr>
              <a:t>조건 관리</a:t>
            </a:r>
            <a:endParaRPr lang="en-US" sz="1960" dirty="0"/>
          </a:p>
        </p:txBody>
      </p:sp>
      <p:sp>
        <p:nvSpPr>
          <p:cNvPr id="24" name="Text 22"/>
          <p:cNvSpPr/>
          <p:nvPr/>
        </p:nvSpPr>
        <p:spPr>
          <a:xfrm>
            <a:off x="6711696" y="3886200"/>
            <a:ext cx="1965960" cy="310896"/>
          </a:xfrm>
          <a:prstGeom prst="rect">
            <a:avLst/>
          </a:prstGeom>
          <a:noFill/>
          <a:ln/>
        </p:spPr>
        <p:txBody>
          <a:bodyPr wrap="square" lIns="0" tIns="0" rIns="0" bIns="0" rtlCol="0" anchor="ctr"/>
          <a:lstStyle/>
          <a:p>
            <a:pPr indent="0" marL="0">
              <a:buNone/>
            </a:pPr>
            <a:r>
              <a:rPr lang="en-US" sz="1150" dirty="0">
                <a:solidFill>
                  <a:srgbClr val="C4D8DA"/>
                </a:solidFill>
                <a:latin typeface="Noto Sans CJK KR" pitchFamily="34" charset="0"/>
                <a:ea typeface="Noto Sans CJK KR" pitchFamily="34" charset="-122"/>
                <a:cs typeface="Noto Sans CJK KR" pitchFamily="34" charset="-120"/>
              </a:rPr>
              <a:t>수정 · 버전 · 검증</a:t>
            </a:r>
            <a:endParaRPr lang="en-US" sz="1150" dirty="0"/>
          </a:p>
        </p:txBody>
      </p:sp>
      <p:sp>
        <p:nvSpPr>
          <p:cNvPr id="25" name="Shape 23"/>
          <p:cNvSpPr/>
          <p:nvPr/>
        </p:nvSpPr>
        <p:spPr>
          <a:xfrm>
            <a:off x="8915400" y="3465576"/>
            <a:ext cx="393192" cy="0"/>
          </a:xfrm>
          <a:prstGeom prst="line">
            <a:avLst/>
          </a:prstGeom>
          <a:noFill/>
          <a:ln w="29210">
            <a:solidFill>
              <a:srgbClr val="159F94"/>
            </a:solidFill>
            <a:prstDash val="solid"/>
            <a:headEnd type="none"/>
            <a:tailEnd type="triangle"/>
          </a:ln>
        </p:spPr>
      </p:sp>
      <p:sp>
        <p:nvSpPr>
          <p:cNvPr id="26" name="Shape 24"/>
          <p:cNvSpPr/>
          <p:nvPr/>
        </p:nvSpPr>
        <p:spPr>
          <a:xfrm>
            <a:off x="9418320" y="2450592"/>
            <a:ext cx="2350008" cy="2048256"/>
          </a:xfrm>
          <a:prstGeom prst="roundRect">
            <a:avLst>
              <a:gd name="adj" fmla="val 7589"/>
            </a:avLst>
          </a:prstGeom>
          <a:solidFill>
            <a:srgbClr val="FFFFFF"/>
          </a:solidFill>
          <a:ln w="12700">
            <a:solidFill>
              <a:srgbClr val="FFFFFF">
                <a:alpha val="0"/>
              </a:srgbClr>
            </a:solidFill>
            <a:prstDash val="solid"/>
          </a:ln>
        </p:spPr>
      </p:sp>
      <p:sp>
        <p:nvSpPr>
          <p:cNvPr id="27" name="Shape 25"/>
          <p:cNvSpPr/>
          <p:nvPr/>
        </p:nvSpPr>
        <p:spPr>
          <a:xfrm>
            <a:off x="9619488" y="2715768"/>
            <a:ext cx="548640" cy="347472"/>
          </a:xfrm>
          <a:prstGeom prst="roundRect">
            <a:avLst>
              <a:gd name="adj" fmla="val 44737"/>
            </a:avLst>
          </a:prstGeom>
          <a:solidFill>
            <a:srgbClr val="EAF1FF"/>
          </a:solidFill>
          <a:ln w="12700">
            <a:solidFill>
              <a:srgbClr val="EAF1FF">
                <a:alpha val="0"/>
              </a:srgbClr>
            </a:solidFill>
            <a:prstDash val="solid"/>
          </a:ln>
        </p:spPr>
      </p:sp>
      <p:sp>
        <p:nvSpPr>
          <p:cNvPr id="28" name="Text 26"/>
          <p:cNvSpPr/>
          <p:nvPr/>
        </p:nvSpPr>
        <p:spPr>
          <a:xfrm>
            <a:off x="9701784" y="2724912"/>
            <a:ext cx="384048" cy="320040"/>
          </a:xfrm>
          <a:prstGeom prst="rect">
            <a:avLst/>
          </a:prstGeom>
          <a:noFill/>
          <a:ln/>
        </p:spPr>
        <p:txBody>
          <a:bodyPr wrap="square" lIns="0" tIns="0" rIns="0" bIns="0" rtlCol="0" anchor="ctr"/>
          <a:lstStyle/>
          <a:p>
            <a:pPr algn="ctr" indent="0" marL="0">
              <a:buNone/>
            </a:pPr>
            <a:r>
              <a:rPr lang="en-US" sz="1150" b="1" dirty="0">
                <a:solidFill>
                  <a:srgbClr val="386CCB"/>
                </a:solidFill>
                <a:latin typeface="Noto Sans CJK KR" pitchFamily="34" charset="0"/>
                <a:ea typeface="Noto Sans CJK KR" pitchFamily="34" charset="-122"/>
                <a:cs typeface="Noto Sans CJK KR" pitchFamily="34" charset="-120"/>
              </a:rPr>
              <a:t>04</a:t>
            </a:r>
            <a:endParaRPr lang="en-US" sz="1150" dirty="0"/>
          </a:p>
        </p:txBody>
      </p:sp>
      <p:sp>
        <p:nvSpPr>
          <p:cNvPr id="29" name="Text 27"/>
          <p:cNvSpPr/>
          <p:nvPr/>
        </p:nvSpPr>
        <p:spPr>
          <a:xfrm>
            <a:off x="9592056" y="3227832"/>
            <a:ext cx="1956816" cy="429768"/>
          </a:xfrm>
          <a:prstGeom prst="rect">
            <a:avLst/>
          </a:prstGeom>
          <a:noFill/>
          <a:ln/>
        </p:spPr>
        <p:txBody>
          <a:bodyPr wrap="square" lIns="0" tIns="0" rIns="0" bIns="0" rtlCol="0" anchor="ctr"/>
          <a:lstStyle/>
          <a:p>
            <a:pPr indent="0" marL="0">
              <a:buNone/>
            </a:pPr>
            <a:r>
              <a:rPr lang="en-US" sz="1960" b="1" dirty="0">
                <a:solidFill>
                  <a:srgbClr val="16263C"/>
                </a:solidFill>
                <a:latin typeface="Noto Sans CJK KR" pitchFamily="34" charset="0"/>
                <a:ea typeface="Noto Sans CJK KR" pitchFamily="34" charset="-122"/>
                <a:cs typeface="Noto Sans CJK KR" pitchFamily="34" charset="-120"/>
              </a:rPr>
              <a:t>판정 제공</a:t>
            </a:r>
            <a:endParaRPr lang="en-US" sz="1960" dirty="0"/>
          </a:p>
        </p:txBody>
      </p:sp>
      <p:sp>
        <p:nvSpPr>
          <p:cNvPr id="30" name="Text 28"/>
          <p:cNvSpPr/>
          <p:nvPr/>
        </p:nvSpPr>
        <p:spPr>
          <a:xfrm>
            <a:off x="9601200" y="3886200"/>
            <a:ext cx="1965960" cy="310896"/>
          </a:xfrm>
          <a:prstGeom prst="rect">
            <a:avLst/>
          </a:prstGeom>
          <a:noFill/>
          <a:ln/>
        </p:spPr>
        <p:txBody>
          <a:bodyPr wrap="square" lIns="0" tIns="0" rIns="0" bIns="0" rtlCol="0" anchor="ctr"/>
          <a:lstStyle/>
          <a:p>
            <a:pPr indent="0" marL="0">
              <a:buNone/>
            </a:pPr>
            <a:r>
              <a:rPr lang="en-US" sz="1150" dirty="0">
                <a:solidFill>
                  <a:srgbClr val="62758A"/>
                </a:solidFill>
                <a:latin typeface="Noto Sans CJK KR" pitchFamily="34" charset="0"/>
                <a:ea typeface="Noto Sans CJK KR" pitchFamily="34" charset="-122"/>
                <a:cs typeface="Noto Sans CJK KR" pitchFamily="34" charset="-120"/>
              </a:rPr>
              <a:t>결과 · 근거 · 경로</a:t>
            </a:r>
            <a:endParaRPr lang="en-US" sz="1150" dirty="0"/>
          </a:p>
        </p:txBody>
      </p:sp>
      <p:sp>
        <p:nvSpPr>
          <p:cNvPr id="31" name="Shape 29"/>
          <p:cNvSpPr/>
          <p:nvPr/>
        </p:nvSpPr>
        <p:spPr>
          <a:xfrm>
            <a:off x="923544" y="5010912"/>
            <a:ext cx="10305288" cy="804672"/>
          </a:xfrm>
          <a:prstGeom prst="roundRect">
            <a:avLst>
              <a:gd name="adj" fmla="val 19318"/>
            </a:avLst>
          </a:prstGeom>
          <a:solidFill>
            <a:srgbClr val="E8F7F2"/>
          </a:solidFill>
          <a:ln w="12700">
            <a:solidFill>
              <a:srgbClr val="E8F7F2">
                <a:alpha val="0"/>
              </a:srgbClr>
            </a:solidFill>
            <a:prstDash val="solid"/>
          </a:ln>
        </p:spPr>
      </p:sp>
      <p:sp>
        <p:nvSpPr>
          <p:cNvPr id="32" name="Text 30"/>
          <p:cNvSpPr/>
          <p:nvPr/>
        </p:nvSpPr>
        <p:spPr>
          <a:xfrm>
            <a:off x="1207008" y="5202936"/>
            <a:ext cx="9784080" cy="393192"/>
          </a:xfrm>
          <a:prstGeom prst="rect">
            <a:avLst/>
          </a:prstGeom>
          <a:noFill/>
          <a:ln/>
        </p:spPr>
        <p:txBody>
          <a:bodyPr wrap="square" lIns="0" tIns="0" rIns="0" bIns="0" rtlCol="0" anchor="ctr"/>
          <a:lstStyle/>
          <a:p>
            <a:pPr algn="ctr" indent="0" marL="0">
              <a:buNone/>
            </a:pPr>
            <a:r>
              <a:rPr lang="en-US" sz="1740" b="1" dirty="0">
                <a:solidFill>
                  <a:srgbClr val="101E32"/>
                </a:solidFill>
                <a:latin typeface="Noto Sans CJK KR" pitchFamily="34" charset="0"/>
                <a:ea typeface="Noto Sans CJK KR" pitchFamily="34" charset="-122"/>
                <a:cs typeface="Noto Sans CJK KR" pitchFamily="34" charset="-120"/>
              </a:rPr>
              <a:t>조건을 한 번 변경  →  웹 · MCP에서 새 기준으로 동일하게 판단</a:t>
            </a:r>
            <a:endParaRPr lang="en-US" sz="1740" dirty="0"/>
          </a:p>
        </p:txBody>
      </p:sp>
      <p:sp>
        <p:nvSpPr>
          <p:cNvPr id="33" name="Text 31"/>
          <p:cNvSpPr/>
          <p:nvPr/>
        </p:nvSpPr>
        <p:spPr>
          <a:xfrm>
            <a:off x="1014984" y="6016752"/>
            <a:ext cx="10058400" cy="237744"/>
          </a:xfrm>
          <a:prstGeom prst="rect">
            <a:avLst/>
          </a:prstGeom>
          <a:noFill/>
          <a:ln/>
        </p:spPr>
        <p:txBody>
          <a:bodyPr wrap="square" lIns="0" tIns="0" rIns="0" bIns="0" rtlCol="0" anchor="ctr"/>
          <a:lstStyle/>
          <a:p>
            <a:pPr algn="ctr" indent="0" marL="0">
              <a:buNone/>
            </a:pPr>
            <a:r>
              <a:rPr lang="en-US" sz="1140" dirty="0">
                <a:solidFill>
                  <a:srgbClr val="62758A"/>
                </a:solidFill>
                <a:latin typeface="Noto Sans CJK KR" pitchFamily="34" charset="0"/>
                <a:ea typeface="Noto Sans CJK KR" pitchFamily="34" charset="-122"/>
                <a:cs typeface="Noto Sans CJK KR" pitchFamily="34" charset="-120"/>
              </a:rPr>
              <a:t>GraphRAG의 추가 가치는 SQL·규칙 엔진과 비교한 뒤 판단할 계획입니다.</a:t>
            </a:r>
            <a:endParaRPr lang="en-US" sz="11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A"/>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DAE5EB"/>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62758A"/>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62758A"/>
                </a:solidFill>
                <a:latin typeface="Noto Sans CJK KR" pitchFamily="34" charset="0"/>
                <a:ea typeface="Noto Sans CJK KR" pitchFamily="34" charset="-122"/>
                <a:cs typeface="Noto Sans CJK KR" pitchFamily="34" charset="-120"/>
              </a:rPr>
              <a:t>09 / 10</a:t>
            </a:r>
            <a:endParaRPr lang="en-US" sz="1050" dirty="0"/>
          </a:p>
        </p:txBody>
      </p:sp>
      <p:sp>
        <p:nvSpPr>
          <p:cNvPr id="5" name="Text 3"/>
          <p:cNvSpPr/>
          <p:nvPr/>
        </p:nvSpPr>
        <p:spPr>
          <a:xfrm>
            <a:off x="704088" y="438912"/>
            <a:ext cx="10789920" cy="237744"/>
          </a:xfrm>
          <a:prstGeom prst="rect">
            <a:avLst/>
          </a:prstGeom>
          <a:noFill/>
          <a:ln/>
        </p:spPr>
        <p:txBody>
          <a:bodyPr wrap="square" lIns="0" tIns="0" rIns="0" bIns="0" rtlCol="0" anchor="ctr"/>
          <a:lstStyle/>
          <a:p>
            <a:pPr indent="0" marL="0">
              <a:buNone/>
            </a:pPr>
            <a:r>
              <a:rPr lang="en-US" sz="1050" b="1" spc="150" kern="0" dirty="0">
                <a:solidFill>
                  <a:srgbClr val="159F94"/>
                </a:solidFill>
                <a:latin typeface="Noto Sans CJK KR" pitchFamily="34" charset="0"/>
                <a:ea typeface="Noto Sans CJK KR" pitchFamily="34" charset="-122"/>
                <a:cs typeface="Noto Sans CJK KR" pitchFamily="34" charset="-120"/>
              </a:rPr>
              <a:t>08  ·  DEMONSTRATION PLAN</a:t>
            </a:r>
            <a:endParaRPr lang="en-US" sz="1050" dirty="0"/>
          </a:p>
        </p:txBody>
      </p:sp>
      <p:sp>
        <p:nvSpPr>
          <p:cNvPr id="6" name="Text 4"/>
          <p:cNvSpPr/>
          <p:nvPr/>
        </p:nvSpPr>
        <p:spPr>
          <a:xfrm>
            <a:off x="704088" y="841248"/>
            <a:ext cx="10872216" cy="694944"/>
          </a:xfrm>
          <a:prstGeom prst="rect">
            <a:avLst/>
          </a:prstGeom>
          <a:noFill/>
          <a:ln/>
        </p:spPr>
        <p:txBody>
          <a:bodyPr wrap="square" lIns="0" tIns="0" rIns="0" bIns="0" rtlCol="0" anchor="ctr"/>
          <a:lstStyle/>
          <a:p>
            <a:pPr indent="0" marL="0">
              <a:buNone/>
            </a:pPr>
            <a:r>
              <a:rPr lang="en-US" sz="2700" b="1" dirty="0">
                <a:solidFill>
                  <a:srgbClr val="101E32"/>
                </a:solidFill>
                <a:latin typeface="Noto Sans CJK KR" pitchFamily="34" charset="0"/>
                <a:ea typeface="Noto Sans CJK KR" pitchFamily="34" charset="-122"/>
                <a:cs typeface="Noto Sans CJK KR" pitchFamily="34" charset="-120"/>
              </a:rPr>
              <a:t>구현 성과는 “변경한 기준이 얼마나 일관되게 반영되는가”로 확인</a:t>
            </a:r>
            <a:endParaRPr lang="en-US" sz="2700" dirty="0"/>
          </a:p>
        </p:txBody>
      </p:sp>
      <p:sp>
        <p:nvSpPr>
          <p:cNvPr id="7" name="Text 5"/>
          <p:cNvSpPr/>
          <p:nvPr/>
        </p:nvSpPr>
        <p:spPr>
          <a:xfrm>
            <a:off x="722376" y="1581912"/>
            <a:ext cx="10789920" cy="365760"/>
          </a:xfrm>
          <a:prstGeom prst="rect">
            <a:avLst/>
          </a:prstGeom>
          <a:noFill/>
          <a:ln/>
        </p:spPr>
        <p:txBody>
          <a:bodyPr wrap="square" lIns="0" tIns="0" rIns="0" bIns="0" rtlCol="0" anchor="ctr"/>
          <a:lstStyle/>
          <a:p>
            <a:pPr indent="0" marL="0">
              <a:buNone/>
            </a:pPr>
            <a:r>
              <a:rPr lang="en-US" sz="1330" dirty="0">
                <a:solidFill>
                  <a:srgbClr val="62758A"/>
                </a:solidFill>
                <a:latin typeface="Noto Sans CJK KR" pitchFamily="34" charset="0"/>
                <a:ea typeface="Noto Sans CJK KR" pitchFamily="34" charset="-122"/>
                <a:cs typeface="Noto Sans CJK KR" pitchFamily="34" charset="-120"/>
              </a:rPr>
              <a:t>아래는 시연·검증 계획입니다. 실시간 성능이나 정확도 개선을 이미 입증했다는 뜻은 아닙니다.</a:t>
            </a:r>
            <a:endParaRPr lang="en-US" sz="1330" dirty="0"/>
          </a:p>
        </p:txBody>
      </p:sp>
      <p:sp>
        <p:nvSpPr>
          <p:cNvPr id="8" name="Shape 6"/>
          <p:cNvSpPr/>
          <p:nvPr/>
        </p:nvSpPr>
        <p:spPr>
          <a:xfrm>
            <a:off x="749808" y="2295144"/>
            <a:ext cx="3410712" cy="3099816"/>
          </a:xfrm>
          <a:prstGeom prst="roundRect">
            <a:avLst>
              <a:gd name="adj" fmla="val 5015"/>
            </a:avLst>
          </a:prstGeom>
          <a:solidFill>
            <a:srgbClr val="FFFFFF"/>
          </a:solidFill>
          <a:ln w="12700">
            <a:solidFill>
              <a:srgbClr val="FFFFFF">
                <a:alpha val="0"/>
              </a:srgbClr>
            </a:solidFill>
            <a:prstDash val="solid"/>
          </a:ln>
        </p:spPr>
      </p:sp>
      <p:sp>
        <p:nvSpPr>
          <p:cNvPr id="9" name="Shape 7"/>
          <p:cNvSpPr/>
          <p:nvPr/>
        </p:nvSpPr>
        <p:spPr>
          <a:xfrm>
            <a:off x="960120" y="2551176"/>
            <a:ext cx="566928" cy="347472"/>
          </a:xfrm>
          <a:prstGeom prst="roundRect">
            <a:avLst>
              <a:gd name="adj" fmla="val 44737"/>
            </a:avLst>
          </a:prstGeom>
          <a:solidFill>
            <a:srgbClr val="E8F7F2"/>
          </a:solidFill>
          <a:ln w="12700">
            <a:solidFill>
              <a:srgbClr val="E8F7F2">
                <a:alpha val="0"/>
              </a:srgbClr>
            </a:solidFill>
            <a:prstDash val="solid"/>
          </a:ln>
        </p:spPr>
      </p:sp>
      <p:sp>
        <p:nvSpPr>
          <p:cNvPr id="10" name="Text 8"/>
          <p:cNvSpPr/>
          <p:nvPr/>
        </p:nvSpPr>
        <p:spPr>
          <a:xfrm>
            <a:off x="1042416" y="2560320"/>
            <a:ext cx="402336" cy="320040"/>
          </a:xfrm>
          <a:prstGeom prst="rect">
            <a:avLst/>
          </a:prstGeom>
          <a:noFill/>
          <a:ln/>
        </p:spPr>
        <p:txBody>
          <a:bodyPr wrap="square" lIns="0" tIns="0" rIns="0" bIns="0" rtlCol="0" anchor="ctr"/>
          <a:lstStyle/>
          <a:p>
            <a:pPr algn="ctr" indent="0" marL="0">
              <a:buNone/>
            </a:pPr>
            <a:r>
              <a:rPr lang="en-US" sz="1150" b="1" dirty="0">
                <a:solidFill>
                  <a:srgbClr val="159F94"/>
                </a:solidFill>
                <a:latin typeface="Noto Sans CJK KR" pitchFamily="34" charset="0"/>
                <a:ea typeface="Noto Sans CJK KR" pitchFamily="34" charset="-122"/>
                <a:cs typeface="Noto Sans CJK KR" pitchFamily="34" charset="-120"/>
              </a:rPr>
              <a:t>01</a:t>
            </a:r>
            <a:endParaRPr lang="en-US" sz="1150" dirty="0"/>
          </a:p>
        </p:txBody>
      </p:sp>
      <p:sp>
        <p:nvSpPr>
          <p:cNvPr id="11" name="Text 9"/>
          <p:cNvSpPr/>
          <p:nvPr/>
        </p:nvSpPr>
        <p:spPr>
          <a:xfrm>
            <a:off x="960120" y="3136392"/>
            <a:ext cx="2953512" cy="530352"/>
          </a:xfrm>
          <a:prstGeom prst="rect">
            <a:avLst/>
          </a:prstGeom>
          <a:noFill/>
          <a:ln/>
        </p:spPr>
        <p:txBody>
          <a:bodyPr wrap="square" lIns="0" tIns="0" rIns="0" bIns="0" rtlCol="0" anchor="ctr"/>
          <a:lstStyle/>
          <a:p>
            <a:pPr indent="0" marL="0">
              <a:buNone/>
            </a:pPr>
            <a:r>
              <a:rPr lang="en-US" sz="1800" b="1" dirty="0">
                <a:solidFill>
                  <a:srgbClr val="16263C"/>
                </a:solidFill>
                <a:latin typeface="Noto Sans CJK KR" pitchFamily="34" charset="0"/>
                <a:ea typeface="Noto Sans CJK KR" pitchFamily="34" charset="-122"/>
                <a:cs typeface="Noto Sans CJK KR" pitchFamily="34" charset="-120"/>
              </a:rPr>
              <a:t>조건 변경 반영</a:t>
            </a:r>
            <a:endParaRPr lang="en-US" sz="1800" dirty="0"/>
          </a:p>
        </p:txBody>
      </p:sp>
      <p:sp>
        <p:nvSpPr>
          <p:cNvPr id="12" name="Text 10"/>
          <p:cNvSpPr/>
          <p:nvPr/>
        </p:nvSpPr>
        <p:spPr>
          <a:xfrm>
            <a:off x="960120" y="3931920"/>
            <a:ext cx="2907792" cy="996696"/>
          </a:xfrm>
          <a:prstGeom prst="rect">
            <a:avLst/>
          </a:prstGeom>
          <a:noFill/>
          <a:ln/>
        </p:spPr>
        <p:txBody>
          <a:bodyPr wrap="square" lIns="0" tIns="0" rIns="0" bIns="0" rtlCol="0" anchor="ctr"/>
          <a:lstStyle/>
          <a:p>
            <a:pPr indent="0" marL="0">
              <a:buNone/>
            </a:pPr>
            <a:r>
              <a:rPr lang="en-US" sz="1300" dirty="0">
                <a:solidFill>
                  <a:srgbClr val="62758A"/>
                </a:solidFill>
                <a:latin typeface="Noto Sans CJK KR" pitchFamily="34" charset="0"/>
                <a:ea typeface="Noto Sans CJK KR" pitchFamily="34" charset="-122"/>
                <a:cs typeface="Noto Sans CJK KR" pitchFamily="34" charset="-120"/>
              </a:rPr>
              <a:t>공개 약관 기반 조건을 수정하고</a:t>
            </a:r>
            <a:endParaRPr lang="en-US" sz="1300" dirty="0"/>
          </a:p>
          <a:p>
            <a:pPr indent="0" marL="0">
              <a:buNone/>
            </a:pPr>
            <a:r>
              <a:rPr lang="en-US" sz="1300" dirty="0">
                <a:solidFill>
                  <a:srgbClr val="62758A"/>
                </a:solidFill>
                <a:latin typeface="Noto Sans CJK KR" pitchFamily="34" charset="0"/>
                <a:ea typeface="Noto Sans CJK KR" pitchFamily="34" charset="-122"/>
                <a:cs typeface="Noto Sans CJK KR" pitchFamily="34" charset="-120"/>
              </a:rPr>
              <a:t>수정 전후 판정 결과 비교</a:t>
            </a:r>
            <a:endParaRPr lang="en-US" sz="1300" dirty="0"/>
          </a:p>
        </p:txBody>
      </p:sp>
      <p:sp>
        <p:nvSpPr>
          <p:cNvPr id="13" name="Shape 11"/>
          <p:cNvSpPr/>
          <p:nvPr/>
        </p:nvSpPr>
        <p:spPr>
          <a:xfrm>
            <a:off x="4425696" y="2295144"/>
            <a:ext cx="3410712" cy="3099816"/>
          </a:xfrm>
          <a:prstGeom prst="roundRect">
            <a:avLst>
              <a:gd name="adj" fmla="val 5015"/>
            </a:avLst>
          </a:prstGeom>
          <a:solidFill>
            <a:srgbClr val="FFFFFF"/>
          </a:solidFill>
          <a:ln w="12700">
            <a:solidFill>
              <a:srgbClr val="FFFFFF">
                <a:alpha val="0"/>
              </a:srgbClr>
            </a:solidFill>
            <a:prstDash val="solid"/>
          </a:ln>
        </p:spPr>
      </p:sp>
      <p:sp>
        <p:nvSpPr>
          <p:cNvPr id="14" name="Shape 12"/>
          <p:cNvSpPr/>
          <p:nvPr/>
        </p:nvSpPr>
        <p:spPr>
          <a:xfrm>
            <a:off x="4636008" y="2551176"/>
            <a:ext cx="566928" cy="347472"/>
          </a:xfrm>
          <a:prstGeom prst="roundRect">
            <a:avLst>
              <a:gd name="adj" fmla="val 44737"/>
            </a:avLst>
          </a:prstGeom>
          <a:solidFill>
            <a:srgbClr val="E8F7F2"/>
          </a:solidFill>
          <a:ln w="12700">
            <a:solidFill>
              <a:srgbClr val="E8F7F2">
                <a:alpha val="0"/>
              </a:srgbClr>
            </a:solidFill>
            <a:prstDash val="solid"/>
          </a:ln>
        </p:spPr>
      </p:sp>
      <p:sp>
        <p:nvSpPr>
          <p:cNvPr id="15" name="Text 13"/>
          <p:cNvSpPr/>
          <p:nvPr/>
        </p:nvSpPr>
        <p:spPr>
          <a:xfrm>
            <a:off x="4718304" y="2560320"/>
            <a:ext cx="402336" cy="320040"/>
          </a:xfrm>
          <a:prstGeom prst="rect">
            <a:avLst/>
          </a:prstGeom>
          <a:noFill/>
          <a:ln/>
        </p:spPr>
        <p:txBody>
          <a:bodyPr wrap="square" lIns="0" tIns="0" rIns="0" bIns="0" rtlCol="0" anchor="ctr"/>
          <a:lstStyle/>
          <a:p>
            <a:pPr algn="ctr" indent="0" marL="0">
              <a:buNone/>
            </a:pPr>
            <a:r>
              <a:rPr lang="en-US" sz="1150" b="1" dirty="0">
                <a:solidFill>
                  <a:srgbClr val="159F94"/>
                </a:solidFill>
                <a:latin typeface="Noto Sans CJK KR" pitchFamily="34" charset="0"/>
                <a:ea typeface="Noto Sans CJK KR" pitchFamily="34" charset="-122"/>
                <a:cs typeface="Noto Sans CJK KR" pitchFamily="34" charset="-120"/>
              </a:rPr>
              <a:t>02</a:t>
            </a:r>
            <a:endParaRPr lang="en-US" sz="1150" dirty="0"/>
          </a:p>
        </p:txBody>
      </p:sp>
      <p:sp>
        <p:nvSpPr>
          <p:cNvPr id="16" name="Text 14"/>
          <p:cNvSpPr/>
          <p:nvPr/>
        </p:nvSpPr>
        <p:spPr>
          <a:xfrm>
            <a:off x="4636008" y="3136392"/>
            <a:ext cx="2953512" cy="530352"/>
          </a:xfrm>
          <a:prstGeom prst="rect">
            <a:avLst/>
          </a:prstGeom>
          <a:noFill/>
          <a:ln/>
        </p:spPr>
        <p:txBody>
          <a:bodyPr wrap="square" lIns="0" tIns="0" rIns="0" bIns="0" rtlCol="0" anchor="ctr"/>
          <a:lstStyle/>
          <a:p>
            <a:pPr indent="0" marL="0">
              <a:buNone/>
            </a:pPr>
            <a:r>
              <a:rPr lang="en-US" sz="1800" b="1" dirty="0">
                <a:solidFill>
                  <a:srgbClr val="16263C"/>
                </a:solidFill>
                <a:latin typeface="Noto Sans CJK KR" pitchFamily="34" charset="0"/>
                <a:ea typeface="Noto Sans CJK KR" pitchFamily="34" charset="-122"/>
                <a:cs typeface="Noto Sans CJK KR" pitchFamily="34" charset="-120"/>
              </a:rPr>
              <a:t>여러 채널의 일관성</a:t>
            </a:r>
            <a:endParaRPr lang="en-US" sz="1800" dirty="0"/>
          </a:p>
        </p:txBody>
      </p:sp>
      <p:sp>
        <p:nvSpPr>
          <p:cNvPr id="17" name="Text 15"/>
          <p:cNvSpPr/>
          <p:nvPr/>
        </p:nvSpPr>
        <p:spPr>
          <a:xfrm>
            <a:off x="4636008" y="3931920"/>
            <a:ext cx="2907792" cy="996696"/>
          </a:xfrm>
          <a:prstGeom prst="rect">
            <a:avLst/>
          </a:prstGeom>
          <a:noFill/>
          <a:ln/>
        </p:spPr>
        <p:txBody>
          <a:bodyPr wrap="square" lIns="0" tIns="0" rIns="0" bIns="0" rtlCol="0" anchor="ctr"/>
          <a:lstStyle/>
          <a:p>
            <a:pPr indent="0" marL="0">
              <a:buNone/>
            </a:pPr>
            <a:r>
              <a:rPr lang="en-US" sz="1300" dirty="0">
                <a:solidFill>
                  <a:srgbClr val="62758A"/>
                </a:solidFill>
                <a:latin typeface="Noto Sans CJK KR" pitchFamily="34" charset="0"/>
                <a:ea typeface="Noto Sans CJK KR" pitchFamily="34" charset="-122"/>
                <a:cs typeface="Noto Sans CJK KR" pitchFamily="34" charset="-120"/>
              </a:rPr>
              <a:t>같은 질문을 웹과 MCP에서 실행해</a:t>
            </a:r>
            <a:endParaRPr lang="en-US" sz="1300" dirty="0"/>
          </a:p>
          <a:p>
            <a:pPr indent="0" marL="0">
              <a:buNone/>
            </a:pPr>
            <a:r>
              <a:rPr lang="en-US" sz="1300" dirty="0">
                <a:solidFill>
                  <a:srgbClr val="62758A"/>
                </a:solidFill>
                <a:latin typeface="Noto Sans CJK KR" pitchFamily="34" charset="0"/>
                <a:ea typeface="Noto Sans CJK KR" pitchFamily="34" charset="-122"/>
                <a:cs typeface="Noto Sans CJK KR" pitchFamily="34" charset="-120"/>
              </a:rPr>
              <a:t>동일한 조건과 결과 확인</a:t>
            </a:r>
            <a:endParaRPr lang="en-US" sz="1300" dirty="0"/>
          </a:p>
        </p:txBody>
      </p:sp>
      <p:sp>
        <p:nvSpPr>
          <p:cNvPr id="18" name="Shape 16"/>
          <p:cNvSpPr/>
          <p:nvPr/>
        </p:nvSpPr>
        <p:spPr>
          <a:xfrm>
            <a:off x="8101584" y="2295144"/>
            <a:ext cx="3410712" cy="3099816"/>
          </a:xfrm>
          <a:prstGeom prst="roundRect">
            <a:avLst>
              <a:gd name="adj" fmla="val 5015"/>
            </a:avLst>
          </a:prstGeom>
          <a:solidFill>
            <a:srgbClr val="FFFFFF"/>
          </a:solidFill>
          <a:ln w="12700">
            <a:solidFill>
              <a:srgbClr val="FFFFFF">
                <a:alpha val="0"/>
              </a:srgbClr>
            </a:solidFill>
            <a:prstDash val="solid"/>
          </a:ln>
        </p:spPr>
      </p:sp>
      <p:sp>
        <p:nvSpPr>
          <p:cNvPr id="19" name="Shape 17"/>
          <p:cNvSpPr/>
          <p:nvPr/>
        </p:nvSpPr>
        <p:spPr>
          <a:xfrm>
            <a:off x="8311896" y="2551176"/>
            <a:ext cx="566928" cy="347472"/>
          </a:xfrm>
          <a:prstGeom prst="roundRect">
            <a:avLst>
              <a:gd name="adj" fmla="val 44737"/>
            </a:avLst>
          </a:prstGeom>
          <a:solidFill>
            <a:srgbClr val="E8F7F2"/>
          </a:solidFill>
          <a:ln w="12700">
            <a:solidFill>
              <a:srgbClr val="E8F7F2">
                <a:alpha val="0"/>
              </a:srgbClr>
            </a:solidFill>
            <a:prstDash val="solid"/>
          </a:ln>
        </p:spPr>
      </p:sp>
      <p:sp>
        <p:nvSpPr>
          <p:cNvPr id="20" name="Text 18"/>
          <p:cNvSpPr/>
          <p:nvPr/>
        </p:nvSpPr>
        <p:spPr>
          <a:xfrm>
            <a:off x="8394192" y="2560320"/>
            <a:ext cx="402336" cy="320040"/>
          </a:xfrm>
          <a:prstGeom prst="rect">
            <a:avLst/>
          </a:prstGeom>
          <a:noFill/>
          <a:ln/>
        </p:spPr>
        <p:txBody>
          <a:bodyPr wrap="square" lIns="0" tIns="0" rIns="0" bIns="0" rtlCol="0" anchor="ctr"/>
          <a:lstStyle/>
          <a:p>
            <a:pPr algn="ctr" indent="0" marL="0">
              <a:buNone/>
            </a:pPr>
            <a:r>
              <a:rPr lang="en-US" sz="1150" b="1" dirty="0">
                <a:solidFill>
                  <a:srgbClr val="159F94"/>
                </a:solidFill>
                <a:latin typeface="Noto Sans CJK KR" pitchFamily="34" charset="0"/>
                <a:ea typeface="Noto Sans CJK KR" pitchFamily="34" charset="-122"/>
                <a:cs typeface="Noto Sans CJK KR" pitchFamily="34" charset="-120"/>
              </a:rPr>
              <a:t>03</a:t>
            </a:r>
            <a:endParaRPr lang="en-US" sz="1150" dirty="0"/>
          </a:p>
        </p:txBody>
      </p:sp>
      <p:sp>
        <p:nvSpPr>
          <p:cNvPr id="21" name="Text 19"/>
          <p:cNvSpPr/>
          <p:nvPr/>
        </p:nvSpPr>
        <p:spPr>
          <a:xfrm>
            <a:off x="8311896" y="3136392"/>
            <a:ext cx="2953512" cy="530352"/>
          </a:xfrm>
          <a:prstGeom prst="rect">
            <a:avLst/>
          </a:prstGeom>
          <a:noFill/>
          <a:ln/>
        </p:spPr>
        <p:txBody>
          <a:bodyPr wrap="square" lIns="0" tIns="0" rIns="0" bIns="0" rtlCol="0" anchor="ctr"/>
          <a:lstStyle/>
          <a:p>
            <a:pPr indent="0" marL="0">
              <a:buNone/>
            </a:pPr>
            <a:r>
              <a:rPr lang="en-US" sz="1800" b="1" dirty="0">
                <a:solidFill>
                  <a:srgbClr val="16263C"/>
                </a:solidFill>
                <a:latin typeface="Noto Sans CJK KR" pitchFamily="34" charset="0"/>
                <a:ea typeface="Noto Sans CJK KR" pitchFamily="34" charset="-122"/>
                <a:cs typeface="Noto Sans CJK KR" pitchFamily="34" charset="-120"/>
              </a:rPr>
              <a:t>판정 근거 추적</a:t>
            </a:r>
            <a:endParaRPr lang="en-US" sz="1800" dirty="0"/>
          </a:p>
        </p:txBody>
      </p:sp>
      <p:sp>
        <p:nvSpPr>
          <p:cNvPr id="22" name="Text 20"/>
          <p:cNvSpPr/>
          <p:nvPr/>
        </p:nvSpPr>
        <p:spPr>
          <a:xfrm>
            <a:off x="8311896" y="3931920"/>
            <a:ext cx="2907792" cy="996696"/>
          </a:xfrm>
          <a:prstGeom prst="rect">
            <a:avLst/>
          </a:prstGeom>
          <a:noFill/>
          <a:ln/>
        </p:spPr>
        <p:txBody>
          <a:bodyPr wrap="square" lIns="0" tIns="0" rIns="0" bIns="0" rtlCol="0" anchor="ctr"/>
          <a:lstStyle/>
          <a:p>
            <a:pPr indent="0" marL="0">
              <a:buNone/>
            </a:pPr>
            <a:r>
              <a:rPr lang="en-US" sz="1300" dirty="0">
                <a:solidFill>
                  <a:srgbClr val="62758A"/>
                </a:solidFill>
                <a:latin typeface="Noto Sans CJK KR" pitchFamily="34" charset="0"/>
                <a:ea typeface="Noto Sans CJK KR" pitchFamily="34" charset="-122"/>
                <a:cs typeface="Noto Sans CJK KR" pitchFamily="34" charset="-120"/>
              </a:rPr>
              <a:t>적용·미적용·판정 불가 사유를</a:t>
            </a:r>
            <a:endParaRPr lang="en-US" sz="1300" dirty="0"/>
          </a:p>
          <a:p>
            <a:pPr indent="0" marL="0">
              <a:buNone/>
            </a:pPr>
            <a:r>
              <a:rPr lang="en-US" sz="1300" dirty="0">
                <a:solidFill>
                  <a:srgbClr val="62758A"/>
                </a:solidFill>
                <a:latin typeface="Noto Sans CJK KR" pitchFamily="34" charset="0"/>
                <a:ea typeface="Noto Sans CJK KR" pitchFamily="34" charset="-122"/>
                <a:cs typeface="Noto Sans CJK KR" pitchFamily="34" charset="-120"/>
              </a:rPr>
              <a:t>약관 조항과 경로로 설명</a:t>
            </a:r>
            <a:endParaRPr lang="en-US" sz="1300" dirty="0"/>
          </a:p>
        </p:txBody>
      </p:sp>
      <p:sp>
        <p:nvSpPr>
          <p:cNvPr id="23" name="Shape 21"/>
          <p:cNvSpPr/>
          <p:nvPr/>
        </p:nvSpPr>
        <p:spPr>
          <a:xfrm>
            <a:off x="1014984" y="5632704"/>
            <a:ext cx="10094976" cy="448056"/>
          </a:xfrm>
          <a:prstGeom prst="roundRect">
            <a:avLst>
              <a:gd name="adj" fmla="val 34694"/>
            </a:avLst>
          </a:prstGeom>
          <a:solidFill>
            <a:srgbClr val="101E32"/>
          </a:solidFill>
          <a:ln w="12700">
            <a:solidFill>
              <a:srgbClr val="101E32">
                <a:alpha val="0"/>
              </a:srgbClr>
            </a:solidFill>
            <a:prstDash val="solid"/>
          </a:ln>
        </p:spPr>
      </p:sp>
      <p:sp>
        <p:nvSpPr>
          <p:cNvPr id="24" name="Text 22"/>
          <p:cNvSpPr/>
          <p:nvPr/>
        </p:nvSpPr>
        <p:spPr>
          <a:xfrm>
            <a:off x="1271016" y="5715000"/>
            <a:ext cx="9592056"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CJK KR" pitchFamily="34" charset="0"/>
                <a:ea typeface="Noto Sans CJK KR" pitchFamily="34" charset="-122"/>
                <a:cs typeface="Noto Sans CJK KR" pitchFamily="34" charset="-120"/>
              </a:rPr>
              <a:t>측정: 변경 적용 시점 · 채널별 결과 일치 · 근거 조항 일치</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525"/>
        </a:solidFill>
      </p:bgPr>
    </p:bg>
    <p:spTree>
      <p:nvGrpSpPr>
        <p:cNvPr id="1" name=""/>
        <p:cNvGrpSpPr/>
        <p:nvPr/>
      </p:nvGrpSpPr>
      <p:grpSpPr>
        <a:xfrm>
          <a:off x="0" y="0"/>
          <a:ext cx="0" cy="0"/>
          <a:chOff x="0" y="0"/>
          <a:chExt cx="0" cy="0"/>
        </a:xfrm>
      </p:grpSpPr>
      <p:sp>
        <p:nvSpPr>
          <p:cNvPr id="2" name="Shape 0"/>
          <p:cNvSpPr/>
          <p:nvPr/>
        </p:nvSpPr>
        <p:spPr>
          <a:xfrm>
            <a:off x="658368" y="6428232"/>
            <a:ext cx="10844784" cy="0"/>
          </a:xfrm>
          <a:prstGeom prst="line">
            <a:avLst/>
          </a:prstGeom>
          <a:noFill/>
          <a:ln w="8890">
            <a:solidFill>
              <a:srgbClr val="3A4F60"/>
            </a:solidFill>
            <a:prstDash val="solid"/>
          </a:ln>
        </p:spPr>
      </p:sp>
      <p:sp>
        <p:nvSpPr>
          <p:cNvPr id="3" name="Text 1"/>
          <p:cNvSpPr/>
          <p:nvPr/>
        </p:nvSpPr>
        <p:spPr>
          <a:xfrm>
            <a:off x="685800" y="6510528"/>
            <a:ext cx="4572000" cy="173736"/>
          </a:xfrm>
          <a:prstGeom prst="rect">
            <a:avLst/>
          </a:prstGeom>
          <a:noFill/>
          <a:ln/>
        </p:spPr>
        <p:txBody>
          <a:bodyPr wrap="square" lIns="0" tIns="0" rIns="0" bIns="0" rtlCol="0" anchor="ctr"/>
          <a:lstStyle/>
          <a:p>
            <a:pPr indent="0" marL="0">
              <a:buNone/>
            </a:pPr>
            <a:r>
              <a:rPr lang="en-US" sz="920" dirty="0">
                <a:solidFill>
                  <a:srgbClr val="9DAFBE"/>
                </a:solidFill>
                <a:latin typeface="Noto Sans CJK KR" pitchFamily="34" charset="0"/>
                <a:ea typeface="Noto Sans CJK KR" pitchFamily="34" charset="-122"/>
                <a:cs typeface="Noto Sans CJK KR" pitchFamily="34" charset="-120"/>
              </a:rPr>
              <a:t>CARD BENEFITS  /  PROJECT REFRAME</a:t>
            </a:r>
            <a:endParaRPr lang="en-US" sz="920" dirty="0"/>
          </a:p>
        </p:txBody>
      </p:sp>
      <p:sp>
        <p:nvSpPr>
          <p:cNvPr id="4" name="Text 2"/>
          <p:cNvSpPr/>
          <p:nvPr/>
        </p:nvSpPr>
        <p:spPr>
          <a:xfrm>
            <a:off x="10625328" y="6492240"/>
            <a:ext cx="822960" cy="228600"/>
          </a:xfrm>
          <a:prstGeom prst="rect">
            <a:avLst/>
          </a:prstGeom>
          <a:noFill/>
          <a:ln/>
        </p:spPr>
        <p:txBody>
          <a:bodyPr wrap="square" lIns="0" tIns="0" rIns="0" bIns="0" rtlCol="0" anchor="ctr"/>
          <a:lstStyle/>
          <a:p>
            <a:pPr algn="r" indent="0" marL="0">
              <a:buNone/>
            </a:pPr>
            <a:r>
              <a:rPr lang="en-US" sz="1050" b="1" dirty="0">
                <a:solidFill>
                  <a:srgbClr val="9DAFBE"/>
                </a:solidFill>
                <a:latin typeface="Noto Sans CJK KR" pitchFamily="34" charset="0"/>
                <a:ea typeface="Noto Sans CJK KR" pitchFamily="34" charset="-122"/>
                <a:cs typeface="Noto Sans CJK KR" pitchFamily="34" charset="-120"/>
              </a:rPr>
              <a:t>10 / 10</a:t>
            </a:r>
            <a:endParaRPr lang="en-US" sz="1050" dirty="0"/>
          </a:p>
        </p:txBody>
      </p:sp>
      <p:sp>
        <p:nvSpPr>
          <p:cNvPr id="5" name="Text 3"/>
          <p:cNvSpPr/>
          <p:nvPr/>
        </p:nvSpPr>
        <p:spPr>
          <a:xfrm>
            <a:off x="813816" y="795528"/>
            <a:ext cx="7315200" cy="283464"/>
          </a:xfrm>
          <a:prstGeom prst="rect">
            <a:avLst/>
          </a:prstGeom>
          <a:noFill/>
          <a:ln/>
        </p:spPr>
        <p:txBody>
          <a:bodyPr wrap="square" lIns="0" tIns="0" rIns="0" bIns="0" rtlCol="0" anchor="ctr"/>
          <a:lstStyle/>
          <a:p>
            <a:pPr indent="0" marL="0">
              <a:buNone/>
            </a:pPr>
            <a:r>
              <a:rPr lang="en-US" sz="1140" b="1" spc="140" kern="0" dirty="0">
                <a:solidFill>
                  <a:srgbClr val="B5EEE2"/>
                </a:solidFill>
                <a:latin typeface="Noto Sans CJK KR" pitchFamily="34" charset="0"/>
                <a:ea typeface="Noto Sans CJK KR" pitchFamily="34" charset="-122"/>
                <a:cs typeface="Noto Sans CJK KR" pitchFamily="34" charset="-120"/>
              </a:rPr>
              <a:t>09  ·  TEAM DISCUSSION</a:t>
            </a:r>
            <a:endParaRPr lang="en-US" sz="1140" dirty="0"/>
          </a:p>
        </p:txBody>
      </p:sp>
      <p:sp>
        <p:nvSpPr>
          <p:cNvPr id="6" name="Text 4"/>
          <p:cNvSpPr/>
          <p:nvPr/>
        </p:nvSpPr>
        <p:spPr>
          <a:xfrm>
            <a:off x="804672" y="1527048"/>
            <a:ext cx="10570464" cy="685800"/>
          </a:xfrm>
          <a:prstGeom prst="rect">
            <a:avLst/>
          </a:prstGeom>
          <a:noFill/>
          <a:ln/>
        </p:spPr>
        <p:txBody>
          <a:bodyPr wrap="square" lIns="0" tIns="0" rIns="0" bIns="0" rtlCol="0" anchor="ctr"/>
          <a:lstStyle/>
          <a:p>
            <a:pPr indent="0" marL="0">
              <a:buNone/>
            </a:pPr>
            <a:r>
              <a:rPr lang="en-US" sz="2940" b="1" dirty="0">
                <a:solidFill>
                  <a:srgbClr val="FFFFFF"/>
                </a:solidFill>
                <a:latin typeface="Noto Sans CJK KR" pitchFamily="34" charset="0"/>
                <a:ea typeface="Noto Sans CJK KR" pitchFamily="34" charset="-122"/>
                <a:cs typeface="Noto Sans CJK KR" pitchFamily="34" charset="-120"/>
              </a:rPr>
              <a:t>저희가 만들고 싶은 것은</a:t>
            </a:r>
            <a:endParaRPr lang="en-US" sz="2940" dirty="0"/>
          </a:p>
        </p:txBody>
      </p:sp>
      <p:sp>
        <p:nvSpPr>
          <p:cNvPr id="7" name="Text 5"/>
          <p:cNvSpPr/>
          <p:nvPr/>
        </p:nvSpPr>
        <p:spPr>
          <a:xfrm>
            <a:off x="804672" y="2368296"/>
            <a:ext cx="10597896" cy="722376"/>
          </a:xfrm>
          <a:prstGeom prst="rect">
            <a:avLst/>
          </a:prstGeom>
          <a:noFill/>
          <a:ln/>
        </p:spPr>
        <p:txBody>
          <a:bodyPr wrap="square" lIns="0" tIns="0" rIns="0" bIns="0" rtlCol="0" anchor="ctr"/>
          <a:lstStyle/>
          <a:p>
            <a:pPr indent="0" marL="0">
              <a:buNone/>
            </a:pPr>
            <a:r>
              <a:rPr lang="en-US" sz="3110" b="1" dirty="0">
                <a:solidFill>
                  <a:srgbClr val="FFFFFF"/>
                </a:solidFill>
                <a:latin typeface="Noto Sans CJK KR" pitchFamily="34" charset="0"/>
                <a:ea typeface="Noto Sans CJK KR" pitchFamily="34" charset="-122"/>
                <a:cs typeface="Noto Sans CJK KR" pitchFamily="34" charset="-120"/>
              </a:rPr>
              <a:t>또 하나의 카드 추천 AI가 아니라,</a:t>
            </a:r>
            <a:endParaRPr lang="en-US" sz="3110" dirty="0"/>
          </a:p>
        </p:txBody>
      </p:sp>
      <p:sp>
        <p:nvSpPr>
          <p:cNvPr id="8" name="Text 6"/>
          <p:cNvSpPr/>
          <p:nvPr/>
        </p:nvSpPr>
        <p:spPr>
          <a:xfrm>
            <a:off x="804672" y="3227832"/>
            <a:ext cx="10689336" cy="859536"/>
          </a:xfrm>
          <a:prstGeom prst="rect">
            <a:avLst/>
          </a:prstGeom>
          <a:noFill/>
          <a:ln/>
        </p:spPr>
        <p:txBody>
          <a:bodyPr wrap="square" lIns="0" tIns="0" rIns="0" bIns="0" rtlCol="0" anchor="ctr"/>
          <a:lstStyle/>
          <a:p>
            <a:pPr indent="0" marL="0">
              <a:buNone/>
            </a:pPr>
            <a:r>
              <a:rPr lang="en-US" sz="3270" b="1" dirty="0">
                <a:solidFill>
                  <a:srgbClr val="B5EEE2"/>
                </a:solidFill>
                <a:latin typeface="Noto Sans CJK KR" pitchFamily="34" charset="0"/>
                <a:ea typeface="Noto Sans CJK KR" pitchFamily="34" charset="-122"/>
                <a:cs typeface="Noto Sans CJK KR" pitchFamily="34" charset="-120"/>
              </a:rPr>
              <a:t>변경에 대응하는 혜택 판단 기반입니다.</a:t>
            </a:r>
            <a:endParaRPr lang="en-US" sz="3270" dirty="0"/>
          </a:p>
        </p:txBody>
      </p:sp>
      <p:sp>
        <p:nvSpPr>
          <p:cNvPr id="9" name="Shape 7"/>
          <p:cNvSpPr/>
          <p:nvPr/>
        </p:nvSpPr>
        <p:spPr>
          <a:xfrm>
            <a:off x="822960" y="4434840"/>
            <a:ext cx="10433304" cy="0"/>
          </a:xfrm>
          <a:prstGeom prst="line">
            <a:avLst/>
          </a:prstGeom>
          <a:noFill/>
          <a:ln w="15240">
            <a:solidFill>
              <a:srgbClr val="466276"/>
            </a:solidFill>
            <a:prstDash val="solid"/>
          </a:ln>
        </p:spPr>
      </p:sp>
      <p:sp>
        <p:nvSpPr>
          <p:cNvPr id="10" name="Text 8"/>
          <p:cNvSpPr/>
          <p:nvPr/>
        </p:nvSpPr>
        <p:spPr>
          <a:xfrm>
            <a:off x="832104" y="4800600"/>
            <a:ext cx="3218688" cy="393192"/>
          </a:xfrm>
          <a:prstGeom prst="rect">
            <a:avLst/>
          </a:prstGeom>
          <a:noFill/>
          <a:ln/>
        </p:spPr>
        <p:txBody>
          <a:bodyPr wrap="square" lIns="0" tIns="0" rIns="0" bIns="0" rtlCol="0" anchor="ctr"/>
          <a:lstStyle/>
          <a:p>
            <a:pPr indent="0" marL="0">
              <a:buNone/>
            </a:pPr>
            <a:r>
              <a:rPr lang="en-US" sz="1780" b="1" dirty="0">
                <a:solidFill>
                  <a:srgbClr val="FFFFFF"/>
                </a:solidFill>
                <a:latin typeface="Noto Sans CJK KR" pitchFamily="34" charset="0"/>
                <a:ea typeface="Noto Sans CJK KR" pitchFamily="34" charset="-122"/>
                <a:cs typeface="Noto Sans CJK KR" pitchFamily="34" charset="-120"/>
              </a:rPr>
              <a:t>조건 관리</a:t>
            </a:r>
            <a:endParaRPr lang="en-US" sz="1780" dirty="0"/>
          </a:p>
        </p:txBody>
      </p:sp>
      <p:sp>
        <p:nvSpPr>
          <p:cNvPr id="11" name="Text 9"/>
          <p:cNvSpPr/>
          <p:nvPr/>
        </p:nvSpPr>
        <p:spPr>
          <a:xfrm>
            <a:off x="832104" y="5330952"/>
            <a:ext cx="3218688" cy="393192"/>
          </a:xfrm>
          <a:prstGeom prst="rect">
            <a:avLst/>
          </a:prstGeom>
          <a:noFill/>
          <a:ln/>
        </p:spPr>
        <p:txBody>
          <a:bodyPr wrap="square" lIns="0" tIns="0" rIns="0" bIns="0" rtlCol="0" anchor="ctr"/>
          <a:lstStyle/>
          <a:p>
            <a:pPr indent="0" marL="0">
              <a:buNone/>
            </a:pPr>
            <a:r>
              <a:rPr lang="en-US" sz="1260" dirty="0">
                <a:solidFill>
                  <a:srgbClr val="C7D4E0"/>
                </a:solidFill>
                <a:latin typeface="Noto Sans CJK KR" pitchFamily="34" charset="0"/>
                <a:ea typeface="Noto Sans CJK KR" pitchFamily="34" charset="-122"/>
                <a:cs typeface="Noto Sans CJK KR" pitchFamily="34" charset="-120"/>
              </a:rPr>
              <a:t>공개 약관 기반의 검증 가능한 원본</a:t>
            </a:r>
            <a:endParaRPr lang="en-US" sz="1260" dirty="0"/>
          </a:p>
        </p:txBody>
      </p:sp>
      <p:sp>
        <p:nvSpPr>
          <p:cNvPr id="12" name="Text 10"/>
          <p:cNvSpPr/>
          <p:nvPr/>
        </p:nvSpPr>
        <p:spPr>
          <a:xfrm>
            <a:off x="4562856" y="4800600"/>
            <a:ext cx="3218688" cy="393192"/>
          </a:xfrm>
          <a:prstGeom prst="rect">
            <a:avLst/>
          </a:prstGeom>
          <a:noFill/>
          <a:ln/>
        </p:spPr>
        <p:txBody>
          <a:bodyPr wrap="square" lIns="0" tIns="0" rIns="0" bIns="0" rtlCol="0" anchor="ctr"/>
          <a:lstStyle/>
          <a:p>
            <a:pPr indent="0" marL="0">
              <a:buNone/>
            </a:pPr>
            <a:r>
              <a:rPr lang="en-US" sz="1780" b="1" dirty="0">
                <a:solidFill>
                  <a:srgbClr val="FFFFFF"/>
                </a:solidFill>
                <a:latin typeface="Noto Sans CJK KR" pitchFamily="34" charset="0"/>
                <a:ea typeface="Noto Sans CJK KR" pitchFamily="34" charset="-122"/>
                <a:cs typeface="Noto Sans CJK KR" pitchFamily="34" charset="-120"/>
              </a:rPr>
              <a:t>신속한 반영</a:t>
            </a:r>
            <a:endParaRPr lang="en-US" sz="1780" dirty="0"/>
          </a:p>
        </p:txBody>
      </p:sp>
      <p:sp>
        <p:nvSpPr>
          <p:cNvPr id="13" name="Text 11"/>
          <p:cNvSpPr/>
          <p:nvPr/>
        </p:nvSpPr>
        <p:spPr>
          <a:xfrm>
            <a:off x="4562856" y="5330952"/>
            <a:ext cx="3218688" cy="393192"/>
          </a:xfrm>
          <a:prstGeom prst="rect">
            <a:avLst/>
          </a:prstGeom>
          <a:noFill/>
          <a:ln/>
        </p:spPr>
        <p:txBody>
          <a:bodyPr wrap="square" lIns="0" tIns="0" rIns="0" bIns="0" rtlCol="0" anchor="ctr"/>
          <a:lstStyle/>
          <a:p>
            <a:pPr indent="0" marL="0">
              <a:buNone/>
            </a:pPr>
            <a:r>
              <a:rPr lang="en-US" sz="1260" dirty="0">
                <a:solidFill>
                  <a:srgbClr val="C7D4E0"/>
                </a:solidFill>
                <a:latin typeface="Noto Sans CJK KR" pitchFamily="34" charset="0"/>
                <a:ea typeface="Noto Sans CJK KR" pitchFamily="34" charset="-122"/>
                <a:cs typeface="Noto Sans CJK KR" pitchFamily="34" charset="-120"/>
              </a:rPr>
              <a:t>변경 전후 판정을 다음 요청에서 비교</a:t>
            </a:r>
            <a:endParaRPr lang="en-US" sz="1260" dirty="0"/>
          </a:p>
        </p:txBody>
      </p:sp>
      <p:sp>
        <p:nvSpPr>
          <p:cNvPr id="14" name="Text 12"/>
          <p:cNvSpPr/>
          <p:nvPr/>
        </p:nvSpPr>
        <p:spPr>
          <a:xfrm>
            <a:off x="8293608" y="4800600"/>
            <a:ext cx="3218688" cy="393192"/>
          </a:xfrm>
          <a:prstGeom prst="rect">
            <a:avLst/>
          </a:prstGeom>
          <a:noFill/>
          <a:ln/>
        </p:spPr>
        <p:txBody>
          <a:bodyPr wrap="square" lIns="0" tIns="0" rIns="0" bIns="0" rtlCol="0" anchor="ctr"/>
          <a:lstStyle/>
          <a:p>
            <a:pPr indent="0" marL="0">
              <a:buNone/>
            </a:pPr>
            <a:r>
              <a:rPr lang="en-US" sz="1780" b="1" dirty="0">
                <a:solidFill>
                  <a:srgbClr val="FFFFFF"/>
                </a:solidFill>
                <a:latin typeface="Noto Sans CJK KR" pitchFamily="34" charset="0"/>
                <a:ea typeface="Noto Sans CJK KR" pitchFamily="34" charset="-122"/>
                <a:cs typeface="Noto Sans CJK KR" pitchFamily="34" charset="-120"/>
              </a:rPr>
              <a:t>여러 채널</a:t>
            </a:r>
            <a:endParaRPr lang="en-US" sz="1780" dirty="0"/>
          </a:p>
        </p:txBody>
      </p:sp>
      <p:sp>
        <p:nvSpPr>
          <p:cNvPr id="15" name="Text 13"/>
          <p:cNvSpPr/>
          <p:nvPr/>
        </p:nvSpPr>
        <p:spPr>
          <a:xfrm>
            <a:off x="8293608" y="5330952"/>
            <a:ext cx="3218688" cy="393192"/>
          </a:xfrm>
          <a:prstGeom prst="rect">
            <a:avLst/>
          </a:prstGeom>
          <a:noFill/>
          <a:ln/>
        </p:spPr>
        <p:txBody>
          <a:bodyPr wrap="square" lIns="0" tIns="0" rIns="0" bIns="0" rtlCol="0" anchor="ctr"/>
          <a:lstStyle/>
          <a:p>
            <a:pPr indent="0" marL="0">
              <a:buNone/>
            </a:pPr>
            <a:r>
              <a:rPr lang="en-US" sz="1260" dirty="0">
                <a:solidFill>
                  <a:srgbClr val="C7D4E0"/>
                </a:solidFill>
                <a:latin typeface="Noto Sans CJK KR" pitchFamily="34" charset="0"/>
                <a:ea typeface="Noto Sans CJK KR" pitchFamily="34" charset="-122"/>
                <a:cs typeface="Noto Sans CJK KR" pitchFamily="34" charset="-120"/>
              </a:rPr>
              <a:t>웹 · MCP에 일관된 판단 기준 제공</a:t>
            </a:r>
            <a:endParaRPr lang="en-US" sz="1260" dirty="0"/>
          </a:p>
        </p:txBody>
      </p:sp>
      <p:sp>
        <p:nvSpPr>
          <p:cNvPr id="16" name="Shape 14"/>
          <p:cNvSpPr/>
          <p:nvPr/>
        </p:nvSpPr>
        <p:spPr>
          <a:xfrm>
            <a:off x="822960" y="5934456"/>
            <a:ext cx="7498080" cy="347472"/>
          </a:xfrm>
          <a:prstGeom prst="roundRect">
            <a:avLst>
              <a:gd name="adj" fmla="val 44737"/>
            </a:avLst>
          </a:prstGeom>
          <a:solidFill>
            <a:srgbClr val="263C50"/>
          </a:solidFill>
          <a:ln w="12700">
            <a:solidFill>
              <a:srgbClr val="263C50">
                <a:alpha val="0"/>
              </a:srgbClr>
            </a:solidFill>
            <a:prstDash val="solid"/>
          </a:ln>
        </p:spPr>
      </p:sp>
      <p:sp>
        <p:nvSpPr>
          <p:cNvPr id="17" name="Text 15"/>
          <p:cNvSpPr/>
          <p:nvPr/>
        </p:nvSpPr>
        <p:spPr>
          <a:xfrm>
            <a:off x="905256" y="5943600"/>
            <a:ext cx="7333488" cy="320040"/>
          </a:xfrm>
          <a:prstGeom prst="rect">
            <a:avLst/>
          </a:prstGeom>
          <a:noFill/>
          <a:ln/>
        </p:spPr>
        <p:txBody>
          <a:bodyPr wrap="square" lIns="0" tIns="0" rIns="0" bIns="0" rtlCol="0" anchor="ctr"/>
          <a:lstStyle/>
          <a:p>
            <a:pPr algn="ctr" indent="0" marL="0">
              <a:buNone/>
            </a:pPr>
            <a:r>
              <a:rPr lang="en-US" sz="1150" b="1" dirty="0">
                <a:solidFill>
                  <a:srgbClr val="B5EEE2"/>
                </a:solidFill>
                <a:latin typeface="Noto Sans CJK KR" pitchFamily="34" charset="0"/>
                <a:ea typeface="Noto Sans CJK KR" pitchFamily="34" charset="-122"/>
                <a:cs typeface="Noto Sans CJK KR" pitchFamily="34" charset="-120"/>
              </a:rPr>
              <a:t>팀 합의 전 재검토안 · 데이터 범위와 기술 효과는 실험으로 판정</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엔코아 AI 캠퍼스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카드 혜택 AI - 변경에 대응하는 판단 기반</dc:title>
  <dc:subject>카드 혜택 판단 기반 - 프로젝트 재검토 발표</dc:subject>
  <dc:creator>OpenAI</dc:creator>
  <cp:lastModifiedBy>OpenAI</cp:lastModifiedBy>
  <cp:revision>1</cp:revision>
  <dcterms:created xsi:type="dcterms:W3CDTF">2026-10-28T13:22:32Z</dcterms:created>
  <dcterms:modified xsi:type="dcterms:W3CDTF">2026-10-28T13:22:32Z</dcterms:modified>
</cp:coreProperties>
</file>