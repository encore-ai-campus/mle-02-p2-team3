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도입" id="{b88287d6-cb97-ba88-5eba-8c7daa7369a6}">
          <p14:sldIdLst>
            <p14:sldId id="256"/>
            <p14:sldId id="257"/>
            <p14:sldId id="258"/>
          </p14:sldIdLst>
        </p14:section>
        <p14:section name="왜 어려운가" id="{3f1e1b18-68a2-6a85-45a4-8b5a8c165d04}">
          <p14:sldIdLst>
            <p14:sldId id="259"/>
            <p14:sldId id="260"/>
          </p14:sldIdLst>
        </p14:section>
        <p14:section name="왜 GraphRAG인가" id="{9a7656b1-6a8a-281b-ad16-00594a59d4d8}">
          <p14:sldIdLst>
            <p14:sldId id="261"/>
          </p14:sldIdLst>
        </p14:section>
        <p14:section name="제안 구조와 시연" id="{c449cea3-96ea-a991-63b2-d4790cb084c0}">
          <p14:sldIdLst>
            <p14:sldId id="262"/>
            <p14:sldId id="263"/>
            <p14:sldId id="264"/>
            <p14:sldId id="265"/>
            <p14:sldId id="266"/>
          </p14:sldIdLst>
        </p14:section>
        <p14:section name="가치와 결론" id="{c0be631d-6839-b175-02f9-5ea819e4f000}">
          <p14:sldIdLst>
            <p14:sldId id="267"/>
            <p14:sldId id="268"/>
          </p14:sldIdLst>
        </p14:section>
        <p14:section name="부록" id="{05cbdd94-f0a2-2ac6-fbb3-7b8b283c0b2f}">
          <p14:sldIdLst>
            <p14:sldId id="269"/>
            <p14:sldId id="270"/>
            <p14:sldId id="271"/>
            <p14:sldId id="272"/>
            <p14:sldId id="27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고객이 앞으로 카드사 앱뿐 아니라 외부 AI에도 먼저 카드 혜택을 묻는다면 어떤 문제가 생길까요? 이 문장은 이용 행태가 이미 역전됐다는 통계가 아니라 미래 채널 변화에 대한 질문입니다. 오른쪽 답은 하나카드 ONE PICK STYLE 상품설명서 기준으로 맞는 답입니다. 그런데 이 답이 어느 조항에서 나왔는지, 상품권 구매가 실적에 들어가는지, 어제 조건이 바뀌었다면 반영됐는지는 답 안에 없습니다. 오늘 발표는 이 세 질문에 답할 수 있는 기반을 어떻게 만들 것인가에 대한 제안입니다.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신한카드는 2026년 9월 9일 복잡한 금융상품 조건을 판단하는 AI 엔진 공동 개발을 발표했고, 나흘 뒤 9월 13일에는 ChatGPT for Kakao에 카드 추천과 혜택 조회를 연결했습니다. 한 발표는 외부 AI 채널에 카드사 기능을 연결한 사례이고, 다른 발표는 복합 조건 판단 엔진 개발 계획입니다. 두 시스템이 내부적으로 통합됐다는 근거는 아직 없습니다. 신한이 직접 꼽은 문제는 환각, 비일관성, 복합 조건 누락, 정책·규정 미반영입니다. 이 사례는 우리 기술이 검증됐다는 뜻이 아니라, 업계가 실제로 이 문제를 고민하고 있다는 근거로 인용합니다. 두 시스템이 내부적으로 연결돼 있는지, GraphRAG를 쓰는지는 공개되지 않았습니다.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하나의 카드 상품 조건이 상품·준법 검토, 상담원, 자사 앱 AI, 외부 AI로 흘러갑니다. 앞으로 채널마다 서로 다른 사본이나 판단 로직을 관리한다면 다음 세 가지 위험이 커질 수 있습니다. 조건이 빠지거나 출처가 없는 답, 어제 바뀐 조건이 일부 채널에만 반영되는 문제, 채널마다 판단 로직을 다시 만드는 비용입니다. 그래서 필요한 것을 근거, 변경, 재사용 세 가지로 정리했고, 이 세 단어가 이후 발표의 축입니다.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이번 질문을 구체화하면 이렇습니다. 상품권 구매 실적 제외 조항이 바뀌면 어떤 상품의 어떤 혜택을 다시 봐야 할까요. 아래 표는 현재 원문 대조를 진행한 4종, 즉 체크카드 ONE PICK STYLE·PLAY 2종과 신용카드 BT·에너지 더블 2종의 확인 사례입니다. 이 4종을 바탕으로 유사한 혜택을 가진 체크·신용카드를 약 10종까지 확대 선정하는 것이 다음 목표입니다. 추가 후보는 공식 상품설명서와 혜택 중복도를 확인한 뒤 정하고, 아직 선정·적재·검증이 완료된 것처럼 말하지 않습니다. 기존 4종에는 모두 상품권 제외 문구가 있습니다. 그런데 같은 상품권이 전월실적 산정 제외로도, 할인 제외로도 쓰입니다. 또 실적 조건은 카드 전체가 아니라 혜택마다 걸립니다. BT의 BIG TICKET은 원문 표에 지난달 실적이 ‘없음’이고, 인천공항 라운지만 50만원입니다. 답은 시연 ②에서 그래프로 보여드리겠습니다.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두 번째 어려움은 원문 자체입니다. PDF에서 글자와 숫자는 거의 다 나옵니다. 그런데 BT의 BIG TICKET 표는 할인율 4개가 한 셀로 뭉치고 구간 열이 사라집니다. STYLE과 PLAY는 기본 표 탐지가 0개였습니다. ONE PICK, STYLE, PLAY에 모두 월 5천원이 있어 숫자만으로는 어느 혜택의 한도인지 알 수 없습니다. 그리고 PG·간편결제 재분류 문장은 카드사마다 거의 같지만 결론은 정반대입니다. 그래서 원문 위치 보존, 근거 문장 필수, 정책 단위 정규화, 원문 대조 검증이 필요합니다. 이것이 과제 M1, M3~M5, M8입니다.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심사위원께서 가장 먼저 물으실 질문을 먼저 꺼내겠습니다. PostgreSQL로도 되지 않나요? 됩니다. 정규화가 끝나면 SQL JOIN으로 같은 영향 목록을 낼 수 있고, 우리 팀은 PostgreSQL 정제·검증 DB 설계 초안도 갖고 있습니다. 일반 벡터 RAG는 구현이 가장 쉽지만 실적 제외와 혜택 제외 같은 적용 범위를 구분하거나 영향 목록의 완전성을 보장하기 어렵습니다. GraphRAG의 가치는 카드, 혜택, 조건, 약관 조항을 명시적 경로로 저장해서 근거 경로를 함께 돌려주고, 가변 길이 영향 탐색과 도구화가 단순해지는가에 있습니다. 이것은 가설이며, 같은 골든 질문으로 세 방식을 비교해 확인하겠습니다. 표의 기호는 실험 결과가 아니라 예상입니다.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우리가 제안하는 구조입니다. 현재 약관 문구를 사전 대조한 체크 2종·신용 2종을 시작으로, 유사 혜택을 기준으로 약 10종의 체크·신용카드를 선정할 계획입니다. 그 뒤 원문 버전·해시와 위치를 보존하면서 하나카드 상품설명서를 나누고, LLM이 근거 문장과 함께 관계를 추출하고, 정책 단위로 정규화한 뒤 검증합니다. 그 결과가 Neo4j의 카드-혜택-조건-조항 그래프이고, 판단은 이 엔진의 Cypher 쿼리가 합니다. 오른쪽의 내부 API와 MCP 서버는 연결 계층일 뿐, 판단 로직을 갖지 않습니다. 그래서 채널이 달라도 같은 근거가 나갑니다. 다만 외부 AI가 도구를 호출할지, 어떻게 요약할지, 브랜드 문구를 보여줄지는 카드사가 보장할 수 없습니다. 지금 이 구조는 설계안이고, 현재 구현은 카드 등록·조회 CLI까지입니다.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첫 번째 시연은 판단과 근거 경로입니다. 판정은 적용, 미적용, 판단 불가 세 가지입니다. 편의점 ONE PICK 캐시백은 실적 무관이므로 적용, 상품권 구매는 ONE MORE 실적 산정에서 제외되므로 미적용입니다. 세 번째처럼 특정 가게가 편의점 업종인지는 하나카드의 가맹점 업종 기준, 즉 PDF 밖 정보에 달려 있습니다. 이때 엔진은 추측하지 않고 판단 불가와 사유를 돌려줍니다. 판정 값은 원문으로 확인했고, 그래프 경로와 화면은 구현 후 시연할 예정입니다.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3장의 질문에 답하는 핵심 시연입니다. 상품권 구매를 전월실적에 포함하도록 조항이 바뀐다고 가정합니다. 단순히 ‘상품권’을 검색하면 4개 상품의 모든 상품권 문구가 다 나옵니다. 구현할 그래프는 카드에서 혜택, 혜택이 요구하는 실적 조건, 그 조건이 제외하는 항목까지 경로를 따라가도록 설계합니다. 현재 대조한 4종의 원문에서는 실적 조건에 연결된 7개 혜택을 검토 대상으로 수작업 도출했으며, BIG TICKET 할인 제외처럼 같은 단어지만 범위가 다른 조항은 따로 표시됩니다. BIG TICKET은 원문 표에 지난달 실적이 ‘없음’이라 이번 변경의 영향을 받지 않습니다. 이 목록은 원문으로 손으로 도출한 기대 결과이고, 같은 결과를 Cypher와 MCP로 재현하는 것이 시연 목표입니다. 자동 정책 변경이 아니라 사람이 확인할 검토 목록입니다.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세 번째 시연은 신뢰의 근거, 즉 오류 검증입니다. 원문 청크, 트리플, 정규화 개체, 그래프 사이를 원문과 대조하고, 오류는 6가지로 분류합니다. 오른쪽은 원문 조사에서 이미 확인한 함정들입니다. 상품권이 실적 제외와 할인 제외에 모두 나오는 문제, 표가 깨져서 잘못된 관계가 만들어질 위험, 그리고 원문 오기처럼 보이는 문구를 임의로 고치는 위험입니다. 지금은 위험 사례이고, LLM 실행 로그로 재현된 실제 오답은 추출 후 교체하겠습니다. 저희 목표는 전부 고쳤다가 아니라 어디서 멈추는지 안다입니다.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MCP는 이 구조에서 판단을 하지 않습니다. 이미 검증한 조회 함수를 다른 AI 클라이언트가 호출할 수 있게 연결할 뿐입니다. 시연은 같은 질문을 Neo4j Browser의 Cypher와 로컬 MCP 클라이언트로 각각 실행해 구조화된 결과가 같은지 확인하는 것입니다. 외부 AI가 그 결과를 어떻게 요약하는지는 따로 평가해야 합니다. 신한카드도 카카오 PlayMCP로 외부 AI에 연결했지만, 저희 시연은 로컬 클라이언트까지이며 카카오 연동이 아닙니다. 일정이 밀리면 도구는 get_card_benefits 하나만 남깁니다.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그렇다면 카드사가 왜 자체 AI 채널을 운영하려 할까요. 같은 엔진을 쓰면 자사 AI와 외부 AI가 받는 판단 근거는 같습니다. 차이는 엔진이 아니라 통제권입니다. 고객 접점, 답변 구성 권한, 브랜드와 캠페인 표시, 최신 조건 반영 절차입니다. 그래서 확장 제안으로 마케팅 정책 계층을 검토합니다. 승인 문구를 관리하고, 문구 속 주장을 약관과 대조하고, 조건이 바뀌면 다시 심의할 문구를 찾는 것입니다. 단 원칙이 있습니다. 판단이 먼저이고, 마케팅 데이터는 판단에 들어가지 않으며, 광고는 분리 표시합니다. 이 계층은 현재 구현 범위가 아닌 제안입니다.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처음 질문으로 돌아가겠습니다. 그 AI는 어제 바뀐 우리 카드의 조건을 알고 있습니까. 저희가 검증하려는 것은 카드 추천 화면 하나가 아니라, 여러 AI 채널이 재사용할 수 있는 카드 혜택 판단의 공통 기반입니다. 현재 체크카드 2종과 신용카드 2종의 원문 대조를 출발점으로, 유사한 혜택이 있는 약 10종을 선정해 범위를 넓히려 합니다. 약 10종 전체의 구현과 검증은 아직 완료되지 않았습니다. 근거, 변경, 재사용. 어제 바뀐 조건이 오늘 어떤 혜택을 흔드는지 원문과 함께 답하는 것, 그리고 답할 수 없는 지점은 답하지 않는 것. 그것이 저희가 3일 동안 검증하려는 구조입니다. 감사합니다.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329184"/>
            <a:ext cx="7498080" cy="292608"/>
          </a:xfrm>
          <a:prstGeom prst="rect">
            <a:avLst/>
          </a:prstGeom>
          <a:noFill/>
          <a:ln/>
        </p:spPr>
        <p:txBody>
          <a:bodyPr wrap="square" rtlCol="0"/>
          <a:lstStyle>
            <a:lvl1pPr indent="0" marL="0">
              <a:buNone/>
              <a:defRPr lang="en-US" sz="1200" b="1" dirty="0">
                <a:solidFill>
                  <a:srgbClr val="8F5208"/>
                </a:solidFill>
                <a:latin typeface="Malgun Gothic" pitchFamily="34" charset="0"/>
                <a:ea typeface="Malgun Gothic" pitchFamily="34" charset="-122"/>
                <a:cs typeface="Malgun Gothic" pitchFamily="34" charset="-120"/>
              </a:defRPr>
            </a:lvl1pPr>
          </a:lstStyle>
          <a:p>
            <a:pPr indent="0" marL="0">
              <a:buNone/>
            </a:pPr>
            <a:endParaRPr lang="en-US" sz="1200" dirty="0"/>
          </a:p>
        </p:txBody>
      </p:sp>
      <p:sp>
        <p:nvSpPr>
          <p:cNvPr id="3" name="Text 0"/>
          <p:cNvSpPr/>
          <p:nvPr>
            <p:ph idx="101" type="title" hasCustomPrompt="1"/>
          </p:nvPr>
        </p:nvSpPr>
        <p:spPr>
          <a:xfrm>
            <a:off x="548640" y="658368"/>
            <a:ext cx="11094415" cy="868680"/>
          </a:xfrm>
          <a:prstGeom prst="rect">
            <a:avLst/>
          </a:prstGeom>
          <a:noFill/>
          <a:ln/>
        </p:spPr>
        <p:txBody>
          <a:bodyPr wrap="square" rtlCol="0"/>
          <a:lstStyle>
            <a:lvl1pPr algn="l" indent="0" marL="0">
              <a:buNone/>
              <a:defRPr lang="en-US" sz="2400" b="1" dirty="0">
                <a:solidFill>
                  <a:srgbClr val="0E1A2B"/>
                </a:solidFill>
                <a:latin typeface="Malgun Gothic" pitchFamily="34" charset="0"/>
                <a:ea typeface="Malgun Gothic" pitchFamily="34" charset="-122"/>
                <a:cs typeface="Malgun Gothic" pitchFamily="34" charset="-120"/>
              </a:defRPr>
            </a:lvl1pPr>
          </a:lstStyle>
          <a:p>
            <a:pPr algn="l" indent="0" marL="0">
              <a:buNone/>
            </a:pPr>
            <a:endParaRPr lang="en-US" sz="2400" dirty="0"/>
          </a:p>
        </p:txBody>
      </p:sp>
      <p:sp>
        <p:nvSpPr>
          <p:cNvPr id="25" name="Slide Number Placeholder 0"/>
          <p:cNvSpPr>
            <a:spLocks noGrp="1"/>
          </p:cNvSpPr>
          <p:nvPr>
            <p:ph type="sldNum" sz="quarter" idx="4294967295"/>
          </p:nvPr>
        </p:nvSpPr>
        <p:spPr>
          <a:xfrm>
            <a:off x="11274552" y="6437376"/>
            <a:ext cx="36576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Malgun Gothic"/>
                <a:ea typeface="Malgun Gothic"/>
                <a:cs typeface="Malgun Gothic"/>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0E1A2B"/>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74552" y="6437376"/>
            <a:ext cx="36576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6F7F96"/>
                </a:solidFill>
                <a:latin typeface="Malgun Gothic"/>
                <a:ea typeface="Malgun Gothic"/>
                <a:cs typeface="Malgun Gothic"/>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74552" y="6437376"/>
            <a:ext cx="36576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Malgun Gothic"/>
                <a:ea typeface="Malgun Gothic"/>
                <a:cs typeface="Malgun Gothic"/>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640080" y="502920"/>
            <a:ext cx="8229600" cy="320040"/>
          </a:xfrm>
          <a:prstGeom prst="rect">
            <a:avLst/>
          </a:prstGeom>
          <a:noFill/>
          <a:ln/>
        </p:spPr>
        <p:txBody>
          <a:bodyPr wrap="square" lIns="0" tIns="0" rIns="0" bIns="0" rtlCol="0" anchor="t"/>
          <a:lstStyle/>
          <a:p>
            <a:pPr indent="0" marL="0">
              <a:buNone/>
            </a:pPr>
            <a:r>
              <a:rPr lang="en-US" sz="1300" dirty="0">
                <a:solidFill>
                  <a:srgbClr val="A9B7C9"/>
                </a:solidFill>
                <a:latin typeface="Malgun Gothic" pitchFamily="34" charset="0"/>
                <a:ea typeface="Malgun Gothic" pitchFamily="34" charset="-122"/>
                <a:cs typeface="Malgun Gothic" pitchFamily="34" charset="-120"/>
              </a:rPr>
              <a:t>하나카드 상품설명서 기반 GraphRAG  ·  카드 혜택 공통 판단 엔진</a:t>
            </a:r>
            <a:endParaRPr lang="en-US" sz="1300" dirty="0"/>
          </a:p>
        </p:txBody>
      </p:sp>
      <p:sp>
        <p:nvSpPr>
          <p:cNvPr id="3" name="Text 1"/>
          <p:cNvSpPr txBox="1"/>
          <p:nvPr/>
        </p:nvSpPr>
        <p:spPr>
          <a:xfrm>
            <a:off x="640080" y="1371600"/>
            <a:ext cx="7680960" cy="1417320"/>
          </a:xfrm>
          <a:prstGeom prst="rect">
            <a:avLst/>
          </a:prstGeom>
          <a:noFill/>
          <a:ln/>
        </p:spPr>
        <p:txBody>
          <a:bodyPr wrap="square" lIns="0" tIns="0" rIns="0" bIns="0" rtlCol="0" anchor="t"/>
          <a:lstStyle/>
          <a:p>
            <a:pPr indent="0" marL="0">
              <a:lnSpc>
                <a:spcPct val="105000"/>
              </a:lnSpc>
              <a:buNone/>
            </a:pPr>
            <a:r>
              <a:rPr lang="en-US" sz="3800" b="1" dirty="0">
                <a:solidFill>
                  <a:srgbClr val="FFFFFF"/>
                </a:solidFill>
                <a:latin typeface="Malgun Gothic" pitchFamily="34" charset="0"/>
                <a:ea typeface="Malgun Gothic" pitchFamily="34" charset="-122"/>
                <a:cs typeface="Malgun Gothic" pitchFamily="34" charset="-120"/>
              </a:rPr>
              <a:t>고객이 카드사 앱보다</a:t>
            </a:r>
            <a:endParaRPr lang="en-US" sz="3800" dirty="0"/>
          </a:p>
          <a:p>
            <a:pPr indent="0" marL="0">
              <a:lnSpc>
                <a:spcPct val="105000"/>
              </a:lnSpc>
              <a:buNone/>
            </a:pPr>
            <a:r>
              <a:rPr lang="en-US" sz="3800" b="1" dirty="0">
                <a:solidFill>
                  <a:srgbClr val="FFFFFF"/>
                </a:solidFill>
                <a:latin typeface="Malgun Gothic" pitchFamily="34" charset="0"/>
                <a:ea typeface="Malgun Gothic" pitchFamily="34" charset="-122"/>
                <a:cs typeface="Malgun Gothic" pitchFamily="34" charset="-120"/>
              </a:rPr>
              <a:t>AI에게 먼저 묻는다면?</a:t>
            </a:r>
            <a:endParaRPr lang="en-US" sz="3800" dirty="0"/>
          </a:p>
        </p:txBody>
      </p:sp>
      <p:sp>
        <p:nvSpPr>
          <p:cNvPr id="4" name="Text 2"/>
          <p:cNvSpPr txBox="1"/>
          <p:nvPr/>
        </p:nvSpPr>
        <p:spPr>
          <a:xfrm>
            <a:off x="640080" y="3017520"/>
            <a:ext cx="7680960" cy="1051560"/>
          </a:xfrm>
          <a:prstGeom prst="rect">
            <a:avLst/>
          </a:prstGeom>
          <a:noFill/>
          <a:ln/>
        </p:spPr>
        <p:txBody>
          <a:bodyPr wrap="square" lIns="0" tIns="0" rIns="0" bIns="0" rtlCol="0" anchor="t"/>
          <a:lstStyle/>
          <a:p>
            <a:pPr indent="0" marL="0">
              <a:lnSpc>
                <a:spcPct val="105000"/>
              </a:lnSpc>
              <a:buNone/>
            </a:pPr>
            <a:r>
              <a:rPr lang="en-US" sz="2600" b="1" dirty="0">
                <a:solidFill>
                  <a:srgbClr val="E8A33D"/>
                </a:solidFill>
                <a:latin typeface="Malgun Gothic" pitchFamily="34" charset="0"/>
                <a:ea typeface="Malgun Gothic" pitchFamily="34" charset="-122"/>
                <a:cs typeface="Malgun Gothic" pitchFamily="34" charset="-120"/>
              </a:rPr>
              <a:t>그 AI는 바뀐 우리 카드의 조건을</a:t>
            </a:r>
            <a:endParaRPr lang="en-US" sz="2600" dirty="0"/>
          </a:p>
          <a:p>
            <a:pPr indent="0" marL="0">
              <a:lnSpc>
                <a:spcPct val="105000"/>
              </a:lnSpc>
              <a:buNone/>
            </a:pPr>
            <a:r>
              <a:rPr lang="en-US" sz="2600" b="1" dirty="0">
                <a:solidFill>
                  <a:srgbClr val="E8A33D"/>
                </a:solidFill>
                <a:latin typeface="Malgun Gothic" pitchFamily="34" charset="0"/>
                <a:ea typeface="Malgun Gothic" pitchFamily="34" charset="-122"/>
                <a:cs typeface="Malgun Gothic" pitchFamily="34" charset="-120"/>
              </a:rPr>
              <a:t>제대로 알고 있을까요?</a:t>
            </a:r>
            <a:endParaRPr lang="en-US" sz="2600" dirty="0"/>
          </a:p>
        </p:txBody>
      </p:sp>
      <p:sp>
        <p:nvSpPr>
          <p:cNvPr id="5" name="Text 3"/>
          <p:cNvSpPr txBox="1"/>
          <p:nvPr/>
        </p:nvSpPr>
        <p:spPr>
          <a:xfrm>
            <a:off x="640080" y="4434840"/>
            <a:ext cx="7498080" cy="777240"/>
          </a:xfrm>
          <a:prstGeom prst="rect">
            <a:avLst/>
          </a:prstGeom>
          <a:noFill/>
          <a:ln/>
        </p:spPr>
        <p:txBody>
          <a:bodyPr wrap="square" lIns="0" tIns="0" rIns="0" bIns="0" rtlCol="0" anchor="t"/>
          <a:lstStyle/>
          <a:p>
            <a:pPr indent="0" marL="0">
              <a:lnSpc>
                <a:spcPct val="115000"/>
              </a:lnSpc>
              <a:buNone/>
            </a:pPr>
            <a:r>
              <a:rPr lang="en-US" sz="1500" dirty="0">
                <a:solidFill>
                  <a:srgbClr val="D5DEEA"/>
                </a:solidFill>
                <a:latin typeface="Malgun Gothic" pitchFamily="34" charset="0"/>
                <a:ea typeface="Malgun Gothic" pitchFamily="34" charset="-122"/>
                <a:cs typeface="Malgun Gothic" pitchFamily="34" charset="-120"/>
              </a:rPr>
              <a:t>AI 채널은 늘어나도 카드 혜택의 판단 기준과 근거는 하나로 관리되어야 합니다.</a:t>
            </a:r>
            <a:endParaRPr lang="en-US" sz="1500" dirty="0"/>
          </a:p>
          <a:p>
            <a:pPr indent="0" marL="0">
              <a:lnSpc>
                <a:spcPct val="115000"/>
              </a:lnSpc>
              <a:buNone/>
            </a:pPr>
            <a:r>
              <a:rPr lang="en-US" sz="1500" dirty="0">
                <a:solidFill>
                  <a:srgbClr val="D5DEEA"/>
                </a:solidFill>
                <a:latin typeface="Malgun Gothic" pitchFamily="34" charset="0"/>
                <a:ea typeface="Malgun Gothic" pitchFamily="34" charset="-122"/>
                <a:cs typeface="Malgun Gothic" pitchFamily="34" charset="-120"/>
              </a:rPr>
              <a:t>이 발표는 그 기준을 만드는 방법에 대한 제안입니다.</a:t>
            </a:r>
            <a:endParaRPr lang="en-US" sz="1500" dirty="0"/>
          </a:p>
        </p:txBody>
      </p:sp>
      <p:sp>
        <p:nvSpPr>
          <p:cNvPr id="6" name="Text 4"/>
          <p:cNvSpPr txBox="1"/>
          <p:nvPr/>
        </p:nvSpPr>
        <p:spPr>
          <a:xfrm>
            <a:off x="640080" y="6172200"/>
            <a:ext cx="5486400" cy="274320"/>
          </a:xfrm>
          <a:prstGeom prst="rect">
            <a:avLst/>
          </a:prstGeom>
          <a:noFill/>
          <a:ln/>
        </p:spPr>
        <p:txBody>
          <a:bodyPr wrap="square" lIns="0" tIns="0" rIns="0" bIns="0" rtlCol="0" anchor="t"/>
          <a:lstStyle/>
          <a:p>
            <a:pPr indent="0" marL="0">
              <a:buNone/>
            </a:pPr>
            <a:r>
              <a:rPr lang="en-US" sz="1100" dirty="0">
                <a:solidFill>
                  <a:srgbClr val="7F8FA6"/>
                </a:solidFill>
                <a:latin typeface="Malgun Gothic" pitchFamily="34" charset="0"/>
                <a:ea typeface="Malgun Gothic" pitchFamily="34" charset="-122"/>
                <a:cs typeface="Malgun Gothic" pitchFamily="34" charset="-120"/>
              </a:rPr>
              <a:t>mle-02-p2-team3  ·  2026.10  ·  2차 팀 프로젝트</a:t>
            </a:r>
            <a:endParaRPr lang="en-US" sz="1100" dirty="0"/>
          </a:p>
        </p:txBody>
      </p:sp>
      <p:sp>
        <p:nvSpPr>
          <p:cNvPr id="7" name="Text 5"/>
          <p:cNvSpPr txBox="1"/>
          <p:nvPr/>
        </p:nvSpPr>
        <p:spPr>
          <a:xfrm>
            <a:off x="8549640" y="1371600"/>
            <a:ext cx="3108960" cy="274320"/>
          </a:xfrm>
          <a:prstGeom prst="rect">
            <a:avLst/>
          </a:prstGeom>
          <a:noFill/>
          <a:ln/>
        </p:spPr>
        <p:txBody>
          <a:bodyPr wrap="square" lIns="0" tIns="0" rIns="0" bIns="0" rtlCol="0" anchor="t"/>
          <a:lstStyle/>
          <a:p>
            <a:pPr indent="0" marL="0">
              <a:buNone/>
            </a:pPr>
            <a:r>
              <a:rPr lang="en-US" sz="1100" dirty="0">
                <a:solidFill>
                  <a:srgbClr val="7F8FA6"/>
                </a:solidFill>
                <a:latin typeface="Malgun Gothic" pitchFamily="34" charset="0"/>
                <a:ea typeface="Malgun Gothic" pitchFamily="34" charset="-122"/>
                <a:cs typeface="Malgun Gothic" pitchFamily="34" charset="-120"/>
              </a:rPr>
              <a:t>고객 → 외부 AI</a:t>
            </a:r>
            <a:endParaRPr lang="en-US" sz="1100" dirty="0"/>
          </a:p>
        </p:txBody>
      </p:sp>
      <p:sp>
        <p:nvSpPr>
          <p:cNvPr id="8" name="Text 6"/>
          <p:cNvSpPr txBox="1"/>
          <p:nvPr/>
        </p:nvSpPr>
        <p:spPr>
          <a:xfrm>
            <a:off x="8549640" y="1691640"/>
            <a:ext cx="3090672" cy="914400"/>
          </a:xfrm>
          <a:prstGeom prst="roundRect">
            <a:avLst>
              <a:gd name="adj" fmla="val 14000"/>
            </a:avLst>
          </a:prstGeom>
          <a:solidFill>
            <a:srgbClr val="FFFFFF"/>
          </a:solidFill>
          <a:ln>
            <a:solidFill>
              <a:srgbClr val="FFFFFF"/>
            </a:solidFill>
          </a:ln>
        </p:spPr>
        <p:txBody>
          <a:bodyPr wrap="square" lIns="114300" tIns="114300" rIns="114300" bIns="114300" rtlCol="0" anchor="ctr"/>
          <a:lstStyle/>
          <a:p>
            <a:pPr algn="l" indent="0" marL="0">
              <a:buNone/>
            </a:pPr>
            <a:r>
              <a:rPr lang="en-US" sz="1400" dirty="0">
                <a:solidFill>
                  <a:srgbClr val="0E1A2B"/>
                </a:solidFill>
                <a:latin typeface="Malgun Gothic" pitchFamily="34" charset="0"/>
                <a:ea typeface="Malgun Gothic" pitchFamily="34" charset="-122"/>
                <a:cs typeface="Malgun Gothic" pitchFamily="34" charset="-120"/>
              </a:rPr>
              <a:t>ONE PICK STYLE로 버스 할인 받으려면 지난달 얼마 써야 해?</a:t>
            </a:r>
            <a:endParaRPr lang="en-US" sz="1400" dirty="0"/>
          </a:p>
        </p:txBody>
      </p:sp>
      <p:sp>
        <p:nvSpPr>
          <p:cNvPr id="9" name="Text 7"/>
          <p:cNvSpPr txBox="1"/>
          <p:nvPr/>
        </p:nvSpPr>
        <p:spPr>
          <a:xfrm>
            <a:off x="8549640" y="2743200"/>
            <a:ext cx="3090672" cy="777240"/>
          </a:xfrm>
          <a:prstGeom prst="roundRect">
            <a:avLst>
              <a:gd name="adj" fmla="val 16471"/>
            </a:avLst>
          </a:prstGeom>
          <a:solidFill>
            <a:srgbClr val="1F3350"/>
          </a:solidFill>
          <a:ln>
            <a:solidFill>
              <a:srgbClr val="1F3350"/>
            </a:solidFill>
          </a:ln>
        </p:spPr>
        <p:txBody>
          <a:bodyPr wrap="square" lIns="114300" tIns="114300" rIns="114300" bIns="114300" rtlCol="0" anchor="ctr"/>
          <a:lstStyle/>
          <a:p>
            <a:pPr algn="l" indent="0" marL="0">
              <a:buNone/>
            </a:pPr>
            <a:r>
              <a:rPr lang="en-US" sz="1400" dirty="0">
                <a:solidFill>
                  <a:srgbClr val="FFFFFF"/>
                </a:solidFill>
                <a:latin typeface="Malgun Gothic" pitchFamily="34" charset="0"/>
                <a:ea typeface="Malgun Gothic" pitchFamily="34" charset="-122"/>
                <a:cs typeface="Malgun Gothic" pitchFamily="34" charset="-120"/>
              </a:rPr>
              <a:t>지난달 10만원 이상 쓰면 대중교통 5% 할인돼요.</a:t>
            </a:r>
            <a:endParaRPr lang="en-US" sz="1400" dirty="0"/>
          </a:p>
        </p:txBody>
      </p:sp>
      <p:sp>
        <p:nvSpPr>
          <p:cNvPr id="10" name="Text 8"/>
          <p:cNvSpPr txBox="1"/>
          <p:nvPr/>
        </p:nvSpPr>
        <p:spPr>
          <a:xfrm>
            <a:off x="8549640" y="3657600"/>
            <a:ext cx="3108960" cy="274320"/>
          </a:xfrm>
          <a:prstGeom prst="rect">
            <a:avLst/>
          </a:prstGeom>
          <a:noFill/>
          <a:ln/>
        </p:spPr>
        <p:txBody>
          <a:bodyPr wrap="square" lIns="0" tIns="0" rIns="0" bIns="0" rtlCol="0" anchor="t"/>
          <a:lstStyle/>
          <a:p>
            <a:pPr indent="0" marL="0">
              <a:buNone/>
            </a:pPr>
            <a:r>
              <a:rPr lang="en-US" sz="1100" dirty="0">
                <a:solidFill>
                  <a:srgbClr val="7F8FA6"/>
                </a:solidFill>
                <a:latin typeface="Malgun Gothic" pitchFamily="34" charset="0"/>
                <a:ea typeface="Malgun Gothic" pitchFamily="34" charset="-122"/>
                <a:cs typeface="Malgun Gothic" pitchFamily="34" charset="-120"/>
              </a:rPr>
              <a:t>그럴듯한 답. 그런데…</a:t>
            </a:r>
            <a:endParaRPr lang="en-US" sz="1100" dirty="0"/>
          </a:p>
        </p:txBody>
      </p:sp>
      <p:sp>
        <p:nvSpPr>
          <p:cNvPr id="11" name="Text 9"/>
          <p:cNvSpPr txBox="1"/>
          <p:nvPr/>
        </p:nvSpPr>
        <p:spPr>
          <a:xfrm>
            <a:off x="8549640" y="3977640"/>
            <a:ext cx="3090672" cy="365760"/>
          </a:xfrm>
          <a:prstGeom prst="roundRect">
            <a:avLst>
              <a:gd name="adj" fmla="val 25000"/>
            </a:avLst>
          </a:prstGeom>
          <a:solidFill>
            <a:srgbClr val="0E1A2B"/>
          </a:solidFill>
          <a:ln w="12700">
            <a:solidFill>
              <a:srgbClr val="E8A33D"/>
            </a:solidFill>
          </a:ln>
        </p:spPr>
        <p:txBody>
          <a:bodyPr wrap="square" lIns="101600" tIns="101600" rIns="101600" bIns="101600" rtlCol="0" anchor="ctr"/>
          <a:lstStyle/>
          <a:p>
            <a:pPr algn="l" indent="0" marL="0">
              <a:buNone/>
            </a:pPr>
            <a:r>
              <a:rPr lang="en-US" sz="1200" b="1" dirty="0">
                <a:solidFill>
                  <a:srgbClr val="E8A33D"/>
                </a:solidFill>
                <a:latin typeface="Malgun Gothic" pitchFamily="34" charset="0"/>
                <a:ea typeface="Malgun Gothic" pitchFamily="34" charset="-122"/>
                <a:cs typeface="Malgun Gothic" pitchFamily="34" charset="-120"/>
              </a:rPr>
              <a:t>근거 조항은 어디입니까?</a:t>
            </a:r>
            <a:endParaRPr lang="en-US" sz="1200" dirty="0"/>
          </a:p>
        </p:txBody>
      </p:sp>
      <p:sp>
        <p:nvSpPr>
          <p:cNvPr id="12" name="Text 10"/>
          <p:cNvSpPr txBox="1"/>
          <p:nvPr/>
        </p:nvSpPr>
        <p:spPr>
          <a:xfrm>
            <a:off x="8549640" y="4434840"/>
            <a:ext cx="3090672" cy="365760"/>
          </a:xfrm>
          <a:prstGeom prst="roundRect">
            <a:avLst>
              <a:gd name="adj" fmla="val 25000"/>
            </a:avLst>
          </a:prstGeom>
          <a:solidFill>
            <a:srgbClr val="0E1A2B"/>
          </a:solidFill>
          <a:ln w="12700">
            <a:solidFill>
              <a:srgbClr val="E8A33D"/>
            </a:solidFill>
          </a:ln>
        </p:spPr>
        <p:txBody>
          <a:bodyPr wrap="square" lIns="101600" tIns="101600" rIns="101600" bIns="101600" rtlCol="0" anchor="ctr"/>
          <a:lstStyle/>
          <a:p>
            <a:pPr algn="l" indent="0" marL="0">
              <a:buNone/>
            </a:pPr>
            <a:r>
              <a:rPr lang="en-US" sz="1200" b="1" dirty="0">
                <a:solidFill>
                  <a:srgbClr val="E8A33D"/>
                </a:solidFill>
                <a:latin typeface="Malgun Gothic" pitchFamily="34" charset="0"/>
                <a:ea typeface="Malgun Gothic" pitchFamily="34" charset="-122"/>
                <a:cs typeface="Malgun Gothic" pitchFamily="34" charset="-120"/>
              </a:rPr>
              <a:t>상품권 구매도 실적에 들어갑니까?</a:t>
            </a:r>
            <a:endParaRPr lang="en-US" sz="1200" dirty="0"/>
          </a:p>
        </p:txBody>
      </p:sp>
      <p:sp>
        <p:nvSpPr>
          <p:cNvPr id="13" name="Text 11"/>
          <p:cNvSpPr txBox="1"/>
          <p:nvPr/>
        </p:nvSpPr>
        <p:spPr>
          <a:xfrm>
            <a:off x="8549640" y="4892040"/>
            <a:ext cx="3090672" cy="365760"/>
          </a:xfrm>
          <a:prstGeom prst="roundRect">
            <a:avLst>
              <a:gd name="adj" fmla="val 25000"/>
            </a:avLst>
          </a:prstGeom>
          <a:solidFill>
            <a:srgbClr val="0E1A2B"/>
          </a:solidFill>
          <a:ln w="12700">
            <a:solidFill>
              <a:srgbClr val="E8A33D"/>
            </a:solidFill>
          </a:ln>
        </p:spPr>
        <p:txBody>
          <a:bodyPr wrap="square" lIns="101600" tIns="101600" rIns="101600" bIns="101600" rtlCol="0" anchor="ctr"/>
          <a:lstStyle/>
          <a:p>
            <a:pPr algn="l" indent="0" marL="0">
              <a:buNone/>
            </a:pPr>
            <a:r>
              <a:rPr lang="en-US" sz="1200" b="1" dirty="0">
                <a:solidFill>
                  <a:srgbClr val="E8A33D"/>
                </a:solidFill>
                <a:latin typeface="Malgun Gothic" pitchFamily="34" charset="0"/>
                <a:ea typeface="Malgun Gothic" pitchFamily="34" charset="-122"/>
                <a:cs typeface="Malgun Gothic" pitchFamily="34" charset="-120"/>
              </a:rPr>
              <a:t>어제 바뀐 조건이 반영됐습니까?</a:t>
            </a:r>
            <a:endParaRPr lang="en-US" sz="1200" dirty="0"/>
          </a:p>
        </p:txBody>
      </p:sp>
      <p:sp>
        <p:nvSpPr>
          <p:cNvPr id="25" name="Slide Number Placeholder 0"/>
          <p:cNvSpPr>
            <a:spLocks noGrp="1"/>
          </p:cNvSpPr>
          <p:nvPr>
            <p:ph type="sldNum" sz="quarter" idx="4294967295"/>
          </p:nvPr>
        </p:nvSpPr>
        <p:spPr>
          <a:xfrm>
            <a:off x="11274552" y="6437376"/>
            <a:ext cx="36576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6F7F96"/>
                </a:solidFill>
                <a:latin typeface="Malgun Gothic"/>
                <a:ea typeface="Malgun Gothic"/>
                <a:cs typeface="Malgun Gothic"/>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329184"/>
            <a:ext cx="7498080" cy="292608"/>
          </a:xfrm>
          <a:prstGeom prst="rect">
            <a:avLst/>
          </a:prstGeom>
          <a:noFill/>
          <a:ln/>
        </p:spPr>
        <p:txBody>
          <a:bodyPr wrap="square" lIns="0" tIns="0" rIns="0" bIns="0" rtlCol="0" anchor="ctr"/>
          <a:lstStyle/>
          <a:p>
            <a:pPr indent="0" marL="0">
              <a:buNone/>
            </a:pPr>
            <a:r>
              <a:rPr lang="en-US" sz="1200" b="1" dirty="0">
                <a:solidFill>
                  <a:srgbClr val="8F5208"/>
                </a:solidFill>
                <a:latin typeface="Malgun Gothic" pitchFamily="34" charset="0"/>
                <a:ea typeface="Malgun Gothic" pitchFamily="34" charset="-122"/>
                <a:cs typeface="Malgun Gothic" pitchFamily="34" charset="-120"/>
              </a:rPr>
              <a:t>01   업계의 신호</a:t>
            </a:r>
            <a:endParaRPr lang="en-US" sz="1200" dirty="0"/>
          </a:p>
        </p:txBody>
      </p:sp>
      <p:sp>
        <p:nvSpPr>
          <p:cNvPr id="3" name="Text 0"/>
          <p:cNvSpPr/>
          <p:nvPr>
            <p:ph idx="101"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2400" b="1" dirty="0">
                <a:solidFill>
                  <a:srgbClr val="0E1A2B"/>
                </a:solidFill>
                <a:latin typeface="Malgun Gothic" pitchFamily="34" charset="0"/>
                <a:ea typeface="Malgun Gothic" pitchFamily="34" charset="-122"/>
                <a:cs typeface="Malgun Gothic" pitchFamily="34" charset="-120"/>
              </a:rPr>
              <a:t>신한카드는 AI 접점 확장과 조건 판단 엔진 개발을 각각 발표했습니다</a:t>
            </a:r>
            <a:endParaRPr lang="en-US" sz="2400" dirty="0"/>
          </a:p>
        </p:txBody>
      </p:sp>
      <p:sp>
        <p:nvSpPr>
          <p:cNvPr id="4" name="Text 2"/>
          <p:cNvSpPr txBox="1"/>
          <p:nvPr/>
        </p:nvSpPr>
        <p:spPr>
          <a:xfrm>
            <a:off x="10783519" y="329184"/>
            <a:ext cx="859536" cy="292608"/>
          </a:xfrm>
          <a:prstGeom prst="roundRect">
            <a:avLst>
              <a:gd name="adj" fmla="val 46875"/>
            </a:avLst>
          </a:prstGeom>
          <a:solidFill>
            <a:srgbClr val="E3F4F1"/>
          </a:solidFill>
          <a:ln>
            <a:solidFill>
              <a:srgbClr val="E3F4F1"/>
            </a:solidFill>
          </a:ln>
        </p:spPr>
        <p:txBody>
          <a:bodyPr wrap="square" lIns="0" tIns="0" rIns="0" bIns="0" rtlCol="0" anchor="ctr"/>
          <a:lstStyle/>
          <a:p>
            <a:pPr algn="ctr" indent="0" marL="0">
              <a:buNone/>
            </a:pPr>
            <a:r>
              <a:rPr lang="en-US" sz="1100" b="1" dirty="0">
                <a:solidFill>
                  <a:srgbClr val="0D6F64"/>
                </a:solidFill>
                <a:latin typeface="Malgun Gothic" pitchFamily="34" charset="0"/>
                <a:ea typeface="Malgun Gothic" pitchFamily="34" charset="-122"/>
                <a:cs typeface="Malgun Gothic" pitchFamily="34" charset="-120"/>
              </a:rPr>
              <a:t>공식 확인</a:t>
            </a:r>
            <a:endParaRPr lang="en-US" sz="1100" dirty="0"/>
          </a:p>
        </p:txBody>
      </p:sp>
      <p:sp>
        <p:nvSpPr>
          <p:cNvPr id="5" name="Shape 3"/>
          <p:cNvSpPr/>
          <p:nvPr/>
        </p:nvSpPr>
        <p:spPr>
          <a:xfrm>
            <a:off x="548640" y="1691640"/>
            <a:ext cx="5440680" cy="3291840"/>
          </a:xfrm>
          <a:prstGeom prst="roundRect">
            <a:avLst>
              <a:gd name="adj" fmla="val 2778"/>
            </a:avLst>
          </a:prstGeom>
          <a:solidFill>
            <a:srgbClr val="F3F5F8"/>
          </a:solidFill>
          <a:ln w="9525">
            <a:solidFill>
              <a:srgbClr val="F3F5F8"/>
            </a:solidFill>
            <a:prstDash val="solid"/>
          </a:ln>
        </p:spPr>
      </p:sp>
      <p:sp>
        <p:nvSpPr>
          <p:cNvPr id="6" name="Text 4"/>
          <p:cNvSpPr txBox="1"/>
          <p:nvPr/>
        </p:nvSpPr>
        <p:spPr>
          <a:xfrm>
            <a:off x="777240" y="1856232"/>
            <a:ext cx="5029200" cy="274320"/>
          </a:xfrm>
          <a:prstGeom prst="rect">
            <a:avLst/>
          </a:prstGeom>
          <a:noFill/>
          <a:ln/>
        </p:spPr>
        <p:txBody>
          <a:bodyPr wrap="square" lIns="0" tIns="0" rIns="0" bIns="0" rtlCol="0" anchor="t"/>
          <a:lstStyle/>
          <a:p>
            <a:pPr indent="0" marL="0">
              <a:buNone/>
            </a:pPr>
            <a:r>
              <a:rPr lang="en-US" sz="1200" b="1" dirty="0">
                <a:solidFill>
                  <a:srgbClr val="5B6778"/>
                </a:solidFill>
                <a:latin typeface="Malgun Gothic" pitchFamily="34" charset="0"/>
                <a:ea typeface="Malgun Gothic" pitchFamily="34" charset="-122"/>
                <a:cs typeface="Malgun Gothic" pitchFamily="34" charset="-120"/>
              </a:rPr>
              <a:t>2026-09-09  ·  신한금융그룹 보도자료</a:t>
            </a:r>
            <a:endParaRPr lang="en-US" sz="1200" dirty="0"/>
          </a:p>
        </p:txBody>
      </p:sp>
      <p:sp>
        <p:nvSpPr>
          <p:cNvPr id="7" name="Text 5"/>
          <p:cNvSpPr txBox="1"/>
          <p:nvPr/>
        </p:nvSpPr>
        <p:spPr>
          <a:xfrm>
            <a:off x="777240" y="2176272"/>
            <a:ext cx="5029200" cy="685800"/>
          </a:xfrm>
          <a:prstGeom prst="rect">
            <a:avLst/>
          </a:prstGeom>
          <a:noFill/>
          <a:ln/>
        </p:spPr>
        <p:txBody>
          <a:bodyPr wrap="square" lIns="0" tIns="0" rIns="0" bIns="0" rtlCol="0" anchor="t"/>
          <a:lstStyle/>
          <a:p>
            <a:pPr indent="0" marL="0">
              <a:buNone/>
            </a:pPr>
            <a:r>
              <a:rPr lang="en-US" sz="1700" b="1" dirty="0">
                <a:solidFill>
                  <a:srgbClr val="0E1A2B"/>
                </a:solidFill>
                <a:latin typeface="Malgun Gothic" pitchFamily="34" charset="0"/>
                <a:ea typeface="Malgun Gothic" pitchFamily="34" charset="-122"/>
                <a:cs typeface="Malgun Gothic" pitchFamily="34" charset="-120"/>
              </a:rPr>
              <a:t>복합 금융상품 조건을 판단하는 AI 엔진 공동 개발 착수 (커넥셔너리)</a:t>
            </a:r>
            <a:endParaRPr lang="en-US" sz="1700" dirty="0"/>
          </a:p>
        </p:txBody>
      </p:sp>
      <p:sp>
        <p:nvSpPr>
          <p:cNvPr id="8" name="Text 6"/>
          <p:cNvSpPr txBox="1"/>
          <p:nvPr/>
        </p:nvSpPr>
        <p:spPr>
          <a:xfrm>
            <a:off x="777240" y="2926080"/>
            <a:ext cx="5029200" cy="256032"/>
          </a:xfrm>
          <a:prstGeom prst="rect">
            <a:avLst/>
          </a:prstGeom>
          <a:noFill/>
          <a:ln/>
        </p:spPr>
        <p:txBody>
          <a:bodyPr wrap="square" lIns="0" tIns="0" rIns="0" bIns="0" rtlCol="0" anchor="t"/>
          <a:lstStyle/>
          <a:p>
            <a:pPr indent="0" marL="0">
              <a:buNone/>
            </a:pPr>
            <a:r>
              <a:rPr lang="en-US" sz="1200" dirty="0">
                <a:solidFill>
                  <a:srgbClr val="5B6778"/>
                </a:solidFill>
                <a:latin typeface="Malgun Gothic" pitchFamily="34" charset="0"/>
                <a:ea typeface="Malgun Gothic" pitchFamily="34" charset="-122"/>
                <a:cs typeface="Malgun Gothic" pitchFamily="34" charset="-120"/>
              </a:rPr>
              <a:t>회사가 밝힌 기존 생성형 AI의 문제</a:t>
            </a:r>
            <a:endParaRPr lang="en-US" sz="1200" dirty="0"/>
          </a:p>
        </p:txBody>
      </p:sp>
      <p:sp>
        <p:nvSpPr>
          <p:cNvPr id="9" name="Text 7"/>
          <p:cNvSpPr txBox="1"/>
          <p:nvPr/>
        </p:nvSpPr>
        <p:spPr>
          <a:xfrm>
            <a:off x="777240" y="3218688"/>
            <a:ext cx="2450592" cy="338328"/>
          </a:xfrm>
          <a:prstGeom prst="roundRect">
            <a:avLst>
              <a:gd name="adj" fmla="val 16216"/>
            </a:avLst>
          </a:prstGeom>
          <a:solidFill>
            <a:srgbClr val="FBE6E2"/>
          </a:solidFill>
          <a:ln>
            <a:solidFill>
              <a:srgbClr val="FBE6E2"/>
            </a:solidFill>
          </a:ln>
        </p:spPr>
        <p:txBody>
          <a:bodyPr wrap="square" lIns="38100" tIns="38100" rIns="38100" bIns="38100" rtlCol="0" anchor="ctr"/>
          <a:lstStyle/>
          <a:p>
            <a:pPr algn="ctr" indent="0" marL="0">
              <a:buNone/>
            </a:pPr>
            <a:r>
              <a:rPr lang="en-US" sz="1300" b="1" dirty="0">
                <a:solidFill>
                  <a:srgbClr val="A8311A"/>
                </a:solidFill>
                <a:latin typeface="Malgun Gothic" pitchFamily="34" charset="0"/>
                <a:ea typeface="Malgun Gothic" pitchFamily="34" charset="-122"/>
                <a:cs typeface="Malgun Gothic" pitchFamily="34" charset="-120"/>
              </a:rPr>
              <a:t>환각(정보 왜곡)</a:t>
            </a:r>
            <a:endParaRPr lang="en-US" sz="1300" dirty="0"/>
          </a:p>
        </p:txBody>
      </p:sp>
      <p:sp>
        <p:nvSpPr>
          <p:cNvPr id="10" name="Text 8"/>
          <p:cNvSpPr txBox="1"/>
          <p:nvPr/>
        </p:nvSpPr>
        <p:spPr>
          <a:xfrm>
            <a:off x="3319272" y="3218688"/>
            <a:ext cx="2450592" cy="338328"/>
          </a:xfrm>
          <a:prstGeom prst="roundRect">
            <a:avLst>
              <a:gd name="adj" fmla="val 16216"/>
            </a:avLst>
          </a:prstGeom>
          <a:solidFill>
            <a:srgbClr val="FBE6E2"/>
          </a:solidFill>
          <a:ln>
            <a:solidFill>
              <a:srgbClr val="FBE6E2"/>
            </a:solidFill>
          </a:ln>
        </p:spPr>
        <p:txBody>
          <a:bodyPr wrap="square" lIns="38100" tIns="38100" rIns="38100" bIns="38100" rtlCol="0" anchor="ctr"/>
          <a:lstStyle/>
          <a:p>
            <a:pPr algn="ctr" indent="0" marL="0">
              <a:buNone/>
            </a:pPr>
            <a:r>
              <a:rPr lang="en-US" sz="1300" b="1" dirty="0">
                <a:solidFill>
                  <a:srgbClr val="A8311A"/>
                </a:solidFill>
                <a:latin typeface="Malgun Gothic" pitchFamily="34" charset="0"/>
                <a:ea typeface="Malgun Gothic" pitchFamily="34" charset="-122"/>
                <a:cs typeface="Malgun Gothic" pitchFamily="34" charset="-120"/>
              </a:rPr>
              <a:t>답변 비일관성</a:t>
            </a:r>
            <a:endParaRPr lang="en-US" sz="1300" dirty="0"/>
          </a:p>
        </p:txBody>
      </p:sp>
      <p:sp>
        <p:nvSpPr>
          <p:cNvPr id="11" name="Text 9"/>
          <p:cNvSpPr txBox="1"/>
          <p:nvPr/>
        </p:nvSpPr>
        <p:spPr>
          <a:xfrm>
            <a:off x="777240" y="3630168"/>
            <a:ext cx="2450592" cy="338328"/>
          </a:xfrm>
          <a:prstGeom prst="roundRect">
            <a:avLst>
              <a:gd name="adj" fmla="val 16216"/>
            </a:avLst>
          </a:prstGeom>
          <a:solidFill>
            <a:srgbClr val="FBE6E2"/>
          </a:solidFill>
          <a:ln>
            <a:solidFill>
              <a:srgbClr val="FBE6E2"/>
            </a:solidFill>
          </a:ln>
        </p:spPr>
        <p:txBody>
          <a:bodyPr wrap="square" lIns="38100" tIns="38100" rIns="38100" bIns="38100" rtlCol="0" anchor="ctr"/>
          <a:lstStyle/>
          <a:p>
            <a:pPr algn="ctr" indent="0" marL="0">
              <a:buNone/>
            </a:pPr>
            <a:r>
              <a:rPr lang="en-US" sz="1300" b="1" dirty="0">
                <a:solidFill>
                  <a:srgbClr val="A8311A"/>
                </a:solidFill>
                <a:latin typeface="Malgun Gothic" pitchFamily="34" charset="0"/>
                <a:ea typeface="Malgun Gothic" pitchFamily="34" charset="-122"/>
                <a:cs typeface="Malgun Gothic" pitchFamily="34" charset="-120"/>
              </a:rPr>
              <a:t>복합 조건 누락</a:t>
            </a:r>
            <a:endParaRPr lang="en-US" sz="1300" dirty="0"/>
          </a:p>
        </p:txBody>
      </p:sp>
      <p:sp>
        <p:nvSpPr>
          <p:cNvPr id="12" name="Text 10"/>
          <p:cNvSpPr txBox="1"/>
          <p:nvPr/>
        </p:nvSpPr>
        <p:spPr>
          <a:xfrm>
            <a:off x="3319272" y="3630168"/>
            <a:ext cx="2450592" cy="338328"/>
          </a:xfrm>
          <a:prstGeom prst="roundRect">
            <a:avLst>
              <a:gd name="adj" fmla="val 16216"/>
            </a:avLst>
          </a:prstGeom>
          <a:solidFill>
            <a:srgbClr val="FBE6E2"/>
          </a:solidFill>
          <a:ln>
            <a:solidFill>
              <a:srgbClr val="FBE6E2"/>
            </a:solidFill>
          </a:ln>
        </p:spPr>
        <p:txBody>
          <a:bodyPr wrap="square" lIns="38100" tIns="38100" rIns="38100" bIns="38100" rtlCol="0" anchor="ctr"/>
          <a:lstStyle/>
          <a:p>
            <a:pPr algn="ctr" indent="0" marL="0">
              <a:buNone/>
            </a:pPr>
            <a:r>
              <a:rPr lang="en-US" sz="1300" b="1" dirty="0">
                <a:solidFill>
                  <a:srgbClr val="A8311A"/>
                </a:solidFill>
                <a:latin typeface="Malgun Gothic" pitchFamily="34" charset="0"/>
                <a:ea typeface="Malgun Gothic" pitchFamily="34" charset="-122"/>
                <a:cs typeface="Malgun Gothic" pitchFamily="34" charset="-120"/>
              </a:rPr>
              <a:t>정책·규정 미반영</a:t>
            </a:r>
            <a:endParaRPr lang="en-US" sz="1300" dirty="0"/>
          </a:p>
        </p:txBody>
      </p:sp>
      <p:sp>
        <p:nvSpPr>
          <p:cNvPr id="13" name="Text 11"/>
          <p:cNvSpPr txBox="1"/>
          <p:nvPr/>
        </p:nvSpPr>
        <p:spPr>
          <a:xfrm>
            <a:off x="777240" y="4114800"/>
            <a:ext cx="5029200" cy="731520"/>
          </a:xfrm>
          <a:prstGeom prst="rect">
            <a:avLst/>
          </a:prstGeom>
          <a:noFill/>
          <a:ln/>
        </p:spPr>
        <p:txBody>
          <a:bodyPr wrap="square" lIns="0" tIns="0" rIns="0" bIns="0" rtlCol="0" anchor="t"/>
          <a:lstStyle/>
          <a:p>
            <a:pPr indent="0" marL="0">
              <a:buNone/>
            </a:pPr>
            <a:r>
              <a:rPr lang="en-US" sz="1300" i="1" dirty="0">
                <a:solidFill>
                  <a:srgbClr val="3A4A60"/>
                </a:solidFill>
                <a:latin typeface="Malgun Gothic" pitchFamily="34" charset="0"/>
                <a:ea typeface="Malgun Gothic" pitchFamily="34" charset="-122"/>
                <a:cs typeface="Malgun Gothic" pitchFamily="34" charset="-120"/>
              </a:rPr>
              <a:t>“조건 자체를 구조화해 탐색 가능한 형태로 정의하면 … 조건 수정만으로 실시간 반영될 수 있다”</a:t>
            </a:r>
            <a:endParaRPr lang="en-US" sz="1300" dirty="0"/>
          </a:p>
        </p:txBody>
      </p:sp>
      <p:sp>
        <p:nvSpPr>
          <p:cNvPr id="14" name="Shape 12"/>
          <p:cNvSpPr/>
          <p:nvPr/>
        </p:nvSpPr>
        <p:spPr>
          <a:xfrm>
            <a:off x="6199632" y="1691640"/>
            <a:ext cx="5440680" cy="3291840"/>
          </a:xfrm>
          <a:prstGeom prst="roundRect">
            <a:avLst>
              <a:gd name="adj" fmla="val 2778"/>
            </a:avLst>
          </a:prstGeom>
          <a:solidFill>
            <a:srgbClr val="F3F5F8"/>
          </a:solidFill>
          <a:ln w="9525">
            <a:solidFill>
              <a:srgbClr val="F3F5F8"/>
            </a:solidFill>
            <a:prstDash val="solid"/>
          </a:ln>
        </p:spPr>
      </p:sp>
      <p:sp>
        <p:nvSpPr>
          <p:cNvPr id="15" name="Text 13"/>
          <p:cNvSpPr txBox="1"/>
          <p:nvPr/>
        </p:nvSpPr>
        <p:spPr>
          <a:xfrm>
            <a:off x="6428232" y="1856232"/>
            <a:ext cx="5029200" cy="274320"/>
          </a:xfrm>
          <a:prstGeom prst="rect">
            <a:avLst/>
          </a:prstGeom>
          <a:noFill/>
          <a:ln/>
        </p:spPr>
        <p:txBody>
          <a:bodyPr wrap="square" lIns="0" tIns="0" rIns="0" bIns="0" rtlCol="0" anchor="t"/>
          <a:lstStyle/>
          <a:p>
            <a:pPr indent="0" marL="0">
              <a:buNone/>
            </a:pPr>
            <a:r>
              <a:rPr lang="en-US" sz="1200" b="1" dirty="0">
                <a:solidFill>
                  <a:srgbClr val="5B6778"/>
                </a:solidFill>
                <a:latin typeface="Malgun Gothic" pitchFamily="34" charset="0"/>
                <a:ea typeface="Malgun Gothic" pitchFamily="34" charset="-122"/>
                <a:cs typeface="Malgun Gothic" pitchFamily="34" charset="-120"/>
              </a:rPr>
              <a:t>2026-09-13  ·  신한카드 보도자료</a:t>
            </a:r>
            <a:endParaRPr lang="en-US" sz="1200" dirty="0"/>
          </a:p>
        </p:txBody>
      </p:sp>
      <p:sp>
        <p:nvSpPr>
          <p:cNvPr id="16" name="Text 14"/>
          <p:cNvSpPr txBox="1"/>
          <p:nvPr/>
        </p:nvSpPr>
        <p:spPr>
          <a:xfrm>
            <a:off x="6428232" y="2176272"/>
            <a:ext cx="5029200" cy="685800"/>
          </a:xfrm>
          <a:prstGeom prst="rect">
            <a:avLst/>
          </a:prstGeom>
          <a:noFill/>
          <a:ln/>
        </p:spPr>
        <p:txBody>
          <a:bodyPr wrap="square" lIns="0" tIns="0" rIns="0" bIns="0" rtlCol="0" anchor="t"/>
          <a:lstStyle/>
          <a:p>
            <a:pPr indent="0" marL="0">
              <a:buNone/>
            </a:pPr>
            <a:r>
              <a:rPr lang="en-US" sz="1700" b="1" dirty="0">
                <a:solidFill>
                  <a:srgbClr val="0E1A2B"/>
                </a:solidFill>
                <a:latin typeface="Malgun Gothic" pitchFamily="34" charset="0"/>
                <a:ea typeface="Malgun Gothic" pitchFamily="34" charset="-122"/>
                <a:cs typeface="Malgun Gothic" pitchFamily="34" charset="-120"/>
              </a:rPr>
              <a:t>카드사 최초 ‘ChatGPT for Kakao’ 연계 대화형 금융 서비스</a:t>
            </a:r>
            <a:endParaRPr lang="en-US" sz="1700" dirty="0"/>
          </a:p>
        </p:txBody>
      </p:sp>
      <p:sp>
        <p:nvSpPr>
          <p:cNvPr id="17" name="Text 15"/>
          <p:cNvSpPr txBox="1"/>
          <p:nvPr/>
        </p:nvSpPr>
        <p:spPr>
          <a:xfrm>
            <a:off x="6428232" y="2926080"/>
            <a:ext cx="5029200" cy="256032"/>
          </a:xfrm>
          <a:prstGeom prst="rect">
            <a:avLst/>
          </a:prstGeom>
          <a:noFill/>
          <a:ln/>
        </p:spPr>
        <p:txBody>
          <a:bodyPr wrap="square" lIns="0" tIns="0" rIns="0" bIns="0" rtlCol="0" anchor="t"/>
          <a:lstStyle/>
          <a:p>
            <a:pPr indent="0" marL="0">
              <a:buNone/>
            </a:pPr>
            <a:r>
              <a:rPr lang="en-US" sz="1200" dirty="0">
                <a:solidFill>
                  <a:srgbClr val="5B6778"/>
                </a:solidFill>
                <a:latin typeface="Malgun Gothic" pitchFamily="34" charset="0"/>
                <a:ea typeface="Malgun Gothic" pitchFamily="34" charset="-122"/>
                <a:cs typeface="Malgun Gothic" pitchFamily="34" charset="-120"/>
              </a:rPr>
              <a:t>외부 AI 대화창에서 제공하는 기능</a:t>
            </a:r>
            <a:endParaRPr lang="en-US" sz="1200" dirty="0"/>
          </a:p>
        </p:txBody>
      </p:sp>
      <p:sp>
        <p:nvSpPr>
          <p:cNvPr id="18" name="Text 16"/>
          <p:cNvSpPr txBox="1"/>
          <p:nvPr/>
        </p:nvSpPr>
        <p:spPr>
          <a:xfrm>
            <a:off x="6428232" y="3218688"/>
            <a:ext cx="2450592" cy="338328"/>
          </a:xfrm>
          <a:prstGeom prst="roundRect">
            <a:avLst>
              <a:gd name="adj" fmla="val 16216"/>
            </a:avLst>
          </a:prstGeom>
          <a:solidFill>
            <a:srgbClr val="E3F4F1"/>
          </a:solidFill>
          <a:ln>
            <a:solidFill>
              <a:srgbClr val="E3F4F1"/>
            </a:solidFill>
          </a:ln>
        </p:spPr>
        <p:txBody>
          <a:bodyPr wrap="square" lIns="38100" tIns="38100" rIns="38100" bIns="38100" rtlCol="0" anchor="ctr"/>
          <a:lstStyle/>
          <a:p>
            <a:pPr algn="ctr" indent="0" marL="0">
              <a:buNone/>
            </a:pPr>
            <a:r>
              <a:rPr lang="en-US" sz="1300" b="1" dirty="0">
                <a:solidFill>
                  <a:srgbClr val="0D6F64"/>
                </a:solidFill>
                <a:latin typeface="Malgun Gothic" pitchFamily="34" charset="0"/>
                <a:ea typeface="Malgun Gothic" pitchFamily="34" charset="-122"/>
                <a:cs typeface="Malgun Gothic" pitchFamily="34" charset="-120"/>
              </a:rPr>
              <a:t>카드 추천</a:t>
            </a:r>
            <a:endParaRPr lang="en-US" sz="1300" dirty="0"/>
          </a:p>
        </p:txBody>
      </p:sp>
      <p:sp>
        <p:nvSpPr>
          <p:cNvPr id="19" name="Text 17"/>
          <p:cNvSpPr txBox="1"/>
          <p:nvPr/>
        </p:nvSpPr>
        <p:spPr>
          <a:xfrm>
            <a:off x="8970264" y="3218688"/>
            <a:ext cx="2450592" cy="338328"/>
          </a:xfrm>
          <a:prstGeom prst="roundRect">
            <a:avLst>
              <a:gd name="adj" fmla="val 16216"/>
            </a:avLst>
          </a:prstGeom>
          <a:solidFill>
            <a:srgbClr val="E3F4F1"/>
          </a:solidFill>
          <a:ln>
            <a:solidFill>
              <a:srgbClr val="E3F4F1"/>
            </a:solidFill>
          </a:ln>
        </p:spPr>
        <p:txBody>
          <a:bodyPr wrap="square" lIns="38100" tIns="38100" rIns="38100" bIns="38100" rtlCol="0" anchor="ctr"/>
          <a:lstStyle/>
          <a:p>
            <a:pPr algn="ctr" indent="0" marL="0">
              <a:buNone/>
            </a:pPr>
            <a:r>
              <a:rPr lang="en-US" sz="1300" b="1" dirty="0">
                <a:solidFill>
                  <a:srgbClr val="0D6F64"/>
                </a:solidFill>
                <a:latin typeface="Malgun Gothic" pitchFamily="34" charset="0"/>
                <a:ea typeface="Malgun Gothic" pitchFamily="34" charset="-122"/>
                <a:cs typeface="Malgun Gothic" pitchFamily="34" charset="-120"/>
              </a:rPr>
              <a:t>인기카드 조회</a:t>
            </a:r>
            <a:endParaRPr lang="en-US" sz="1300" dirty="0"/>
          </a:p>
        </p:txBody>
      </p:sp>
      <p:sp>
        <p:nvSpPr>
          <p:cNvPr id="20" name="Text 18"/>
          <p:cNvSpPr txBox="1"/>
          <p:nvPr/>
        </p:nvSpPr>
        <p:spPr>
          <a:xfrm>
            <a:off x="6428232" y="3630168"/>
            <a:ext cx="2450592" cy="338328"/>
          </a:xfrm>
          <a:prstGeom prst="roundRect">
            <a:avLst>
              <a:gd name="adj" fmla="val 16216"/>
            </a:avLst>
          </a:prstGeom>
          <a:solidFill>
            <a:srgbClr val="E3F4F1"/>
          </a:solidFill>
          <a:ln>
            <a:solidFill>
              <a:srgbClr val="E3F4F1"/>
            </a:solidFill>
          </a:ln>
        </p:spPr>
        <p:txBody>
          <a:bodyPr wrap="square" lIns="38100" tIns="38100" rIns="38100" bIns="38100" rtlCol="0" anchor="ctr"/>
          <a:lstStyle/>
          <a:p>
            <a:pPr algn="ctr" indent="0" marL="0">
              <a:buNone/>
            </a:pPr>
            <a:r>
              <a:rPr lang="en-US" sz="1300" b="1" dirty="0">
                <a:solidFill>
                  <a:srgbClr val="0D6F64"/>
                </a:solidFill>
                <a:latin typeface="Malgun Gothic" pitchFamily="34" charset="0"/>
                <a:ea typeface="Malgun Gothic" pitchFamily="34" charset="-122"/>
                <a:cs typeface="Malgun Gothic" pitchFamily="34" charset="-120"/>
              </a:rPr>
              <a:t>카드 상세혜택 조회</a:t>
            </a:r>
            <a:endParaRPr lang="en-US" sz="1300" dirty="0"/>
          </a:p>
        </p:txBody>
      </p:sp>
      <p:sp>
        <p:nvSpPr>
          <p:cNvPr id="21" name="Text 19"/>
          <p:cNvSpPr txBox="1"/>
          <p:nvPr/>
        </p:nvSpPr>
        <p:spPr>
          <a:xfrm>
            <a:off x="8970264" y="3630168"/>
            <a:ext cx="2450592" cy="338328"/>
          </a:xfrm>
          <a:prstGeom prst="roundRect">
            <a:avLst>
              <a:gd name="adj" fmla="val 16216"/>
            </a:avLst>
          </a:prstGeom>
          <a:solidFill>
            <a:srgbClr val="E3F4F1"/>
          </a:solidFill>
          <a:ln>
            <a:solidFill>
              <a:srgbClr val="E3F4F1"/>
            </a:solidFill>
          </a:ln>
        </p:spPr>
        <p:txBody>
          <a:bodyPr wrap="square" lIns="38100" tIns="38100" rIns="38100" bIns="38100" rtlCol="0" anchor="ctr"/>
          <a:lstStyle/>
          <a:p>
            <a:pPr algn="ctr" indent="0" marL="0">
              <a:buNone/>
            </a:pPr>
            <a:r>
              <a:rPr lang="en-US" sz="1300" b="1" dirty="0">
                <a:solidFill>
                  <a:srgbClr val="0D6F64"/>
                </a:solidFill>
                <a:latin typeface="Malgun Gothic" pitchFamily="34" charset="0"/>
                <a:ea typeface="Malgun Gothic" pitchFamily="34" charset="-122"/>
                <a:cs typeface="Malgun Gothic" pitchFamily="34" charset="-120"/>
              </a:rPr>
              <a:t>소비 인사이트</a:t>
            </a:r>
            <a:endParaRPr lang="en-US" sz="1300" dirty="0"/>
          </a:p>
        </p:txBody>
      </p:sp>
      <p:sp>
        <p:nvSpPr>
          <p:cNvPr id="22" name="Text 20"/>
          <p:cNvSpPr txBox="1"/>
          <p:nvPr/>
        </p:nvSpPr>
        <p:spPr>
          <a:xfrm>
            <a:off x="6428232" y="4114800"/>
            <a:ext cx="5029200" cy="731520"/>
          </a:xfrm>
          <a:prstGeom prst="rect">
            <a:avLst/>
          </a:prstGeom>
          <a:noFill/>
          <a:ln/>
        </p:spPr>
        <p:txBody>
          <a:bodyPr wrap="square" lIns="0" tIns="0" rIns="0" bIns="0" rtlCol="0" anchor="t"/>
          <a:lstStyle/>
          <a:p>
            <a:pPr indent="0" marL="0">
              <a:buNone/>
            </a:pPr>
            <a:r>
              <a:rPr lang="en-US" sz="1300" dirty="0">
                <a:solidFill>
                  <a:srgbClr val="3A4A60"/>
                </a:solidFill>
                <a:latin typeface="Malgun Gothic" pitchFamily="34" charset="0"/>
                <a:ea typeface="Malgun Gothic" pitchFamily="34" charset="-122"/>
                <a:cs typeface="Malgun Gothic" pitchFamily="34" charset="-120"/>
              </a:rPr>
              <a:t>카카오 ‘PlayMCP’ 기반 ‘카카오 툴즈’에 신한카드 툴을 연동 — 외부 AI가 카드사 도구를 호출하는 구조</a:t>
            </a:r>
            <a:endParaRPr lang="en-US" sz="1300" dirty="0"/>
          </a:p>
        </p:txBody>
      </p:sp>
      <p:sp>
        <p:nvSpPr>
          <p:cNvPr id="23" name="Text 21"/>
          <p:cNvSpPr txBox="1"/>
          <p:nvPr/>
        </p:nvSpPr>
        <p:spPr>
          <a:xfrm>
            <a:off x="548640" y="5166360"/>
            <a:ext cx="11094415" cy="749808"/>
          </a:xfrm>
          <a:prstGeom prst="roundRect">
            <a:avLst>
              <a:gd name="adj" fmla="val 9756"/>
            </a:avLst>
          </a:prstGeom>
          <a:solidFill>
            <a:srgbClr val="0E1A2B"/>
          </a:solidFill>
          <a:ln>
            <a:solidFill>
              <a:srgbClr val="0E1A2B"/>
            </a:solidFill>
          </a:ln>
        </p:spPr>
        <p:txBody>
          <a:bodyPr wrap="square" lIns="177800" tIns="177800" rIns="177800" bIns="177800" rtlCol="0" anchor="ctr"/>
          <a:lstStyle/>
          <a:p>
            <a:pPr algn="l" indent="0" marL="0">
              <a:buNone/>
            </a:pPr>
            <a:r>
              <a:rPr lang="en-US" sz="1600" b="1" dirty="0">
                <a:solidFill>
                  <a:srgbClr val="FFFFFF"/>
                </a:solidFill>
                <a:latin typeface="Malgun Gothic" pitchFamily="34" charset="0"/>
                <a:ea typeface="Malgun Gothic" pitchFamily="34" charset="-122"/>
                <a:cs typeface="Malgun Gothic" pitchFamily="34" charset="-120"/>
              </a:rPr>
              <a:t>4일 간격의 두 발표 — 외부 AI 연결과 정확한 상품 조건 판단이 모두 중요한 과제로 등장했습니다.</a:t>
            </a:r>
            <a:endParaRPr lang="en-US" sz="1600" dirty="0"/>
          </a:p>
        </p:txBody>
      </p:sp>
      <p:sp>
        <p:nvSpPr>
          <p:cNvPr id="24" name="Text 22"/>
          <p:cNvSpPr txBox="1"/>
          <p:nvPr/>
        </p:nvSpPr>
        <p:spPr>
          <a:xfrm>
            <a:off x="548640" y="6007608"/>
            <a:ext cx="11094415" cy="292608"/>
          </a:xfrm>
          <a:prstGeom prst="rect">
            <a:avLst/>
          </a:prstGeom>
          <a:noFill/>
          <a:ln/>
        </p:spPr>
        <p:txBody>
          <a:bodyPr wrap="square" lIns="0" tIns="0" rIns="0" bIns="0" rtlCol="0" anchor="t"/>
          <a:lstStyle/>
          <a:p>
            <a:pPr indent="0" marL="0">
              <a:buNone/>
            </a:pPr>
            <a:r>
              <a:rPr lang="en-US" sz="1100" dirty="0">
                <a:solidFill>
                  <a:srgbClr val="A8311A"/>
                </a:solidFill>
                <a:latin typeface="Malgun Gothic" pitchFamily="34" charset="0"/>
                <a:ea typeface="Malgun Gothic" pitchFamily="34" charset="-122"/>
                <a:cs typeface="Malgun Gothic" pitchFamily="34" charset="-120"/>
              </a:rPr>
              <a:t>두 시스템의 내부 연계 여부, GraphRAG 사용 여부는 공개 자료에 없습니다. 우리 기술의 검증 근거가 아니라 ‘실재하는 문제’의 근거로 인용합니다.</a:t>
            </a:r>
            <a:endParaRPr lang="en-US" sz="1100" dirty="0"/>
          </a:p>
        </p:txBody>
      </p:sp>
      <p:sp>
        <p:nvSpPr>
          <p:cNvPr id="25" name="Text 23"/>
          <p:cNvSpPr txBox="1"/>
          <p:nvPr/>
        </p:nvSpPr>
        <p:spPr>
          <a:xfrm>
            <a:off x="548640" y="6400800"/>
            <a:ext cx="10515600" cy="292608"/>
          </a:xfrm>
          <a:prstGeom prst="rect">
            <a:avLst/>
          </a:prstGeom>
          <a:noFill/>
          <a:ln/>
        </p:spPr>
        <p:txBody>
          <a:bodyPr wrap="square" lIns="0" tIns="0" rIns="0" bIns="0" rtlCol="0" anchor="ctr"/>
          <a:lstStyle/>
          <a:p>
            <a:pPr indent="0" marL="0">
              <a:buNone/>
            </a:pPr>
            <a:r>
              <a:rPr lang="en-US" sz="1000" dirty="0">
                <a:solidFill>
                  <a:srgbClr val="6B7686"/>
                </a:solidFill>
                <a:latin typeface="Malgun Gothic" pitchFamily="34" charset="0"/>
                <a:ea typeface="Malgun Gothic" pitchFamily="34" charset="-122"/>
                <a:cs typeface="Malgun Gothic" pitchFamily="34" charset="-120"/>
              </a:rPr>
              <a:t>출처: shinhangroup.com/kr/archive/press/detail/966 (2026-09-09) · press1.newswire.co.kr/newsRead.php?no=1042468 (2026-09-13) — 2026-10-30 원문 재확인</a:t>
            </a:r>
            <a:endParaRPr lang="en-US" sz="1000" dirty="0"/>
          </a:p>
        </p:txBody>
      </p:sp>
      <p:sp>
        <p:nvSpPr>
          <p:cNvPr id="25" name="Slide Number Placeholder 0"/>
          <p:cNvSpPr>
            <a:spLocks noGrp="1"/>
          </p:cNvSpPr>
          <p:nvPr>
            <p:ph type="sldNum" sz="quarter" idx="4294967295"/>
          </p:nvPr>
        </p:nvSpPr>
        <p:spPr>
          <a:xfrm>
            <a:off x="11274552" y="6437376"/>
            <a:ext cx="36576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Malgun Gothic"/>
                <a:ea typeface="Malgun Gothic"/>
                <a:cs typeface="Malgun Gothic"/>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329184"/>
            <a:ext cx="7498080" cy="292608"/>
          </a:xfrm>
          <a:prstGeom prst="rect">
            <a:avLst/>
          </a:prstGeom>
          <a:noFill/>
          <a:ln/>
        </p:spPr>
        <p:txBody>
          <a:bodyPr wrap="square" lIns="0" tIns="0" rIns="0" bIns="0" rtlCol="0" anchor="ctr"/>
          <a:lstStyle/>
          <a:p>
            <a:pPr indent="0" marL="0">
              <a:buNone/>
            </a:pPr>
            <a:r>
              <a:rPr lang="en-US" sz="1200" b="1" dirty="0">
                <a:solidFill>
                  <a:srgbClr val="8F5208"/>
                </a:solidFill>
                <a:latin typeface="Malgun Gothic" pitchFamily="34" charset="0"/>
                <a:ea typeface="Malgun Gothic" pitchFamily="34" charset="-122"/>
                <a:cs typeface="Malgun Gothic" pitchFamily="34" charset="-120"/>
              </a:rPr>
              <a:t>02   문제 정의</a:t>
            </a:r>
            <a:endParaRPr lang="en-US" sz="1200" dirty="0"/>
          </a:p>
        </p:txBody>
      </p:sp>
      <p:sp>
        <p:nvSpPr>
          <p:cNvPr id="3" name="Text 0"/>
          <p:cNvSpPr/>
          <p:nvPr>
            <p:ph idx="101"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2400" b="1" dirty="0">
                <a:solidFill>
                  <a:srgbClr val="0E1A2B"/>
                </a:solidFill>
                <a:latin typeface="Malgun Gothic" pitchFamily="34" charset="0"/>
                <a:ea typeface="Malgun Gothic" pitchFamily="34" charset="-122"/>
                <a:cs typeface="Malgun Gothic" pitchFamily="34" charset="-120"/>
              </a:rPr>
              <a:t>AI 채널이 다양해질수록, 판단 기준은 누가 관리해야 할까요?</a:t>
            </a:r>
            <a:endParaRPr lang="en-US" sz="2400" dirty="0"/>
          </a:p>
        </p:txBody>
      </p:sp>
      <p:sp>
        <p:nvSpPr>
          <p:cNvPr id="4" name="Text 2"/>
          <p:cNvSpPr txBox="1"/>
          <p:nvPr/>
        </p:nvSpPr>
        <p:spPr>
          <a:xfrm>
            <a:off x="10920679" y="329184"/>
            <a:ext cx="722376" cy="292608"/>
          </a:xfrm>
          <a:prstGeom prst="roundRect">
            <a:avLst>
              <a:gd name="adj" fmla="val 46875"/>
            </a:avLst>
          </a:prstGeom>
          <a:solidFill>
            <a:srgbClr val="E8ECF2"/>
          </a:solidFill>
          <a:ln>
            <a:solidFill>
              <a:srgbClr val="E8ECF2"/>
            </a:solidFill>
          </a:ln>
        </p:spPr>
        <p:txBody>
          <a:bodyPr wrap="square" lIns="0" tIns="0" rIns="0" bIns="0" rtlCol="0" anchor="ctr"/>
          <a:lstStyle/>
          <a:p>
            <a:pPr algn="ctr" indent="0" marL="0">
              <a:buNone/>
            </a:pPr>
            <a:r>
              <a:rPr lang="en-US" sz="1100" b="1" dirty="0">
                <a:solidFill>
                  <a:srgbClr val="3A4A60"/>
                </a:solidFill>
                <a:latin typeface="Malgun Gothic" pitchFamily="34" charset="0"/>
                <a:ea typeface="Malgun Gothic" pitchFamily="34" charset="-122"/>
                <a:cs typeface="Malgun Gothic" pitchFamily="34" charset="-120"/>
              </a:rPr>
              <a:t>팀 해석</a:t>
            </a:r>
            <a:endParaRPr lang="en-US" sz="1100" dirty="0"/>
          </a:p>
        </p:txBody>
      </p:sp>
      <p:sp>
        <p:nvSpPr>
          <p:cNvPr id="5" name="Text 3"/>
          <p:cNvSpPr txBox="1"/>
          <p:nvPr/>
        </p:nvSpPr>
        <p:spPr>
          <a:xfrm>
            <a:off x="548640" y="2514600"/>
            <a:ext cx="1691640" cy="1417320"/>
          </a:xfrm>
          <a:prstGeom prst="roundRect">
            <a:avLst>
              <a:gd name="adj" fmla="val 5161"/>
            </a:avLst>
          </a:prstGeom>
          <a:solidFill>
            <a:srgbClr val="0E1A2B"/>
          </a:solidFill>
          <a:ln>
            <a:solidFill>
              <a:srgbClr val="0E1A2B"/>
            </a:solidFill>
          </a:ln>
        </p:spPr>
        <p:txBody>
          <a:bodyPr wrap="square" lIns="76200" tIns="76200" rIns="76200" bIns="76200" rtlCol="0" anchor="ctr"/>
          <a:lstStyle/>
          <a:p>
            <a:pPr algn="ctr" indent="0" marL="0">
              <a:buNone/>
            </a:pPr>
            <a:r>
              <a:rPr lang="en-US" sz="1500" b="1" dirty="0">
                <a:solidFill>
                  <a:srgbClr val="FFFFFF"/>
                </a:solidFill>
                <a:latin typeface="Malgun Gothic" pitchFamily="34" charset="0"/>
                <a:ea typeface="Malgun Gothic" pitchFamily="34" charset="-122"/>
                <a:cs typeface="Malgun Gothic" pitchFamily="34" charset="-120"/>
              </a:rPr>
              <a:t>상품설명서</a:t>
            </a:r>
            <a:endParaRPr lang="en-US" sz="1500" dirty="0"/>
          </a:p>
          <a:p>
            <a:pPr algn="ctr" indent="0" marL="0">
              <a:buNone/>
            </a:pPr>
            <a:r>
              <a:rPr lang="en-US" sz="1500" b="1" dirty="0">
                <a:solidFill>
                  <a:srgbClr val="FFFFFF"/>
                </a:solidFill>
                <a:latin typeface="Malgun Gothic" pitchFamily="34" charset="0"/>
                <a:ea typeface="Malgun Gothic" pitchFamily="34" charset="-122"/>
                <a:cs typeface="Malgun Gothic" pitchFamily="34" charset="-120"/>
              </a:rPr>
              <a:t>약관</a:t>
            </a:r>
            <a:endParaRPr lang="en-US" sz="1500" dirty="0"/>
          </a:p>
          <a:p>
            <a:pPr algn="ctr" indent="0" marL="0">
              <a:buNone/>
            </a:pPr>
            <a:r>
              <a:rPr lang="en-US" sz="1500" b="1" dirty="0">
                <a:solidFill>
                  <a:srgbClr val="FFFFFF"/>
                </a:solidFill>
                <a:latin typeface="Malgun Gothic" pitchFamily="34" charset="0"/>
                <a:ea typeface="Malgun Gothic" pitchFamily="34" charset="-122"/>
                <a:cs typeface="Malgun Gothic" pitchFamily="34" charset="-120"/>
              </a:rPr>
              <a:t>(공식 원문)</a:t>
            </a:r>
            <a:endParaRPr lang="en-US" sz="1500" dirty="0"/>
          </a:p>
        </p:txBody>
      </p:sp>
      <p:sp>
        <p:nvSpPr>
          <p:cNvPr id="6" name="Shape 4"/>
          <p:cNvSpPr/>
          <p:nvPr/>
        </p:nvSpPr>
        <p:spPr>
          <a:xfrm>
            <a:off x="2240280" y="3223260"/>
            <a:ext cx="411480" cy="0"/>
          </a:xfrm>
          <a:prstGeom prst="line">
            <a:avLst/>
          </a:prstGeom>
          <a:noFill/>
          <a:ln w="19050">
            <a:solidFill>
              <a:srgbClr val="8A94A3"/>
            </a:solidFill>
            <a:prstDash val="solid"/>
          </a:ln>
        </p:spPr>
      </p:sp>
      <p:sp>
        <p:nvSpPr>
          <p:cNvPr id="7" name="Shape 5"/>
          <p:cNvSpPr/>
          <p:nvPr/>
        </p:nvSpPr>
        <p:spPr>
          <a:xfrm>
            <a:off x="2651760" y="2112264"/>
            <a:ext cx="0" cy="2468880"/>
          </a:xfrm>
          <a:prstGeom prst="line">
            <a:avLst/>
          </a:prstGeom>
          <a:noFill/>
          <a:ln w="19050">
            <a:solidFill>
              <a:srgbClr val="8A94A3"/>
            </a:solidFill>
            <a:prstDash val="solid"/>
          </a:ln>
        </p:spPr>
      </p:sp>
      <p:sp>
        <p:nvSpPr>
          <p:cNvPr id="8" name="Shape 6"/>
          <p:cNvSpPr/>
          <p:nvPr/>
        </p:nvSpPr>
        <p:spPr>
          <a:xfrm>
            <a:off x="2651760" y="2112264"/>
            <a:ext cx="347472" cy="0"/>
          </a:xfrm>
          <a:prstGeom prst="line">
            <a:avLst/>
          </a:prstGeom>
          <a:noFill/>
          <a:ln w="19050">
            <a:solidFill>
              <a:srgbClr val="8A94A3"/>
            </a:solidFill>
            <a:prstDash val="solid"/>
            <a:tailEnd type="triangle"/>
          </a:ln>
        </p:spPr>
      </p:sp>
      <p:sp>
        <p:nvSpPr>
          <p:cNvPr id="9" name="Text 7"/>
          <p:cNvSpPr txBox="1"/>
          <p:nvPr/>
        </p:nvSpPr>
        <p:spPr>
          <a:xfrm>
            <a:off x="3017520" y="1783080"/>
            <a:ext cx="2697480" cy="658368"/>
          </a:xfrm>
          <a:prstGeom prst="roundRect">
            <a:avLst>
              <a:gd name="adj" fmla="val 11111"/>
            </a:avLst>
          </a:prstGeom>
          <a:solidFill>
            <a:srgbClr val="F3F5F8"/>
          </a:solidFill>
          <a:ln w="9525">
            <a:solidFill>
              <a:srgbClr val="F3F5F8"/>
            </a:solidFill>
          </a:ln>
        </p:spPr>
        <p:txBody>
          <a:bodyPr wrap="square" lIns="152400" tIns="152400" rIns="152400" bIns="152400" rtlCol="0" anchor="ctr"/>
          <a:lstStyle/>
          <a:p>
            <a:pPr algn="l" indent="0" marL="0">
              <a:buNone/>
            </a:pPr>
            <a:r>
              <a:rPr lang="en-US" sz="1500" b="1" dirty="0">
                <a:solidFill>
                  <a:srgbClr val="0E1A2B"/>
                </a:solidFill>
                <a:latin typeface="Malgun Gothic" pitchFamily="34" charset="0"/>
                <a:ea typeface="Malgun Gothic" pitchFamily="34" charset="-122"/>
                <a:cs typeface="Malgun Gothic" pitchFamily="34" charset="-120"/>
              </a:rPr>
              <a:t>상품·준법 검토</a:t>
            </a:r>
            <a:endParaRPr lang="en-US" sz="1500" dirty="0"/>
          </a:p>
        </p:txBody>
      </p:sp>
      <p:sp>
        <p:nvSpPr>
          <p:cNvPr id="10" name="Shape 8"/>
          <p:cNvSpPr/>
          <p:nvPr/>
        </p:nvSpPr>
        <p:spPr>
          <a:xfrm>
            <a:off x="2651760" y="2935224"/>
            <a:ext cx="347472" cy="0"/>
          </a:xfrm>
          <a:prstGeom prst="line">
            <a:avLst/>
          </a:prstGeom>
          <a:noFill/>
          <a:ln w="19050">
            <a:solidFill>
              <a:srgbClr val="8A94A3"/>
            </a:solidFill>
            <a:prstDash val="solid"/>
            <a:tailEnd type="triangle"/>
          </a:ln>
        </p:spPr>
      </p:sp>
      <p:sp>
        <p:nvSpPr>
          <p:cNvPr id="11" name="Text 9"/>
          <p:cNvSpPr txBox="1"/>
          <p:nvPr/>
        </p:nvSpPr>
        <p:spPr>
          <a:xfrm>
            <a:off x="3017520" y="2606040"/>
            <a:ext cx="2697480" cy="658368"/>
          </a:xfrm>
          <a:prstGeom prst="roundRect">
            <a:avLst>
              <a:gd name="adj" fmla="val 11111"/>
            </a:avLst>
          </a:prstGeom>
          <a:solidFill>
            <a:srgbClr val="F3F5F8"/>
          </a:solidFill>
          <a:ln w="9525">
            <a:solidFill>
              <a:srgbClr val="F3F5F8"/>
            </a:solidFill>
          </a:ln>
        </p:spPr>
        <p:txBody>
          <a:bodyPr wrap="square" lIns="152400" tIns="152400" rIns="152400" bIns="152400" rtlCol="0" anchor="ctr"/>
          <a:lstStyle/>
          <a:p>
            <a:pPr algn="l" indent="0" marL="0">
              <a:buNone/>
            </a:pPr>
            <a:r>
              <a:rPr lang="en-US" sz="1500" b="1" dirty="0">
                <a:solidFill>
                  <a:srgbClr val="0E1A2B"/>
                </a:solidFill>
                <a:latin typeface="Malgun Gothic" pitchFamily="34" charset="0"/>
                <a:ea typeface="Malgun Gothic" pitchFamily="34" charset="-122"/>
                <a:cs typeface="Malgun Gothic" pitchFamily="34" charset="-120"/>
              </a:rPr>
              <a:t>상담원 지원</a:t>
            </a:r>
            <a:endParaRPr lang="en-US" sz="1500" dirty="0"/>
          </a:p>
        </p:txBody>
      </p:sp>
      <p:sp>
        <p:nvSpPr>
          <p:cNvPr id="12" name="Shape 10"/>
          <p:cNvSpPr/>
          <p:nvPr/>
        </p:nvSpPr>
        <p:spPr>
          <a:xfrm>
            <a:off x="2651760" y="3758184"/>
            <a:ext cx="347472" cy="0"/>
          </a:xfrm>
          <a:prstGeom prst="line">
            <a:avLst/>
          </a:prstGeom>
          <a:noFill/>
          <a:ln w="19050">
            <a:solidFill>
              <a:srgbClr val="8A94A3"/>
            </a:solidFill>
            <a:prstDash val="solid"/>
            <a:tailEnd type="triangle"/>
          </a:ln>
        </p:spPr>
      </p:sp>
      <p:sp>
        <p:nvSpPr>
          <p:cNvPr id="13" name="Text 11"/>
          <p:cNvSpPr txBox="1"/>
          <p:nvPr/>
        </p:nvSpPr>
        <p:spPr>
          <a:xfrm>
            <a:off x="3017520" y="3429000"/>
            <a:ext cx="2697480" cy="658368"/>
          </a:xfrm>
          <a:prstGeom prst="roundRect">
            <a:avLst>
              <a:gd name="adj" fmla="val 11111"/>
            </a:avLst>
          </a:prstGeom>
          <a:solidFill>
            <a:srgbClr val="F3F5F8"/>
          </a:solidFill>
          <a:ln w="9525">
            <a:solidFill>
              <a:srgbClr val="F3F5F8"/>
            </a:solidFill>
          </a:ln>
        </p:spPr>
        <p:txBody>
          <a:bodyPr wrap="square" lIns="152400" tIns="152400" rIns="152400" bIns="152400" rtlCol="0" anchor="ctr"/>
          <a:lstStyle/>
          <a:p>
            <a:pPr algn="l" indent="0" marL="0">
              <a:buNone/>
            </a:pPr>
            <a:r>
              <a:rPr lang="en-US" sz="1500" b="1" dirty="0">
                <a:solidFill>
                  <a:srgbClr val="0E1A2B"/>
                </a:solidFill>
                <a:latin typeface="Malgun Gothic" pitchFamily="34" charset="0"/>
                <a:ea typeface="Malgun Gothic" pitchFamily="34" charset="-122"/>
                <a:cs typeface="Malgun Gothic" pitchFamily="34" charset="-120"/>
              </a:rPr>
              <a:t>자사 앱 AI 상담</a:t>
            </a:r>
            <a:endParaRPr lang="en-US" sz="1500" dirty="0"/>
          </a:p>
        </p:txBody>
      </p:sp>
      <p:sp>
        <p:nvSpPr>
          <p:cNvPr id="14" name="Shape 12"/>
          <p:cNvSpPr/>
          <p:nvPr/>
        </p:nvSpPr>
        <p:spPr>
          <a:xfrm>
            <a:off x="2651760" y="4581144"/>
            <a:ext cx="347472" cy="0"/>
          </a:xfrm>
          <a:prstGeom prst="line">
            <a:avLst/>
          </a:prstGeom>
          <a:noFill/>
          <a:ln w="19050">
            <a:solidFill>
              <a:srgbClr val="8A94A3"/>
            </a:solidFill>
            <a:prstDash val="solid"/>
            <a:tailEnd type="triangle"/>
          </a:ln>
        </p:spPr>
      </p:sp>
      <p:sp>
        <p:nvSpPr>
          <p:cNvPr id="15" name="Text 13"/>
          <p:cNvSpPr txBox="1"/>
          <p:nvPr/>
        </p:nvSpPr>
        <p:spPr>
          <a:xfrm>
            <a:off x="3017520" y="4251960"/>
            <a:ext cx="2697480" cy="658368"/>
          </a:xfrm>
          <a:prstGeom prst="roundRect">
            <a:avLst>
              <a:gd name="adj" fmla="val 11111"/>
            </a:avLst>
          </a:prstGeom>
          <a:solidFill>
            <a:srgbClr val="F3F5F8"/>
          </a:solidFill>
          <a:ln w="9525">
            <a:solidFill>
              <a:srgbClr val="F3F5F8"/>
            </a:solidFill>
          </a:ln>
        </p:spPr>
        <p:txBody>
          <a:bodyPr wrap="square" lIns="152400" tIns="152400" rIns="152400" bIns="152400" rtlCol="0" anchor="ctr"/>
          <a:lstStyle/>
          <a:p>
            <a:pPr algn="l" indent="0" marL="0">
              <a:buNone/>
            </a:pPr>
            <a:r>
              <a:rPr lang="en-US" sz="1500" b="1" dirty="0">
                <a:solidFill>
                  <a:srgbClr val="0E1A2B"/>
                </a:solidFill>
                <a:latin typeface="Malgun Gothic" pitchFamily="34" charset="0"/>
                <a:ea typeface="Malgun Gothic" pitchFamily="34" charset="-122"/>
                <a:cs typeface="Malgun Gothic" pitchFamily="34" charset="-120"/>
              </a:rPr>
              <a:t>외부 AI 서비스</a:t>
            </a:r>
            <a:endParaRPr lang="en-US" sz="1500" dirty="0"/>
          </a:p>
        </p:txBody>
      </p:sp>
      <p:sp>
        <p:nvSpPr>
          <p:cNvPr id="16" name="Text 14"/>
          <p:cNvSpPr txBox="1"/>
          <p:nvPr/>
        </p:nvSpPr>
        <p:spPr>
          <a:xfrm>
            <a:off x="5897880" y="1783080"/>
            <a:ext cx="1234440" cy="3127248"/>
          </a:xfrm>
          <a:prstGeom prst="roundRect">
            <a:avLst>
              <a:gd name="adj" fmla="val 5926"/>
            </a:avLst>
          </a:prstGeom>
          <a:solidFill>
            <a:srgbClr val="FBE6E2"/>
          </a:solidFill>
          <a:ln>
            <a:solidFill>
              <a:srgbClr val="FBE6E2"/>
            </a:solidFill>
          </a:ln>
        </p:spPr>
        <p:txBody>
          <a:bodyPr wrap="square" lIns="76200" tIns="76200" rIns="76200" bIns="76200" rtlCol="0" anchor="ctr"/>
          <a:lstStyle/>
          <a:p>
            <a:pPr algn="ctr" indent="0" marL="0">
              <a:buNone/>
            </a:pPr>
            <a:r>
              <a:rPr lang="en-US" sz="1500" b="1" dirty="0">
                <a:solidFill>
                  <a:srgbClr val="A8311A"/>
                </a:solidFill>
                <a:latin typeface="Malgun Gothic" pitchFamily="34" charset="0"/>
                <a:ea typeface="Malgun Gothic" pitchFamily="34" charset="-122"/>
                <a:cs typeface="Malgun Gothic" pitchFamily="34" charset="-120"/>
              </a:rPr>
              <a:t>채널마다</a:t>
            </a:r>
            <a:endParaRPr lang="en-US" sz="1500" dirty="0"/>
          </a:p>
          <a:p>
            <a:pPr algn="ctr" indent="0" marL="0">
              <a:buNone/>
            </a:pPr>
            <a:r>
              <a:rPr lang="en-US" sz="1500" b="1" dirty="0">
                <a:solidFill>
                  <a:srgbClr val="A8311A"/>
                </a:solidFill>
                <a:latin typeface="Malgun Gothic" pitchFamily="34" charset="0"/>
                <a:ea typeface="Malgun Gothic" pitchFamily="34" charset="-122"/>
                <a:cs typeface="Malgun Gothic" pitchFamily="34" charset="-120"/>
              </a:rPr>
              <a:t>다른 사본,</a:t>
            </a:r>
            <a:endParaRPr lang="en-US" sz="1500" dirty="0"/>
          </a:p>
          <a:p>
            <a:pPr algn="ctr" indent="0" marL="0">
              <a:buNone/>
            </a:pPr>
            <a:r>
              <a:rPr lang="en-US" sz="1500" b="1" dirty="0">
                <a:solidFill>
                  <a:srgbClr val="A8311A"/>
                </a:solidFill>
                <a:latin typeface="Malgun Gothic" pitchFamily="34" charset="0"/>
                <a:ea typeface="Malgun Gothic" pitchFamily="34" charset="-122"/>
                <a:cs typeface="Malgun Gothic" pitchFamily="34" charset="-120"/>
              </a:rPr>
              <a:t>다른 해석</a:t>
            </a:r>
            <a:endParaRPr lang="en-US" sz="1500" dirty="0"/>
          </a:p>
        </p:txBody>
      </p:sp>
      <p:sp>
        <p:nvSpPr>
          <p:cNvPr id="17" name="Text 15"/>
          <p:cNvSpPr txBox="1"/>
          <p:nvPr/>
        </p:nvSpPr>
        <p:spPr>
          <a:xfrm>
            <a:off x="7498080" y="1783080"/>
            <a:ext cx="4142232" cy="320040"/>
          </a:xfrm>
          <a:prstGeom prst="rect">
            <a:avLst/>
          </a:prstGeom>
          <a:noFill/>
          <a:ln/>
        </p:spPr>
        <p:txBody>
          <a:bodyPr wrap="square" lIns="0" tIns="0" rIns="0" bIns="0" rtlCol="0" anchor="t"/>
          <a:lstStyle/>
          <a:p>
            <a:pPr indent="0" marL="0">
              <a:buNone/>
            </a:pPr>
            <a:r>
              <a:rPr lang="en-US" sz="1500" b="1" dirty="0">
                <a:solidFill>
                  <a:srgbClr val="0E1A2B"/>
                </a:solidFill>
                <a:latin typeface="Malgun Gothic" pitchFamily="34" charset="0"/>
                <a:ea typeface="Malgun Gothic" pitchFamily="34" charset="-122"/>
                <a:cs typeface="Malgun Gothic" pitchFamily="34" charset="-120"/>
              </a:rPr>
              <a:t>흩어지면 생기는 위험 → 그래서 필요한 것</a:t>
            </a:r>
            <a:endParaRPr lang="en-US" sz="1500" dirty="0"/>
          </a:p>
        </p:txBody>
      </p:sp>
      <p:sp>
        <p:nvSpPr>
          <p:cNvPr id="18" name="Text 16"/>
          <p:cNvSpPr txBox="1"/>
          <p:nvPr/>
        </p:nvSpPr>
        <p:spPr>
          <a:xfrm>
            <a:off x="7498080" y="2286000"/>
            <a:ext cx="457200" cy="457200"/>
          </a:xfrm>
          <a:prstGeom prst="ellipse">
            <a:avLst>
              <a:gd name="adj" fmla="val 16000"/>
            </a:avLst>
          </a:prstGeom>
          <a:solidFill>
            <a:srgbClr val="E8A33D"/>
          </a:solidFill>
          <a:ln>
            <a:solidFill>
              <a:srgbClr val="E8A33D"/>
            </a:solidFill>
          </a:ln>
        </p:spPr>
        <p:txBody>
          <a:bodyPr wrap="square" lIns="0" tIns="0" rIns="0" bIns="0" rtlCol="0" anchor="ctr"/>
          <a:lstStyle/>
          <a:p>
            <a:pPr algn="ctr" indent="0" marL="0">
              <a:buNone/>
            </a:pPr>
            <a:r>
              <a:rPr lang="en-US" sz="1600" b="1" dirty="0">
                <a:solidFill>
                  <a:srgbClr val="0E1A2B"/>
                </a:solidFill>
                <a:latin typeface="Malgun Gothic" pitchFamily="34" charset="0"/>
                <a:ea typeface="Malgun Gothic" pitchFamily="34" charset="-122"/>
                <a:cs typeface="Malgun Gothic" pitchFamily="34" charset="-120"/>
              </a:rPr>
              <a:t>1</a:t>
            </a:r>
            <a:endParaRPr lang="en-US" sz="1600" dirty="0"/>
          </a:p>
        </p:txBody>
      </p:sp>
      <p:sp>
        <p:nvSpPr>
          <p:cNvPr id="19" name="Text 17"/>
          <p:cNvSpPr txBox="1"/>
          <p:nvPr/>
        </p:nvSpPr>
        <p:spPr>
          <a:xfrm>
            <a:off x="8092440" y="2240280"/>
            <a:ext cx="3547872" cy="777240"/>
          </a:xfrm>
          <a:prstGeom prst="rect">
            <a:avLst/>
          </a:prstGeom>
          <a:noFill/>
          <a:ln/>
        </p:spPr>
        <p:txBody>
          <a:bodyPr wrap="square" lIns="0" tIns="0" rIns="0" bIns="0" rtlCol="0" anchor="t"/>
          <a:lstStyle/>
          <a:p>
            <a:pPr indent="0" marL="0">
              <a:lnSpc>
                <a:spcPct val="115000"/>
              </a:lnSpc>
              <a:buNone/>
            </a:pPr>
            <a:r>
              <a:rPr lang="en-US" sz="1600" b="1" dirty="0">
                <a:solidFill>
                  <a:srgbClr val="0E1A2B"/>
                </a:solidFill>
                <a:latin typeface="Malgun Gothic" pitchFamily="34" charset="0"/>
                <a:ea typeface="Malgun Gothic" pitchFamily="34" charset="-122"/>
                <a:cs typeface="Malgun Gothic" pitchFamily="34" charset="-120"/>
              </a:rPr>
              <a:t>근거  </a:t>
            </a:r>
            <a:pPr indent="0" marL="0">
              <a:lnSpc>
                <a:spcPct val="115000"/>
              </a:lnSpc>
              <a:buNone/>
            </a:pPr>
            <a:r>
              <a:rPr lang="en-US" sz="1300" dirty="0">
                <a:solidFill>
                  <a:srgbClr val="5B6778"/>
                </a:solidFill>
                <a:latin typeface="Malgun Gothic" pitchFamily="34" charset="0"/>
                <a:ea typeface="Malgun Gothic" pitchFamily="34" charset="-122"/>
                <a:cs typeface="Malgun Gothic" pitchFamily="34" charset="-120"/>
              </a:rPr>
              <a:t>조건이 빠진 답, 출처 없는 답</a:t>
            </a:r>
            <a:endParaRPr lang="en-US" sz="1400" dirty="0"/>
          </a:p>
          <a:p>
            <a:pPr indent="0" marL="0">
              <a:lnSpc>
                <a:spcPct val="115000"/>
              </a:lnSpc>
              <a:buNone/>
            </a:pPr>
            <a:r>
              <a:rPr lang="en-US" sz="1400" b="1" dirty="0">
                <a:solidFill>
                  <a:srgbClr val="0D6F64"/>
                </a:solidFill>
                <a:latin typeface="Malgun Gothic" pitchFamily="34" charset="0"/>
                <a:ea typeface="Malgun Gothic" pitchFamily="34" charset="-122"/>
                <a:cs typeface="Malgun Gothic" pitchFamily="34" charset="-120"/>
              </a:rPr>
              <a:t>→ 답마다 원문 조항까지의 경로</a:t>
            </a:r>
            <a:endParaRPr lang="en-US" sz="1400" dirty="0"/>
          </a:p>
        </p:txBody>
      </p:sp>
      <p:sp>
        <p:nvSpPr>
          <p:cNvPr id="20" name="Text 18"/>
          <p:cNvSpPr txBox="1"/>
          <p:nvPr/>
        </p:nvSpPr>
        <p:spPr>
          <a:xfrm>
            <a:off x="7498080" y="3182112"/>
            <a:ext cx="457200" cy="457200"/>
          </a:xfrm>
          <a:prstGeom prst="ellipse">
            <a:avLst>
              <a:gd name="adj" fmla="val 16000"/>
            </a:avLst>
          </a:prstGeom>
          <a:solidFill>
            <a:srgbClr val="E8A33D"/>
          </a:solidFill>
          <a:ln>
            <a:solidFill>
              <a:srgbClr val="E8A33D"/>
            </a:solidFill>
          </a:ln>
        </p:spPr>
        <p:txBody>
          <a:bodyPr wrap="square" lIns="0" tIns="0" rIns="0" bIns="0" rtlCol="0" anchor="ctr"/>
          <a:lstStyle/>
          <a:p>
            <a:pPr algn="ctr" indent="0" marL="0">
              <a:buNone/>
            </a:pPr>
            <a:r>
              <a:rPr lang="en-US" sz="1600" b="1" dirty="0">
                <a:solidFill>
                  <a:srgbClr val="0E1A2B"/>
                </a:solidFill>
                <a:latin typeface="Malgun Gothic" pitchFamily="34" charset="0"/>
                <a:ea typeface="Malgun Gothic" pitchFamily="34" charset="-122"/>
                <a:cs typeface="Malgun Gothic" pitchFamily="34" charset="-120"/>
              </a:rPr>
              <a:t>2</a:t>
            </a:r>
            <a:endParaRPr lang="en-US" sz="1600" dirty="0"/>
          </a:p>
        </p:txBody>
      </p:sp>
      <p:sp>
        <p:nvSpPr>
          <p:cNvPr id="21" name="Text 19"/>
          <p:cNvSpPr txBox="1"/>
          <p:nvPr/>
        </p:nvSpPr>
        <p:spPr>
          <a:xfrm>
            <a:off x="8092440" y="3136392"/>
            <a:ext cx="3547872" cy="777240"/>
          </a:xfrm>
          <a:prstGeom prst="rect">
            <a:avLst/>
          </a:prstGeom>
          <a:noFill/>
          <a:ln/>
        </p:spPr>
        <p:txBody>
          <a:bodyPr wrap="square" lIns="0" tIns="0" rIns="0" bIns="0" rtlCol="0" anchor="t"/>
          <a:lstStyle/>
          <a:p>
            <a:pPr indent="0" marL="0">
              <a:lnSpc>
                <a:spcPct val="115000"/>
              </a:lnSpc>
              <a:buNone/>
            </a:pPr>
            <a:r>
              <a:rPr lang="en-US" sz="1600" b="1" dirty="0">
                <a:solidFill>
                  <a:srgbClr val="0E1A2B"/>
                </a:solidFill>
                <a:latin typeface="Malgun Gothic" pitchFamily="34" charset="0"/>
                <a:ea typeface="Malgun Gothic" pitchFamily="34" charset="-122"/>
                <a:cs typeface="Malgun Gothic" pitchFamily="34" charset="-120"/>
              </a:rPr>
              <a:t>변경  </a:t>
            </a:r>
            <a:pPr indent="0" marL="0">
              <a:lnSpc>
                <a:spcPct val="115000"/>
              </a:lnSpc>
              <a:buNone/>
            </a:pPr>
            <a:r>
              <a:rPr lang="en-US" sz="1300" dirty="0">
                <a:solidFill>
                  <a:srgbClr val="5B6778"/>
                </a:solidFill>
                <a:latin typeface="Malgun Gothic" pitchFamily="34" charset="0"/>
                <a:ea typeface="Malgun Gothic" pitchFamily="34" charset="-122"/>
                <a:cs typeface="Malgun Gothic" pitchFamily="34" charset="-120"/>
              </a:rPr>
              <a:t>어제 바뀐 조건이 일부 채널에만 반영</a:t>
            </a:r>
            <a:endParaRPr lang="en-US" sz="1400" dirty="0"/>
          </a:p>
          <a:p>
            <a:pPr indent="0" marL="0">
              <a:lnSpc>
                <a:spcPct val="115000"/>
              </a:lnSpc>
              <a:buNone/>
            </a:pPr>
            <a:r>
              <a:rPr lang="en-US" sz="1400" b="1" dirty="0">
                <a:solidFill>
                  <a:srgbClr val="0D6F64"/>
                </a:solidFill>
                <a:latin typeface="Malgun Gothic" pitchFamily="34" charset="0"/>
                <a:ea typeface="Malgun Gothic" pitchFamily="34" charset="-122"/>
                <a:cs typeface="Malgun Gothic" pitchFamily="34" charset="-120"/>
              </a:rPr>
              <a:t>→ 조건 하나가 바뀌면 영향 혜택 목록</a:t>
            </a:r>
            <a:endParaRPr lang="en-US" sz="1400" dirty="0"/>
          </a:p>
        </p:txBody>
      </p:sp>
      <p:sp>
        <p:nvSpPr>
          <p:cNvPr id="22" name="Text 20"/>
          <p:cNvSpPr txBox="1"/>
          <p:nvPr/>
        </p:nvSpPr>
        <p:spPr>
          <a:xfrm>
            <a:off x="7498080" y="4078224"/>
            <a:ext cx="457200" cy="457200"/>
          </a:xfrm>
          <a:prstGeom prst="ellipse">
            <a:avLst>
              <a:gd name="adj" fmla="val 16000"/>
            </a:avLst>
          </a:prstGeom>
          <a:solidFill>
            <a:srgbClr val="E8A33D"/>
          </a:solidFill>
          <a:ln>
            <a:solidFill>
              <a:srgbClr val="E8A33D"/>
            </a:solidFill>
          </a:ln>
        </p:spPr>
        <p:txBody>
          <a:bodyPr wrap="square" lIns="0" tIns="0" rIns="0" bIns="0" rtlCol="0" anchor="ctr"/>
          <a:lstStyle/>
          <a:p>
            <a:pPr algn="ctr" indent="0" marL="0">
              <a:buNone/>
            </a:pPr>
            <a:r>
              <a:rPr lang="en-US" sz="1600" b="1" dirty="0">
                <a:solidFill>
                  <a:srgbClr val="0E1A2B"/>
                </a:solidFill>
                <a:latin typeface="Malgun Gothic" pitchFamily="34" charset="0"/>
                <a:ea typeface="Malgun Gothic" pitchFamily="34" charset="-122"/>
                <a:cs typeface="Malgun Gothic" pitchFamily="34" charset="-120"/>
              </a:rPr>
              <a:t>3</a:t>
            </a:r>
            <a:endParaRPr lang="en-US" sz="1600" dirty="0"/>
          </a:p>
        </p:txBody>
      </p:sp>
      <p:sp>
        <p:nvSpPr>
          <p:cNvPr id="23" name="Text 21"/>
          <p:cNvSpPr txBox="1"/>
          <p:nvPr/>
        </p:nvSpPr>
        <p:spPr>
          <a:xfrm>
            <a:off x="8092440" y="4032504"/>
            <a:ext cx="3547872" cy="777240"/>
          </a:xfrm>
          <a:prstGeom prst="rect">
            <a:avLst/>
          </a:prstGeom>
          <a:noFill/>
          <a:ln/>
        </p:spPr>
        <p:txBody>
          <a:bodyPr wrap="square" lIns="0" tIns="0" rIns="0" bIns="0" rtlCol="0" anchor="t"/>
          <a:lstStyle/>
          <a:p>
            <a:pPr indent="0" marL="0">
              <a:lnSpc>
                <a:spcPct val="115000"/>
              </a:lnSpc>
              <a:buNone/>
            </a:pPr>
            <a:r>
              <a:rPr lang="en-US" sz="1600" b="1" dirty="0">
                <a:solidFill>
                  <a:srgbClr val="0E1A2B"/>
                </a:solidFill>
                <a:latin typeface="Malgun Gothic" pitchFamily="34" charset="0"/>
                <a:ea typeface="Malgun Gothic" pitchFamily="34" charset="-122"/>
                <a:cs typeface="Malgun Gothic" pitchFamily="34" charset="-120"/>
              </a:rPr>
              <a:t>재사용  </a:t>
            </a:r>
            <a:pPr indent="0" marL="0">
              <a:lnSpc>
                <a:spcPct val="115000"/>
              </a:lnSpc>
              <a:buNone/>
            </a:pPr>
            <a:r>
              <a:rPr lang="en-US" sz="1300" dirty="0">
                <a:solidFill>
                  <a:srgbClr val="5B6778"/>
                </a:solidFill>
                <a:latin typeface="Malgun Gothic" pitchFamily="34" charset="0"/>
                <a:ea typeface="Malgun Gothic" pitchFamily="34" charset="-122"/>
                <a:cs typeface="Malgun Gothic" pitchFamily="34" charset="-120"/>
              </a:rPr>
              <a:t>채널마다 판단 로직을 다시 구현</a:t>
            </a:r>
            <a:endParaRPr lang="en-US" sz="1400" dirty="0"/>
          </a:p>
          <a:p>
            <a:pPr indent="0" marL="0">
              <a:lnSpc>
                <a:spcPct val="115000"/>
              </a:lnSpc>
              <a:buNone/>
            </a:pPr>
            <a:r>
              <a:rPr lang="en-US" sz="1400" b="1" dirty="0">
                <a:solidFill>
                  <a:srgbClr val="0D6F64"/>
                </a:solidFill>
                <a:latin typeface="Malgun Gothic" pitchFamily="34" charset="0"/>
                <a:ea typeface="Malgun Gothic" pitchFamily="34" charset="-122"/>
                <a:cs typeface="Malgun Gothic" pitchFamily="34" charset="-120"/>
              </a:rPr>
              <a:t>→ 한 번 검증한 판단을 여러 채널이 호출</a:t>
            </a:r>
            <a:endParaRPr lang="en-US" sz="1400" dirty="0"/>
          </a:p>
        </p:txBody>
      </p:sp>
      <p:sp>
        <p:nvSpPr>
          <p:cNvPr id="24" name="Text 22"/>
          <p:cNvSpPr txBox="1"/>
          <p:nvPr/>
        </p:nvSpPr>
        <p:spPr>
          <a:xfrm>
            <a:off x="548640" y="5257800"/>
            <a:ext cx="11094415" cy="685800"/>
          </a:xfrm>
          <a:prstGeom prst="roundRect">
            <a:avLst>
              <a:gd name="adj" fmla="val 10667"/>
            </a:avLst>
          </a:prstGeom>
          <a:solidFill>
            <a:srgbClr val="FDF0DC"/>
          </a:solidFill>
          <a:ln>
            <a:solidFill>
              <a:srgbClr val="FDF0DC"/>
            </a:solidFill>
          </a:ln>
        </p:spPr>
        <p:txBody>
          <a:bodyPr wrap="square" lIns="177800" tIns="177800" rIns="177800" bIns="177800" rtlCol="0" anchor="ctr"/>
          <a:lstStyle/>
          <a:p>
            <a:pPr algn="l" indent="0" marL="0">
              <a:buNone/>
            </a:pPr>
            <a:r>
              <a:rPr lang="en-US" sz="1600" b="1" dirty="0">
                <a:solidFill>
                  <a:srgbClr val="0E1A2B"/>
                </a:solidFill>
                <a:latin typeface="Malgun Gothic" pitchFamily="34" charset="0"/>
                <a:ea typeface="Malgun Gothic" pitchFamily="34" charset="-122"/>
                <a:cs typeface="Malgun Gothic" pitchFamily="34" charset="-120"/>
              </a:rPr>
              <a:t>이 발표의 질문: 판단 기준을 한곳에서 관리하고, 여러 AI 채널에 같은 근거를 공급할 수 있는가?</a:t>
            </a:r>
            <a:endParaRPr lang="en-US" sz="1600" dirty="0"/>
          </a:p>
        </p:txBody>
      </p:sp>
      <p:sp>
        <p:nvSpPr>
          <p:cNvPr id="25" name="Text 23"/>
          <p:cNvSpPr txBox="1"/>
          <p:nvPr/>
        </p:nvSpPr>
        <p:spPr>
          <a:xfrm>
            <a:off x="548640" y="6400800"/>
            <a:ext cx="10515600" cy="292608"/>
          </a:xfrm>
          <a:prstGeom prst="rect">
            <a:avLst/>
          </a:prstGeom>
          <a:noFill/>
          <a:ln/>
        </p:spPr>
        <p:txBody>
          <a:bodyPr wrap="square" lIns="0" tIns="0" rIns="0" bIns="0" rtlCol="0" anchor="ctr"/>
          <a:lstStyle/>
          <a:p>
            <a:pPr indent="0" marL="0">
              <a:buNone/>
            </a:pPr>
            <a:r>
              <a:rPr lang="en-US" sz="1000" dirty="0">
                <a:solidFill>
                  <a:srgbClr val="6B7686"/>
                </a:solidFill>
                <a:latin typeface="Malgun Gothic" pitchFamily="34" charset="0"/>
                <a:ea typeface="Malgun Gothic" pitchFamily="34" charset="-122"/>
                <a:cs typeface="Malgun Gothic" pitchFamily="34" charset="-120"/>
              </a:rPr>
              <a:t>위험 유형은 신한카드 2026-09-09 발표의 문제 정의(환각·비일관성·조건 누락·규정 미반영)를 채널 관점으로 재구성한 팀 해석입니다.</a:t>
            </a:r>
            <a:endParaRPr lang="en-US" sz="1000" dirty="0"/>
          </a:p>
        </p:txBody>
      </p:sp>
      <p:sp>
        <p:nvSpPr>
          <p:cNvPr id="25" name="Slide Number Placeholder 0"/>
          <p:cNvSpPr>
            <a:spLocks noGrp="1"/>
          </p:cNvSpPr>
          <p:nvPr>
            <p:ph type="sldNum" sz="quarter" idx="4294967295"/>
          </p:nvPr>
        </p:nvSpPr>
        <p:spPr>
          <a:xfrm>
            <a:off x="11274552" y="6437376"/>
            <a:ext cx="36576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Malgun Gothic"/>
                <a:ea typeface="Malgun Gothic"/>
                <a:cs typeface="Malgun Gothic"/>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329184"/>
            <a:ext cx="7498080" cy="292608"/>
          </a:xfrm>
          <a:prstGeom prst="rect">
            <a:avLst/>
          </a:prstGeom>
          <a:noFill/>
          <a:ln/>
        </p:spPr>
        <p:txBody>
          <a:bodyPr wrap="square" lIns="0" tIns="0" rIns="0" bIns="0" rtlCol="0" anchor="ctr"/>
          <a:lstStyle/>
          <a:p>
            <a:pPr indent="0" marL="0">
              <a:buNone/>
            </a:pPr>
            <a:r>
              <a:rPr lang="en-US" sz="1200" b="1" dirty="0">
                <a:solidFill>
                  <a:srgbClr val="8F5208"/>
                </a:solidFill>
                <a:latin typeface="Malgun Gothic" pitchFamily="34" charset="0"/>
                <a:ea typeface="Malgun Gothic" pitchFamily="34" charset="-122"/>
                <a:cs typeface="Malgun Gothic" pitchFamily="34" charset="-120"/>
              </a:rPr>
              <a:t>03   실제 약관에서 본 어려움 ①</a:t>
            </a:r>
            <a:endParaRPr lang="en-US" sz="1200" dirty="0"/>
          </a:p>
        </p:txBody>
      </p:sp>
      <p:sp>
        <p:nvSpPr>
          <p:cNvPr id="3" name="Text 0"/>
          <p:cNvSpPr/>
          <p:nvPr>
            <p:ph idx="101"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2400" b="1" dirty="0">
                <a:solidFill>
                  <a:srgbClr val="0E1A2B"/>
                </a:solidFill>
                <a:latin typeface="Malgun Gothic" pitchFamily="34" charset="0"/>
                <a:ea typeface="Malgun Gothic" pitchFamily="34" charset="-122"/>
                <a:cs typeface="Malgun Gothic" pitchFamily="34" charset="-120"/>
              </a:rPr>
              <a:t>체크·신용카드의 유사 혜택도 조건 적용 범위는 다릅니다</a:t>
            </a:r>
            <a:endParaRPr lang="en-US" sz="2400" dirty="0"/>
          </a:p>
        </p:txBody>
      </p:sp>
      <p:sp>
        <p:nvSpPr>
          <p:cNvPr id="4" name="Text 2"/>
          <p:cNvSpPr txBox="1"/>
          <p:nvPr/>
        </p:nvSpPr>
        <p:spPr>
          <a:xfrm>
            <a:off x="10783519" y="329184"/>
            <a:ext cx="859536" cy="292608"/>
          </a:xfrm>
          <a:prstGeom prst="roundRect">
            <a:avLst>
              <a:gd name="adj" fmla="val 46875"/>
            </a:avLst>
          </a:prstGeom>
          <a:solidFill>
            <a:srgbClr val="E3F4F1"/>
          </a:solidFill>
          <a:ln>
            <a:solidFill>
              <a:srgbClr val="E3F4F1"/>
            </a:solidFill>
          </a:ln>
        </p:spPr>
        <p:txBody>
          <a:bodyPr wrap="square" lIns="0" tIns="0" rIns="0" bIns="0" rtlCol="0" anchor="ctr"/>
          <a:lstStyle/>
          <a:p>
            <a:pPr algn="ctr" indent="0" marL="0">
              <a:buNone/>
            </a:pPr>
            <a:r>
              <a:rPr lang="en-US" sz="1100" b="1" dirty="0">
                <a:solidFill>
                  <a:srgbClr val="0D6F64"/>
                </a:solidFill>
                <a:latin typeface="Malgun Gothic" pitchFamily="34" charset="0"/>
                <a:ea typeface="Malgun Gothic" pitchFamily="34" charset="-122"/>
                <a:cs typeface="Malgun Gothic" pitchFamily="34" charset="-120"/>
              </a:rPr>
              <a:t>원문 확인</a:t>
            </a:r>
            <a:endParaRPr lang="en-US" sz="1100" dirty="0"/>
          </a:p>
        </p:txBody>
      </p:sp>
      <p:sp>
        <p:nvSpPr>
          <p:cNvPr id="5" name="Text 3"/>
          <p:cNvSpPr txBox="1"/>
          <p:nvPr/>
        </p:nvSpPr>
        <p:spPr>
          <a:xfrm>
            <a:off x="548640" y="1645920"/>
            <a:ext cx="11094415" cy="566928"/>
          </a:xfrm>
          <a:prstGeom prst="roundRect">
            <a:avLst>
              <a:gd name="adj" fmla="val 12903"/>
            </a:avLst>
          </a:prstGeom>
          <a:solidFill>
            <a:srgbClr val="FDF0DC"/>
          </a:solidFill>
          <a:ln>
            <a:solidFill>
              <a:srgbClr val="FDF0DC"/>
            </a:solidFill>
          </a:ln>
        </p:spPr>
        <p:txBody>
          <a:bodyPr wrap="square" lIns="177800" tIns="177800" rIns="177800" bIns="177800" rtlCol="0" anchor="ctr"/>
          <a:lstStyle/>
          <a:p>
            <a:pPr algn="l" indent="0" marL="0">
              <a:buNone/>
            </a:pPr>
            <a:r>
              <a:rPr lang="en-US" sz="1700" b="1" dirty="0">
                <a:solidFill>
                  <a:srgbClr val="8F5208"/>
                </a:solidFill>
                <a:latin typeface="Malgun Gothic" pitchFamily="34" charset="0"/>
                <a:ea typeface="Malgun Gothic" pitchFamily="34" charset="-122"/>
                <a:cs typeface="Malgun Gothic" pitchFamily="34" charset="-120"/>
              </a:rPr>
              <a:t>Q.  체크·신용 약 10종으로 넓히면, 상품권 실적 제외 변경은 어디까지 영향을 줄까요?</a:t>
            </a:r>
            <a:endParaRPr lang="en-US" sz="17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2377440"/>
          <a:ext cx="11094415" cy="914400"/>
        </p:xfrm>
        <a:graphic>
          <a:graphicData uri="http://schemas.openxmlformats.org/drawingml/2006/table">
            <a:tbl>
              <a:tblPr/>
              <a:tblGrid>
                <a:gridCol w="2057400"/>
                <a:gridCol w="1463040"/>
                <a:gridCol w="1600200"/>
                <a:gridCol w="3566160"/>
                <a:gridCol w="2404872"/>
              </a:tblGrid>
              <a:tr h="411480">
                <a:tc>
                  <a:txBody>
                    <a:bodyPr/>
                    <a:lstStyle/>
                    <a:p>
                      <a:pPr indent="0" marL="0">
                        <a:buNone/>
                      </a:pPr>
                      <a:r>
                        <a:rPr lang="en-US" sz="1300" b="1" dirty="0">
                          <a:solidFill>
                            <a:srgbClr val="FFFFFF"/>
                          </a:solidFill>
                          <a:latin typeface="Malgun Gothic" pitchFamily="34" charset="0"/>
                          <a:ea typeface="Malgun Gothic" pitchFamily="34" charset="-122"/>
                          <a:cs typeface="Malgun Gothic" pitchFamily="34" charset="-120"/>
                        </a:rPr>
                        <a:t>하나카드 상품</a:t>
                      </a:r>
                      <a:endParaRPr lang="en-US" sz="1300" dirty="0">
                        <a:latin typeface="Malgun Gothic" charset="0"/>
                        <a:ea typeface="Malgun Gothic" charset="0"/>
                        <a:cs typeface="Malgun Gothic" charset="0"/>
                      </a:endParaRPr>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0E1A2B"/>
                    </a:solidFill>
                  </a:tcPr>
                </a:tc>
                <a:tc>
                  <a:txBody>
                    <a:bodyPr/>
                    <a:lstStyle/>
                    <a:p>
                      <a:pPr indent="0" marL="0">
                        <a:buNone/>
                      </a:pPr>
                      <a:r>
                        <a:rPr lang="en-US" sz="1300" b="1" dirty="0">
                          <a:solidFill>
                            <a:srgbClr val="FFFFFF"/>
                          </a:solidFill>
                          <a:latin typeface="Malgun Gothic" pitchFamily="34" charset="0"/>
                          <a:ea typeface="Malgun Gothic" pitchFamily="34" charset="-122"/>
                          <a:cs typeface="Malgun Gothic" pitchFamily="34" charset="-120"/>
                        </a:rPr>
                        <a:t>실적 산정 제외</a:t>
                      </a:r>
                      <a:endParaRPr lang="en-US" sz="1300" dirty="0">
                        <a:latin typeface="Malgun Gothic" charset="0"/>
                        <a:ea typeface="Malgun Gothic" charset="0"/>
                        <a:cs typeface="Malgun Gothic" charset="0"/>
                      </a:endParaRPr>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0E1A2B"/>
                    </a:solidFill>
                  </a:tcPr>
                </a:tc>
                <a:tc>
                  <a:txBody>
                    <a:bodyPr/>
                    <a:lstStyle/>
                    <a:p>
                      <a:pPr indent="0" marL="0">
                        <a:buNone/>
                      </a:pPr>
                      <a:r>
                        <a:rPr lang="en-US" sz="1300" b="1" dirty="0">
                          <a:solidFill>
                            <a:srgbClr val="FFFFFF"/>
                          </a:solidFill>
                          <a:latin typeface="Malgun Gothic" pitchFamily="34" charset="0"/>
                          <a:ea typeface="Malgun Gothic" pitchFamily="34" charset="-122"/>
                          <a:cs typeface="Malgun Gothic" pitchFamily="34" charset="-120"/>
                        </a:rPr>
                        <a:t>혜택 제외</a:t>
                      </a:r>
                      <a:endParaRPr lang="en-US" sz="1300" dirty="0">
                        <a:latin typeface="Malgun Gothic" charset="0"/>
                        <a:ea typeface="Malgun Gothic" charset="0"/>
                        <a:cs typeface="Malgun Gothic" charset="0"/>
                      </a:endParaRPr>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0E1A2B"/>
                    </a:solidFill>
                  </a:tcPr>
                </a:tc>
                <a:tc>
                  <a:txBody>
                    <a:bodyPr/>
                    <a:lstStyle/>
                    <a:p>
                      <a:pPr indent="0" marL="0">
                        <a:buNone/>
                      </a:pPr>
                      <a:r>
                        <a:rPr lang="en-US" sz="1300" b="1" dirty="0">
                          <a:solidFill>
                            <a:srgbClr val="FFFFFF"/>
                          </a:solidFill>
                          <a:latin typeface="Malgun Gothic" pitchFamily="34" charset="0"/>
                          <a:ea typeface="Malgun Gothic" pitchFamily="34" charset="-122"/>
                          <a:cs typeface="Malgun Gothic" pitchFamily="34" charset="-120"/>
                        </a:rPr>
                        <a:t>실적 조건이 걸린 혜택</a:t>
                      </a:r>
                      <a:endParaRPr lang="en-US" sz="1300" dirty="0">
                        <a:latin typeface="Malgun Gothic" charset="0"/>
                        <a:ea typeface="Malgun Gothic" charset="0"/>
                        <a:cs typeface="Malgun Gothic" charset="0"/>
                      </a:endParaRPr>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0E1A2B"/>
                    </a:solidFill>
                  </a:tcPr>
                </a:tc>
                <a:tc>
                  <a:txBody>
                    <a:bodyPr/>
                    <a:lstStyle/>
                    <a:p>
                      <a:pPr indent="0" marL="0">
                        <a:buNone/>
                      </a:pPr>
                      <a:r>
                        <a:rPr lang="en-US" sz="1300" b="1" dirty="0">
                          <a:solidFill>
                            <a:srgbClr val="FFFFFF"/>
                          </a:solidFill>
                          <a:latin typeface="Malgun Gothic" pitchFamily="34" charset="0"/>
                          <a:ea typeface="Malgun Gothic" pitchFamily="34" charset="-122"/>
                          <a:cs typeface="Malgun Gothic" pitchFamily="34" charset="-120"/>
                        </a:rPr>
                        <a:t>실적 조건이 없는 혜택</a:t>
                      </a:r>
                      <a:endParaRPr lang="en-US" sz="1300" dirty="0">
                        <a:latin typeface="Malgun Gothic" charset="0"/>
                        <a:ea typeface="Malgun Gothic" charset="0"/>
                        <a:cs typeface="Malgun Gothic" charset="0"/>
                      </a:endParaRPr>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0E1A2B"/>
                    </a:solidFill>
                  </a:tcPr>
                </a:tc>
              </a:tr>
              <a:tr h="548640">
                <a:tc>
                  <a:txBody>
                    <a:bodyPr/>
                    <a:lstStyle/>
                    <a:p>
                      <a:pPr indent="0" marL="0">
                        <a:buNone/>
                      </a:pPr>
                      <a:r>
                        <a:rPr lang="en-US" sz="1300" dirty="0">
                          <a:solidFill>
                            <a:srgbClr val="1A2433"/>
                          </a:solidFill>
                          <a:latin typeface="Malgun Gothic" pitchFamily="34" charset="0"/>
                          <a:ea typeface="Malgun Gothic" pitchFamily="34" charset="-122"/>
                          <a:cs typeface="Malgun Gothic" pitchFamily="34" charset="-120"/>
                        </a:rPr>
                        <a:t>ONE PICK STYLE (체크)</a:t>
                      </a:r>
                      <a:endParaRPr lang="en-US" sz="1300" dirty="0">
                        <a:latin typeface="Malgun Gothic" charset="0"/>
                        <a:ea typeface="Malgun Gothic" charset="0"/>
                        <a:cs typeface="Malgun Gothic" charset="0"/>
                      </a:endParaRPr>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ctr" indent="0" marL="0">
                        <a:buNone/>
                      </a:pPr>
                      <a:r>
                        <a:rPr lang="en-US" sz="1300" b="1" dirty="0">
                          <a:solidFill>
                            <a:srgbClr val="A8311A"/>
                          </a:solidFill>
                          <a:latin typeface="Malgun Gothic" pitchFamily="34" charset="0"/>
                          <a:ea typeface="Malgun Gothic" pitchFamily="34" charset="-122"/>
                          <a:cs typeface="Malgun Gothic" pitchFamily="34" charset="-120"/>
                        </a:rPr>
                        <a:t>●</a:t>
                      </a:r>
                      <a:endParaRPr lang="en-US" sz="1300" dirty="0">
                        <a:latin typeface="Malgun Gothic" charset="0"/>
                        <a:ea typeface="Malgun Gothic" charset="0"/>
                        <a:cs typeface="Malgun Gothic" charset="0"/>
                      </a:endParaRPr>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ctr" indent="0" marL="0">
                        <a:buNone/>
                      </a:pPr>
                      <a:r>
                        <a:rPr lang="en-US" sz="1300" b="1" dirty="0">
                          <a:solidFill>
                            <a:srgbClr val="A8311A"/>
                          </a:solidFill>
                          <a:latin typeface="Malgun Gothic" pitchFamily="34" charset="0"/>
                          <a:ea typeface="Malgun Gothic" pitchFamily="34" charset="-122"/>
                          <a:cs typeface="Malgun Gothic" pitchFamily="34" charset="-120"/>
                        </a:rPr>
                        <a:t>● 서비스 공통</a:t>
                      </a:r>
                      <a:endParaRPr lang="en-US" sz="1300" dirty="0">
                        <a:latin typeface="Malgun Gothic" charset="0"/>
                        <a:ea typeface="Malgun Gothic" charset="0"/>
                        <a:cs typeface="Malgun Gothic" charset="0"/>
                      </a:endParaRPr>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300" dirty="0">
                          <a:solidFill>
                            <a:srgbClr val="1A2433"/>
                          </a:solidFill>
                          <a:latin typeface="Malgun Gothic" pitchFamily="34" charset="0"/>
                          <a:ea typeface="Malgun Gothic" pitchFamily="34" charset="-122"/>
                          <a:cs typeface="Malgun Gothic" pitchFamily="34" charset="-120"/>
                        </a:rPr>
                        <a:t>ONE MORE 대중교통 (10만원)</a:t>
                      </a:r>
                      <a:endParaRPr lang="en-US" sz="1300" dirty="0">
                        <a:latin typeface="Malgun Gothic" charset="0"/>
                        <a:ea typeface="Malgun Gothic" charset="0"/>
                        <a:cs typeface="Malgun Gothic" charset="0"/>
                      </a:endParaRPr>
                    </a:p>
                    <a:p>
                      <a:pPr indent="0" marL="0">
                        <a:buNone/>
                      </a:pPr>
                      <a:r>
                        <a:rPr lang="en-US" sz="1300" dirty="0">
                          <a:solidFill>
                            <a:srgbClr val="1A2433"/>
                          </a:solidFill>
                          <a:latin typeface="Malgun Gothic" pitchFamily="34" charset="0"/>
                          <a:ea typeface="Malgun Gothic" pitchFamily="34" charset="-122"/>
                          <a:cs typeface="Malgun Gothic" pitchFamily="34" charset="-120"/>
                        </a:rPr>
                        <a:t>ONE MORE 놀이공원 (20만원)</a:t>
                      </a:r>
                      <a:endParaRPr lang="en-US" sz="1300" dirty="0">
                        <a:latin typeface="Malgun Gothic" charset="0"/>
                        <a:ea typeface="Malgun Gothic" charset="0"/>
                        <a:cs typeface="Malgun Gothic" charset="0"/>
                      </a:endParaRPr>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300" dirty="0">
                          <a:solidFill>
                            <a:srgbClr val="1A2433"/>
                          </a:solidFill>
                          <a:latin typeface="Malgun Gothic" pitchFamily="34" charset="0"/>
                          <a:ea typeface="Malgun Gothic" pitchFamily="34" charset="-122"/>
                          <a:cs typeface="Malgun Gothic" pitchFamily="34" charset="-120"/>
                        </a:rPr>
                        <a:t>ONE PICK · STYLE 영역</a:t>
                      </a:r>
                      <a:endParaRPr lang="en-US" sz="1300" dirty="0">
                        <a:latin typeface="Malgun Gothic" charset="0"/>
                        <a:ea typeface="Malgun Gothic" charset="0"/>
                        <a:cs typeface="Malgun Gothic" charset="0"/>
                      </a:endParaRPr>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548640">
                <a:tc>
                  <a:txBody>
                    <a:bodyPr/>
                    <a:lstStyle/>
                    <a:p>
                      <a:pPr indent="0" marL="0">
                        <a:buNone/>
                      </a:pPr>
                      <a:r>
                        <a:rPr lang="en-US" sz="1300" dirty="0">
                          <a:solidFill>
                            <a:srgbClr val="1A2433"/>
                          </a:solidFill>
                          <a:latin typeface="Malgun Gothic" pitchFamily="34" charset="0"/>
                          <a:ea typeface="Malgun Gothic" pitchFamily="34" charset="-122"/>
                          <a:cs typeface="Malgun Gothic" pitchFamily="34" charset="-120"/>
                        </a:rPr>
                        <a:t>ONE PICK PLAY (체크)</a:t>
                      </a:r>
                      <a:endParaRPr lang="en-US" sz="1300" dirty="0">
                        <a:latin typeface="Malgun Gothic" charset="0"/>
                        <a:ea typeface="Malgun Gothic" charset="0"/>
                        <a:cs typeface="Malgun Gothic" charset="0"/>
                      </a:endParaRPr>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ctr" indent="0" marL="0">
                        <a:buNone/>
                      </a:pPr>
                      <a:r>
                        <a:rPr lang="en-US" sz="1300" b="1" dirty="0">
                          <a:solidFill>
                            <a:srgbClr val="A8311A"/>
                          </a:solidFill>
                          <a:latin typeface="Malgun Gothic" pitchFamily="34" charset="0"/>
                          <a:ea typeface="Malgun Gothic" pitchFamily="34" charset="-122"/>
                          <a:cs typeface="Malgun Gothic" pitchFamily="34" charset="-120"/>
                        </a:rPr>
                        <a:t>●</a:t>
                      </a:r>
                      <a:endParaRPr lang="en-US" sz="1300" dirty="0">
                        <a:latin typeface="Malgun Gothic" charset="0"/>
                        <a:ea typeface="Malgun Gothic" charset="0"/>
                        <a:cs typeface="Malgun Gothic" charset="0"/>
                      </a:endParaRPr>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ctr" indent="0" marL="0">
                        <a:buNone/>
                      </a:pPr>
                      <a:r>
                        <a:rPr lang="en-US" sz="1300" b="1" dirty="0">
                          <a:solidFill>
                            <a:srgbClr val="A8311A"/>
                          </a:solidFill>
                          <a:latin typeface="Malgun Gothic" pitchFamily="34" charset="0"/>
                          <a:ea typeface="Malgun Gothic" pitchFamily="34" charset="-122"/>
                          <a:cs typeface="Malgun Gothic" pitchFamily="34" charset="-120"/>
                        </a:rPr>
                        <a:t>● 서비스 공통</a:t>
                      </a:r>
                      <a:endParaRPr lang="en-US" sz="1300" dirty="0">
                        <a:latin typeface="Malgun Gothic" charset="0"/>
                        <a:ea typeface="Malgun Gothic" charset="0"/>
                        <a:cs typeface="Malgun Gothic" charset="0"/>
                      </a:endParaRPr>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300" dirty="0">
                          <a:solidFill>
                            <a:srgbClr val="1A2433"/>
                          </a:solidFill>
                          <a:latin typeface="Malgun Gothic" pitchFamily="34" charset="0"/>
                          <a:ea typeface="Malgun Gothic" pitchFamily="34" charset="-122"/>
                          <a:cs typeface="Malgun Gothic" pitchFamily="34" charset="-120"/>
                        </a:rPr>
                        <a:t>ONE MORE 대중교통 (10만원)</a:t>
                      </a:r>
                      <a:endParaRPr lang="en-US" sz="1300" dirty="0">
                        <a:latin typeface="Malgun Gothic" charset="0"/>
                        <a:ea typeface="Malgun Gothic" charset="0"/>
                        <a:cs typeface="Malgun Gothic" charset="0"/>
                      </a:endParaRPr>
                    </a:p>
                    <a:p>
                      <a:pPr indent="0" marL="0">
                        <a:buNone/>
                      </a:pPr>
                      <a:r>
                        <a:rPr lang="en-US" sz="1300" dirty="0">
                          <a:solidFill>
                            <a:srgbClr val="1A2433"/>
                          </a:solidFill>
                          <a:latin typeface="Malgun Gothic" pitchFamily="34" charset="0"/>
                          <a:ea typeface="Malgun Gothic" pitchFamily="34" charset="-122"/>
                          <a:cs typeface="Malgun Gothic" pitchFamily="34" charset="-120"/>
                        </a:rPr>
                        <a:t>ONE MORE 놀이공원 (20만원)</a:t>
                      </a:r>
                      <a:endParaRPr lang="en-US" sz="1300" dirty="0">
                        <a:latin typeface="Malgun Gothic" charset="0"/>
                        <a:ea typeface="Malgun Gothic" charset="0"/>
                        <a:cs typeface="Malgun Gothic" charset="0"/>
                      </a:endParaRPr>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300" dirty="0">
                          <a:solidFill>
                            <a:srgbClr val="1A2433"/>
                          </a:solidFill>
                          <a:latin typeface="Malgun Gothic" pitchFamily="34" charset="0"/>
                          <a:ea typeface="Malgun Gothic" pitchFamily="34" charset="-122"/>
                          <a:cs typeface="Malgun Gothic" pitchFamily="34" charset="-120"/>
                        </a:rPr>
                        <a:t>ONE PICK · PLAY 영역</a:t>
                      </a:r>
                      <a:endParaRPr lang="en-US" sz="1300" dirty="0">
                        <a:latin typeface="Malgun Gothic" charset="0"/>
                        <a:ea typeface="Malgun Gothic" charset="0"/>
                        <a:cs typeface="Malgun Gothic" charset="0"/>
                      </a:endParaRPr>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411480">
                <a:tc>
                  <a:txBody>
                    <a:bodyPr/>
                    <a:lstStyle/>
                    <a:p>
                      <a:pPr indent="0" marL="0">
                        <a:buNone/>
                      </a:pPr>
                      <a:r>
                        <a:rPr lang="en-US" sz="1300" dirty="0">
                          <a:solidFill>
                            <a:srgbClr val="1A2433"/>
                          </a:solidFill>
                          <a:latin typeface="Malgun Gothic" pitchFamily="34" charset="0"/>
                          <a:ea typeface="Malgun Gothic" pitchFamily="34" charset="-122"/>
                          <a:cs typeface="Malgun Gothic" pitchFamily="34" charset="-120"/>
                        </a:rPr>
                        <a:t>BT (신용)</a:t>
                      </a:r>
                      <a:endParaRPr lang="en-US" sz="1300" dirty="0">
                        <a:latin typeface="Malgun Gothic" charset="0"/>
                        <a:ea typeface="Malgun Gothic" charset="0"/>
                        <a:cs typeface="Malgun Gothic" charset="0"/>
                      </a:endParaRPr>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ctr" indent="0" marL="0">
                        <a:buNone/>
                      </a:pPr>
                      <a:r>
                        <a:rPr lang="en-US" sz="1300" b="1" dirty="0">
                          <a:solidFill>
                            <a:srgbClr val="A8311A"/>
                          </a:solidFill>
                          <a:latin typeface="Malgun Gothic" pitchFamily="34" charset="0"/>
                          <a:ea typeface="Malgun Gothic" pitchFamily="34" charset="-122"/>
                          <a:cs typeface="Malgun Gothic" pitchFamily="34" charset="-120"/>
                        </a:rPr>
                        <a:t>●</a:t>
                      </a:r>
                      <a:endParaRPr lang="en-US" sz="1300" dirty="0">
                        <a:latin typeface="Malgun Gothic" charset="0"/>
                        <a:ea typeface="Malgun Gothic" charset="0"/>
                        <a:cs typeface="Malgun Gothic" charset="0"/>
                      </a:endParaRPr>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ctr" indent="0" marL="0">
                        <a:buNone/>
                      </a:pPr>
                      <a:r>
                        <a:rPr lang="en-US" sz="1300" b="1" dirty="0">
                          <a:solidFill>
                            <a:srgbClr val="A8311A"/>
                          </a:solidFill>
                          <a:latin typeface="Malgun Gothic" pitchFamily="34" charset="0"/>
                          <a:ea typeface="Malgun Gothic" pitchFamily="34" charset="-122"/>
                          <a:cs typeface="Malgun Gothic" pitchFamily="34" charset="-120"/>
                        </a:rPr>
                        <a:t>● BIG TICKET</a:t>
                      </a:r>
                      <a:endParaRPr lang="en-US" sz="1300" dirty="0">
                        <a:latin typeface="Malgun Gothic" charset="0"/>
                        <a:ea typeface="Malgun Gothic" charset="0"/>
                        <a:cs typeface="Malgun Gothic" charset="0"/>
                      </a:endParaRPr>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300" dirty="0">
                          <a:solidFill>
                            <a:srgbClr val="1A2433"/>
                          </a:solidFill>
                          <a:latin typeface="Malgun Gothic" pitchFamily="34" charset="0"/>
                          <a:ea typeface="Malgun Gothic" pitchFamily="34" charset="-122"/>
                          <a:cs typeface="Malgun Gothic" pitchFamily="34" charset="-120"/>
                        </a:rPr>
                        <a:t>인천공항 라운지 (50만원)</a:t>
                      </a:r>
                      <a:endParaRPr lang="en-US" sz="1300" dirty="0">
                        <a:latin typeface="Malgun Gothic" charset="0"/>
                        <a:ea typeface="Malgun Gothic" charset="0"/>
                        <a:cs typeface="Malgun Gothic" charset="0"/>
                      </a:endParaRPr>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300" dirty="0">
                          <a:solidFill>
                            <a:srgbClr val="1A2433"/>
                          </a:solidFill>
                          <a:latin typeface="Malgun Gothic" pitchFamily="34" charset="0"/>
                          <a:ea typeface="Malgun Gothic" pitchFamily="34" charset="-122"/>
                          <a:cs typeface="Malgun Gothic" pitchFamily="34" charset="-120"/>
                        </a:rPr>
                        <a:t>BIG TICKET 청구할인</a:t>
                      </a:r>
                      <a:endParaRPr lang="en-US" sz="1300" dirty="0">
                        <a:latin typeface="Malgun Gothic" charset="0"/>
                        <a:ea typeface="Malgun Gothic" charset="0"/>
                        <a:cs typeface="Malgun Gothic" charset="0"/>
                      </a:endParaRPr>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548640">
                <a:tc>
                  <a:txBody>
                    <a:bodyPr/>
                    <a:lstStyle/>
                    <a:p>
                      <a:pPr indent="0" marL="0">
                        <a:buNone/>
                      </a:pPr>
                      <a:r>
                        <a:rPr lang="en-US" sz="1300" dirty="0">
                          <a:solidFill>
                            <a:srgbClr val="1A2433"/>
                          </a:solidFill>
                          <a:latin typeface="Malgun Gothic" pitchFamily="34" charset="0"/>
                          <a:ea typeface="Malgun Gothic" pitchFamily="34" charset="-122"/>
                          <a:cs typeface="Malgun Gothic" pitchFamily="34" charset="-120"/>
                        </a:rPr>
                        <a:t>에너지 더블 (신용)</a:t>
                      </a:r>
                      <a:endParaRPr lang="en-US" sz="1300" dirty="0">
                        <a:latin typeface="Malgun Gothic" charset="0"/>
                        <a:ea typeface="Malgun Gothic" charset="0"/>
                        <a:cs typeface="Malgun Gothic" charset="0"/>
                      </a:endParaRPr>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ctr" indent="0" marL="0">
                        <a:buNone/>
                      </a:pPr>
                      <a:r>
                        <a:rPr lang="en-US" sz="1300" b="1" dirty="0">
                          <a:solidFill>
                            <a:srgbClr val="A8311A"/>
                          </a:solidFill>
                          <a:latin typeface="Malgun Gothic" pitchFamily="34" charset="0"/>
                          <a:ea typeface="Malgun Gothic" pitchFamily="34" charset="-122"/>
                          <a:cs typeface="Malgun Gothic" pitchFamily="34" charset="-120"/>
                        </a:rPr>
                        <a:t>●</a:t>
                      </a:r>
                      <a:endParaRPr lang="en-US" sz="1300" dirty="0">
                        <a:latin typeface="Malgun Gothic" charset="0"/>
                        <a:ea typeface="Malgun Gothic" charset="0"/>
                        <a:cs typeface="Malgun Gothic" charset="0"/>
                      </a:endParaRPr>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ctr" indent="0" marL="0">
                        <a:buNone/>
                      </a:pPr>
                      <a:r>
                        <a:rPr lang="en-US" sz="1300" b="1" dirty="0">
                          <a:solidFill>
                            <a:srgbClr val="A8311A"/>
                          </a:solidFill>
                          <a:latin typeface="Malgun Gothic" pitchFamily="34" charset="0"/>
                          <a:ea typeface="Malgun Gothic" pitchFamily="34" charset="-122"/>
                          <a:cs typeface="Malgun Gothic" pitchFamily="34" charset="-120"/>
                        </a:rPr>
                        <a:t>● 대형마트 할인</a:t>
                      </a:r>
                      <a:endParaRPr lang="en-US" sz="1300" dirty="0">
                        <a:latin typeface="Malgun Gothic" charset="0"/>
                        <a:ea typeface="Malgun Gothic" charset="0"/>
                        <a:cs typeface="Malgun Gothic" charset="0"/>
                      </a:endParaRPr>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300" dirty="0">
                          <a:solidFill>
                            <a:srgbClr val="1A2433"/>
                          </a:solidFill>
                          <a:latin typeface="Malgun Gothic" pitchFamily="34" charset="0"/>
                          <a:ea typeface="Malgun Gothic" pitchFamily="34" charset="-122"/>
                          <a:cs typeface="Malgun Gothic" pitchFamily="34" charset="-120"/>
                        </a:rPr>
                        <a:t>에너지 공과금 청구할인 (40/80만원)</a:t>
                      </a:r>
                      <a:endParaRPr lang="en-US" sz="1300" dirty="0">
                        <a:latin typeface="Malgun Gothic" charset="0"/>
                        <a:ea typeface="Malgun Gothic" charset="0"/>
                        <a:cs typeface="Malgun Gothic" charset="0"/>
                      </a:endParaRPr>
                    </a:p>
                    <a:p>
                      <a:pPr indent="0" marL="0">
                        <a:buNone/>
                      </a:pPr>
                      <a:r>
                        <a:rPr lang="en-US" sz="1300" dirty="0">
                          <a:solidFill>
                            <a:srgbClr val="1A2433"/>
                          </a:solidFill>
                          <a:latin typeface="Malgun Gothic" pitchFamily="34" charset="0"/>
                          <a:ea typeface="Malgun Gothic" pitchFamily="34" charset="-122"/>
                          <a:cs typeface="Malgun Gothic" pitchFamily="34" charset="-120"/>
                        </a:rPr>
                        <a:t>일상생활 청구할인 (40만원)</a:t>
                      </a:r>
                      <a:endParaRPr lang="en-US" sz="1300" dirty="0">
                        <a:latin typeface="Malgun Gothic" charset="0"/>
                        <a:ea typeface="Malgun Gothic" charset="0"/>
                        <a:cs typeface="Malgun Gothic" charset="0"/>
                      </a:endParaRPr>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300" dirty="0">
                          <a:solidFill>
                            <a:srgbClr val="1A2433"/>
                          </a:solidFill>
                          <a:latin typeface="Malgun Gothic" pitchFamily="34" charset="0"/>
                          <a:ea typeface="Malgun Gothic" pitchFamily="34" charset="-122"/>
                          <a:cs typeface="Malgun Gothic" pitchFamily="34" charset="-120"/>
                        </a:rPr>
                        <a:t>—</a:t>
                      </a:r>
                      <a:endParaRPr lang="en-US" sz="1300" dirty="0">
                        <a:latin typeface="Malgun Gothic" charset="0"/>
                        <a:ea typeface="Malgun Gothic" charset="0"/>
                        <a:cs typeface="Malgun Gothic" charset="0"/>
                      </a:endParaRPr>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bl>
          </a:graphicData>
        </a:graphic>
      </p:graphicFrame>
      <p:sp>
        <p:nvSpPr>
          <p:cNvPr id="7" name="Shape 4"/>
          <p:cNvSpPr/>
          <p:nvPr/>
        </p:nvSpPr>
        <p:spPr>
          <a:xfrm>
            <a:off x="548640" y="5193792"/>
            <a:ext cx="5440680" cy="1078992"/>
          </a:xfrm>
          <a:prstGeom prst="roundRect">
            <a:avLst>
              <a:gd name="adj" fmla="val 8475"/>
            </a:avLst>
          </a:prstGeom>
          <a:solidFill>
            <a:srgbClr val="F3F5F8"/>
          </a:solidFill>
          <a:ln w="9525">
            <a:solidFill>
              <a:srgbClr val="F3F5F8"/>
            </a:solidFill>
            <a:prstDash val="solid"/>
          </a:ln>
        </p:spPr>
      </p:sp>
      <p:sp>
        <p:nvSpPr>
          <p:cNvPr id="8" name="Text 5"/>
          <p:cNvSpPr txBox="1"/>
          <p:nvPr/>
        </p:nvSpPr>
        <p:spPr>
          <a:xfrm>
            <a:off x="731520" y="5285232"/>
            <a:ext cx="5120640" cy="932688"/>
          </a:xfrm>
          <a:prstGeom prst="rect">
            <a:avLst/>
          </a:prstGeom>
          <a:noFill/>
          <a:ln/>
        </p:spPr>
        <p:txBody>
          <a:bodyPr wrap="square" lIns="0" tIns="0" rIns="0" bIns="0" rtlCol="0" anchor="t"/>
          <a:lstStyle/>
          <a:p>
            <a:pPr indent="0" marL="0">
              <a:lnSpc>
                <a:spcPct val="110000"/>
              </a:lnSpc>
              <a:buNone/>
            </a:pPr>
            <a:r>
              <a:rPr lang="en-US" sz="1500" b="1" dirty="0">
                <a:solidFill>
                  <a:srgbClr val="0E1A2B"/>
                </a:solidFill>
                <a:latin typeface="Malgun Gothic" pitchFamily="34" charset="0"/>
                <a:ea typeface="Malgun Gothic" pitchFamily="34" charset="-122"/>
                <a:cs typeface="Malgun Gothic" pitchFamily="34" charset="-120"/>
              </a:rPr>
              <a:t>① 실적 제외 ≠ 혜택 제외</a:t>
            </a:r>
            <a:endParaRPr lang="en-US" sz="1400" dirty="0"/>
          </a:p>
          <a:p>
            <a:pPr indent="0" marL="0">
              <a:lnSpc>
                <a:spcPct val="110000"/>
              </a:lnSpc>
              <a:buNone/>
            </a:pPr>
            <a:r>
              <a:rPr lang="en-US" sz="1300" dirty="0">
                <a:solidFill>
                  <a:srgbClr val="3A4A60"/>
                </a:solidFill>
                <a:latin typeface="Malgun Gothic" pitchFamily="34" charset="0"/>
                <a:ea typeface="Malgun Gothic" pitchFamily="34" charset="-122"/>
                <a:cs typeface="Malgun Gothic" pitchFamily="34" charset="-120"/>
              </a:rPr>
              <a:t>상품권은 ‘실적에 잡히지 않는 금액’이기도 하고 ‘할인되지 않는 결제’이기도 합니다. 둘을 섞으면 영향 범위가 틀어집니다.</a:t>
            </a:r>
            <a:endParaRPr lang="en-US" sz="1400" dirty="0"/>
          </a:p>
        </p:txBody>
      </p:sp>
      <p:sp>
        <p:nvSpPr>
          <p:cNvPr id="9" name="Shape 6"/>
          <p:cNvSpPr/>
          <p:nvPr/>
        </p:nvSpPr>
        <p:spPr>
          <a:xfrm>
            <a:off x="6199632" y="5193792"/>
            <a:ext cx="5440680" cy="1078992"/>
          </a:xfrm>
          <a:prstGeom prst="roundRect">
            <a:avLst>
              <a:gd name="adj" fmla="val 8475"/>
            </a:avLst>
          </a:prstGeom>
          <a:solidFill>
            <a:srgbClr val="F3F5F8"/>
          </a:solidFill>
          <a:ln w="9525">
            <a:solidFill>
              <a:srgbClr val="F3F5F8"/>
            </a:solidFill>
            <a:prstDash val="solid"/>
          </a:ln>
        </p:spPr>
      </p:sp>
      <p:sp>
        <p:nvSpPr>
          <p:cNvPr id="10" name="Text 7"/>
          <p:cNvSpPr txBox="1"/>
          <p:nvPr/>
        </p:nvSpPr>
        <p:spPr>
          <a:xfrm>
            <a:off x="6382512" y="5285232"/>
            <a:ext cx="5120640" cy="932688"/>
          </a:xfrm>
          <a:prstGeom prst="rect">
            <a:avLst/>
          </a:prstGeom>
          <a:noFill/>
          <a:ln/>
        </p:spPr>
        <p:txBody>
          <a:bodyPr wrap="square" lIns="0" tIns="0" rIns="0" bIns="0" rtlCol="0" anchor="t"/>
          <a:lstStyle/>
          <a:p>
            <a:pPr indent="0" marL="0">
              <a:lnSpc>
                <a:spcPct val="110000"/>
              </a:lnSpc>
              <a:buNone/>
            </a:pPr>
            <a:r>
              <a:rPr lang="en-US" sz="1500" b="1" dirty="0">
                <a:solidFill>
                  <a:srgbClr val="0E1A2B"/>
                </a:solidFill>
                <a:latin typeface="Malgun Gothic" pitchFamily="34" charset="0"/>
                <a:ea typeface="Malgun Gothic" pitchFamily="34" charset="-122"/>
                <a:cs typeface="Malgun Gothic" pitchFamily="34" charset="-120"/>
              </a:rPr>
              <a:t>② 조건은 카드가 아니라 혜택에 걸립니다</a:t>
            </a:r>
            <a:endParaRPr lang="en-US" sz="1400" dirty="0"/>
          </a:p>
          <a:p>
            <a:pPr indent="0" marL="0">
              <a:lnSpc>
                <a:spcPct val="110000"/>
              </a:lnSpc>
              <a:buNone/>
            </a:pPr>
            <a:r>
              <a:rPr lang="en-US" sz="1300" dirty="0">
                <a:solidFill>
                  <a:srgbClr val="3A4A60"/>
                </a:solidFill>
                <a:latin typeface="Malgun Gothic" pitchFamily="34" charset="0"/>
                <a:ea typeface="Malgun Gothic" pitchFamily="34" charset="-122"/>
                <a:cs typeface="Malgun Gothic" pitchFamily="34" charset="-120"/>
              </a:rPr>
              <a:t>BT의 BIG TICKET은 지난달 실적 조건이 ‘없음’, 라운지는 50만원. 카드 단위로 묶으면 영향 없는 혜택까지 끌려옵니다.</a:t>
            </a:r>
            <a:endParaRPr lang="en-US" sz="1400" dirty="0"/>
          </a:p>
        </p:txBody>
      </p:sp>
      <p:sp>
        <p:nvSpPr>
          <p:cNvPr id="11" name="Text 8"/>
          <p:cNvSpPr txBox="1"/>
          <p:nvPr/>
        </p:nvSpPr>
        <p:spPr>
          <a:xfrm>
            <a:off x="548640" y="6400800"/>
            <a:ext cx="10515600" cy="292608"/>
          </a:xfrm>
          <a:prstGeom prst="rect">
            <a:avLst/>
          </a:prstGeom>
          <a:noFill/>
          <a:ln/>
        </p:spPr>
        <p:txBody>
          <a:bodyPr wrap="square" lIns="0" tIns="0" rIns="0" bIns="0" rtlCol="0" anchor="ctr"/>
          <a:lstStyle/>
          <a:p>
            <a:pPr indent="0" marL="0">
              <a:buNone/>
            </a:pPr>
            <a:r>
              <a:rPr lang="en-US" sz="1000" dirty="0">
                <a:solidFill>
                  <a:srgbClr val="6B7686"/>
                </a:solidFill>
                <a:latin typeface="Malgun Gothic" pitchFamily="34" charset="0"/>
                <a:ea typeface="Malgun Gothic" pitchFamily="34" charset="-122"/>
                <a:cs typeface="Malgun Gothic" pitchFamily="34" charset="-120"/>
              </a:rPr>
              <a:t>원문: 하나카드 상품설명서 ONE PICK STYLE(15650_20260429)·PLAY(15651_20260429)·BT(14324_20260310)·에너지 더블(14422_20251224) 1쪽, 2026-10-30 대조</a:t>
            </a:r>
            <a:endParaRPr lang="en-US" sz="1000" dirty="0"/>
          </a:p>
        </p:txBody>
      </p:sp>
      <p:sp>
        <p:nvSpPr>
          <p:cNvPr id="25" name="Slide Number Placeholder 0"/>
          <p:cNvSpPr>
            <a:spLocks noGrp="1"/>
          </p:cNvSpPr>
          <p:nvPr>
            <p:ph type="sldNum" sz="quarter" idx="4294967295"/>
          </p:nvPr>
        </p:nvSpPr>
        <p:spPr>
          <a:xfrm>
            <a:off x="11274552" y="6437376"/>
            <a:ext cx="36576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Malgun Gothic"/>
                <a:ea typeface="Malgun Gothic"/>
                <a:cs typeface="Malgun Gothic"/>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329184"/>
            <a:ext cx="7498080" cy="292608"/>
          </a:xfrm>
          <a:prstGeom prst="rect">
            <a:avLst/>
          </a:prstGeom>
          <a:noFill/>
          <a:ln/>
        </p:spPr>
        <p:txBody>
          <a:bodyPr wrap="square" lIns="0" tIns="0" rIns="0" bIns="0" rtlCol="0" anchor="ctr"/>
          <a:lstStyle/>
          <a:p>
            <a:pPr indent="0" marL="0">
              <a:buNone/>
            </a:pPr>
            <a:r>
              <a:rPr lang="en-US" sz="1200" b="1" dirty="0">
                <a:solidFill>
                  <a:srgbClr val="8F5208"/>
                </a:solidFill>
                <a:latin typeface="Malgun Gothic" pitchFamily="34" charset="0"/>
                <a:ea typeface="Malgun Gothic" pitchFamily="34" charset="-122"/>
                <a:cs typeface="Malgun Gothic" pitchFamily="34" charset="-120"/>
              </a:rPr>
              <a:t>04   실제 약관에서 본 어려움 ②</a:t>
            </a:r>
            <a:endParaRPr lang="en-US" sz="1200" dirty="0"/>
          </a:p>
        </p:txBody>
      </p:sp>
      <p:sp>
        <p:nvSpPr>
          <p:cNvPr id="3" name="Text 0"/>
          <p:cNvSpPr/>
          <p:nvPr>
            <p:ph idx="101"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2400" b="1" dirty="0">
                <a:solidFill>
                  <a:srgbClr val="0E1A2B"/>
                </a:solidFill>
                <a:latin typeface="Malgun Gothic" pitchFamily="34" charset="0"/>
                <a:ea typeface="Malgun Gothic" pitchFamily="34" charset="-122"/>
                <a:cs typeface="Malgun Gothic" pitchFamily="34" charset="-120"/>
              </a:rPr>
              <a:t>PDF는 숫자는 남기고, 조건 사이의 관계는 잃어버립니다</a:t>
            </a:r>
            <a:endParaRPr lang="en-US" sz="2400" dirty="0"/>
          </a:p>
        </p:txBody>
      </p:sp>
      <p:sp>
        <p:nvSpPr>
          <p:cNvPr id="4" name="Text 2"/>
          <p:cNvSpPr txBox="1"/>
          <p:nvPr/>
        </p:nvSpPr>
        <p:spPr>
          <a:xfrm>
            <a:off x="10783519" y="329184"/>
            <a:ext cx="859536" cy="292608"/>
          </a:xfrm>
          <a:prstGeom prst="roundRect">
            <a:avLst>
              <a:gd name="adj" fmla="val 46875"/>
            </a:avLst>
          </a:prstGeom>
          <a:solidFill>
            <a:srgbClr val="E3F4F1"/>
          </a:solidFill>
          <a:ln>
            <a:solidFill>
              <a:srgbClr val="E3F4F1"/>
            </a:solidFill>
          </a:ln>
        </p:spPr>
        <p:txBody>
          <a:bodyPr wrap="square" lIns="0" tIns="0" rIns="0" bIns="0" rtlCol="0" anchor="ctr"/>
          <a:lstStyle/>
          <a:p>
            <a:pPr algn="ctr" indent="0" marL="0">
              <a:buNone/>
            </a:pPr>
            <a:r>
              <a:rPr lang="en-US" sz="1100" b="1" dirty="0">
                <a:solidFill>
                  <a:srgbClr val="0D6F64"/>
                </a:solidFill>
                <a:latin typeface="Malgun Gothic" pitchFamily="34" charset="0"/>
                <a:ea typeface="Malgun Gothic" pitchFamily="34" charset="-122"/>
                <a:cs typeface="Malgun Gothic" pitchFamily="34" charset="-120"/>
              </a:rPr>
              <a:t>원문 확인</a:t>
            </a:r>
            <a:endParaRPr lang="en-US" sz="1100" dirty="0"/>
          </a:p>
        </p:txBody>
      </p:sp>
      <p:sp>
        <p:nvSpPr>
          <p:cNvPr id="5" name="Shape 3"/>
          <p:cNvSpPr/>
          <p:nvPr/>
        </p:nvSpPr>
        <p:spPr>
          <a:xfrm>
            <a:off x="548640" y="1691640"/>
            <a:ext cx="3502152" cy="3063240"/>
          </a:xfrm>
          <a:prstGeom prst="roundRect">
            <a:avLst>
              <a:gd name="adj" fmla="val 2985"/>
            </a:avLst>
          </a:prstGeom>
          <a:solidFill>
            <a:srgbClr val="F3F5F8"/>
          </a:solidFill>
          <a:ln w="9525">
            <a:solidFill>
              <a:srgbClr val="F3F5F8"/>
            </a:solidFill>
            <a:prstDash val="solid"/>
          </a:ln>
        </p:spPr>
      </p:sp>
      <p:sp>
        <p:nvSpPr>
          <p:cNvPr id="6" name="Text 4"/>
          <p:cNvSpPr txBox="1"/>
          <p:nvPr/>
        </p:nvSpPr>
        <p:spPr>
          <a:xfrm>
            <a:off x="749808" y="1828800"/>
            <a:ext cx="3099816" cy="365760"/>
          </a:xfrm>
          <a:prstGeom prst="rect">
            <a:avLst/>
          </a:prstGeom>
          <a:noFill/>
          <a:ln/>
        </p:spPr>
        <p:txBody>
          <a:bodyPr wrap="square" lIns="0" tIns="0" rIns="0" bIns="0" rtlCol="0" anchor="t"/>
          <a:lstStyle/>
          <a:p>
            <a:pPr indent="0" marL="0">
              <a:buNone/>
            </a:pPr>
            <a:r>
              <a:rPr lang="en-US" sz="1600" b="1" dirty="0">
                <a:solidFill>
                  <a:srgbClr val="0E1A2B"/>
                </a:solidFill>
                <a:latin typeface="Malgun Gothic" pitchFamily="34" charset="0"/>
                <a:ea typeface="Malgun Gothic" pitchFamily="34" charset="-122"/>
                <a:cs typeface="Malgun Gothic" pitchFamily="34" charset="-120"/>
              </a:rPr>
              <a:t>표가 표로 읽히지 않습니다</a:t>
            </a:r>
            <a:endParaRPr lang="en-US" sz="1600" dirty="0"/>
          </a:p>
        </p:txBody>
      </p:sp>
      <p:sp>
        <p:nvSpPr>
          <p:cNvPr id="7" name="Shape 5"/>
          <p:cNvSpPr/>
          <p:nvPr/>
        </p:nvSpPr>
        <p:spPr>
          <a:xfrm>
            <a:off x="4343400" y="1691640"/>
            <a:ext cx="3502152" cy="3063240"/>
          </a:xfrm>
          <a:prstGeom prst="roundRect">
            <a:avLst>
              <a:gd name="adj" fmla="val 2985"/>
            </a:avLst>
          </a:prstGeom>
          <a:solidFill>
            <a:srgbClr val="F3F5F8"/>
          </a:solidFill>
          <a:ln w="9525">
            <a:solidFill>
              <a:srgbClr val="F3F5F8"/>
            </a:solidFill>
            <a:prstDash val="solid"/>
          </a:ln>
        </p:spPr>
      </p:sp>
      <p:sp>
        <p:nvSpPr>
          <p:cNvPr id="8" name="Text 6"/>
          <p:cNvSpPr txBox="1"/>
          <p:nvPr/>
        </p:nvSpPr>
        <p:spPr>
          <a:xfrm>
            <a:off x="4544568" y="1828800"/>
            <a:ext cx="3099816" cy="365760"/>
          </a:xfrm>
          <a:prstGeom prst="rect">
            <a:avLst/>
          </a:prstGeom>
          <a:noFill/>
          <a:ln/>
        </p:spPr>
        <p:txBody>
          <a:bodyPr wrap="square" lIns="0" tIns="0" rIns="0" bIns="0" rtlCol="0" anchor="t"/>
          <a:lstStyle/>
          <a:p>
            <a:pPr indent="0" marL="0">
              <a:buNone/>
            </a:pPr>
            <a:r>
              <a:rPr lang="en-US" sz="1600" b="1" dirty="0">
                <a:solidFill>
                  <a:srgbClr val="0E1A2B"/>
                </a:solidFill>
                <a:latin typeface="Malgun Gothic" pitchFamily="34" charset="0"/>
                <a:ea typeface="Malgun Gothic" pitchFamily="34" charset="-122"/>
                <a:cs typeface="Malgun Gothic" pitchFamily="34" charset="-120"/>
              </a:rPr>
              <a:t>같은 숫자, 다른 혜택</a:t>
            </a:r>
            <a:endParaRPr lang="en-US" sz="1600" dirty="0"/>
          </a:p>
        </p:txBody>
      </p:sp>
      <p:sp>
        <p:nvSpPr>
          <p:cNvPr id="9" name="Shape 7"/>
          <p:cNvSpPr/>
          <p:nvPr/>
        </p:nvSpPr>
        <p:spPr>
          <a:xfrm>
            <a:off x="8138160" y="1691640"/>
            <a:ext cx="3502152" cy="3063240"/>
          </a:xfrm>
          <a:prstGeom prst="roundRect">
            <a:avLst>
              <a:gd name="adj" fmla="val 2985"/>
            </a:avLst>
          </a:prstGeom>
          <a:solidFill>
            <a:srgbClr val="F3F5F8"/>
          </a:solidFill>
          <a:ln w="9525">
            <a:solidFill>
              <a:srgbClr val="F3F5F8"/>
            </a:solidFill>
            <a:prstDash val="solid"/>
          </a:ln>
        </p:spPr>
      </p:sp>
      <p:sp>
        <p:nvSpPr>
          <p:cNvPr id="10" name="Text 8"/>
          <p:cNvSpPr txBox="1"/>
          <p:nvPr/>
        </p:nvSpPr>
        <p:spPr>
          <a:xfrm>
            <a:off x="8339328" y="1828800"/>
            <a:ext cx="3099816" cy="365760"/>
          </a:xfrm>
          <a:prstGeom prst="rect">
            <a:avLst/>
          </a:prstGeom>
          <a:noFill/>
          <a:ln/>
        </p:spPr>
        <p:txBody>
          <a:bodyPr wrap="square" lIns="0" tIns="0" rIns="0" bIns="0" rtlCol="0" anchor="t"/>
          <a:lstStyle/>
          <a:p>
            <a:pPr indent="0" marL="0">
              <a:buNone/>
            </a:pPr>
            <a:r>
              <a:rPr lang="en-US" sz="1600" b="1" dirty="0">
                <a:solidFill>
                  <a:srgbClr val="0E1A2B"/>
                </a:solidFill>
                <a:latin typeface="Malgun Gothic" pitchFamily="34" charset="0"/>
                <a:ea typeface="Malgun Gothic" pitchFamily="34" charset="-122"/>
                <a:cs typeface="Malgun Gothic" pitchFamily="34" charset="-120"/>
              </a:rPr>
              <a:t>같은 문장, 다른 결론</a:t>
            </a:r>
            <a:endParaRPr lang="en-US" sz="1600" dirty="0"/>
          </a:p>
        </p:txBody>
      </p:sp>
      <p:sp>
        <p:nvSpPr>
          <p:cNvPr id="11" name="Text 9"/>
          <p:cNvSpPr txBox="1"/>
          <p:nvPr/>
        </p:nvSpPr>
        <p:spPr>
          <a:xfrm>
            <a:off x="822960" y="2331720"/>
            <a:ext cx="1097280" cy="1097280"/>
          </a:xfrm>
          <a:prstGeom prst="rect">
            <a:avLst>
              <a:gd name="adj" fmla="val 6667"/>
            </a:avLst>
          </a:prstGeom>
          <a:solidFill>
            <a:srgbClr val="FFFFFF"/>
          </a:solidFill>
          <a:ln w="12700">
            <a:solidFill>
              <a:srgbClr val="3A4A60"/>
            </a:solidFill>
          </a:ln>
        </p:spPr>
        <p:txBody>
          <a:bodyPr wrap="square" lIns="76200" tIns="76200" rIns="76200" bIns="76200" rtlCol="0" anchor="ctr"/>
          <a:lstStyle/>
          <a:p>
            <a:pPr algn="ctr" indent="0" marL="0">
              <a:buNone/>
            </a:pPr>
            <a:r>
              <a:rPr lang="en-US" sz="1200" dirty="0">
                <a:solidFill>
                  <a:srgbClr val="0E1A2B"/>
                </a:solidFill>
                <a:latin typeface="Malgun Gothic" pitchFamily="34" charset="0"/>
                <a:ea typeface="Malgun Gothic" pitchFamily="34" charset="-122"/>
                <a:cs typeface="Malgun Gothic" pitchFamily="34" charset="-120"/>
              </a:rPr>
              <a:t>1.5%</a:t>
            </a:r>
            <a:endParaRPr lang="en-US" sz="1200" dirty="0"/>
          </a:p>
          <a:p>
            <a:pPr algn="ctr" indent="0" marL="0">
              <a:buNone/>
            </a:pPr>
            <a:r>
              <a:rPr lang="en-US" sz="1200" dirty="0">
                <a:solidFill>
                  <a:srgbClr val="0E1A2B"/>
                </a:solidFill>
                <a:latin typeface="Malgun Gothic" pitchFamily="34" charset="0"/>
                <a:ea typeface="Malgun Gothic" pitchFamily="34" charset="-122"/>
                <a:cs typeface="Malgun Gothic" pitchFamily="34" charset="-120"/>
              </a:rPr>
              <a:t>1.2%</a:t>
            </a:r>
            <a:endParaRPr lang="en-US" sz="1200" dirty="0"/>
          </a:p>
          <a:p>
            <a:pPr algn="ctr" indent="0" marL="0">
              <a:buNone/>
            </a:pPr>
            <a:r>
              <a:rPr lang="en-US" sz="1200" dirty="0">
                <a:solidFill>
                  <a:srgbClr val="0E1A2B"/>
                </a:solidFill>
                <a:latin typeface="Malgun Gothic" pitchFamily="34" charset="0"/>
                <a:ea typeface="Malgun Gothic" pitchFamily="34" charset="-122"/>
                <a:cs typeface="Malgun Gothic" pitchFamily="34" charset="-120"/>
              </a:rPr>
              <a:t>1.0%</a:t>
            </a:r>
            <a:endParaRPr lang="en-US" sz="1200" dirty="0"/>
          </a:p>
          <a:p>
            <a:pPr algn="ctr" indent="0" marL="0">
              <a:buNone/>
            </a:pPr>
            <a:r>
              <a:rPr lang="en-US" sz="1200" dirty="0">
                <a:solidFill>
                  <a:srgbClr val="0E1A2B"/>
                </a:solidFill>
                <a:latin typeface="Malgun Gothic" pitchFamily="34" charset="0"/>
                <a:ea typeface="Malgun Gothic" pitchFamily="34" charset="-122"/>
                <a:cs typeface="Malgun Gothic" pitchFamily="34" charset="-120"/>
              </a:rPr>
              <a:t>0.5%</a:t>
            </a:r>
            <a:endParaRPr lang="en-US" sz="1200" dirty="0"/>
          </a:p>
        </p:txBody>
      </p:sp>
      <p:sp>
        <p:nvSpPr>
          <p:cNvPr id="12" name="Text 10"/>
          <p:cNvSpPr txBox="1"/>
          <p:nvPr/>
        </p:nvSpPr>
        <p:spPr>
          <a:xfrm>
            <a:off x="1920240" y="2331720"/>
            <a:ext cx="1097280" cy="1097280"/>
          </a:xfrm>
          <a:prstGeom prst="rect">
            <a:avLst>
              <a:gd name="adj" fmla="val 6667"/>
            </a:avLst>
          </a:prstGeom>
          <a:solidFill>
            <a:srgbClr val="FFFFFF"/>
          </a:solidFill>
          <a:ln w="12700">
            <a:solidFill>
              <a:srgbClr val="3A4A60"/>
            </a:solidFill>
          </a:ln>
        </p:spPr>
        <p:txBody>
          <a:bodyPr wrap="square" lIns="76200" tIns="76200" rIns="76200" bIns="76200" rtlCol="0" anchor="ctr"/>
          <a:lstStyle/>
          <a:p>
            <a:pPr algn="ctr" indent="0" marL="0">
              <a:buNone/>
            </a:pPr>
            <a:r>
              <a:rPr lang="en-US" sz="1200" dirty="0">
                <a:solidFill>
                  <a:srgbClr val="0E1A2B"/>
                </a:solidFill>
                <a:latin typeface="Malgun Gothic" pitchFamily="34" charset="0"/>
                <a:ea typeface="Malgun Gothic" pitchFamily="34" charset="-122"/>
                <a:cs typeface="Malgun Gothic" pitchFamily="34" charset="-120"/>
              </a:rPr>
              <a:t>300만원</a:t>
            </a:r>
            <a:endParaRPr lang="en-US" sz="1200" dirty="0"/>
          </a:p>
          <a:p>
            <a:pPr algn="ctr" indent="0" marL="0">
              <a:buNone/>
            </a:pPr>
            <a:r>
              <a:rPr lang="en-US" sz="1200" dirty="0">
                <a:solidFill>
                  <a:srgbClr val="0E1A2B"/>
                </a:solidFill>
                <a:latin typeface="Malgun Gothic" pitchFamily="34" charset="0"/>
                <a:ea typeface="Malgun Gothic" pitchFamily="34" charset="-122"/>
                <a:cs typeface="Malgun Gothic" pitchFamily="34" charset="-120"/>
              </a:rPr>
              <a:t>한도 없음</a:t>
            </a:r>
            <a:endParaRPr lang="en-US" sz="1200" dirty="0"/>
          </a:p>
        </p:txBody>
      </p:sp>
      <p:sp>
        <p:nvSpPr>
          <p:cNvPr id="13" name="Text 11"/>
          <p:cNvSpPr txBox="1"/>
          <p:nvPr/>
        </p:nvSpPr>
        <p:spPr>
          <a:xfrm>
            <a:off x="3127248" y="2331720"/>
            <a:ext cx="685800" cy="1097280"/>
          </a:xfrm>
          <a:prstGeom prst="roundRect">
            <a:avLst>
              <a:gd name="adj" fmla="val 10667"/>
            </a:avLst>
          </a:prstGeom>
          <a:solidFill>
            <a:srgbClr val="FBE6E2"/>
          </a:solidFill>
          <a:ln>
            <a:solidFill>
              <a:srgbClr val="FBE6E2"/>
            </a:solidFill>
          </a:ln>
        </p:spPr>
        <p:txBody>
          <a:bodyPr wrap="square" lIns="25400" tIns="25400" rIns="25400" bIns="25400" rtlCol="0" anchor="ctr"/>
          <a:lstStyle/>
          <a:p>
            <a:pPr algn="ctr" indent="0" marL="0">
              <a:buNone/>
            </a:pPr>
            <a:r>
              <a:rPr lang="en-US" sz="1100" b="1" dirty="0">
                <a:solidFill>
                  <a:srgbClr val="A8311A"/>
                </a:solidFill>
                <a:latin typeface="Malgun Gothic" pitchFamily="34" charset="0"/>
                <a:ea typeface="Malgun Gothic" pitchFamily="34" charset="-122"/>
                <a:cs typeface="Malgun Gothic" pitchFamily="34" charset="-120"/>
              </a:rPr>
              <a:t>구간</a:t>
            </a:r>
            <a:endParaRPr lang="en-US" sz="1100" dirty="0"/>
          </a:p>
          <a:p>
            <a:pPr algn="ctr" indent="0" marL="0">
              <a:buNone/>
            </a:pPr>
            <a:r>
              <a:rPr lang="en-US" sz="1100" b="1" dirty="0">
                <a:solidFill>
                  <a:srgbClr val="A8311A"/>
                </a:solidFill>
                <a:latin typeface="Malgun Gothic" pitchFamily="34" charset="0"/>
                <a:ea typeface="Malgun Gothic" pitchFamily="34" charset="-122"/>
                <a:cs typeface="Malgun Gothic" pitchFamily="34" charset="-120"/>
              </a:rPr>
              <a:t>기준</a:t>
            </a:r>
            <a:endParaRPr lang="en-US" sz="1100" dirty="0"/>
          </a:p>
          <a:p>
            <a:pPr algn="ctr" indent="0" marL="0">
              <a:buNone/>
            </a:pPr>
            <a:r>
              <a:rPr lang="en-US" sz="1100" b="1" dirty="0">
                <a:solidFill>
                  <a:srgbClr val="A8311A"/>
                </a:solidFill>
                <a:latin typeface="Malgun Gothic" pitchFamily="34" charset="0"/>
                <a:ea typeface="Malgun Gothic" pitchFamily="34" charset="-122"/>
                <a:cs typeface="Malgun Gothic" pitchFamily="34" charset="-120"/>
              </a:rPr>
              <a:t>열</a:t>
            </a:r>
            <a:endParaRPr lang="en-US" sz="1100" dirty="0"/>
          </a:p>
          <a:p>
            <a:pPr algn="ctr" indent="0" marL="0">
              <a:buNone/>
            </a:pPr>
            <a:r>
              <a:rPr lang="en-US" sz="1100" b="1" dirty="0">
                <a:solidFill>
                  <a:srgbClr val="A8311A"/>
                </a:solidFill>
                <a:latin typeface="Malgun Gothic" pitchFamily="34" charset="0"/>
                <a:ea typeface="Malgun Gothic" pitchFamily="34" charset="-122"/>
                <a:cs typeface="Malgun Gothic" pitchFamily="34" charset="-120"/>
              </a:rPr>
              <a:t>소실</a:t>
            </a:r>
            <a:endParaRPr lang="en-US" sz="1100" dirty="0"/>
          </a:p>
        </p:txBody>
      </p:sp>
      <p:sp>
        <p:nvSpPr>
          <p:cNvPr id="14" name="Text 12"/>
          <p:cNvSpPr txBox="1"/>
          <p:nvPr/>
        </p:nvSpPr>
        <p:spPr>
          <a:xfrm>
            <a:off x="749808" y="3611880"/>
            <a:ext cx="3099816" cy="1371600"/>
          </a:xfrm>
          <a:prstGeom prst="rect">
            <a:avLst/>
          </a:prstGeom>
          <a:noFill/>
          <a:ln/>
        </p:spPr>
        <p:txBody>
          <a:bodyPr wrap="square" lIns="0" tIns="0" rIns="0" bIns="0" rtlCol="0" anchor="t"/>
          <a:lstStyle/>
          <a:p>
            <a:pPr indent="0" marL="0">
              <a:lnSpc>
                <a:spcPct val="110000"/>
              </a:lnSpc>
              <a:buNone/>
            </a:pPr>
            <a:r>
              <a:rPr lang="en-US" sz="1300" dirty="0">
                <a:solidFill>
                  <a:srgbClr val="3A4A60"/>
                </a:solidFill>
                <a:latin typeface="Malgun Gothic" pitchFamily="34" charset="0"/>
                <a:ea typeface="Malgun Gothic" pitchFamily="34" charset="-122"/>
                <a:cs typeface="Malgun Gothic" pitchFamily="34" charset="-120"/>
              </a:rPr>
              <a:t>BT BIG TICKET 표: 할인율 4개가 한 셀로 추출되고 이용금액 구간 열이 빠집니다. STYLE·PLAY는 기본 표 탐지 0개.</a:t>
            </a:r>
            <a:endParaRPr lang="en-US" sz="1300" dirty="0"/>
          </a:p>
        </p:txBody>
      </p:sp>
      <p:sp>
        <p:nvSpPr>
          <p:cNvPr id="15" name="Text 13"/>
          <p:cNvSpPr txBox="1"/>
          <p:nvPr/>
        </p:nvSpPr>
        <p:spPr>
          <a:xfrm>
            <a:off x="4617720" y="2331720"/>
            <a:ext cx="2953512" cy="310896"/>
          </a:xfrm>
          <a:prstGeom prst="roundRect">
            <a:avLst>
              <a:gd name="adj" fmla="val 17647"/>
            </a:avLst>
          </a:prstGeom>
          <a:solidFill>
            <a:srgbClr val="FDF0DC"/>
          </a:solidFill>
          <a:ln>
            <a:solidFill>
              <a:srgbClr val="FDF0DC"/>
            </a:solidFill>
          </a:ln>
        </p:spPr>
        <p:txBody>
          <a:bodyPr wrap="square" lIns="38100" tIns="38100" rIns="38100" bIns="38100" rtlCol="0" anchor="ctr"/>
          <a:lstStyle/>
          <a:p>
            <a:pPr algn="ctr" indent="0" marL="0">
              <a:buNone/>
            </a:pPr>
            <a:r>
              <a:rPr lang="en-US" sz="1200" b="1" dirty="0">
                <a:solidFill>
                  <a:srgbClr val="8F5208"/>
                </a:solidFill>
                <a:latin typeface="Malgun Gothic" pitchFamily="34" charset="0"/>
                <a:ea typeface="Malgun Gothic" pitchFamily="34" charset="-122"/>
                <a:cs typeface="Malgun Gothic" pitchFamily="34" charset="-120"/>
              </a:rPr>
              <a:t>ONE PICK  월 5천원</a:t>
            </a:r>
            <a:endParaRPr lang="en-US" sz="1200" dirty="0"/>
          </a:p>
        </p:txBody>
      </p:sp>
      <p:sp>
        <p:nvSpPr>
          <p:cNvPr id="16" name="Text 14"/>
          <p:cNvSpPr txBox="1"/>
          <p:nvPr/>
        </p:nvSpPr>
        <p:spPr>
          <a:xfrm>
            <a:off x="4617720" y="2715768"/>
            <a:ext cx="2953512" cy="310896"/>
          </a:xfrm>
          <a:prstGeom prst="roundRect">
            <a:avLst>
              <a:gd name="adj" fmla="val 17647"/>
            </a:avLst>
          </a:prstGeom>
          <a:solidFill>
            <a:srgbClr val="FDF0DC"/>
          </a:solidFill>
          <a:ln>
            <a:solidFill>
              <a:srgbClr val="FDF0DC"/>
            </a:solidFill>
          </a:ln>
        </p:spPr>
        <p:txBody>
          <a:bodyPr wrap="square" lIns="38100" tIns="38100" rIns="38100" bIns="38100" rtlCol="0" anchor="ctr"/>
          <a:lstStyle/>
          <a:p>
            <a:pPr algn="ctr" indent="0" marL="0">
              <a:buNone/>
            </a:pPr>
            <a:r>
              <a:rPr lang="en-US" sz="1200" b="1" dirty="0">
                <a:solidFill>
                  <a:srgbClr val="8F5208"/>
                </a:solidFill>
                <a:latin typeface="Malgun Gothic" pitchFamily="34" charset="0"/>
                <a:ea typeface="Malgun Gothic" pitchFamily="34" charset="-122"/>
                <a:cs typeface="Malgun Gothic" pitchFamily="34" charset="-120"/>
              </a:rPr>
              <a:t>STYLE  월 5천원</a:t>
            </a:r>
            <a:endParaRPr lang="en-US" sz="1200" dirty="0"/>
          </a:p>
        </p:txBody>
      </p:sp>
      <p:sp>
        <p:nvSpPr>
          <p:cNvPr id="17" name="Text 15"/>
          <p:cNvSpPr txBox="1"/>
          <p:nvPr/>
        </p:nvSpPr>
        <p:spPr>
          <a:xfrm>
            <a:off x="4617720" y="3099816"/>
            <a:ext cx="2953512" cy="310896"/>
          </a:xfrm>
          <a:prstGeom prst="roundRect">
            <a:avLst>
              <a:gd name="adj" fmla="val 17647"/>
            </a:avLst>
          </a:prstGeom>
          <a:solidFill>
            <a:srgbClr val="FDF0DC"/>
          </a:solidFill>
          <a:ln>
            <a:solidFill>
              <a:srgbClr val="FDF0DC"/>
            </a:solidFill>
          </a:ln>
        </p:spPr>
        <p:txBody>
          <a:bodyPr wrap="square" lIns="38100" tIns="38100" rIns="38100" bIns="38100" rtlCol="0" anchor="ctr"/>
          <a:lstStyle/>
          <a:p>
            <a:pPr algn="ctr" indent="0" marL="0">
              <a:buNone/>
            </a:pPr>
            <a:r>
              <a:rPr lang="en-US" sz="1200" b="1" dirty="0">
                <a:solidFill>
                  <a:srgbClr val="8F5208"/>
                </a:solidFill>
                <a:latin typeface="Malgun Gothic" pitchFamily="34" charset="0"/>
                <a:ea typeface="Malgun Gothic" pitchFamily="34" charset="-122"/>
                <a:cs typeface="Malgun Gothic" pitchFamily="34" charset="-120"/>
              </a:rPr>
              <a:t>PLAY  월 5천원</a:t>
            </a:r>
            <a:endParaRPr lang="en-US" sz="1200" dirty="0"/>
          </a:p>
        </p:txBody>
      </p:sp>
      <p:sp>
        <p:nvSpPr>
          <p:cNvPr id="18" name="Text 16"/>
          <p:cNvSpPr txBox="1"/>
          <p:nvPr/>
        </p:nvSpPr>
        <p:spPr>
          <a:xfrm>
            <a:off x="4544568" y="3611880"/>
            <a:ext cx="3099816" cy="1371600"/>
          </a:xfrm>
          <a:prstGeom prst="rect">
            <a:avLst/>
          </a:prstGeom>
          <a:noFill/>
          <a:ln/>
        </p:spPr>
        <p:txBody>
          <a:bodyPr wrap="square" lIns="0" tIns="0" rIns="0" bIns="0" rtlCol="0" anchor="t"/>
          <a:lstStyle/>
          <a:p>
            <a:pPr indent="0" marL="0">
              <a:lnSpc>
                <a:spcPct val="110000"/>
              </a:lnSpc>
              <a:buNone/>
            </a:pPr>
            <a:r>
              <a:rPr lang="en-US" sz="1300" dirty="0">
                <a:solidFill>
                  <a:srgbClr val="3A4A60"/>
                </a:solidFill>
                <a:latin typeface="Malgun Gothic" pitchFamily="34" charset="0"/>
                <a:ea typeface="Malgun Gothic" pitchFamily="34" charset="-122"/>
                <a:cs typeface="Malgun Gothic" pitchFamily="34" charset="-120"/>
              </a:rPr>
              <a:t>‘5천원’ 검색은 세 혜택을 모두 찾지만, 어느 혜택의 한도인지는 표 구조가 있어야 확정됩니다.</a:t>
            </a:r>
            <a:endParaRPr lang="en-US" sz="1300" dirty="0"/>
          </a:p>
        </p:txBody>
      </p:sp>
      <p:sp>
        <p:nvSpPr>
          <p:cNvPr id="19" name="Text 17"/>
          <p:cNvSpPr txBox="1"/>
          <p:nvPr/>
        </p:nvSpPr>
        <p:spPr>
          <a:xfrm>
            <a:off x="8339328" y="2286000"/>
            <a:ext cx="3099816" cy="274320"/>
          </a:xfrm>
          <a:prstGeom prst="rect">
            <a:avLst/>
          </a:prstGeom>
          <a:noFill/>
          <a:ln/>
        </p:spPr>
        <p:txBody>
          <a:bodyPr wrap="square" lIns="0" tIns="0" rIns="0" bIns="0" rtlCol="0" anchor="t"/>
          <a:lstStyle/>
          <a:p>
            <a:pPr indent="0" marL="0">
              <a:buNone/>
            </a:pPr>
            <a:r>
              <a:rPr lang="en-US" sz="1200" i="1" dirty="0">
                <a:solidFill>
                  <a:srgbClr val="5B6778"/>
                </a:solidFill>
                <a:latin typeface="Malgun Gothic" pitchFamily="34" charset="0"/>
                <a:ea typeface="Malgun Gothic" pitchFamily="34" charset="-122"/>
                <a:cs typeface="Malgun Gothic" pitchFamily="34" charset="-120"/>
              </a:rPr>
              <a:t>“PG·간편결제 가맹점으로 분류되는 경우 …”</a:t>
            </a:r>
            <a:endParaRPr lang="en-US" sz="1200" dirty="0"/>
          </a:p>
        </p:txBody>
      </p:sp>
      <p:sp>
        <p:nvSpPr>
          <p:cNvPr id="20" name="Text 18"/>
          <p:cNvSpPr txBox="1"/>
          <p:nvPr/>
        </p:nvSpPr>
        <p:spPr>
          <a:xfrm>
            <a:off x="8412480" y="2606040"/>
            <a:ext cx="1463040" cy="283464"/>
          </a:xfrm>
          <a:prstGeom prst="rect">
            <a:avLst/>
          </a:prstGeom>
          <a:noFill/>
          <a:ln/>
        </p:spPr>
        <p:txBody>
          <a:bodyPr wrap="square" lIns="0" tIns="0" rIns="0" bIns="0" rtlCol="0" anchor="ctr"/>
          <a:lstStyle/>
          <a:p>
            <a:pPr indent="0" marL="0">
              <a:buNone/>
            </a:pPr>
            <a:r>
              <a:rPr lang="en-US" sz="1200" dirty="0">
                <a:solidFill>
                  <a:srgbClr val="0E1A2B"/>
                </a:solidFill>
                <a:latin typeface="Malgun Gothic" pitchFamily="34" charset="0"/>
                <a:ea typeface="Malgun Gothic" pitchFamily="34" charset="-122"/>
                <a:cs typeface="Malgun Gothic" pitchFamily="34" charset="-120"/>
              </a:rPr>
              <a:t>하나 ONE PICK</a:t>
            </a:r>
            <a:endParaRPr lang="en-US" sz="1200" dirty="0"/>
          </a:p>
        </p:txBody>
      </p:sp>
      <p:sp>
        <p:nvSpPr>
          <p:cNvPr id="21" name="Text 19"/>
          <p:cNvSpPr txBox="1"/>
          <p:nvPr/>
        </p:nvSpPr>
        <p:spPr>
          <a:xfrm>
            <a:off x="9921240" y="2606040"/>
            <a:ext cx="1463040" cy="283464"/>
          </a:xfrm>
          <a:prstGeom prst="roundRect">
            <a:avLst>
              <a:gd name="adj" fmla="val 19355"/>
            </a:avLst>
          </a:prstGeom>
          <a:solidFill>
            <a:srgbClr val="E3F4F1"/>
          </a:solidFill>
          <a:ln>
            <a:solidFill>
              <a:srgbClr val="E3F4F1"/>
            </a:solidFill>
          </a:ln>
        </p:spPr>
        <p:txBody>
          <a:bodyPr wrap="square" lIns="38100" tIns="38100" rIns="38100" bIns="38100" rtlCol="0" anchor="ctr"/>
          <a:lstStyle/>
          <a:p>
            <a:pPr algn="ctr" indent="0" marL="0">
              <a:buNone/>
            </a:pPr>
            <a:r>
              <a:rPr lang="en-US" sz="1200" b="1" dirty="0">
                <a:solidFill>
                  <a:srgbClr val="0D6F64"/>
                </a:solidFill>
                <a:latin typeface="Malgun Gothic" pitchFamily="34" charset="0"/>
                <a:ea typeface="Malgun Gothic" pitchFamily="34" charset="-122"/>
                <a:cs typeface="Malgun Gothic" pitchFamily="34" charset="-120"/>
              </a:rPr>
              <a:t>혜택 제공</a:t>
            </a:r>
            <a:endParaRPr lang="en-US" sz="1200" dirty="0"/>
          </a:p>
        </p:txBody>
      </p:sp>
      <p:sp>
        <p:nvSpPr>
          <p:cNvPr id="22" name="Text 20"/>
          <p:cNvSpPr txBox="1"/>
          <p:nvPr/>
        </p:nvSpPr>
        <p:spPr>
          <a:xfrm>
            <a:off x="8412480" y="2944368"/>
            <a:ext cx="1463040" cy="283464"/>
          </a:xfrm>
          <a:prstGeom prst="rect">
            <a:avLst/>
          </a:prstGeom>
          <a:noFill/>
          <a:ln/>
        </p:spPr>
        <p:txBody>
          <a:bodyPr wrap="square" lIns="0" tIns="0" rIns="0" bIns="0" rtlCol="0" anchor="ctr"/>
          <a:lstStyle/>
          <a:p>
            <a:pPr indent="0" marL="0">
              <a:buNone/>
            </a:pPr>
            <a:r>
              <a:rPr lang="en-US" sz="1200" dirty="0">
                <a:solidFill>
                  <a:srgbClr val="0E1A2B"/>
                </a:solidFill>
                <a:latin typeface="Malgun Gothic" pitchFamily="34" charset="0"/>
                <a:ea typeface="Malgun Gothic" pitchFamily="34" charset="-122"/>
                <a:cs typeface="Malgun Gothic" pitchFamily="34" charset="-120"/>
              </a:rPr>
              <a:t>KB Youth Club</a:t>
            </a:r>
            <a:endParaRPr lang="en-US" sz="1200" dirty="0"/>
          </a:p>
        </p:txBody>
      </p:sp>
      <p:sp>
        <p:nvSpPr>
          <p:cNvPr id="23" name="Text 21"/>
          <p:cNvSpPr txBox="1"/>
          <p:nvPr/>
        </p:nvSpPr>
        <p:spPr>
          <a:xfrm>
            <a:off x="9921240" y="2944368"/>
            <a:ext cx="1463040" cy="283464"/>
          </a:xfrm>
          <a:prstGeom prst="roundRect">
            <a:avLst>
              <a:gd name="adj" fmla="val 19355"/>
            </a:avLst>
          </a:prstGeom>
          <a:solidFill>
            <a:srgbClr val="FBE6E2"/>
          </a:solidFill>
          <a:ln>
            <a:solidFill>
              <a:srgbClr val="FBE6E2"/>
            </a:solidFill>
          </a:ln>
        </p:spPr>
        <p:txBody>
          <a:bodyPr wrap="square" lIns="38100" tIns="38100" rIns="38100" bIns="38100" rtlCol="0" anchor="ctr"/>
          <a:lstStyle/>
          <a:p>
            <a:pPr algn="ctr" indent="0" marL="0">
              <a:buNone/>
            </a:pPr>
            <a:r>
              <a:rPr lang="en-US" sz="1200" b="1" dirty="0">
                <a:solidFill>
                  <a:srgbClr val="A8311A"/>
                </a:solidFill>
                <a:latin typeface="Malgun Gothic" pitchFamily="34" charset="0"/>
                <a:ea typeface="Malgun Gothic" pitchFamily="34" charset="-122"/>
                <a:cs typeface="Malgun Gothic" pitchFamily="34" charset="-120"/>
              </a:rPr>
              <a:t>제외</a:t>
            </a:r>
            <a:endParaRPr lang="en-US" sz="1200" dirty="0"/>
          </a:p>
        </p:txBody>
      </p:sp>
      <p:sp>
        <p:nvSpPr>
          <p:cNvPr id="24" name="Text 22"/>
          <p:cNvSpPr txBox="1"/>
          <p:nvPr/>
        </p:nvSpPr>
        <p:spPr>
          <a:xfrm>
            <a:off x="8412480" y="3282696"/>
            <a:ext cx="1463040" cy="283464"/>
          </a:xfrm>
          <a:prstGeom prst="rect">
            <a:avLst/>
          </a:prstGeom>
          <a:noFill/>
          <a:ln/>
        </p:spPr>
        <p:txBody>
          <a:bodyPr wrap="square" lIns="0" tIns="0" rIns="0" bIns="0" rtlCol="0" anchor="ctr"/>
          <a:lstStyle/>
          <a:p>
            <a:pPr indent="0" marL="0">
              <a:buNone/>
            </a:pPr>
            <a:r>
              <a:rPr lang="en-US" sz="1200" dirty="0">
                <a:solidFill>
                  <a:srgbClr val="0E1A2B"/>
                </a:solidFill>
                <a:latin typeface="Malgun Gothic" pitchFamily="34" charset="0"/>
                <a:ea typeface="Malgun Gothic" pitchFamily="34" charset="-122"/>
                <a:cs typeface="Malgun Gothic" pitchFamily="34" charset="-120"/>
              </a:rPr>
              <a:t>KB 첵첵</a:t>
            </a:r>
            <a:endParaRPr lang="en-US" sz="1200" dirty="0"/>
          </a:p>
        </p:txBody>
      </p:sp>
      <p:sp>
        <p:nvSpPr>
          <p:cNvPr id="25" name="Text 23"/>
          <p:cNvSpPr txBox="1"/>
          <p:nvPr/>
        </p:nvSpPr>
        <p:spPr>
          <a:xfrm>
            <a:off x="9921240" y="3282696"/>
            <a:ext cx="1463040" cy="283464"/>
          </a:xfrm>
          <a:prstGeom prst="roundRect">
            <a:avLst>
              <a:gd name="adj" fmla="val 19355"/>
            </a:avLst>
          </a:prstGeom>
          <a:solidFill>
            <a:srgbClr val="FDF0DC"/>
          </a:solidFill>
          <a:ln>
            <a:solidFill>
              <a:srgbClr val="FDF0DC"/>
            </a:solidFill>
          </a:ln>
        </p:spPr>
        <p:txBody>
          <a:bodyPr wrap="square" lIns="38100" tIns="38100" rIns="38100" bIns="38100" rtlCol="0" anchor="ctr"/>
          <a:lstStyle/>
          <a:p>
            <a:pPr algn="ctr" indent="0" marL="0">
              <a:buNone/>
            </a:pPr>
            <a:r>
              <a:rPr lang="en-US" sz="1200" b="1" dirty="0">
                <a:solidFill>
                  <a:srgbClr val="8F5208"/>
                </a:solidFill>
                <a:latin typeface="Malgun Gothic" pitchFamily="34" charset="0"/>
                <a:ea typeface="Malgun Gothic" pitchFamily="34" charset="-122"/>
                <a:cs typeface="Malgun Gothic" pitchFamily="34" charset="-120"/>
              </a:rPr>
              <a:t>제외될 수 있음</a:t>
            </a:r>
            <a:endParaRPr lang="en-US" sz="1200" dirty="0"/>
          </a:p>
        </p:txBody>
      </p:sp>
      <p:sp>
        <p:nvSpPr>
          <p:cNvPr id="26" name="Text 24"/>
          <p:cNvSpPr txBox="1"/>
          <p:nvPr/>
        </p:nvSpPr>
        <p:spPr>
          <a:xfrm>
            <a:off x="8339328" y="3611880"/>
            <a:ext cx="3099816" cy="1371600"/>
          </a:xfrm>
          <a:prstGeom prst="rect">
            <a:avLst/>
          </a:prstGeom>
          <a:noFill/>
          <a:ln/>
        </p:spPr>
        <p:txBody>
          <a:bodyPr wrap="square" lIns="0" tIns="0" rIns="0" bIns="0" rtlCol="0" anchor="t"/>
          <a:lstStyle/>
          <a:p>
            <a:pPr indent="0" marL="0">
              <a:lnSpc>
                <a:spcPct val="110000"/>
              </a:lnSpc>
              <a:buNone/>
            </a:pPr>
            <a:r>
              <a:rPr lang="en-US" sz="1300" dirty="0">
                <a:solidFill>
                  <a:srgbClr val="3A4A60"/>
                </a:solidFill>
                <a:latin typeface="Malgun Gothic" pitchFamily="34" charset="0"/>
                <a:ea typeface="Malgun Gothic" pitchFamily="34" charset="-122"/>
                <a:cs typeface="Malgun Gothic" pitchFamily="34" charset="-120"/>
              </a:rPr>
              <a:t>문구가 같다고 같은 규칙으로 합치면 틀린 답이 됩니다. (타사는 비교용, 프로젝트 범위는 하나카드)</a:t>
            </a:r>
            <a:endParaRPr lang="en-US" sz="1300" dirty="0"/>
          </a:p>
        </p:txBody>
      </p:sp>
      <p:sp>
        <p:nvSpPr>
          <p:cNvPr id="27" name="Text 25"/>
          <p:cNvSpPr txBox="1"/>
          <p:nvPr/>
        </p:nvSpPr>
        <p:spPr>
          <a:xfrm>
            <a:off x="548640" y="4983480"/>
            <a:ext cx="11094415" cy="658368"/>
          </a:xfrm>
          <a:prstGeom prst="roundRect">
            <a:avLst>
              <a:gd name="adj" fmla="val 11111"/>
            </a:avLst>
          </a:prstGeom>
          <a:solidFill>
            <a:srgbClr val="0E1A2B"/>
          </a:solidFill>
          <a:ln>
            <a:solidFill>
              <a:srgbClr val="0E1A2B"/>
            </a:solidFill>
          </a:ln>
        </p:spPr>
        <p:txBody>
          <a:bodyPr wrap="square" lIns="177800" tIns="177800" rIns="177800" bIns="177800" rtlCol="0" anchor="ctr"/>
          <a:lstStyle/>
          <a:p>
            <a:pPr algn="l" indent="0" marL="0">
              <a:buNone/>
            </a:pPr>
            <a:r>
              <a:rPr lang="en-US" sz="1400" b="1" dirty="0">
                <a:solidFill>
                  <a:srgbClr val="FFFFFF"/>
                </a:solidFill>
                <a:latin typeface="Malgun Gothic" pitchFamily="34" charset="0"/>
                <a:ea typeface="Malgun Gothic" pitchFamily="34" charset="-122"/>
                <a:cs typeface="Malgun Gothic" pitchFamily="34" charset="-120"/>
              </a:rPr>
              <a:t>필요한 것:  원문 위치 보존(M1) · 근거 문장 필수 추출(M3·M4) · 정책 단위 정규화(M5) · 원문 대조 검증(M8)</a:t>
            </a:r>
            <a:endParaRPr lang="en-US" sz="1400" dirty="0"/>
          </a:p>
        </p:txBody>
      </p:sp>
      <p:sp>
        <p:nvSpPr>
          <p:cNvPr id="28" name="Text 26"/>
          <p:cNvSpPr txBox="1"/>
          <p:nvPr/>
        </p:nvSpPr>
        <p:spPr>
          <a:xfrm>
            <a:off x="548640" y="6400800"/>
            <a:ext cx="10515600" cy="292608"/>
          </a:xfrm>
          <a:prstGeom prst="rect">
            <a:avLst/>
          </a:prstGeom>
          <a:noFill/>
          <a:ln/>
        </p:spPr>
        <p:txBody>
          <a:bodyPr wrap="square" lIns="0" tIns="0" rIns="0" bIns="0" rtlCol="0" anchor="ctr"/>
          <a:lstStyle/>
          <a:p>
            <a:pPr indent="0" marL="0">
              <a:buNone/>
            </a:pPr>
            <a:r>
              <a:rPr lang="en-US" sz="1000" dirty="0">
                <a:solidFill>
                  <a:srgbClr val="6B7686"/>
                </a:solidFill>
                <a:latin typeface="Malgun Gothic" pitchFamily="34" charset="0"/>
                <a:ea typeface="Malgun Gothic" pitchFamily="34" charset="-122"/>
                <a:cs typeface="Malgun Gothic" pitchFamily="34" charset="-120"/>
              </a:rPr>
              <a:t>card_pdf_structuring_validation.md (PyMuPDF 1.28.2·pdfplumber 0.11.10 기본 옵션 표본 검증) · card_scope_comparison_claude.md §5-3</a:t>
            </a:r>
            <a:endParaRPr lang="en-US" sz="1000" dirty="0"/>
          </a:p>
        </p:txBody>
      </p:sp>
      <p:sp>
        <p:nvSpPr>
          <p:cNvPr id="25" name="Slide Number Placeholder 0"/>
          <p:cNvSpPr>
            <a:spLocks noGrp="1"/>
          </p:cNvSpPr>
          <p:nvPr>
            <p:ph type="sldNum" sz="quarter" idx="4294967295"/>
          </p:nvPr>
        </p:nvSpPr>
        <p:spPr>
          <a:xfrm>
            <a:off x="11274552" y="6437376"/>
            <a:ext cx="36576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Malgun Gothic"/>
                <a:ea typeface="Malgun Gothic"/>
                <a:cs typeface="Malgun Gothic"/>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329184"/>
            <a:ext cx="7498080" cy="292608"/>
          </a:xfrm>
          <a:prstGeom prst="rect">
            <a:avLst/>
          </a:prstGeom>
          <a:noFill/>
          <a:ln/>
        </p:spPr>
        <p:txBody>
          <a:bodyPr wrap="square" lIns="0" tIns="0" rIns="0" bIns="0" rtlCol="0" anchor="ctr"/>
          <a:lstStyle/>
          <a:p>
            <a:pPr indent="0" marL="0">
              <a:buNone/>
            </a:pPr>
            <a:r>
              <a:rPr lang="en-US" sz="1200" b="1" dirty="0">
                <a:solidFill>
                  <a:srgbClr val="8F5208"/>
                </a:solidFill>
                <a:latin typeface="Malgun Gothic" pitchFamily="34" charset="0"/>
                <a:ea typeface="Malgun Gothic" pitchFamily="34" charset="-122"/>
                <a:cs typeface="Malgun Gothic" pitchFamily="34" charset="-120"/>
              </a:rPr>
              <a:t>05   왜 GraphRAG인가</a:t>
            </a:r>
            <a:endParaRPr lang="en-US" sz="1200" dirty="0"/>
          </a:p>
        </p:txBody>
      </p:sp>
      <p:sp>
        <p:nvSpPr>
          <p:cNvPr id="3" name="Text 0"/>
          <p:cNvSpPr/>
          <p:nvPr>
            <p:ph idx="101"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2400" b="1" dirty="0">
                <a:solidFill>
                  <a:srgbClr val="0E1A2B"/>
                </a:solidFill>
                <a:latin typeface="Malgun Gothic" pitchFamily="34" charset="0"/>
                <a:ea typeface="Malgun Gothic" pitchFamily="34" charset="-122"/>
                <a:cs typeface="Malgun Gothic" pitchFamily="34" charset="-120"/>
              </a:rPr>
              <a:t>“SQL로도 되지 않나요?” — 됩니다. 차이는 관계를 다루는 방식입니다</a:t>
            </a:r>
            <a:endParaRPr lang="en-US" sz="2400" dirty="0"/>
          </a:p>
        </p:txBody>
      </p:sp>
      <p:sp>
        <p:nvSpPr>
          <p:cNvPr id="4" name="Text 2"/>
          <p:cNvSpPr txBox="1"/>
          <p:nvPr/>
        </p:nvSpPr>
        <p:spPr>
          <a:xfrm>
            <a:off x="10372039" y="329184"/>
            <a:ext cx="1271016" cy="292608"/>
          </a:xfrm>
          <a:prstGeom prst="roundRect">
            <a:avLst>
              <a:gd name="adj" fmla="val 46875"/>
            </a:avLst>
          </a:prstGeom>
          <a:solidFill>
            <a:srgbClr val="FDF0DC"/>
          </a:solidFill>
          <a:ln>
            <a:solidFill>
              <a:srgbClr val="FDF0DC"/>
            </a:solidFill>
          </a:ln>
        </p:spPr>
        <p:txBody>
          <a:bodyPr wrap="square" lIns="0" tIns="0" rIns="0" bIns="0" rtlCol="0" anchor="ctr"/>
          <a:lstStyle/>
          <a:p>
            <a:pPr algn="ctr" indent="0" marL="0">
              <a:buNone/>
            </a:pPr>
            <a:r>
              <a:rPr lang="en-US" sz="1100" b="1" dirty="0">
                <a:solidFill>
                  <a:srgbClr val="8F5208"/>
                </a:solidFill>
                <a:latin typeface="Malgun Gothic" pitchFamily="34" charset="0"/>
                <a:ea typeface="Malgun Gothic" pitchFamily="34" charset="-122"/>
                <a:cs typeface="Malgun Gothic" pitchFamily="34" charset="-120"/>
              </a:rPr>
              <a:t>가설 · 검증 예정</a:t>
            </a:r>
            <a:endParaRPr lang="en-US" sz="11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11094415" cy="914400"/>
        </p:xfrm>
        <a:graphic>
          <a:graphicData uri="http://schemas.openxmlformats.org/drawingml/2006/table">
            <a:tbl>
              <a:tblPr/>
              <a:tblGrid>
                <a:gridCol w="1947672"/>
                <a:gridCol w="3383280"/>
                <a:gridCol w="2880360"/>
                <a:gridCol w="2880360"/>
              </a:tblGrid>
              <a:tr h="429768">
                <a:tc>
                  <a:txBody>
                    <a:bodyPr/>
                    <a:lstStyle/>
                    <a:p>
                      <a:pPr indent="0" marL="0">
                        <a:buNone/>
                      </a:pPr>
                      <a:r>
                        <a:rPr lang="en-US" sz="1300" b="1" dirty="0">
                          <a:solidFill>
                            <a:srgbClr val="FFFFFF"/>
                          </a:solidFill>
                          <a:latin typeface="Malgun Gothic" pitchFamily="34" charset="0"/>
                          <a:ea typeface="Malgun Gothic" pitchFamily="34" charset="-122"/>
                          <a:cs typeface="Malgun Gothic" pitchFamily="34" charset="-120"/>
                        </a:rPr>
                        <a:t>비교 기준</a:t>
                      </a:r>
                      <a:endParaRPr lang="en-US" sz="1300" dirty="0">
                        <a:latin typeface="Malgun Gothic" charset="0"/>
                        <a:ea typeface="Malgun Gothic" charset="0"/>
                        <a:cs typeface="Malgun Gothic" charset="0"/>
                      </a:endParaRPr>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3A4A60"/>
                    </a:solidFill>
                  </a:tcPr>
                </a:tc>
                <a:tc>
                  <a:txBody>
                    <a:bodyPr/>
                    <a:lstStyle/>
                    <a:p>
                      <a:pPr indent="0" marL="0">
                        <a:buNone/>
                      </a:pPr>
                      <a:r>
                        <a:rPr lang="en-US" sz="1300" b="1" dirty="0">
                          <a:solidFill>
                            <a:srgbClr val="FFFFFF"/>
                          </a:solidFill>
                          <a:latin typeface="Malgun Gothic" pitchFamily="34" charset="0"/>
                          <a:ea typeface="Malgun Gothic" pitchFamily="34" charset="-122"/>
                          <a:cs typeface="Malgun Gothic" pitchFamily="34" charset="-120"/>
                        </a:rPr>
                        <a:t>일반 벡터 RAG</a:t>
                      </a:r>
                      <a:endParaRPr lang="en-US" sz="1300" dirty="0">
                        <a:latin typeface="Malgun Gothic" charset="0"/>
                        <a:ea typeface="Malgun Gothic" charset="0"/>
                        <a:cs typeface="Malgun Gothic" charset="0"/>
                      </a:endParaRPr>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3A4A60"/>
                    </a:solidFill>
                  </a:tcPr>
                </a:tc>
                <a:tc>
                  <a:txBody>
                    <a:bodyPr/>
                    <a:lstStyle/>
                    <a:p>
                      <a:pPr indent="0" marL="0">
                        <a:buNone/>
                      </a:pPr>
                      <a:r>
                        <a:rPr lang="en-US" sz="1300" b="1" dirty="0">
                          <a:solidFill>
                            <a:srgbClr val="FFFFFF"/>
                          </a:solidFill>
                          <a:latin typeface="Malgun Gothic" pitchFamily="34" charset="0"/>
                          <a:ea typeface="Malgun Gothic" pitchFamily="34" charset="-122"/>
                          <a:cs typeface="Malgun Gothic" pitchFamily="34" charset="-120"/>
                        </a:rPr>
                        <a:t>PostgreSQL + 구조화 조건 + LLM</a:t>
                      </a:r>
                      <a:endParaRPr lang="en-US" sz="1300" dirty="0">
                        <a:latin typeface="Malgun Gothic" charset="0"/>
                        <a:ea typeface="Malgun Gothic" charset="0"/>
                        <a:cs typeface="Malgun Gothic" charset="0"/>
                      </a:endParaRPr>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3A4A60"/>
                    </a:solidFill>
                  </a:tcPr>
                </a:tc>
                <a:tc>
                  <a:txBody>
                    <a:bodyPr/>
                    <a:lstStyle/>
                    <a:p>
                      <a:pPr indent="0" marL="0">
                        <a:buNone/>
                      </a:pPr>
                      <a:r>
                        <a:rPr lang="en-US" sz="1300" b="1" dirty="0">
                          <a:solidFill>
                            <a:srgbClr val="FFFFFF"/>
                          </a:solidFill>
                          <a:latin typeface="Malgun Gothic" pitchFamily="34" charset="0"/>
                          <a:ea typeface="Malgun Gothic" pitchFamily="34" charset="-122"/>
                          <a:cs typeface="Malgun Gothic" pitchFamily="34" charset="-120"/>
                        </a:rPr>
                        <a:t>Neo4j GraphRAG</a:t>
                      </a:r>
                      <a:endParaRPr lang="en-US" sz="1300" dirty="0">
                        <a:latin typeface="Malgun Gothic" charset="0"/>
                        <a:ea typeface="Malgun Gothic" charset="0"/>
                        <a:cs typeface="Malgun Gothic" charset="0"/>
                      </a:endParaRPr>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0E1A2B"/>
                    </a:solidFill>
                  </a:tcPr>
                </a:tc>
              </a:tr>
              <a:tr h="429768">
                <a:tc>
                  <a:txBody>
                    <a:bodyPr/>
                    <a:lstStyle/>
                    <a:p>
                      <a:pPr indent="0" marL="0">
                        <a:buNone/>
                      </a:pPr>
                      <a:r>
                        <a:rPr lang="en-US" sz="1200" b="1" dirty="0">
                          <a:solidFill>
                            <a:srgbClr val="0E1A2B"/>
                          </a:solidFill>
                          <a:latin typeface="Malgun Gothic" pitchFamily="34" charset="0"/>
                          <a:ea typeface="Malgun Gothic" pitchFamily="34" charset="-122"/>
                          <a:cs typeface="Malgun Gothic" pitchFamily="34" charset="-120"/>
                        </a:rPr>
                        <a:t>복합 조건 검색</a:t>
                      </a:r>
                      <a:endParaRPr lang="en-US" sz="1200" dirty="0">
                        <a:latin typeface="Malgun Gothic" charset="0"/>
                        <a:ea typeface="Malgun Gothic" charset="0"/>
                        <a:cs typeface="Malgun Gothic" charset="0"/>
                      </a:endParaRPr>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indent="0" marL="0">
                        <a:buNone/>
                      </a:pPr>
                      <a:r>
                        <a:rPr lang="en-US" sz="1200" b="1" dirty="0">
                          <a:solidFill>
                            <a:srgbClr val="8F5208"/>
                          </a:solidFill>
                          <a:latin typeface="Malgun Gothic" pitchFamily="34" charset="0"/>
                          <a:ea typeface="Malgun Gothic" pitchFamily="34" charset="-122"/>
                          <a:cs typeface="Malgun Gothic" pitchFamily="34" charset="-120"/>
                        </a:rPr>
                        <a:t>△ </a:t>
                      </a:r>
                      <a:pPr indent="0" marL="0">
                        <a:buNone/>
                      </a:pPr>
                      <a:r>
                        <a:rPr lang="en-US" sz="1200" dirty="0">
                          <a:solidFill>
                            <a:srgbClr val="1A2433"/>
                          </a:solidFill>
                          <a:latin typeface="Malgun Gothic" pitchFamily="34" charset="0"/>
                          <a:ea typeface="Malgun Gothic" pitchFamily="34" charset="-122"/>
                          <a:cs typeface="Malgun Gothic" pitchFamily="34" charset="-120"/>
                        </a:rPr>
                        <a:t>유사 청크는 찾지만 AND·NOT 조합 보장 어려움</a:t>
                      </a:r>
                      <a:endParaRPr lang="en-US" sz="1200" dirty="0">
                        <a:latin typeface="Malgun Gothic" charset="0"/>
                        <a:ea typeface="Malgun Gothic" charset="0"/>
                        <a:cs typeface="Malgun Gothic" charset="0"/>
                      </a:endParaRPr>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b="1" dirty="0">
                          <a:solidFill>
                            <a:srgbClr val="0D6F64"/>
                          </a:solidFill>
                          <a:latin typeface="Malgun Gothic" pitchFamily="34" charset="0"/>
                          <a:ea typeface="Malgun Gothic" pitchFamily="34" charset="-122"/>
                          <a:cs typeface="Malgun Gothic" pitchFamily="34" charset="-120"/>
                        </a:rPr>
                        <a:t>○ </a:t>
                      </a:r>
                      <a:pPr indent="0" marL="0">
                        <a:buNone/>
                      </a:pPr>
                      <a:r>
                        <a:rPr lang="en-US" sz="1200" dirty="0">
                          <a:solidFill>
                            <a:srgbClr val="1A2433"/>
                          </a:solidFill>
                          <a:latin typeface="Malgun Gothic" pitchFamily="34" charset="0"/>
                          <a:ea typeface="Malgun Gothic" pitchFamily="34" charset="-122"/>
                          <a:cs typeface="Malgun Gothic" pitchFamily="34" charset="-120"/>
                        </a:rPr>
                        <a:t>정규화 후 JOIN으로 정확</a:t>
                      </a:r>
                      <a:endParaRPr lang="en-US" sz="1200" dirty="0">
                        <a:latin typeface="Malgun Gothic" charset="0"/>
                        <a:ea typeface="Malgun Gothic" charset="0"/>
                        <a:cs typeface="Malgun Gothic" charset="0"/>
                      </a:endParaRPr>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b="1" dirty="0">
                          <a:solidFill>
                            <a:srgbClr val="0D6F64"/>
                          </a:solidFill>
                          <a:latin typeface="Malgun Gothic" pitchFamily="34" charset="0"/>
                          <a:ea typeface="Malgun Gothic" pitchFamily="34" charset="-122"/>
                          <a:cs typeface="Malgun Gothic" pitchFamily="34" charset="-120"/>
                        </a:rPr>
                        <a:t>○ </a:t>
                      </a:r>
                      <a:pPr indent="0" marL="0">
                        <a:buNone/>
                      </a:pPr>
                      <a:r>
                        <a:rPr lang="en-US" sz="1200" dirty="0">
                          <a:solidFill>
                            <a:srgbClr val="1A2433"/>
                          </a:solidFill>
                          <a:latin typeface="Malgun Gothic" pitchFamily="34" charset="0"/>
                          <a:ea typeface="Malgun Gothic" pitchFamily="34" charset="-122"/>
                          <a:cs typeface="Malgun Gothic" pitchFamily="34" charset="-120"/>
                        </a:rPr>
                        <a:t>관계 패턴 매칭으로 표현</a:t>
                      </a:r>
                      <a:endParaRPr lang="en-US" sz="1200" dirty="0">
                        <a:latin typeface="Malgun Gothic" charset="0"/>
                        <a:ea typeface="Malgun Gothic" charset="0"/>
                        <a:cs typeface="Malgun Gothic" charset="0"/>
                      </a:endParaRPr>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429768">
                <a:tc>
                  <a:txBody>
                    <a:bodyPr/>
                    <a:lstStyle/>
                    <a:p>
                      <a:pPr indent="0" marL="0">
                        <a:buNone/>
                      </a:pPr>
                      <a:r>
                        <a:rPr lang="en-US" sz="1200" b="1" dirty="0">
                          <a:solidFill>
                            <a:srgbClr val="0E1A2B"/>
                          </a:solidFill>
                          <a:latin typeface="Malgun Gothic" pitchFamily="34" charset="0"/>
                          <a:ea typeface="Malgun Gothic" pitchFamily="34" charset="-122"/>
                          <a:cs typeface="Malgun Gothic" pitchFamily="34" charset="-120"/>
                        </a:rPr>
                        <a:t>혜택별 적용 범위</a:t>
                      </a:r>
                      <a:endParaRPr lang="en-US" sz="1200" dirty="0">
                        <a:latin typeface="Malgun Gothic" charset="0"/>
                        <a:ea typeface="Malgun Gothic" charset="0"/>
                        <a:cs typeface="Malgun Gothic" charset="0"/>
                      </a:endParaRPr>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indent="0" marL="0">
                        <a:buNone/>
                      </a:pPr>
                      <a:r>
                        <a:rPr lang="en-US" sz="1200" b="1" dirty="0">
                          <a:solidFill>
                            <a:srgbClr val="A8311A"/>
                          </a:solidFill>
                          <a:latin typeface="Malgun Gothic" pitchFamily="34" charset="0"/>
                          <a:ea typeface="Malgun Gothic" pitchFamily="34" charset="-122"/>
                          <a:cs typeface="Malgun Gothic" pitchFamily="34" charset="-120"/>
                        </a:rPr>
                        <a:t>× </a:t>
                      </a:r>
                      <a:pPr indent="0" marL="0">
                        <a:buNone/>
                      </a:pPr>
                      <a:r>
                        <a:rPr lang="en-US" sz="1200" dirty="0">
                          <a:solidFill>
                            <a:srgbClr val="1A2433"/>
                          </a:solidFill>
                          <a:latin typeface="Malgun Gothic" pitchFamily="34" charset="0"/>
                          <a:ea typeface="Malgun Gothic" pitchFamily="34" charset="-122"/>
                          <a:cs typeface="Malgun Gothic" pitchFamily="34" charset="-120"/>
                        </a:rPr>
                        <a:t>청크 문맥 의존, 실적/혜택 제외 혼동 위험</a:t>
                      </a:r>
                      <a:endParaRPr lang="en-US" sz="1200" dirty="0">
                        <a:latin typeface="Malgun Gothic" charset="0"/>
                        <a:ea typeface="Malgun Gothic" charset="0"/>
                        <a:cs typeface="Malgun Gothic" charset="0"/>
                      </a:endParaRPr>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b="1" dirty="0">
                          <a:solidFill>
                            <a:srgbClr val="0D6F64"/>
                          </a:solidFill>
                          <a:latin typeface="Malgun Gothic" pitchFamily="34" charset="0"/>
                          <a:ea typeface="Malgun Gothic" pitchFamily="34" charset="-122"/>
                          <a:cs typeface="Malgun Gothic" pitchFamily="34" charset="-120"/>
                        </a:rPr>
                        <a:t>○ </a:t>
                      </a:r>
                      <a:pPr indent="0" marL="0">
                        <a:buNone/>
                      </a:pPr>
                      <a:r>
                        <a:rPr lang="en-US" sz="1200" dirty="0">
                          <a:solidFill>
                            <a:srgbClr val="1A2433"/>
                          </a:solidFill>
                          <a:latin typeface="Malgun Gothic" pitchFamily="34" charset="0"/>
                          <a:ea typeface="Malgun Gothic" pitchFamily="34" charset="-122"/>
                          <a:cs typeface="Malgun Gothic" pitchFamily="34" charset="-120"/>
                        </a:rPr>
                        <a:t>scope 컬럼으로 표현 가능</a:t>
                      </a:r>
                      <a:endParaRPr lang="en-US" sz="1200" dirty="0">
                        <a:latin typeface="Malgun Gothic" charset="0"/>
                        <a:ea typeface="Malgun Gothic" charset="0"/>
                        <a:cs typeface="Malgun Gothic" charset="0"/>
                      </a:endParaRPr>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b="1" dirty="0">
                          <a:solidFill>
                            <a:srgbClr val="0D6F64"/>
                          </a:solidFill>
                          <a:latin typeface="Malgun Gothic" pitchFamily="34" charset="0"/>
                          <a:ea typeface="Malgun Gothic" pitchFamily="34" charset="-122"/>
                          <a:cs typeface="Malgun Gothic" pitchFamily="34" charset="-120"/>
                        </a:rPr>
                        <a:t>○ </a:t>
                      </a:r>
                      <a:pPr indent="0" marL="0">
                        <a:buNone/>
                      </a:pPr>
                      <a:r>
                        <a:rPr lang="en-US" sz="1200" dirty="0">
                          <a:solidFill>
                            <a:srgbClr val="1A2433"/>
                          </a:solidFill>
                          <a:latin typeface="Malgun Gothic" pitchFamily="34" charset="0"/>
                          <a:ea typeface="Malgun Gothic" pitchFamily="34" charset="-122"/>
                          <a:cs typeface="Malgun Gothic" pitchFamily="34" charset="-120"/>
                        </a:rPr>
                        <a:t>관계 속성(scope)으로 표현</a:t>
                      </a:r>
                      <a:endParaRPr lang="en-US" sz="1200" dirty="0">
                        <a:latin typeface="Malgun Gothic" charset="0"/>
                        <a:ea typeface="Malgun Gothic" charset="0"/>
                        <a:cs typeface="Malgun Gothic" charset="0"/>
                      </a:endParaRPr>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429768">
                <a:tc>
                  <a:txBody>
                    <a:bodyPr/>
                    <a:lstStyle/>
                    <a:p>
                      <a:pPr indent="0" marL="0">
                        <a:buNone/>
                      </a:pPr>
                      <a:r>
                        <a:rPr lang="en-US" sz="1200" b="1" dirty="0">
                          <a:solidFill>
                            <a:srgbClr val="0E1A2B"/>
                          </a:solidFill>
                          <a:latin typeface="Malgun Gothic" pitchFamily="34" charset="0"/>
                          <a:ea typeface="Malgun Gothic" pitchFamily="34" charset="-122"/>
                          <a:cs typeface="Malgun Gothic" pitchFamily="34" charset="-120"/>
                        </a:rPr>
                        <a:t>약관 조항 추적</a:t>
                      </a:r>
                      <a:endParaRPr lang="en-US" sz="1200" dirty="0">
                        <a:latin typeface="Malgun Gothic" charset="0"/>
                        <a:ea typeface="Malgun Gothic" charset="0"/>
                        <a:cs typeface="Malgun Gothic" charset="0"/>
                      </a:endParaRPr>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indent="0" marL="0">
                        <a:buNone/>
                      </a:pPr>
                      <a:r>
                        <a:rPr lang="en-US" sz="1200" b="1" dirty="0">
                          <a:solidFill>
                            <a:srgbClr val="8F5208"/>
                          </a:solidFill>
                          <a:latin typeface="Malgun Gothic" pitchFamily="34" charset="0"/>
                          <a:ea typeface="Malgun Gothic" pitchFamily="34" charset="-122"/>
                          <a:cs typeface="Malgun Gothic" pitchFamily="34" charset="-120"/>
                        </a:rPr>
                        <a:t>△ </a:t>
                      </a:r>
                      <a:pPr indent="0" marL="0">
                        <a:buNone/>
                      </a:pPr>
                      <a:r>
                        <a:rPr lang="en-US" sz="1200" dirty="0">
                          <a:solidFill>
                            <a:srgbClr val="1A2433"/>
                          </a:solidFill>
                          <a:latin typeface="Malgun Gothic" pitchFamily="34" charset="0"/>
                          <a:ea typeface="Malgun Gothic" pitchFamily="34" charset="-122"/>
                          <a:cs typeface="Malgun Gothic" pitchFamily="34" charset="-120"/>
                        </a:rPr>
                        <a:t>청크 출처는 남지만 조건–조항 연결 없음</a:t>
                      </a:r>
                      <a:endParaRPr lang="en-US" sz="1200" dirty="0">
                        <a:latin typeface="Malgun Gothic" charset="0"/>
                        <a:ea typeface="Malgun Gothic" charset="0"/>
                        <a:cs typeface="Malgun Gothic" charset="0"/>
                      </a:endParaRPr>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b="1" dirty="0">
                          <a:solidFill>
                            <a:srgbClr val="0D6F64"/>
                          </a:solidFill>
                          <a:latin typeface="Malgun Gothic" pitchFamily="34" charset="0"/>
                          <a:ea typeface="Malgun Gothic" pitchFamily="34" charset="-122"/>
                          <a:cs typeface="Malgun Gothic" pitchFamily="34" charset="-120"/>
                        </a:rPr>
                        <a:t>○ </a:t>
                      </a:r>
                      <a:pPr indent="0" marL="0">
                        <a:buNone/>
                      </a:pPr>
                      <a:r>
                        <a:rPr lang="en-US" sz="1200" dirty="0">
                          <a:solidFill>
                            <a:srgbClr val="1A2433"/>
                          </a:solidFill>
                          <a:latin typeface="Malgun Gothic" pitchFamily="34" charset="0"/>
                          <a:ea typeface="Malgun Gothic" pitchFamily="34" charset="-122"/>
                          <a:cs typeface="Malgun Gothic" pitchFamily="34" charset="-120"/>
                        </a:rPr>
                        <a:t>근거 컬럼·키로 연결 가능</a:t>
                      </a:r>
                      <a:endParaRPr lang="en-US" sz="1200" dirty="0">
                        <a:latin typeface="Malgun Gothic" charset="0"/>
                        <a:ea typeface="Malgun Gothic" charset="0"/>
                        <a:cs typeface="Malgun Gothic" charset="0"/>
                      </a:endParaRPr>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b="1" dirty="0">
                          <a:solidFill>
                            <a:srgbClr val="0D6F64"/>
                          </a:solidFill>
                          <a:latin typeface="Malgun Gothic" pitchFamily="34" charset="0"/>
                          <a:ea typeface="Malgun Gothic" pitchFamily="34" charset="-122"/>
                          <a:cs typeface="Malgun Gothic" pitchFamily="34" charset="-120"/>
                        </a:rPr>
                        <a:t>○ </a:t>
                      </a:r>
                      <a:pPr indent="0" marL="0">
                        <a:buNone/>
                      </a:pPr>
                      <a:r>
                        <a:rPr lang="en-US" sz="1200" dirty="0">
                          <a:solidFill>
                            <a:srgbClr val="1A2433"/>
                          </a:solidFill>
                          <a:latin typeface="Malgun Gothic" pitchFamily="34" charset="0"/>
                          <a:ea typeface="Malgun Gothic" pitchFamily="34" charset="-122"/>
                          <a:cs typeface="Malgun Gothic" pitchFamily="34" charset="-120"/>
                        </a:rPr>
                        <a:t>결과와 함께 근거 경로 반환</a:t>
                      </a:r>
                      <a:endParaRPr lang="en-US" sz="1200" dirty="0">
                        <a:latin typeface="Malgun Gothic" charset="0"/>
                        <a:ea typeface="Malgun Gothic" charset="0"/>
                        <a:cs typeface="Malgun Gothic" charset="0"/>
                      </a:endParaRPr>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429768">
                <a:tc>
                  <a:txBody>
                    <a:bodyPr/>
                    <a:lstStyle/>
                    <a:p>
                      <a:pPr indent="0" marL="0">
                        <a:buNone/>
                      </a:pPr>
                      <a:r>
                        <a:rPr lang="en-US" sz="1200" b="1" dirty="0">
                          <a:solidFill>
                            <a:srgbClr val="0E1A2B"/>
                          </a:solidFill>
                          <a:latin typeface="Malgun Gothic" pitchFamily="34" charset="0"/>
                          <a:ea typeface="Malgun Gothic" pitchFamily="34" charset="-122"/>
                          <a:cs typeface="Malgun Gothic" pitchFamily="34" charset="-120"/>
                        </a:rPr>
                        <a:t>조건 변경 영향</a:t>
                      </a:r>
                      <a:endParaRPr lang="en-US" sz="1200" dirty="0">
                        <a:latin typeface="Malgun Gothic" charset="0"/>
                        <a:ea typeface="Malgun Gothic" charset="0"/>
                        <a:cs typeface="Malgun Gothic" charset="0"/>
                      </a:endParaRPr>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indent="0" marL="0">
                        <a:buNone/>
                      </a:pPr>
                      <a:r>
                        <a:rPr lang="en-US" sz="1200" b="1" dirty="0">
                          <a:solidFill>
                            <a:srgbClr val="A8311A"/>
                          </a:solidFill>
                          <a:latin typeface="Malgun Gothic" pitchFamily="34" charset="0"/>
                          <a:ea typeface="Malgun Gothic" pitchFamily="34" charset="-122"/>
                          <a:cs typeface="Malgun Gothic" pitchFamily="34" charset="-120"/>
                        </a:rPr>
                        <a:t>× </a:t>
                      </a:r>
                      <a:pPr indent="0" marL="0">
                        <a:buNone/>
                      </a:pPr>
                      <a:r>
                        <a:rPr lang="en-US" sz="1200" dirty="0">
                          <a:solidFill>
                            <a:srgbClr val="1A2433"/>
                          </a:solidFill>
                          <a:latin typeface="Malgun Gothic" pitchFamily="34" charset="0"/>
                          <a:ea typeface="Malgun Gothic" pitchFamily="34" charset="-122"/>
                          <a:cs typeface="Malgun Gothic" pitchFamily="34" charset="-120"/>
                        </a:rPr>
                        <a:t>영향 목록의 완전성 보장 불가</a:t>
                      </a:r>
                      <a:endParaRPr lang="en-US" sz="1200" dirty="0">
                        <a:latin typeface="Malgun Gothic" charset="0"/>
                        <a:ea typeface="Malgun Gothic" charset="0"/>
                        <a:cs typeface="Malgun Gothic" charset="0"/>
                      </a:endParaRPr>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b="1" dirty="0">
                          <a:solidFill>
                            <a:srgbClr val="8F5208"/>
                          </a:solidFill>
                          <a:latin typeface="Malgun Gothic" pitchFamily="34" charset="0"/>
                          <a:ea typeface="Malgun Gothic" pitchFamily="34" charset="-122"/>
                          <a:cs typeface="Malgun Gothic" pitchFamily="34" charset="-120"/>
                        </a:rPr>
                        <a:t>△ </a:t>
                      </a:r>
                      <a:pPr indent="0" marL="0">
                        <a:buNone/>
                      </a:pPr>
                      <a:r>
                        <a:rPr lang="en-US" sz="1200" dirty="0">
                          <a:solidFill>
                            <a:srgbClr val="1A2433"/>
                          </a:solidFill>
                          <a:latin typeface="Malgun Gothic" pitchFamily="34" charset="0"/>
                          <a:ea typeface="Malgun Gothic" pitchFamily="34" charset="-122"/>
                          <a:cs typeface="Malgun Gothic" pitchFamily="34" charset="-120"/>
                        </a:rPr>
                        <a:t>다중 JOIN·재귀 CTE, 관계 유형이 늘수록 쿼리 복잡</a:t>
                      </a:r>
                      <a:endParaRPr lang="en-US" sz="1200" dirty="0">
                        <a:latin typeface="Malgun Gothic" charset="0"/>
                        <a:ea typeface="Malgun Gothic" charset="0"/>
                        <a:cs typeface="Malgun Gothic" charset="0"/>
                      </a:endParaRPr>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b="1" dirty="0">
                          <a:solidFill>
                            <a:srgbClr val="0D6F64"/>
                          </a:solidFill>
                          <a:latin typeface="Malgun Gothic" pitchFamily="34" charset="0"/>
                          <a:ea typeface="Malgun Gothic" pitchFamily="34" charset="-122"/>
                          <a:cs typeface="Malgun Gothic" pitchFamily="34" charset="-120"/>
                        </a:rPr>
                        <a:t>○ </a:t>
                      </a:r>
                      <a:pPr indent="0" marL="0">
                        <a:buNone/>
                      </a:pPr>
                      <a:r>
                        <a:rPr lang="en-US" sz="1200" dirty="0">
                          <a:solidFill>
                            <a:srgbClr val="1A2433"/>
                          </a:solidFill>
                          <a:latin typeface="Malgun Gothic" pitchFamily="34" charset="0"/>
                          <a:ea typeface="Malgun Gothic" pitchFamily="34" charset="-122"/>
                          <a:cs typeface="Malgun Gothic" pitchFamily="34" charset="-120"/>
                        </a:rPr>
                        <a:t>가변 길이 경로 탐색으로 표현</a:t>
                      </a:r>
                      <a:endParaRPr lang="en-US" sz="1200" dirty="0">
                        <a:latin typeface="Malgun Gothic" charset="0"/>
                        <a:ea typeface="Malgun Gothic" charset="0"/>
                        <a:cs typeface="Malgun Gothic" charset="0"/>
                      </a:endParaRPr>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429768">
                <a:tc>
                  <a:txBody>
                    <a:bodyPr/>
                    <a:lstStyle/>
                    <a:p>
                      <a:pPr indent="0" marL="0">
                        <a:buNone/>
                      </a:pPr>
                      <a:r>
                        <a:rPr lang="en-US" sz="1200" b="1" dirty="0">
                          <a:solidFill>
                            <a:srgbClr val="0E1A2B"/>
                          </a:solidFill>
                          <a:latin typeface="Malgun Gothic" pitchFamily="34" charset="0"/>
                          <a:ea typeface="Malgun Gothic" pitchFamily="34" charset="-122"/>
                          <a:cs typeface="Malgun Gothic" pitchFamily="34" charset="-120"/>
                        </a:rPr>
                        <a:t>근거 설명 재현성</a:t>
                      </a:r>
                      <a:endParaRPr lang="en-US" sz="1200" dirty="0">
                        <a:latin typeface="Malgun Gothic" charset="0"/>
                        <a:ea typeface="Malgun Gothic" charset="0"/>
                        <a:cs typeface="Malgun Gothic" charset="0"/>
                      </a:endParaRPr>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indent="0" marL="0">
                        <a:buNone/>
                      </a:pPr>
                      <a:r>
                        <a:rPr lang="en-US" sz="1200" b="1" dirty="0">
                          <a:solidFill>
                            <a:srgbClr val="8F5208"/>
                          </a:solidFill>
                          <a:latin typeface="Malgun Gothic" pitchFamily="34" charset="0"/>
                          <a:ea typeface="Malgun Gothic" pitchFamily="34" charset="-122"/>
                          <a:cs typeface="Malgun Gothic" pitchFamily="34" charset="-120"/>
                        </a:rPr>
                        <a:t>△ </a:t>
                      </a:r>
                      <a:pPr indent="0" marL="0">
                        <a:buNone/>
                      </a:pPr>
                      <a:r>
                        <a:rPr lang="en-US" sz="1200" dirty="0">
                          <a:solidFill>
                            <a:srgbClr val="1A2433"/>
                          </a:solidFill>
                          <a:latin typeface="Malgun Gothic" pitchFamily="34" charset="0"/>
                          <a:ea typeface="Malgun Gothic" pitchFamily="34" charset="-122"/>
                          <a:cs typeface="Malgun Gothic" pitchFamily="34" charset="-120"/>
                        </a:rPr>
                        <a:t>검색·생성 결과가 실행마다 달라질 수 있음</a:t>
                      </a:r>
                      <a:endParaRPr lang="en-US" sz="1200" dirty="0">
                        <a:latin typeface="Malgun Gothic" charset="0"/>
                        <a:ea typeface="Malgun Gothic" charset="0"/>
                        <a:cs typeface="Malgun Gothic" charset="0"/>
                      </a:endParaRPr>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b="1" dirty="0">
                          <a:solidFill>
                            <a:srgbClr val="0D6F64"/>
                          </a:solidFill>
                          <a:latin typeface="Malgun Gothic" pitchFamily="34" charset="0"/>
                          <a:ea typeface="Malgun Gothic" pitchFamily="34" charset="-122"/>
                          <a:cs typeface="Malgun Gothic" pitchFamily="34" charset="-120"/>
                        </a:rPr>
                        <a:t>○ </a:t>
                      </a:r>
                      <a:pPr indent="0" marL="0">
                        <a:buNone/>
                      </a:pPr>
                      <a:r>
                        <a:rPr lang="en-US" sz="1200" dirty="0">
                          <a:solidFill>
                            <a:srgbClr val="1A2433"/>
                          </a:solidFill>
                          <a:latin typeface="Malgun Gothic" pitchFamily="34" charset="0"/>
                          <a:ea typeface="Malgun Gothic" pitchFamily="34" charset="-122"/>
                          <a:cs typeface="Malgun Gothic" pitchFamily="34" charset="-120"/>
                        </a:rPr>
                        <a:t>같은 쿼리 → 같은 결과</a:t>
                      </a:r>
                      <a:endParaRPr lang="en-US" sz="1200" dirty="0">
                        <a:latin typeface="Malgun Gothic" charset="0"/>
                        <a:ea typeface="Malgun Gothic" charset="0"/>
                        <a:cs typeface="Malgun Gothic" charset="0"/>
                      </a:endParaRPr>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b="1" dirty="0">
                          <a:solidFill>
                            <a:srgbClr val="0D6F64"/>
                          </a:solidFill>
                          <a:latin typeface="Malgun Gothic" pitchFamily="34" charset="0"/>
                          <a:ea typeface="Malgun Gothic" pitchFamily="34" charset="-122"/>
                          <a:cs typeface="Malgun Gothic" pitchFamily="34" charset="-120"/>
                        </a:rPr>
                        <a:t>○ </a:t>
                      </a:r>
                      <a:pPr indent="0" marL="0">
                        <a:buNone/>
                      </a:pPr>
                      <a:r>
                        <a:rPr lang="en-US" sz="1200" dirty="0">
                          <a:solidFill>
                            <a:srgbClr val="1A2433"/>
                          </a:solidFill>
                          <a:latin typeface="Malgun Gothic" pitchFamily="34" charset="0"/>
                          <a:ea typeface="Malgun Gothic" pitchFamily="34" charset="-122"/>
                          <a:cs typeface="Malgun Gothic" pitchFamily="34" charset="-120"/>
                        </a:rPr>
                        <a:t>같은 쿼리 → 같은 경로</a:t>
                      </a:r>
                      <a:endParaRPr lang="en-US" sz="1200" dirty="0">
                        <a:latin typeface="Malgun Gothic" charset="0"/>
                        <a:ea typeface="Malgun Gothic" charset="0"/>
                        <a:cs typeface="Malgun Gothic" charset="0"/>
                      </a:endParaRPr>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429768">
                <a:tc>
                  <a:txBody>
                    <a:bodyPr/>
                    <a:lstStyle/>
                    <a:p>
                      <a:pPr indent="0" marL="0">
                        <a:buNone/>
                      </a:pPr>
                      <a:r>
                        <a:rPr lang="en-US" sz="1200" b="1" dirty="0">
                          <a:solidFill>
                            <a:srgbClr val="0E1A2B"/>
                          </a:solidFill>
                          <a:latin typeface="Malgun Gothic" pitchFamily="34" charset="0"/>
                          <a:ea typeface="Malgun Gothic" pitchFamily="34" charset="-122"/>
                          <a:cs typeface="Malgun Gothic" pitchFamily="34" charset="-120"/>
                        </a:rPr>
                        <a:t>모델링·유지보수</a:t>
                      </a:r>
                      <a:endParaRPr lang="en-US" sz="1200" dirty="0">
                        <a:latin typeface="Malgun Gothic" charset="0"/>
                        <a:ea typeface="Malgun Gothic" charset="0"/>
                        <a:cs typeface="Malgun Gothic" charset="0"/>
                      </a:endParaRPr>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indent="0" marL="0">
                        <a:buNone/>
                      </a:pPr>
                      <a:r>
                        <a:rPr lang="en-US" sz="1200" b="1" dirty="0">
                          <a:solidFill>
                            <a:srgbClr val="0D6F64"/>
                          </a:solidFill>
                          <a:latin typeface="Malgun Gothic" pitchFamily="34" charset="0"/>
                          <a:ea typeface="Malgun Gothic" pitchFamily="34" charset="-122"/>
                          <a:cs typeface="Malgun Gothic" pitchFamily="34" charset="-120"/>
                        </a:rPr>
                        <a:t>○ </a:t>
                      </a:r>
                      <a:pPr indent="0" marL="0">
                        <a:buNone/>
                      </a:pPr>
                      <a:r>
                        <a:rPr lang="en-US" sz="1200" dirty="0">
                          <a:solidFill>
                            <a:srgbClr val="1A2433"/>
                          </a:solidFill>
                          <a:latin typeface="Malgun Gothic" pitchFamily="34" charset="0"/>
                          <a:ea typeface="Malgun Gothic" pitchFamily="34" charset="-122"/>
                          <a:cs typeface="Malgun Gothic" pitchFamily="34" charset="-120"/>
                        </a:rPr>
                        <a:t>스키마 설계 부담 낮음</a:t>
                      </a:r>
                      <a:endParaRPr lang="en-US" sz="1200" dirty="0">
                        <a:latin typeface="Malgun Gothic" charset="0"/>
                        <a:ea typeface="Malgun Gothic" charset="0"/>
                        <a:cs typeface="Malgun Gothic" charset="0"/>
                      </a:endParaRPr>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b="1" dirty="0">
                          <a:solidFill>
                            <a:srgbClr val="8F5208"/>
                          </a:solidFill>
                          <a:latin typeface="Malgun Gothic" pitchFamily="34" charset="0"/>
                          <a:ea typeface="Malgun Gothic" pitchFamily="34" charset="-122"/>
                          <a:cs typeface="Malgun Gothic" pitchFamily="34" charset="-120"/>
                        </a:rPr>
                        <a:t>△ </a:t>
                      </a:r>
                      <a:pPr indent="0" marL="0">
                        <a:buNone/>
                      </a:pPr>
                      <a:r>
                        <a:rPr lang="en-US" sz="1200" dirty="0">
                          <a:solidFill>
                            <a:srgbClr val="1A2433"/>
                          </a:solidFill>
                          <a:latin typeface="Malgun Gothic" pitchFamily="34" charset="0"/>
                          <a:ea typeface="Malgun Gothic" pitchFamily="34" charset="-122"/>
                          <a:cs typeface="Malgun Gothic" pitchFamily="34" charset="-120"/>
                        </a:rPr>
                        <a:t>새 관계 유형마다 테이블·JOIN 추가</a:t>
                      </a:r>
                      <a:endParaRPr lang="en-US" sz="1200" dirty="0">
                        <a:latin typeface="Malgun Gothic" charset="0"/>
                        <a:ea typeface="Malgun Gothic" charset="0"/>
                        <a:cs typeface="Malgun Gothic" charset="0"/>
                      </a:endParaRPr>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b="1" dirty="0">
                          <a:solidFill>
                            <a:srgbClr val="8F5208"/>
                          </a:solidFill>
                          <a:latin typeface="Malgun Gothic" pitchFamily="34" charset="0"/>
                          <a:ea typeface="Malgun Gothic" pitchFamily="34" charset="-122"/>
                          <a:cs typeface="Malgun Gothic" pitchFamily="34" charset="-120"/>
                        </a:rPr>
                        <a:t>△ </a:t>
                      </a:r>
                      <a:pPr indent="0" marL="0">
                        <a:buNone/>
                      </a:pPr>
                      <a:r>
                        <a:rPr lang="en-US" sz="1200" dirty="0">
                          <a:solidFill>
                            <a:srgbClr val="1A2433"/>
                          </a:solidFill>
                          <a:latin typeface="Malgun Gothic" pitchFamily="34" charset="0"/>
                          <a:ea typeface="Malgun Gothic" pitchFamily="34" charset="-122"/>
                          <a:cs typeface="Malgun Gothic" pitchFamily="34" charset="-120"/>
                        </a:rPr>
                        <a:t>온톨로지 설계·추출 품질 관리 필요</a:t>
                      </a:r>
                      <a:endParaRPr lang="en-US" sz="1200" dirty="0">
                        <a:latin typeface="Malgun Gothic" charset="0"/>
                        <a:ea typeface="Malgun Gothic" charset="0"/>
                        <a:cs typeface="Malgun Gothic" charset="0"/>
                      </a:endParaRPr>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429768">
                <a:tc>
                  <a:txBody>
                    <a:bodyPr/>
                    <a:lstStyle/>
                    <a:p>
                      <a:pPr indent="0" marL="0">
                        <a:buNone/>
                      </a:pPr>
                      <a:r>
                        <a:rPr lang="en-US" sz="1200" b="1" dirty="0">
                          <a:solidFill>
                            <a:srgbClr val="0E1A2B"/>
                          </a:solidFill>
                          <a:latin typeface="Malgun Gothic" pitchFamily="34" charset="0"/>
                          <a:ea typeface="Malgun Gothic" pitchFamily="34" charset="-122"/>
                          <a:cs typeface="Malgun Gothic" pitchFamily="34" charset="-120"/>
                        </a:rPr>
                        <a:t>구현 복잡도</a:t>
                      </a:r>
                      <a:endParaRPr lang="en-US" sz="1200" dirty="0">
                        <a:latin typeface="Malgun Gothic" charset="0"/>
                        <a:ea typeface="Malgun Gothic" charset="0"/>
                        <a:cs typeface="Malgun Gothic" charset="0"/>
                      </a:endParaRPr>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indent="0" marL="0">
                        <a:buNone/>
                      </a:pPr>
                      <a:r>
                        <a:rPr lang="en-US" sz="1200" b="1" dirty="0">
                          <a:solidFill>
                            <a:srgbClr val="0D6F64"/>
                          </a:solidFill>
                          <a:latin typeface="Malgun Gothic" pitchFamily="34" charset="0"/>
                          <a:ea typeface="Malgun Gothic" pitchFamily="34" charset="-122"/>
                          <a:cs typeface="Malgun Gothic" pitchFamily="34" charset="-120"/>
                        </a:rPr>
                        <a:t>○ </a:t>
                      </a:r>
                      <a:pPr indent="0" marL="0">
                        <a:buNone/>
                      </a:pPr>
                      <a:r>
                        <a:rPr lang="en-US" sz="1200" dirty="0">
                          <a:solidFill>
                            <a:srgbClr val="1A2433"/>
                          </a:solidFill>
                          <a:latin typeface="Malgun Gothic" pitchFamily="34" charset="0"/>
                          <a:ea typeface="Malgun Gothic" pitchFamily="34" charset="-122"/>
                          <a:cs typeface="Malgun Gothic" pitchFamily="34" charset="-120"/>
                        </a:rPr>
                        <a:t>가장 단순</a:t>
                      </a:r>
                      <a:endParaRPr lang="en-US" sz="1200" dirty="0">
                        <a:latin typeface="Malgun Gothic" charset="0"/>
                        <a:ea typeface="Malgun Gothic" charset="0"/>
                        <a:cs typeface="Malgun Gothic" charset="0"/>
                      </a:endParaRPr>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b="1" dirty="0">
                          <a:solidFill>
                            <a:srgbClr val="0D6F64"/>
                          </a:solidFill>
                          <a:latin typeface="Malgun Gothic" pitchFamily="34" charset="0"/>
                          <a:ea typeface="Malgun Gothic" pitchFamily="34" charset="-122"/>
                          <a:cs typeface="Malgun Gothic" pitchFamily="34" charset="-120"/>
                        </a:rPr>
                        <a:t>○ </a:t>
                      </a:r>
                      <a:pPr indent="0" marL="0">
                        <a:buNone/>
                      </a:pPr>
                      <a:r>
                        <a:rPr lang="en-US" sz="1200" dirty="0">
                          <a:solidFill>
                            <a:srgbClr val="1A2433"/>
                          </a:solidFill>
                          <a:latin typeface="Malgun Gothic" pitchFamily="34" charset="0"/>
                          <a:ea typeface="Malgun Gothic" pitchFamily="34" charset="-122"/>
                          <a:cs typeface="Malgun Gothic" pitchFamily="34" charset="-120"/>
                        </a:rPr>
                        <a:t>팀 기존 역량, DB 설계 초안 보유</a:t>
                      </a:r>
                      <a:endParaRPr lang="en-US" sz="1200" dirty="0">
                        <a:latin typeface="Malgun Gothic" charset="0"/>
                        <a:ea typeface="Malgun Gothic" charset="0"/>
                        <a:cs typeface="Malgun Gothic" charset="0"/>
                      </a:endParaRPr>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b="1" dirty="0">
                          <a:solidFill>
                            <a:srgbClr val="A8311A"/>
                          </a:solidFill>
                          <a:latin typeface="Malgun Gothic" pitchFamily="34" charset="0"/>
                          <a:ea typeface="Malgun Gothic" pitchFamily="34" charset="-122"/>
                          <a:cs typeface="Malgun Gothic" pitchFamily="34" charset="-120"/>
                        </a:rPr>
                        <a:t>× </a:t>
                      </a:r>
                      <a:pPr indent="0" marL="0">
                        <a:buNone/>
                      </a:pPr>
                      <a:r>
                        <a:rPr lang="en-US" sz="1200" dirty="0">
                          <a:solidFill>
                            <a:srgbClr val="1A2433"/>
                          </a:solidFill>
                          <a:latin typeface="Malgun Gothic" pitchFamily="34" charset="0"/>
                          <a:ea typeface="Malgun Gothic" pitchFamily="34" charset="-122"/>
                          <a:cs typeface="Malgun Gothic" pitchFamily="34" charset="-120"/>
                        </a:rPr>
                        <a:t>Neo4j 인프라·Cypher 학습 추가</a:t>
                      </a:r>
                      <a:endParaRPr lang="en-US" sz="1200" dirty="0">
                        <a:latin typeface="Malgun Gothic" charset="0"/>
                        <a:ea typeface="Malgun Gothic" charset="0"/>
                        <a:cs typeface="Malgun Gothic" charset="0"/>
                      </a:endParaRPr>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bl>
          </a:graphicData>
        </a:graphic>
      </p:graphicFrame>
      <p:sp>
        <p:nvSpPr>
          <p:cNvPr id="6" name="Text 3"/>
          <p:cNvSpPr txBox="1"/>
          <p:nvPr/>
        </p:nvSpPr>
        <p:spPr>
          <a:xfrm>
            <a:off x="548640" y="5230368"/>
            <a:ext cx="11094415" cy="256032"/>
          </a:xfrm>
          <a:prstGeom prst="rect">
            <a:avLst/>
          </a:prstGeom>
          <a:noFill/>
          <a:ln/>
        </p:spPr>
        <p:txBody>
          <a:bodyPr wrap="square" lIns="0" tIns="0" rIns="0" bIns="0" rtlCol="0" anchor="t"/>
          <a:lstStyle/>
          <a:p>
            <a:pPr algn="r" indent="0" marL="0">
              <a:buNone/>
            </a:pPr>
            <a:r>
              <a:rPr lang="en-US" sz="1100" dirty="0">
                <a:solidFill>
                  <a:srgbClr val="5B6778"/>
                </a:solidFill>
                <a:latin typeface="Malgun Gothic" pitchFamily="34" charset="0"/>
                <a:ea typeface="Malgun Gothic" pitchFamily="34" charset="-122"/>
                <a:cs typeface="Malgun Gothic" pitchFamily="34" charset="-120"/>
              </a:rPr>
              <a:t>○ 적합 예상  △ 조건부  × 어려움 예상 — 설계·문헌 기반 가설이며 실험 전입니다</a:t>
            </a:r>
            <a:endParaRPr lang="en-US" sz="1100" dirty="0"/>
          </a:p>
        </p:txBody>
      </p:sp>
      <p:sp>
        <p:nvSpPr>
          <p:cNvPr id="7" name="Text 4"/>
          <p:cNvSpPr txBox="1"/>
          <p:nvPr/>
        </p:nvSpPr>
        <p:spPr>
          <a:xfrm>
            <a:off x="548640" y="5532120"/>
            <a:ext cx="11094415" cy="777240"/>
          </a:xfrm>
          <a:prstGeom prst="roundRect">
            <a:avLst>
              <a:gd name="adj" fmla="val 9412"/>
            </a:avLst>
          </a:prstGeom>
          <a:solidFill>
            <a:srgbClr val="FDF0DC"/>
          </a:solidFill>
          <a:ln>
            <a:solidFill>
              <a:srgbClr val="FDF0DC"/>
            </a:solidFill>
          </a:ln>
        </p:spPr>
        <p:txBody>
          <a:bodyPr wrap="square" lIns="177800" tIns="177800" rIns="177800" bIns="177800" rtlCol="0" anchor="ctr"/>
          <a:lstStyle/>
          <a:p>
            <a:pPr algn="l" indent="0" marL="0">
              <a:buNone/>
            </a:pPr>
            <a:r>
              <a:rPr lang="en-US" sz="1400" b="1" dirty="0">
                <a:solidFill>
                  <a:srgbClr val="0E1A2B"/>
                </a:solidFill>
                <a:latin typeface="Malgun Gothic" pitchFamily="34" charset="0"/>
                <a:ea typeface="Malgun Gothic" pitchFamily="34" charset="-122"/>
                <a:cs typeface="Malgun Gothic" pitchFamily="34" charset="-120"/>
              </a:rPr>
              <a:t>우리의 주장은 ‘GraphRAG가 항상 더 정확하다’가 아닙니다. </a:t>
            </a:r>
            <a:pPr algn="l" indent="0" marL="0">
              <a:buNone/>
            </a:pPr>
            <a:r>
              <a:rPr lang="en-US" sz="1400" dirty="0">
                <a:solidFill>
                  <a:srgbClr val="1A2433"/>
                </a:solidFill>
                <a:latin typeface="Malgun Gothic" pitchFamily="34" charset="0"/>
                <a:ea typeface="Malgun Gothic" pitchFamily="34" charset="-122"/>
                <a:cs typeface="Malgun Gothic" pitchFamily="34" charset="-120"/>
              </a:rPr>
              <a:t>카드 → 혜택 → 조건 → 약관 조항을 명시적 경로로 저장할 때 근거 경로 반환·변경 영향 탐색·도구화가 더 단순해지는지를, 같은 질문으로 세 방식에 던져 확인합니다 (부록 C).</a:t>
            </a:r>
            <a:endParaRPr lang="en-US" sz="1400" dirty="0"/>
          </a:p>
        </p:txBody>
      </p:sp>
      <p:sp>
        <p:nvSpPr>
          <p:cNvPr id="8" name="Text 5"/>
          <p:cNvSpPr txBox="1"/>
          <p:nvPr/>
        </p:nvSpPr>
        <p:spPr>
          <a:xfrm>
            <a:off x="548640" y="6400800"/>
            <a:ext cx="10515600" cy="292608"/>
          </a:xfrm>
          <a:prstGeom prst="rect">
            <a:avLst/>
          </a:prstGeom>
          <a:noFill/>
          <a:ln/>
        </p:spPr>
        <p:txBody>
          <a:bodyPr wrap="square" lIns="0" tIns="0" rIns="0" bIns="0" rtlCol="0" anchor="ctr"/>
          <a:lstStyle/>
          <a:p>
            <a:pPr indent="0" marL="0">
              <a:buNone/>
            </a:pPr>
            <a:r>
              <a:rPr lang="en-US" sz="1000" dirty="0">
                <a:solidFill>
                  <a:srgbClr val="6B7686"/>
                </a:solidFill>
                <a:latin typeface="Malgun Gothic" pitchFamily="34" charset="0"/>
                <a:ea typeface="Malgun Gothic" pitchFamily="34" charset="-122"/>
                <a:cs typeface="Malgun Gothic" pitchFamily="34" charset="-120"/>
              </a:rPr>
              <a:t>현재 4종 대조·약 10종 목표 · SQL 대비 우위는 미검증 · 비교안: sql/hana_card_db_design.md</a:t>
            </a:r>
            <a:endParaRPr lang="en-US" sz="1000" dirty="0"/>
          </a:p>
        </p:txBody>
      </p:sp>
      <p:sp>
        <p:nvSpPr>
          <p:cNvPr id="25" name="Slide Number Placeholder 0"/>
          <p:cNvSpPr>
            <a:spLocks noGrp="1"/>
          </p:cNvSpPr>
          <p:nvPr>
            <p:ph type="sldNum" sz="quarter" idx="4294967295"/>
          </p:nvPr>
        </p:nvSpPr>
        <p:spPr>
          <a:xfrm>
            <a:off x="11274552" y="6437376"/>
            <a:ext cx="36576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Malgun Gothic"/>
                <a:ea typeface="Malgun Gothic"/>
                <a:cs typeface="Malgun Gothic"/>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329184"/>
            <a:ext cx="7498080" cy="292608"/>
          </a:xfrm>
          <a:prstGeom prst="rect">
            <a:avLst/>
          </a:prstGeom>
          <a:noFill/>
          <a:ln/>
        </p:spPr>
        <p:txBody>
          <a:bodyPr wrap="square" lIns="0" tIns="0" rIns="0" bIns="0" rtlCol="0" anchor="ctr"/>
          <a:lstStyle/>
          <a:p>
            <a:pPr indent="0" marL="0">
              <a:buNone/>
            </a:pPr>
            <a:r>
              <a:rPr lang="en-US" sz="1200" b="1" dirty="0">
                <a:solidFill>
                  <a:srgbClr val="8F5208"/>
                </a:solidFill>
                <a:latin typeface="Malgun Gothic" pitchFamily="34" charset="0"/>
                <a:ea typeface="Malgun Gothic" pitchFamily="34" charset="-122"/>
                <a:cs typeface="Malgun Gothic" pitchFamily="34" charset="-120"/>
              </a:rPr>
              <a:t>06   제안 구조</a:t>
            </a:r>
            <a:endParaRPr lang="en-US" sz="1200" dirty="0"/>
          </a:p>
        </p:txBody>
      </p:sp>
      <p:sp>
        <p:nvSpPr>
          <p:cNvPr id="3" name="Text 0"/>
          <p:cNvSpPr/>
          <p:nvPr>
            <p:ph idx="101"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2400" b="1" dirty="0">
                <a:solidFill>
                  <a:srgbClr val="0E1A2B"/>
                </a:solidFill>
                <a:latin typeface="Malgun Gothic" pitchFamily="34" charset="0"/>
                <a:ea typeface="Malgun Gothic" pitchFamily="34" charset="-122"/>
                <a:cs typeface="Malgun Gothic" pitchFamily="34" charset="-120"/>
              </a:rPr>
              <a:t>AI 채널마다 같은 조건·근거를 공급할 공통 엔진을 설계합니다</a:t>
            </a:r>
            <a:endParaRPr lang="en-US" sz="2400" dirty="0"/>
          </a:p>
        </p:txBody>
      </p:sp>
      <p:sp>
        <p:nvSpPr>
          <p:cNvPr id="4" name="Text 2"/>
          <p:cNvSpPr txBox="1"/>
          <p:nvPr/>
        </p:nvSpPr>
        <p:spPr>
          <a:xfrm>
            <a:off x="10920679" y="329184"/>
            <a:ext cx="722376" cy="292608"/>
          </a:xfrm>
          <a:prstGeom prst="roundRect">
            <a:avLst>
              <a:gd name="adj" fmla="val 46875"/>
            </a:avLst>
          </a:prstGeom>
          <a:solidFill>
            <a:srgbClr val="E8ECF2"/>
          </a:solidFill>
          <a:ln>
            <a:solidFill>
              <a:srgbClr val="E8ECF2"/>
            </a:solidFill>
          </a:ln>
        </p:spPr>
        <p:txBody>
          <a:bodyPr wrap="square" lIns="0" tIns="0" rIns="0" bIns="0" rtlCol="0" anchor="ctr"/>
          <a:lstStyle/>
          <a:p>
            <a:pPr algn="ctr" indent="0" marL="0">
              <a:buNone/>
            </a:pPr>
            <a:r>
              <a:rPr lang="en-US" sz="1100" b="1" dirty="0">
                <a:solidFill>
                  <a:srgbClr val="3A4A60"/>
                </a:solidFill>
                <a:latin typeface="Malgun Gothic" pitchFamily="34" charset="0"/>
                <a:ea typeface="Malgun Gothic" pitchFamily="34" charset="-122"/>
                <a:cs typeface="Malgun Gothic" pitchFamily="34" charset="-120"/>
              </a:rPr>
              <a:t>설계안</a:t>
            </a:r>
            <a:endParaRPr lang="en-US" sz="1100" dirty="0"/>
          </a:p>
        </p:txBody>
      </p:sp>
      <p:sp>
        <p:nvSpPr>
          <p:cNvPr id="5" name="Text 3"/>
          <p:cNvSpPr txBox="1"/>
          <p:nvPr/>
        </p:nvSpPr>
        <p:spPr>
          <a:xfrm>
            <a:off x="548640" y="1664208"/>
            <a:ext cx="1554480" cy="274320"/>
          </a:xfrm>
          <a:prstGeom prst="rect">
            <a:avLst/>
          </a:prstGeom>
          <a:noFill/>
          <a:ln/>
        </p:spPr>
        <p:txBody>
          <a:bodyPr wrap="square" lIns="0" tIns="0" rIns="0" bIns="0" rtlCol="0" anchor="t"/>
          <a:lstStyle/>
          <a:p>
            <a:pPr indent="0" marL="0">
              <a:buNone/>
            </a:pPr>
            <a:r>
              <a:rPr lang="en-US" sz="1200" b="1" dirty="0">
                <a:solidFill>
                  <a:srgbClr val="5B6778"/>
                </a:solidFill>
                <a:latin typeface="Malgun Gothic" pitchFamily="34" charset="0"/>
                <a:ea typeface="Malgun Gothic" pitchFamily="34" charset="-122"/>
                <a:cs typeface="Malgun Gothic" pitchFamily="34" charset="-120"/>
              </a:rPr>
              <a:t>원천</a:t>
            </a:r>
            <a:endParaRPr lang="en-US" sz="1200" dirty="0"/>
          </a:p>
        </p:txBody>
      </p:sp>
      <p:sp>
        <p:nvSpPr>
          <p:cNvPr id="6" name="Text 4"/>
          <p:cNvSpPr txBox="1"/>
          <p:nvPr/>
        </p:nvSpPr>
        <p:spPr>
          <a:xfrm>
            <a:off x="548640" y="2011680"/>
            <a:ext cx="1554480" cy="2743200"/>
          </a:xfrm>
          <a:prstGeom prst="roundRect">
            <a:avLst>
              <a:gd name="adj" fmla="val 4706"/>
            </a:avLst>
          </a:prstGeom>
          <a:solidFill>
            <a:srgbClr val="F3F5F8"/>
          </a:solidFill>
          <a:ln w="9525">
            <a:solidFill>
              <a:srgbClr val="F3F5F8"/>
            </a:solidFill>
          </a:ln>
        </p:spPr>
        <p:txBody>
          <a:bodyPr wrap="square" lIns="76200" tIns="76200" rIns="76200" bIns="76200" rtlCol="0" anchor="ctr"/>
          <a:lstStyle/>
          <a:p>
            <a:pPr algn="ctr" indent="0" marL="0">
              <a:buNone/>
            </a:pPr>
            <a:r>
              <a:rPr lang="en-US" sz="1400" b="1" dirty="0">
                <a:solidFill>
                  <a:srgbClr val="0E1A2B"/>
                </a:solidFill>
                <a:latin typeface="Malgun Gothic" pitchFamily="34" charset="0"/>
                <a:ea typeface="Malgun Gothic" pitchFamily="34" charset="-122"/>
                <a:cs typeface="Malgun Gothic" pitchFamily="34" charset="-120"/>
              </a:rPr>
              <a:t>하나카드</a:t>
            </a:r>
            <a:endParaRPr lang="en-US" sz="1400" dirty="0"/>
          </a:p>
          <a:p>
            <a:pPr algn="ctr" indent="0" marL="0">
              <a:buNone/>
            </a:pPr>
            <a:r>
              <a:rPr lang="en-US" sz="1400" b="1" dirty="0">
                <a:solidFill>
                  <a:srgbClr val="0E1A2B"/>
                </a:solidFill>
                <a:latin typeface="Malgun Gothic" pitchFamily="34" charset="0"/>
                <a:ea typeface="Malgun Gothic" pitchFamily="34" charset="-122"/>
                <a:cs typeface="Malgun Gothic" pitchFamily="34" charset="-120"/>
              </a:rPr>
              <a:t>약관 PDF</a:t>
            </a:r>
            <a:endParaRPr lang="en-US" sz="1400" dirty="0"/>
          </a:p>
          <a:p>
            <a:pPr algn="ctr" indent="0" marL="0">
              <a:buNone/>
            </a:pPr>
            <a:r>
              <a:rPr lang="en-US" sz="1400" b="1" dirty="0">
                <a:solidFill>
                  <a:srgbClr val="0E1A2B"/>
                </a:solidFill>
                <a:latin typeface="Malgun Gothic" pitchFamily="34" charset="0"/>
                <a:ea typeface="Malgun Gothic" pitchFamily="34" charset="-122"/>
                <a:cs typeface="Malgun Gothic" pitchFamily="34" charset="-120"/>
              </a:rPr>
              <a:t>4종 대조</a:t>
            </a:r>
            <a:endParaRPr lang="en-US" sz="1400" dirty="0"/>
          </a:p>
          <a:p>
            <a:pPr algn="ctr" indent="0" marL="0">
              <a:buNone/>
            </a:pPr>
            <a:r>
              <a:t/>
            </a:r>
            <a:endParaRPr lang="en-US" sz="1400" dirty="0"/>
          </a:p>
          <a:p>
            <a:pPr algn="ctr" indent="0" marL="0">
              <a:buNone/>
            </a:pPr>
            <a:r>
              <a:rPr lang="en-US" sz="1400" b="1" dirty="0">
                <a:solidFill>
                  <a:srgbClr val="0E1A2B"/>
                </a:solidFill>
                <a:latin typeface="Malgun Gothic" pitchFamily="34" charset="0"/>
                <a:ea typeface="Malgun Gothic" pitchFamily="34" charset="-122"/>
                <a:cs typeface="Malgun Gothic" pitchFamily="34" charset="-120"/>
              </a:rPr>
              <a:t>체크·신용</a:t>
            </a:r>
            <a:endParaRPr lang="en-US" sz="1400" dirty="0"/>
          </a:p>
          <a:p>
            <a:pPr algn="ctr" indent="0" marL="0">
              <a:buNone/>
            </a:pPr>
            <a:r>
              <a:rPr lang="en-US" sz="1400" b="1" dirty="0">
                <a:solidFill>
                  <a:srgbClr val="0E1A2B"/>
                </a:solidFill>
                <a:latin typeface="Malgun Gothic" pitchFamily="34" charset="0"/>
                <a:ea typeface="Malgun Gothic" pitchFamily="34" charset="-122"/>
                <a:cs typeface="Malgun Gothic" pitchFamily="34" charset="-120"/>
              </a:rPr>
              <a:t>약 10종 목표</a:t>
            </a:r>
            <a:endParaRPr lang="en-US" sz="1400" dirty="0"/>
          </a:p>
        </p:txBody>
      </p:sp>
      <p:sp>
        <p:nvSpPr>
          <p:cNvPr id="7" name="Shape 5"/>
          <p:cNvSpPr/>
          <p:nvPr/>
        </p:nvSpPr>
        <p:spPr>
          <a:xfrm>
            <a:off x="2130552" y="3383280"/>
            <a:ext cx="274320" cy="0"/>
          </a:xfrm>
          <a:prstGeom prst="line">
            <a:avLst/>
          </a:prstGeom>
          <a:noFill/>
          <a:ln w="19050">
            <a:solidFill>
              <a:srgbClr val="8A94A3"/>
            </a:solidFill>
            <a:prstDash val="solid"/>
            <a:tailEnd type="triangle"/>
          </a:ln>
        </p:spPr>
      </p:sp>
      <p:sp>
        <p:nvSpPr>
          <p:cNvPr id="8" name="Text 6"/>
          <p:cNvSpPr txBox="1"/>
          <p:nvPr/>
        </p:nvSpPr>
        <p:spPr>
          <a:xfrm>
            <a:off x="2450592" y="1664208"/>
            <a:ext cx="2148840" cy="274320"/>
          </a:xfrm>
          <a:prstGeom prst="rect">
            <a:avLst/>
          </a:prstGeom>
          <a:noFill/>
          <a:ln/>
        </p:spPr>
        <p:txBody>
          <a:bodyPr wrap="square" lIns="0" tIns="0" rIns="0" bIns="0" rtlCol="0" anchor="t"/>
          <a:lstStyle/>
          <a:p>
            <a:pPr indent="0" marL="0">
              <a:buNone/>
            </a:pPr>
            <a:r>
              <a:rPr lang="en-US" sz="1200" b="1" dirty="0">
                <a:solidFill>
                  <a:srgbClr val="5B6778"/>
                </a:solidFill>
                <a:latin typeface="Malgun Gothic" pitchFamily="34" charset="0"/>
                <a:ea typeface="Malgun Gothic" pitchFamily="34" charset="-122"/>
                <a:cs typeface="Malgun Gothic" pitchFamily="34" charset="-120"/>
              </a:rPr>
              <a:t>지식화 파이프라인</a:t>
            </a:r>
            <a:endParaRPr lang="en-US" sz="1200" dirty="0"/>
          </a:p>
        </p:txBody>
      </p:sp>
      <p:sp>
        <p:nvSpPr>
          <p:cNvPr id="9" name="Text 7"/>
          <p:cNvSpPr txBox="1"/>
          <p:nvPr/>
        </p:nvSpPr>
        <p:spPr>
          <a:xfrm>
            <a:off x="2450592" y="2011680"/>
            <a:ext cx="2148840" cy="603504"/>
          </a:xfrm>
          <a:prstGeom prst="roundRect">
            <a:avLst>
              <a:gd name="adj" fmla="val 12121"/>
            </a:avLst>
          </a:prstGeom>
          <a:solidFill>
            <a:srgbClr val="FFFFFF"/>
          </a:solidFill>
          <a:ln w="12700">
            <a:solidFill>
              <a:srgbClr val="D5DBE3"/>
            </a:solidFill>
          </a:ln>
        </p:spPr>
        <p:txBody>
          <a:bodyPr wrap="square" lIns="76200" tIns="76200" rIns="76200" bIns="76200" rtlCol="0" anchor="ctr"/>
          <a:lstStyle/>
          <a:p>
            <a:pPr algn="ctr" indent="0" marL="0">
              <a:buNone/>
            </a:pPr>
            <a:r>
              <a:rPr lang="en-US" sz="1200" dirty="0">
                <a:solidFill>
                  <a:srgbClr val="0E1A2B"/>
                </a:solidFill>
                <a:latin typeface="Malgun Gothic" pitchFamily="34" charset="0"/>
                <a:ea typeface="Malgun Gothic" pitchFamily="34" charset="-122"/>
                <a:cs typeface="Malgun Gothic" pitchFamily="34" charset="-120"/>
              </a:rPr>
              <a:t>M1 전처리·청크</a:t>
            </a:r>
            <a:endParaRPr lang="en-US" sz="1200" dirty="0"/>
          </a:p>
          <a:p>
            <a:pPr algn="ctr" indent="0" marL="0">
              <a:buNone/>
            </a:pPr>
            <a:r>
              <a:rPr lang="en-US" sz="1200" dirty="0">
                <a:solidFill>
                  <a:srgbClr val="0E1A2B"/>
                </a:solidFill>
                <a:latin typeface="Malgun Gothic" pitchFamily="34" charset="0"/>
                <a:ea typeface="Malgun Gothic" pitchFamily="34" charset="-122"/>
                <a:cs typeface="Malgun Gothic" pitchFamily="34" charset="-120"/>
              </a:rPr>
              <a:t>원문 위치 보존</a:t>
            </a:r>
            <a:endParaRPr lang="en-US" sz="1200" dirty="0"/>
          </a:p>
        </p:txBody>
      </p:sp>
      <p:sp>
        <p:nvSpPr>
          <p:cNvPr id="10" name="Text 8"/>
          <p:cNvSpPr txBox="1"/>
          <p:nvPr/>
        </p:nvSpPr>
        <p:spPr>
          <a:xfrm>
            <a:off x="2450592" y="2724912"/>
            <a:ext cx="2148840" cy="603504"/>
          </a:xfrm>
          <a:prstGeom prst="roundRect">
            <a:avLst>
              <a:gd name="adj" fmla="val 12121"/>
            </a:avLst>
          </a:prstGeom>
          <a:solidFill>
            <a:srgbClr val="FFFFFF"/>
          </a:solidFill>
          <a:ln w="12700">
            <a:solidFill>
              <a:srgbClr val="D5DBE3"/>
            </a:solidFill>
          </a:ln>
        </p:spPr>
        <p:txBody>
          <a:bodyPr wrap="square" lIns="76200" tIns="76200" rIns="76200" bIns="76200" rtlCol="0" anchor="ctr"/>
          <a:lstStyle/>
          <a:p>
            <a:pPr algn="ctr" indent="0" marL="0">
              <a:buNone/>
            </a:pPr>
            <a:r>
              <a:rPr lang="en-US" sz="1200" dirty="0">
                <a:solidFill>
                  <a:srgbClr val="0E1A2B"/>
                </a:solidFill>
                <a:latin typeface="Malgun Gothic" pitchFamily="34" charset="0"/>
                <a:ea typeface="Malgun Gothic" pitchFamily="34" charset="-122"/>
                <a:cs typeface="Malgun Gothic" pitchFamily="34" charset="-120"/>
              </a:rPr>
              <a:t>M3·M4 LLM 관계 추출</a:t>
            </a:r>
            <a:endParaRPr lang="en-US" sz="1200" dirty="0"/>
          </a:p>
          <a:p>
            <a:pPr algn="ctr" indent="0" marL="0">
              <a:buNone/>
            </a:pPr>
            <a:r>
              <a:rPr lang="en-US" sz="1200" dirty="0">
                <a:solidFill>
                  <a:srgbClr val="0E1A2B"/>
                </a:solidFill>
                <a:latin typeface="Malgun Gothic" pitchFamily="34" charset="0"/>
                <a:ea typeface="Malgun Gothic" pitchFamily="34" charset="-122"/>
                <a:cs typeface="Malgun Gothic" pitchFamily="34" charset="-120"/>
              </a:rPr>
              <a:t>근거 문장 필수</a:t>
            </a:r>
            <a:endParaRPr lang="en-US" sz="1200" dirty="0"/>
          </a:p>
        </p:txBody>
      </p:sp>
      <p:sp>
        <p:nvSpPr>
          <p:cNvPr id="11" name="Text 9"/>
          <p:cNvSpPr txBox="1"/>
          <p:nvPr/>
        </p:nvSpPr>
        <p:spPr>
          <a:xfrm>
            <a:off x="2450592" y="3438144"/>
            <a:ext cx="2148840" cy="603504"/>
          </a:xfrm>
          <a:prstGeom prst="roundRect">
            <a:avLst>
              <a:gd name="adj" fmla="val 12121"/>
            </a:avLst>
          </a:prstGeom>
          <a:solidFill>
            <a:srgbClr val="FFFFFF"/>
          </a:solidFill>
          <a:ln w="12700">
            <a:solidFill>
              <a:srgbClr val="D5DBE3"/>
            </a:solidFill>
          </a:ln>
        </p:spPr>
        <p:txBody>
          <a:bodyPr wrap="square" lIns="76200" tIns="76200" rIns="76200" bIns="76200" rtlCol="0" anchor="ctr"/>
          <a:lstStyle/>
          <a:p>
            <a:pPr algn="ctr" indent="0" marL="0">
              <a:buNone/>
            </a:pPr>
            <a:r>
              <a:rPr lang="en-US" sz="1200" dirty="0">
                <a:solidFill>
                  <a:srgbClr val="0E1A2B"/>
                </a:solidFill>
                <a:latin typeface="Malgun Gothic" pitchFamily="34" charset="0"/>
                <a:ea typeface="Malgun Gothic" pitchFamily="34" charset="-122"/>
                <a:cs typeface="Malgun Gothic" pitchFamily="34" charset="-120"/>
              </a:rPr>
              <a:t>M5 정규화</a:t>
            </a:r>
            <a:endParaRPr lang="en-US" sz="1200" dirty="0"/>
          </a:p>
          <a:p>
            <a:pPr algn="ctr" indent="0" marL="0">
              <a:buNone/>
            </a:pPr>
            <a:r>
              <a:rPr lang="en-US" sz="1200" dirty="0">
                <a:solidFill>
                  <a:srgbClr val="0E1A2B"/>
                </a:solidFill>
                <a:latin typeface="Malgun Gothic" pitchFamily="34" charset="0"/>
                <a:ea typeface="Malgun Gothic" pitchFamily="34" charset="-122"/>
                <a:cs typeface="Malgun Gothic" pitchFamily="34" charset="-120"/>
              </a:rPr>
              <a:t>정책 단위 병합</a:t>
            </a:r>
            <a:endParaRPr lang="en-US" sz="1200" dirty="0"/>
          </a:p>
        </p:txBody>
      </p:sp>
      <p:sp>
        <p:nvSpPr>
          <p:cNvPr id="12" name="Text 10"/>
          <p:cNvSpPr txBox="1"/>
          <p:nvPr/>
        </p:nvSpPr>
        <p:spPr>
          <a:xfrm>
            <a:off x="2450592" y="4151376"/>
            <a:ext cx="2148840" cy="603504"/>
          </a:xfrm>
          <a:prstGeom prst="roundRect">
            <a:avLst>
              <a:gd name="adj" fmla="val 12121"/>
            </a:avLst>
          </a:prstGeom>
          <a:solidFill>
            <a:srgbClr val="FFFFFF"/>
          </a:solidFill>
          <a:ln w="12700">
            <a:solidFill>
              <a:srgbClr val="D5DBE3"/>
            </a:solidFill>
          </a:ln>
        </p:spPr>
        <p:txBody>
          <a:bodyPr wrap="square" lIns="76200" tIns="76200" rIns="76200" bIns="76200" rtlCol="0" anchor="ctr"/>
          <a:lstStyle/>
          <a:p>
            <a:pPr algn="ctr" indent="0" marL="0">
              <a:buNone/>
            </a:pPr>
            <a:r>
              <a:rPr lang="en-US" sz="1200" dirty="0">
                <a:solidFill>
                  <a:srgbClr val="0E1A2B"/>
                </a:solidFill>
                <a:latin typeface="Malgun Gothic" pitchFamily="34" charset="0"/>
                <a:ea typeface="Malgun Gothic" pitchFamily="34" charset="-122"/>
                <a:cs typeface="Malgun Gothic" pitchFamily="34" charset="-120"/>
              </a:rPr>
              <a:t>M8 검증</a:t>
            </a:r>
            <a:endParaRPr lang="en-US" sz="1200" dirty="0"/>
          </a:p>
          <a:p>
            <a:pPr algn="ctr" indent="0" marL="0">
              <a:buNone/>
            </a:pPr>
            <a:r>
              <a:rPr lang="en-US" sz="1200" dirty="0">
                <a:solidFill>
                  <a:srgbClr val="0E1A2B"/>
                </a:solidFill>
                <a:latin typeface="Malgun Gothic" pitchFamily="34" charset="0"/>
                <a:ea typeface="Malgun Gothic" pitchFamily="34" charset="-122"/>
                <a:cs typeface="Malgun Gothic" pitchFamily="34" charset="-120"/>
              </a:rPr>
              <a:t>A·B 교차 대조</a:t>
            </a:r>
            <a:endParaRPr lang="en-US" sz="1200" dirty="0"/>
          </a:p>
        </p:txBody>
      </p:sp>
      <p:sp>
        <p:nvSpPr>
          <p:cNvPr id="13" name="Shape 11"/>
          <p:cNvSpPr/>
          <p:nvPr/>
        </p:nvSpPr>
        <p:spPr>
          <a:xfrm>
            <a:off x="4626864" y="3383280"/>
            <a:ext cx="246888" cy="0"/>
          </a:xfrm>
          <a:prstGeom prst="line">
            <a:avLst/>
          </a:prstGeom>
          <a:noFill/>
          <a:ln w="19050">
            <a:solidFill>
              <a:srgbClr val="8A94A3"/>
            </a:solidFill>
            <a:prstDash val="solid"/>
            <a:tailEnd type="triangle"/>
          </a:ln>
        </p:spPr>
      </p:sp>
      <p:sp>
        <p:nvSpPr>
          <p:cNvPr id="14" name="Text 12"/>
          <p:cNvSpPr txBox="1"/>
          <p:nvPr/>
        </p:nvSpPr>
        <p:spPr>
          <a:xfrm>
            <a:off x="4901184" y="1664208"/>
            <a:ext cx="2926080" cy="274320"/>
          </a:xfrm>
          <a:prstGeom prst="rect">
            <a:avLst/>
          </a:prstGeom>
          <a:noFill/>
          <a:ln/>
        </p:spPr>
        <p:txBody>
          <a:bodyPr wrap="square" lIns="0" tIns="0" rIns="0" bIns="0" rtlCol="0" anchor="t"/>
          <a:lstStyle/>
          <a:p>
            <a:pPr indent="0" marL="0">
              <a:buNone/>
            </a:pPr>
            <a:r>
              <a:rPr lang="en-US" sz="1200" b="1" dirty="0">
                <a:solidFill>
                  <a:srgbClr val="5B6778"/>
                </a:solidFill>
                <a:latin typeface="Malgun Gothic" pitchFamily="34" charset="0"/>
                <a:ea typeface="Malgun Gothic" pitchFamily="34" charset="-122"/>
                <a:cs typeface="Malgun Gothic" pitchFamily="34" charset="-120"/>
              </a:rPr>
              <a:t>판단 엔진 · GraphRAG (M6·M7)</a:t>
            </a:r>
            <a:endParaRPr lang="en-US" sz="1200" dirty="0"/>
          </a:p>
        </p:txBody>
      </p:sp>
      <p:sp>
        <p:nvSpPr>
          <p:cNvPr id="15" name="Shape 13"/>
          <p:cNvSpPr/>
          <p:nvPr/>
        </p:nvSpPr>
        <p:spPr>
          <a:xfrm>
            <a:off x="4901184" y="2011680"/>
            <a:ext cx="2926080" cy="2743200"/>
          </a:xfrm>
          <a:prstGeom prst="roundRect">
            <a:avLst>
              <a:gd name="adj" fmla="val 3333"/>
            </a:avLst>
          </a:prstGeom>
          <a:solidFill>
            <a:srgbClr val="0E1A2B"/>
          </a:solidFill>
          <a:ln w="12700">
            <a:solidFill>
              <a:srgbClr val="0E1A2B"/>
            </a:solidFill>
            <a:prstDash val="solid"/>
          </a:ln>
        </p:spPr>
      </p:sp>
      <p:sp>
        <p:nvSpPr>
          <p:cNvPr id="16" name="Text 14"/>
          <p:cNvSpPr txBox="1"/>
          <p:nvPr/>
        </p:nvSpPr>
        <p:spPr>
          <a:xfrm>
            <a:off x="5074920" y="2194560"/>
            <a:ext cx="1143000" cy="384048"/>
          </a:xfrm>
          <a:prstGeom prst="roundRect">
            <a:avLst>
              <a:gd name="adj" fmla="val 28571"/>
            </a:avLst>
          </a:prstGeom>
          <a:solidFill>
            <a:srgbClr val="0E1A2B"/>
          </a:solidFill>
          <a:ln w="12700">
            <a:solidFill>
              <a:srgbClr val="6F7F96"/>
            </a:solidFill>
          </a:ln>
        </p:spPr>
        <p:txBody>
          <a:bodyPr wrap="square" lIns="38100" tIns="38100" rIns="38100" bIns="38100" rtlCol="0" anchor="ct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Card</a:t>
            </a:r>
            <a:endParaRPr lang="en-US" sz="1200" dirty="0"/>
          </a:p>
        </p:txBody>
      </p:sp>
      <p:sp>
        <p:nvSpPr>
          <p:cNvPr id="17" name="Text 15"/>
          <p:cNvSpPr txBox="1"/>
          <p:nvPr/>
        </p:nvSpPr>
        <p:spPr>
          <a:xfrm>
            <a:off x="6510528" y="2194560"/>
            <a:ext cx="1143000" cy="384048"/>
          </a:xfrm>
          <a:prstGeom prst="roundRect">
            <a:avLst>
              <a:gd name="adj" fmla="val 28571"/>
            </a:avLst>
          </a:prstGeom>
          <a:solidFill>
            <a:srgbClr val="159A8C"/>
          </a:solidFill>
          <a:ln>
            <a:solidFill>
              <a:srgbClr val="159A8C"/>
            </a:solidFill>
          </a:ln>
        </p:spPr>
        <p:txBody>
          <a:bodyPr wrap="square" lIns="38100" tIns="38100" rIns="38100" bIns="38100" rtlCol="0" anchor="ct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Benefit</a:t>
            </a:r>
            <a:endParaRPr lang="en-US" sz="1200" dirty="0"/>
          </a:p>
        </p:txBody>
      </p:sp>
      <p:sp>
        <p:nvSpPr>
          <p:cNvPr id="18" name="Text 16"/>
          <p:cNvSpPr txBox="1"/>
          <p:nvPr/>
        </p:nvSpPr>
        <p:spPr>
          <a:xfrm>
            <a:off x="6510528" y="2761488"/>
            <a:ext cx="1143000" cy="384048"/>
          </a:xfrm>
          <a:prstGeom prst="roundRect">
            <a:avLst>
              <a:gd name="adj" fmla="val 28571"/>
            </a:avLst>
          </a:prstGeom>
          <a:solidFill>
            <a:srgbClr val="E8A33D"/>
          </a:solidFill>
          <a:ln>
            <a:solidFill>
              <a:srgbClr val="E8A33D"/>
            </a:solidFill>
          </a:ln>
        </p:spPr>
        <p:txBody>
          <a:bodyPr wrap="square" lIns="38100" tIns="38100" rIns="38100" bIns="38100" rtlCol="0" anchor="ctr"/>
          <a:lstStyle/>
          <a:p>
            <a:pPr algn="ctr" indent="0" marL="0">
              <a:buNone/>
            </a:pPr>
            <a:r>
              <a:rPr lang="en-US" sz="1200" b="1" dirty="0">
                <a:solidFill>
                  <a:srgbClr val="0E1A2B"/>
                </a:solidFill>
                <a:latin typeface="Malgun Gothic" pitchFamily="34" charset="0"/>
                <a:ea typeface="Malgun Gothic" pitchFamily="34" charset="-122"/>
                <a:cs typeface="Malgun Gothic" pitchFamily="34" charset="-120"/>
              </a:rPr>
              <a:t>Condition</a:t>
            </a:r>
            <a:endParaRPr lang="en-US" sz="1200" dirty="0"/>
          </a:p>
        </p:txBody>
      </p:sp>
      <p:sp>
        <p:nvSpPr>
          <p:cNvPr id="19" name="Text 17"/>
          <p:cNvSpPr txBox="1"/>
          <p:nvPr/>
        </p:nvSpPr>
        <p:spPr>
          <a:xfrm>
            <a:off x="5074920" y="2761488"/>
            <a:ext cx="1143000" cy="384048"/>
          </a:xfrm>
          <a:prstGeom prst="roundRect">
            <a:avLst>
              <a:gd name="adj" fmla="val 28571"/>
            </a:avLst>
          </a:prstGeom>
          <a:solidFill>
            <a:srgbClr val="6A4FB0"/>
          </a:solidFill>
          <a:ln>
            <a:solidFill>
              <a:srgbClr val="6A4FB0"/>
            </a:solidFill>
          </a:ln>
        </p:spPr>
        <p:txBody>
          <a:bodyPr wrap="square" lIns="38100" tIns="38100" rIns="38100" bIns="38100" rtlCol="0" anchor="ct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Clause</a:t>
            </a:r>
            <a:endParaRPr lang="en-US" sz="1200" dirty="0"/>
          </a:p>
        </p:txBody>
      </p:sp>
      <p:sp>
        <p:nvSpPr>
          <p:cNvPr id="20" name="Shape 18"/>
          <p:cNvSpPr/>
          <p:nvPr/>
        </p:nvSpPr>
        <p:spPr>
          <a:xfrm>
            <a:off x="6217920" y="2386584"/>
            <a:ext cx="292608" cy="0"/>
          </a:xfrm>
          <a:prstGeom prst="line">
            <a:avLst/>
          </a:prstGeom>
          <a:noFill/>
          <a:ln w="19050">
            <a:solidFill>
              <a:srgbClr val="C9D3E0"/>
            </a:solidFill>
            <a:prstDash val="solid"/>
            <a:tailEnd type="triangle"/>
          </a:ln>
        </p:spPr>
      </p:sp>
      <p:sp>
        <p:nvSpPr>
          <p:cNvPr id="21" name="Shape 19"/>
          <p:cNvSpPr/>
          <p:nvPr/>
        </p:nvSpPr>
        <p:spPr>
          <a:xfrm>
            <a:off x="7082028" y="2578608"/>
            <a:ext cx="0" cy="182880"/>
          </a:xfrm>
          <a:prstGeom prst="line">
            <a:avLst/>
          </a:prstGeom>
          <a:noFill/>
          <a:ln w="19050">
            <a:solidFill>
              <a:srgbClr val="C9D3E0"/>
            </a:solidFill>
            <a:prstDash val="solid"/>
            <a:tailEnd type="triangle"/>
          </a:ln>
        </p:spPr>
      </p:sp>
      <p:sp>
        <p:nvSpPr>
          <p:cNvPr id="22" name="Shape 20"/>
          <p:cNvSpPr/>
          <p:nvPr/>
        </p:nvSpPr>
        <p:spPr>
          <a:xfrm flipH="1">
            <a:off x="6217920" y="2953512"/>
            <a:ext cx="292608" cy="0"/>
          </a:xfrm>
          <a:prstGeom prst="line">
            <a:avLst/>
          </a:prstGeom>
          <a:noFill/>
          <a:ln w="19050">
            <a:solidFill>
              <a:srgbClr val="C9D3E0"/>
            </a:solidFill>
            <a:prstDash val="solid"/>
            <a:tailEnd type="triangle"/>
          </a:ln>
        </p:spPr>
      </p:sp>
      <p:sp>
        <p:nvSpPr>
          <p:cNvPr id="23" name="Text 21"/>
          <p:cNvSpPr txBox="1"/>
          <p:nvPr/>
        </p:nvSpPr>
        <p:spPr>
          <a:xfrm>
            <a:off x="5074920" y="3337560"/>
            <a:ext cx="2651760" cy="1325880"/>
          </a:xfrm>
          <a:prstGeom prst="rect">
            <a:avLst/>
          </a:prstGeom>
          <a:noFill/>
          <a:ln/>
        </p:spPr>
        <p:txBody>
          <a:bodyPr wrap="square" lIns="0" tIns="0" rIns="0" bIns="0" rtlCol="0" anchor="t"/>
          <a:lstStyle/>
          <a:p>
            <a:pPr indent="0" marL="0">
              <a:lnSpc>
                <a:spcPct val="125000"/>
              </a:lnSpc>
              <a:buNone/>
            </a:pPr>
            <a:r>
              <a:rPr lang="en-US" sz="1200" dirty="0">
                <a:solidFill>
                  <a:srgbClr val="FFFFFF"/>
                </a:solidFill>
                <a:latin typeface="Malgun Gothic" pitchFamily="34" charset="0"/>
                <a:ea typeface="Malgun Gothic" pitchFamily="34" charset="-122"/>
                <a:cs typeface="Malgun Gothic" pitchFamily="34" charset="-120"/>
              </a:rPr>
              <a:t>Neo4j 적재 — 근거 속성 보존</a:t>
            </a:r>
            <a:endParaRPr lang="en-US" sz="1200" dirty="0"/>
          </a:p>
          <a:p>
            <a:pPr indent="0" marL="0">
              <a:lnSpc>
                <a:spcPct val="125000"/>
              </a:lnSpc>
              <a:buNone/>
            </a:pPr>
            <a:r>
              <a:rPr lang="en-US" sz="1200" dirty="0">
                <a:solidFill>
                  <a:srgbClr val="FFFFFF"/>
                </a:solidFill>
                <a:latin typeface="Malgun Gothic" pitchFamily="34" charset="0"/>
                <a:ea typeface="Malgun Gothic" pitchFamily="34" charset="-122"/>
                <a:cs typeface="Malgun Gothic" pitchFamily="34" charset="-120"/>
              </a:rPr>
              <a:t>Cypher: 혜택 조회·영향 추적·경로</a:t>
            </a:r>
            <a:endParaRPr lang="en-US" sz="1200" dirty="0"/>
          </a:p>
          <a:p>
            <a:pPr indent="0" marL="0">
              <a:lnSpc>
                <a:spcPct val="125000"/>
              </a:lnSpc>
              <a:buNone/>
            </a:pPr>
            <a:r>
              <a:rPr lang="en-US" sz="1200" b="1" dirty="0">
                <a:solidFill>
                  <a:srgbClr val="E8A33D"/>
                </a:solidFill>
                <a:latin typeface="Malgun Gothic" pitchFamily="34" charset="0"/>
                <a:ea typeface="Malgun Gothic" pitchFamily="34" charset="-122"/>
                <a:cs typeface="Malgun Gothic" pitchFamily="34" charset="-120"/>
              </a:rPr>
              <a:t>판정: 적용 / 미적용 / 판단 불가(사유)</a:t>
            </a:r>
            <a:endParaRPr lang="en-US" sz="1200" dirty="0"/>
          </a:p>
        </p:txBody>
      </p:sp>
      <p:sp>
        <p:nvSpPr>
          <p:cNvPr id="24" name="Shape 22"/>
          <p:cNvSpPr/>
          <p:nvPr/>
        </p:nvSpPr>
        <p:spPr>
          <a:xfrm>
            <a:off x="7854696" y="3383280"/>
            <a:ext cx="246888" cy="0"/>
          </a:xfrm>
          <a:prstGeom prst="line">
            <a:avLst/>
          </a:prstGeom>
          <a:noFill/>
          <a:ln w="19050">
            <a:solidFill>
              <a:srgbClr val="8A94A3"/>
            </a:solidFill>
            <a:prstDash val="solid"/>
            <a:tailEnd type="triangle"/>
          </a:ln>
        </p:spPr>
      </p:sp>
      <p:sp>
        <p:nvSpPr>
          <p:cNvPr id="25" name="Text 23"/>
          <p:cNvSpPr txBox="1"/>
          <p:nvPr/>
        </p:nvSpPr>
        <p:spPr>
          <a:xfrm>
            <a:off x="8138160" y="1664208"/>
            <a:ext cx="1417320" cy="274320"/>
          </a:xfrm>
          <a:prstGeom prst="rect">
            <a:avLst/>
          </a:prstGeom>
          <a:noFill/>
          <a:ln/>
        </p:spPr>
        <p:txBody>
          <a:bodyPr wrap="square" lIns="0" tIns="0" rIns="0" bIns="0" rtlCol="0" anchor="t"/>
          <a:lstStyle/>
          <a:p>
            <a:pPr indent="0" marL="0">
              <a:buNone/>
            </a:pPr>
            <a:r>
              <a:rPr lang="en-US" sz="1200" b="1" dirty="0">
                <a:solidFill>
                  <a:srgbClr val="5B6778"/>
                </a:solidFill>
                <a:latin typeface="Malgun Gothic" pitchFamily="34" charset="0"/>
                <a:ea typeface="Malgun Gothic" pitchFamily="34" charset="-122"/>
                <a:cs typeface="Malgun Gothic" pitchFamily="34" charset="-120"/>
              </a:rPr>
              <a:t>연결 계층</a:t>
            </a:r>
            <a:endParaRPr lang="en-US" sz="1200" dirty="0"/>
          </a:p>
        </p:txBody>
      </p:sp>
      <p:sp>
        <p:nvSpPr>
          <p:cNvPr id="26" name="Text 24"/>
          <p:cNvSpPr txBox="1"/>
          <p:nvPr/>
        </p:nvSpPr>
        <p:spPr>
          <a:xfrm>
            <a:off x="8138160" y="2011680"/>
            <a:ext cx="1417320" cy="1143000"/>
          </a:xfrm>
          <a:prstGeom prst="roundRect">
            <a:avLst>
              <a:gd name="adj" fmla="val 6400"/>
            </a:avLst>
          </a:prstGeom>
          <a:solidFill>
            <a:srgbClr val="FFFFFF"/>
          </a:solidFill>
          <a:ln w="15875">
            <a:solidFill>
              <a:srgbClr val="3A4A60"/>
            </a:solidFill>
          </a:ln>
        </p:spPr>
        <p:txBody>
          <a:bodyPr wrap="square" lIns="76200" tIns="76200" rIns="76200" bIns="76200" rtlCol="0" anchor="ctr"/>
          <a:lstStyle/>
          <a:p>
            <a:pPr algn="ctr" indent="0" marL="0">
              <a:buNone/>
            </a:pPr>
            <a:r>
              <a:rPr lang="en-US" sz="1300" b="1" dirty="0">
                <a:solidFill>
                  <a:srgbClr val="0E1A2B"/>
                </a:solidFill>
                <a:latin typeface="Malgun Gothic" pitchFamily="34" charset="0"/>
                <a:ea typeface="Malgun Gothic" pitchFamily="34" charset="-122"/>
                <a:cs typeface="Malgun Gothic" pitchFamily="34" charset="-120"/>
              </a:rPr>
              <a:t>내부 API</a:t>
            </a:r>
            <a:endParaRPr lang="en-US" sz="1300" dirty="0"/>
          </a:p>
          <a:p>
            <a:pPr algn="ctr" indent="0" marL="0">
              <a:buNone/>
            </a:pPr>
            <a:r>
              <a:rPr lang="en-US" sz="1300" b="1" dirty="0">
                <a:solidFill>
                  <a:srgbClr val="0E1A2B"/>
                </a:solidFill>
                <a:latin typeface="Malgun Gothic" pitchFamily="34" charset="0"/>
                <a:ea typeface="Malgun Gothic" pitchFamily="34" charset="-122"/>
                <a:cs typeface="Malgun Gothic" pitchFamily="34" charset="-120"/>
              </a:rPr>
              <a:t>어댑터</a:t>
            </a:r>
            <a:endParaRPr lang="en-US" sz="1300" dirty="0"/>
          </a:p>
        </p:txBody>
      </p:sp>
      <p:sp>
        <p:nvSpPr>
          <p:cNvPr id="27" name="Text 25"/>
          <p:cNvSpPr txBox="1"/>
          <p:nvPr/>
        </p:nvSpPr>
        <p:spPr>
          <a:xfrm>
            <a:off x="8138160" y="3291840"/>
            <a:ext cx="1417320" cy="1463040"/>
          </a:xfrm>
          <a:prstGeom prst="roundRect">
            <a:avLst>
              <a:gd name="adj" fmla="val 5161"/>
            </a:avLst>
          </a:prstGeom>
          <a:solidFill>
            <a:srgbClr val="FFFFFF"/>
          </a:solidFill>
          <a:ln w="25400">
            <a:solidFill>
              <a:srgbClr val="E8A33D"/>
            </a:solidFill>
          </a:ln>
        </p:spPr>
        <p:txBody>
          <a:bodyPr wrap="square" lIns="76200" tIns="76200" rIns="76200" bIns="76200" rtlCol="0" anchor="ctr"/>
          <a:lstStyle/>
          <a:p>
            <a:pPr algn="ctr" indent="0" marL="0">
              <a:buNone/>
            </a:pPr>
            <a:r>
              <a:rPr lang="en-US" sz="1400" b="1" dirty="0">
                <a:solidFill>
                  <a:srgbClr val="0E1A2B"/>
                </a:solidFill>
                <a:latin typeface="Malgun Gothic" pitchFamily="34" charset="0"/>
                <a:ea typeface="Malgun Gothic" pitchFamily="34" charset="-122"/>
                <a:cs typeface="Malgun Gothic" pitchFamily="34" charset="-120"/>
              </a:rPr>
              <a:t>MCP 서버</a:t>
            </a:r>
            <a:endParaRPr lang="en-US" sz="1300" dirty="0"/>
          </a:p>
          <a:p>
            <a:pPr algn="ctr" indent="0" marL="0">
              <a:buNone/>
            </a:pPr>
            <a:r>
              <a:rPr lang="en-US" sz="1100" dirty="0">
                <a:solidFill>
                  <a:srgbClr val="8F5208"/>
                </a:solidFill>
                <a:latin typeface="Malgun Gothic" pitchFamily="34" charset="0"/>
                <a:ea typeface="Malgun Gothic" pitchFamily="34" charset="-122"/>
                <a:cs typeface="Malgun Gothic" pitchFamily="34" charset="-120"/>
              </a:rPr>
              <a:t>얇은 어댑터</a:t>
            </a:r>
            <a:endParaRPr lang="en-US" sz="1300" dirty="0"/>
          </a:p>
          <a:p>
            <a:pPr algn="ctr" indent="0" marL="0">
              <a:buNone/>
            </a:pPr>
            <a:r>
              <a:rPr lang="en-US" sz="1100" dirty="0">
                <a:solidFill>
                  <a:srgbClr val="8F5208"/>
                </a:solidFill>
                <a:latin typeface="Malgun Gothic" pitchFamily="34" charset="0"/>
                <a:ea typeface="Malgun Gothic" pitchFamily="34" charset="-122"/>
                <a:cs typeface="Malgun Gothic" pitchFamily="34" charset="-120"/>
              </a:rPr>
              <a:t>판단 로직 없음</a:t>
            </a:r>
            <a:endParaRPr lang="en-US" sz="1300" dirty="0"/>
          </a:p>
        </p:txBody>
      </p:sp>
      <p:sp>
        <p:nvSpPr>
          <p:cNvPr id="28" name="Text 26"/>
          <p:cNvSpPr txBox="1"/>
          <p:nvPr/>
        </p:nvSpPr>
        <p:spPr>
          <a:xfrm>
            <a:off x="9811512" y="1664208"/>
            <a:ext cx="1828800" cy="274320"/>
          </a:xfrm>
          <a:prstGeom prst="rect">
            <a:avLst/>
          </a:prstGeom>
          <a:noFill/>
          <a:ln/>
        </p:spPr>
        <p:txBody>
          <a:bodyPr wrap="square" lIns="0" tIns="0" rIns="0" bIns="0" rtlCol="0" anchor="t"/>
          <a:lstStyle/>
          <a:p>
            <a:pPr indent="0" marL="0">
              <a:buNone/>
            </a:pPr>
            <a:r>
              <a:rPr lang="en-US" sz="1200" b="1" dirty="0">
                <a:solidFill>
                  <a:srgbClr val="5B6778"/>
                </a:solidFill>
                <a:latin typeface="Malgun Gothic" pitchFamily="34" charset="0"/>
                <a:ea typeface="Malgun Gothic" pitchFamily="34" charset="-122"/>
                <a:cs typeface="Malgun Gothic" pitchFamily="34" charset="-120"/>
              </a:rPr>
              <a:t>AI 채널</a:t>
            </a:r>
            <a:endParaRPr lang="en-US" sz="1200" dirty="0"/>
          </a:p>
        </p:txBody>
      </p:sp>
      <p:sp>
        <p:nvSpPr>
          <p:cNvPr id="29" name="Text 27"/>
          <p:cNvSpPr txBox="1"/>
          <p:nvPr/>
        </p:nvSpPr>
        <p:spPr>
          <a:xfrm>
            <a:off x="9811512" y="2011680"/>
            <a:ext cx="1828800" cy="777240"/>
          </a:xfrm>
          <a:prstGeom prst="roundRect">
            <a:avLst>
              <a:gd name="adj" fmla="val 9412"/>
            </a:avLst>
          </a:prstGeom>
          <a:solidFill>
            <a:srgbClr val="F3F5F8"/>
          </a:solidFill>
          <a:ln w="9525">
            <a:solidFill>
              <a:srgbClr val="F3F5F8"/>
            </a:solidFill>
          </a:ln>
        </p:spPr>
        <p:txBody>
          <a:bodyPr wrap="square" lIns="76200" tIns="76200" rIns="76200" bIns="76200" rtlCol="0" anchor="ctr"/>
          <a:lstStyle/>
          <a:p>
            <a:pPr algn="ctr" indent="0" marL="0">
              <a:buNone/>
            </a:pPr>
            <a:r>
              <a:rPr lang="en-US" sz="1300" b="1" dirty="0">
                <a:solidFill>
                  <a:srgbClr val="0E1A2B"/>
                </a:solidFill>
                <a:latin typeface="Malgun Gothic" pitchFamily="34" charset="0"/>
                <a:ea typeface="Malgun Gothic" pitchFamily="34" charset="-122"/>
                <a:cs typeface="Malgun Gothic" pitchFamily="34" charset="-120"/>
              </a:rPr>
              <a:t>내부 상품·준법 검토</a:t>
            </a:r>
            <a:endParaRPr lang="en-US" sz="1300" dirty="0"/>
          </a:p>
        </p:txBody>
      </p:sp>
      <p:sp>
        <p:nvSpPr>
          <p:cNvPr id="30" name="Text 28"/>
          <p:cNvSpPr txBox="1"/>
          <p:nvPr/>
        </p:nvSpPr>
        <p:spPr>
          <a:xfrm>
            <a:off x="9811512" y="2926080"/>
            <a:ext cx="1828800" cy="777240"/>
          </a:xfrm>
          <a:prstGeom prst="roundRect">
            <a:avLst>
              <a:gd name="adj" fmla="val 9412"/>
            </a:avLst>
          </a:prstGeom>
          <a:solidFill>
            <a:srgbClr val="F3F5F8"/>
          </a:solidFill>
          <a:ln w="9525">
            <a:solidFill>
              <a:srgbClr val="F3F5F8"/>
            </a:solidFill>
          </a:ln>
        </p:spPr>
        <p:txBody>
          <a:bodyPr wrap="square" lIns="76200" tIns="76200" rIns="76200" bIns="76200" rtlCol="0" anchor="ctr"/>
          <a:lstStyle/>
          <a:p>
            <a:pPr algn="ctr" indent="0" marL="0">
              <a:buNone/>
            </a:pPr>
            <a:r>
              <a:rPr lang="en-US" sz="1300" b="1" dirty="0">
                <a:solidFill>
                  <a:srgbClr val="0E1A2B"/>
                </a:solidFill>
                <a:latin typeface="Malgun Gothic" pitchFamily="34" charset="0"/>
                <a:ea typeface="Malgun Gothic" pitchFamily="34" charset="-122"/>
                <a:cs typeface="Malgun Gothic" pitchFamily="34" charset="-120"/>
              </a:rPr>
              <a:t>자사 앱 AI 상담</a:t>
            </a:r>
            <a:endParaRPr lang="en-US" sz="1300" dirty="0"/>
          </a:p>
        </p:txBody>
      </p:sp>
      <p:sp>
        <p:nvSpPr>
          <p:cNvPr id="31" name="Text 29"/>
          <p:cNvSpPr txBox="1"/>
          <p:nvPr/>
        </p:nvSpPr>
        <p:spPr>
          <a:xfrm>
            <a:off x="9811512" y="3840480"/>
            <a:ext cx="1828800" cy="914400"/>
          </a:xfrm>
          <a:prstGeom prst="roundRect">
            <a:avLst>
              <a:gd name="adj" fmla="val 8000"/>
            </a:avLst>
          </a:prstGeom>
          <a:solidFill>
            <a:srgbClr val="F3F5F8"/>
          </a:solidFill>
          <a:ln w="9525">
            <a:solidFill>
              <a:srgbClr val="F3F5F8"/>
            </a:solidFill>
          </a:ln>
        </p:spPr>
        <p:txBody>
          <a:bodyPr wrap="square" lIns="76200" tIns="76200" rIns="76200" bIns="76200" rtlCol="0" anchor="ctr"/>
          <a:lstStyle/>
          <a:p>
            <a:pPr algn="ctr" indent="0" marL="0">
              <a:buNone/>
            </a:pPr>
            <a:r>
              <a:rPr lang="en-US" sz="1300" b="1" dirty="0">
                <a:solidFill>
                  <a:srgbClr val="0E1A2B"/>
                </a:solidFill>
                <a:latin typeface="Malgun Gothic" pitchFamily="34" charset="0"/>
                <a:ea typeface="Malgun Gothic" pitchFamily="34" charset="-122"/>
                <a:cs typeface="Malgun Gothic" pitchFamily="34" charset="-120"/>
              </a:rPr>
              <a:t>외부 AI 서비스</a:t>
            </a:r>
            <a:endParaRPr lang="en-US" sz="1300" dirty="0"/>
          </a:p>
          <a:p>
            <a:pPr algn="ctr" indent="0" marL="0">
              <a:buNone/>
            </a:pPr>
            <a:r>
              <a:rPr lang="en-US" sz="1300" b="1" dirty="0">
                <a:solidFill>
                  <a:srgbClr val="0E1A2B"/>
                </a:solidFill>
                <a:latin typeface="Malgun Gothic" pitchFamily="34" charset="0"/>
                <a:ea typeface="Malgun Gothic" pitchFamily="34" charset="-122"/>
                <a:cs typeface="Malgun Gothic" pitchFamily="34" charset="-120"/>
              </a:rPr>
              <a:t>(MCP 클라이언트)</a:t>
            </a:r>
            <a:endParaRPr lang="en-US" sz="1300" dirty="0"/>
          </a:p>
        </p:txBody>
      </p:sp>
      <p:sp>
        <p:nvSpPr>
          <p:cNvPr id="32" name="Shape 30"/>
          <p:cNvSpPr/>
          <p:nvPr/>
        </p:nvSpPr>
        <p:spPr>
          <a:xfrm>
            <a:off x="9555480" y="2395728"/>
            <a:ext cx="246888" cy="0"/>
          </a:xfrm>
          <a:prstGeom prst="line">
            <a:avLst/>
          </a:prstGeom>
          <a:noFill/>
          <a:ln w="19050">
            <a:solidFill>
              <a:srgbClr val="8A94A3"/>
            </a:solidFill>
            <a:prstDash val="solid"/>
            <a:tailEnd type="triangle"/>
          </a:ln>
        </p:spPr>
      </p:sp>
      <p:sp>
        <p:nvSpPr>
          <p:cNvPr id="33" name="Shape 31"/>
          <p:cNvSpPr/>
          <p:nvPr/>
        </p:nvSpPr>
        <p:spPr>
          <a:xfrm>
            <a:off x="9555480" y="2999232"/>
            <a:ext cx="246888" cy="292608"/>
          </a:xfrm>
          <a:prstGeom prst="line">
            <a:avLst/>
          </a:prstGeom>
          <a:noFill/>
          <a:ln w="19050">
            <a:solidFill>
              <a:srgbClr val="8A94A3"/>
            </a:solidFill>
            <a:prstDash val="solid"/>
            <a:tailEnd type="triangle"/>
          </a:ln>
        </p:spPr>
      </p:sp>
      <p:sp>
        <p:nvSpPr>
          <p:cNvPr id="34" name="Shape 32"/>
          <p:cNvSpPr/>
          <p:nvPr/>
        </p:nvSpPr>
        <p:spPr>
          <a:xfrm>
            <a:off x="9555480" y="4206240"/>
            <a:ext cx="246888" cy="91440"/>
          </a:xfrm>
          <a:prstGeom prst="line">
            <a:avLst/>
          </a:prstGeom>
          <a:noFill/>
          <a:ln w="19050">
            <a:solidFill>
              <a:srgbClr val="8A94A3"/>
            </a:solidFill>
            <a:prstDash val="solid"/>
            <a:tailEnd type="triangle"/>
          </a:ln>
        </p:spPr>
      </p:sp>
      <p:sp>
        <p:nvSpPr>
          <p:cNvPr id="35" name="Text 33"/>
          <p:cNvSpPr txBox="1"/>
          <p:nvPr/>
        </p:nvSpPr>
        <p:spPr>
          <a:xfrm>
            <a:off x="9811512" y="4828032"/>
            <a:ext cx="1920240" cy="274320"/>
          </a:xfrm>
          <a:prstGeom prst="rect">
            <a:avLst/>
          </a:prstGeom>
          <a:noFill/>
          <a:ln/>
        </p:spPr>
        <p:txBody>
          <a:bodyPr wrap="square" lIns="0" tIns="0" rIns="0" bIns="0" rtlCol="0" anchor="t"/>
          <a:lstStyle/>
          <a:p>
            <a:pPr indent="0" marL="0">
              <a:buNone/>
            </a:pPr>
            <a:r>
              <a:rPr lang="en-US" sz="1000" b="1" dirty="0">
                <a:solidFill>
                  <a:srgbClr val="6A4FB0"/>
                </a:solidFill>
                <a:latin typeface="Malgun Gothic" pitchFamily="34" charset="0"/>
                <a:ea typeface="Malgun Gothic" pitchFamily="34" charset="-122"/>
                <a:cs typeface="Malgun Gothic" pitchFamily="34" charset="-120"/>
              </a:rPr>
              <a:t>+ 마케팅 정책 계층 (확장 제안)</a:t>
            </a:r>
            <a:endParaRPr lang="en-US" sz="1000" dirty="0"/>
          </a:p>
        </p:txBody>
      </p:sp>
      <p:sp>
        <p:nvSpPr>
          <p:cNvPr id="36" name="Text 34"/>
          <p:cNvSpPr txBox="1"/>
          <p:nvPr/>
        </p:nvSpPr>
        <p:spPr>
          <a:xfrm>
            <a:off x="548640" y="5166360"/>
            <a:ext cx="7278624" cy="868680"/>
          </a:xfrm>
          <a:prstGeom prst="roundRect">
            <a:avLst>
              <a:gd name="adj" fmla="val 8421"/>
            </a:avLst>
          </a:prstGeom>
          <a:solidFill>
            <a:srgbClr val="E3F4F1"/>
          </a:solidFill>
          <a:ln>
            <a:solidFill>
              <a:srgbClr val="E3F4F1"/>
            </a:solidFill>
          </a:ln>
        </p:spPr>
        <p:txBody>
          <a:bodyPr wrap="square" lIns="177800" tIns="177800" rIns="177800" bIns="177800" rtlCol="0" anchor="ctr"/>
          <a:lstStyle/>
          <a:p>
            <a:pPr algn="l" indent="0" marL="0">
              <a:buNone/>
            </a:pPr>
            <a:r>
              <a:rPr lang="en-US" sz="1400" b="1" dirty="0">
                <a:solidFill>
                  <a:srgbClr val="0D6F64"/>
                </a:solidFill>
                <a:latin typeface="Malgun Gothic" pitchFamily="34" charset="0"/>
                <a:ea typeface="Malgun Gothic" pitchFamily="34" charset="-122"/>
                <a:cs typeface="Malgun Gothic" pitchFamily="34" charset="-120"/>
              </a:rPr>
              <a:t>카드사가 보장할 수 있는 것   </a:t>
            </a:r>
            <a:pPr algn="l" indent="0" marL="0">
              <a:buNone/>
            </a:pPr>
            <a:r>
              <a:rPr lang="en-US" sz="1400" dirty="0">
                <a:solidFill>
                  <a:srgbClr val="1A2433"/>
                </a:solidFill>
                <a:latin typeface="Malgun Gothic" pitchFamily="34" charset="0"/>
                <a:ea typeface="Malgun Gothic" pitchFamily="34" charset="-122"/>
                <a:cs typeface="Malgun Gothic" pitchFamily="34" charset="-120"/>
              </a:rPr>
              <a:t>어느 채널이든 같은 조건·근거·구조화 결과를 공급</a:t>
            </a:r>
            <a:endParaRPr lang="en-US" sz="1400" dirty="0"/>
          </a:p>
        </p:txBody>
      </p:sp>
      <p:sp>
        <p:nvSpPr>
          <p:cNvPr id="37" name="Text 35"/>
          <p:cNvSpPr txBox="1"/>
          <p:nvPr/>
        </p:nvSpPr>
        <p:spPr>
          <a:xfrm>
            <a:off x="7982712" y="5166360"/>
            <a:ext cx="3657600" cy="868680"/>
          </a:xfrm>
          <a:prstGeom prst="roundRect">
            <a:avLst>
              <a:gd name="adj" fmla="val 8421"/>
            </a:avLst>
          </a:prstGeom>
          <a:solidFill>
            <a:srgbClr val="FBE6E2"/>
          </a:solidFill>
          <a:ln>
            <a:solidFill>
              <a:srgbClr val="FBE6E2"/>
            </a:solidFill>
          </a:ln>
        </p:spPr>
        <p:txBody>
          <a:bodyPr wrap="square" lIns="177800" tIns="177800" rIns="177800" bIns="177800" rtlCol="0" anchor="ctr"/>
          <a:lstStyle/>
          <a:p>
            <a:pPr algn="l" indent="0" marL="0">
              <a:buNone/>
            </a:pPr>
            <a:r>
              <a:rPr lang="en-US" sz="1400" b="1" dirty="0">
                <a:solidFill>
                  <a:srgbClr val="A8311A"/>
                </a:solidFill>
                <a:latin typeface="Malgun Gothic" pitchFamily="34" charset="0"/>
                <a:ea typeface="Malgun Gothic" pitchFamily="34" charset="-122"/>
                <a:cs typeface="Malgun Gothic" pitchFamily="34" charset="-120"/>
              </a:rPr>
              <a:t>보장할 수 없는 것</a:t>
            </a:r>
            <a:endParaRPr lang="en-US" sz="1400" dirty="0"/>
          </a:p>
          <a:p>
            <a:pPr algn="l" indent="0" marL="0">
              <a:buNone/>
            </a:pPr>
            <a:r>
              <a:rPr lang="en-US" sz="1400" dirty="0">
                <a:solidFill>
                  <a:srgbClr val="1A2433"/>
                </a:solidFill>
                <a:latin typeface="Malgun Gothic" pitchFamily="34" charset="0"/>
                <a:ea typeface="Malgun Gothic" pitchFamily="34" charset="-122"/>
                <a:cs typeface="Malgun Gothic" pitchFamily="34" charset="-120"/>
              </a:rPr>
              <a:t>외부 AI의 호출 여부·요약·문구 표시</a:t>
            </a:r>
            <a:endParaRPr lang="en-US" sz="1400" dirty="0"/>
          </a:p>
        </p:txBody>
      </p:sp>
      <p:sp>
        <p:nvSpPr>
          <p:cNvPr id="38" name="Text 36"/>
          <p:cNvSpPr txBox="1"/>
          <p:nvPr/>
        </p:nvSpPr>
        <p:spPr>
          <a:xfrm>
            <a:off x="548640" y="6400800"/>
            <a:ext cx="10515600" cy="292608"/>
          </a:xfrm>
          <a:prstGeom prst="rect">
            <a:avLst/>
          </a:prstGeom>
          <a:noFill/>
          <a:ln/>
        </p:spPr>
        <p:txBody>
          <a:bodyPr wrap="square" lIns="0" tIns="0" rIns="0" bIns="0" rtlCol="0" anchor="ctr"/>
          <a:lstStyle/>
          <a:p>
            <a:pPr indent="0" marL="0">
              <a:buNone/>
            </a:pPr>
            <a:r>
              <a:rPr lang="en-US" sz="1000" dirty="0">
                <a:solidFill>
                  <a:srgbClr val="6B7686"/>
                </a:solidFill>
                <a:latin typeface="Malgun Gothic" pitchFamily="34" charset="0"/>
                <a:ea typeface="Malgun Gothic" pitchFamily="34" charset="-122"/>
                <a:cs typeface="Malgun Gothic" pitchFamily="34" charset="-120"/>
              </a:rPr>
              <a:t>설계안 · 4종 원문 대조 / 약 10종 확대 목표 · 엔진·MCP 미구현 · 현재 카드 등록·조회 CLI (README)</a:t>
            </a:r>
            <a:endParaRPr lang="en-US" sz="1000" dirty="0"/>
          </a:p>
        </p:txBody>
      </p:sp>
      <p:sp>
        <p:nvSpPr>
          <p:cNvPr id="25" name="Slide Number Placeholder 0"/>
          <p:cNvSpPr>
            <a:spLocks noGrp="1"/>
          </p:cNvSpPr>
          <p:nvPr>
            <p:ph type="sldNum" sz="quarter" idx="4294967295"/>
          </p:nvPr>
        </p:nvSpPr>
        <p:spPr>
          <a:xfrm>
            <a:off x="11274552" y="6437376"/>
            <a:ext cx="36576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Malgun Gothic"/>
                <a:ea typeface="Malgun Gothic"/>
                <a:cs typeface="Malgun Gothic"/>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329184"/>
            <a:ext cx="7498080" cy="292608"/>
          </a:xfrm>
          <a:prstGeom prst="rect">
            <a:avLst/>
          </a:prstGeom>
          <a:noFill/>
          <a:ln/>
        </p:spPr>
        <p:txBody>
          <a:bodyPr wrap="square" lIns="0" tIns="0" rIns="0" bIns="0" rtlCol="0" anchor="ctr"/>
          <a:lstStyle/>
          <a:p>
            <a:pPr indent="0" marL="0">
              <a:buNone/>
            </a:pPr>
            <a:r>
              <a:rPr lang="en-US" sz="1200" b="1" dirty="0">
                <a:solidFill>
                  <a:srgbClr val="8F5208"/>
                </a:solidFill>
                <a:latin typeface="Malgun Gothic" pitchFamily="34" charset="0"/>
                <a:ea typeface="Malgun Gothic" pitchFamily="34" charset="-122"/>
                <a:cs typeface="Malgun Gothic" pitchFamily="34" charset="-120"/>
              </a:rPr>
              <a:t>07   시연 ① 판단과 근거 경로</a:t>
            </a:r>
            <a:endParaRPr lang="en-US" sz="1200" dirty="0"/>
          </a:p>
        </p:txBody>
      </p:sp>
      <p:sp>
        <p:nvSpPr>
          <p:cNvPr id="3" name="Text 0"/>
          <p:cNvSpPr/>
          <p:nvPr>
            <p:ph idx="101"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2400" b="1" dirty="0">
                <a:solidFill>
                  <a:srgbClr val="0E1A2B"/>
                </a:solidFill>
                <a:latin typeface="Malgun Gothic" pitchFamily="34" charset="0"/>
                <a:ea typeface="Malgun Gothic" pitchFamily="34" charset="-122"/>
                <a:cs typeface="Malgun Gothic" pitchFamily="34" charset="-120"/>
              </a:rPr>
              <a:t>적용·미적용·판단 불가를 근거와 함께 설명하도록 설계합니다</a:t>
            </a:r>
            <a:endParaRPr lang="en-US" sz="2400" dirty="0"/>
          </a:p>
        </p:txBody>
      </p:sp>
      <p:sp>
        <p:nvSpPr>
          <p:cNvPr id="4" name="Text 2"/>
          <p:cNvSpPr txBox="1"/>
          <p:nvPr/>
        </p:nvSpPr>
        <p:spPr>
          <a:xfrm>
            <a:off x="10783519" y="329184"/>
            <a:ext cx="859536" cy="292608"/>
          </a:xfrm>
          <a:prstGeom prst="roundRect">
            <a:avLst>
              <a:gd name="adj" fmla="val 46875"/>
            </a:avLst>
          </a:prstGeom>
          <a:solidFill>
            <a:srgbClr val="FDF0DC"/>
          </a:solidFill>
          <a:ln>
            <a:solidFill>
              <a:srgbClr val="FDF0DC"/>
            </a:solidFill>
          </a:ln>
        </p:spPr>
        <p:txBody>
          <a:bodyPr wrap="square" lIns="0" tIns="0" rIns="0" bIns="0" rtlCol="0" anchor="ctr"/>
          <a:lstStyle/>
          <a:p>
            <a:pPr algn="ctr" indent="0" marL="0">
              <a:buNone/>
            </a:pPr>
            <a:r>
              <a:rPr lang="en-US" sz="1100" b="1" dirty="0">
                <a:solidFill>
                  <a:srgbClr val="8F5208"/>
                </a:solidFill>
                <a:latin typeface="Malgun Gothic" pitchFamily="34" charset="0"/>
                <a:ea typeface="Malgun Gothic" pitchFamily="34" charset="-122"/>
                <a:cs typeface="Malgun Gothic" pitchFamily="34" charset="-120"/>
              </a:rPr>
              <a:t>시연 예정</a:t>
            </a:r>
            <a:endParaRPr lang="en-US" sz="1100" dirty="0"/>
          </a:p>
        </p:txBody>
      </p:sp>
      <p:sp>
        <p:nvSpPr>
          <p:cNvPr id="5" name="Text 3"/>
          <p:cNvSpPr txBox="1"/>
          <p:nvPr/>
        </p:nvSpPr>
        <p:spPr>
          <a:xfrm>
            <a:off x="9832543" y="329184"/>
            <a:ext cx="859536" cy="292608"/>
          </a:xfrm>
          <a:prstGeom prst="roundRect">
            <a:avLst>
              <a:gd name="adj" fmla="val 46875"/>
            </a:avLst>
          </a:prstGeom>
          <a:solidFill>
            <a:srgbClr val="E3F4F1"/>
          </a:solidFill>
          <a:ln>
            <a:solidFill>
              <a:srgbClr val="E3F4F1"/>
            </a:solidFill>
          </a:ln>
        </p:spPr>
        <p:txBody>
          <a:bodyPr wrap="square" lIns="0" tIns="0" rIns="0" bIns="0" rtlCol="0" anchor="ctr"/>
          <a:lstStyle/>
          <a:p>
            <a:pPr algn="ctr" indent="0" marL="0">
              <a:buNone/>
            </a:pPr>
            <a:r>
              <a:rPr lang="en-US" sz="1100" b="1" dirty="0">
                <a:solidFill>
                  <a:srgbClr val="0D6F64"/>
                </a:solidFill>
                <a:latin typeface="Malgun Gothic" pitchFamily="34" charset="0"/>
                <a:ea typeface="Malgun Gothic" pitchFamily="34" charset="-122"/>
                <a:cs typeface="Malgun Gothic" pitchFamily="34" charset="-120"/>
              </a:rPr>
              <a:t>원문 확인</a:t>
            </a:r>
            <a:endParaRPr lang="en-US" sz="1100" dirty="0"/>
          </a:p>
        </p:txBody>
      </p:sp>
      <p:sp>
        <p:nvSpPr>
          <p:cNvPr id="6" name="Text 4"/>
          <p:cNvSpPr txBox="1"/>
          <p:nvPr/>
        </p:nvSpPr>
        <p:spPr>
          <a:xfrm>
            <a:off x="548640" y="1691640"/>
            <a:ext cx="3383280" cy="1005840"/>
          </a:xfrm>
          <a:prstGeom prst="roundRect">
            <a:avLst>
              <a:gd name="adj" fmla="val 7273"/>
            </a:avLst>
          </a:prstGeom>
          <a:solidFill>
            <a:srgbClr val="F3F5F8"/>
          </a:solidFill>
          <a:ln w="9525">
            <a:solidFill>
              <a:srgbClr val="F3F5F8"/>
            </a:solidFill>
          </a:ln>
        </p:spPr>
        <p:txBody>
          <a:bodyPr wrap="square" lIns="127000" tIns="127000" rIns="127000" bIns="127000" rtlCol="0" anchor="ctr"/>
          <a:lstStyle/>
          <a:p>
            <a:pPr algn="l" indent="0" marL="0">
              <a:buNone/>
            </a:pPr>
            <a:r>
              <a:rPr lang="en-US" sz="1300" dirty="0">
                <a:solidFill>
                  <a:srgbClr val="0E1A2B"/>
                </a:solidFill>
                <a:latin typeface="Malgun Gothic" pitchFamily="34" charset="0"/>
                <a:ea typeface="Malgun Gothic" pitchFamily="34" charset="-122"/>
                <a:cs typeface="Malgun Gothic" pitchFamily="34" charset="-120"/>
              </a:rPr>
              <a:t>STYLE로 CU에서 결제하면 ONE PICK 캐시백에 전월실적이 필요한가요?</a:t>
            </a:r>
            <a:endParaRPr lang="en-US" sz="1300" dirty="0"/>
          </a:p>
        </p:txBody>
      </p:sp>
      <p:sp>
        <p:nvSpPr>
          <p:cNvPr id="7" name="Text 5"/>
          <p:cNvSpPr txBox="1"/>
          <p:nvPr/>
        </p:nvSpPr>
        <p:spPr>
          <a:xfrm>
            <a:off x="4069080" y="1828800"/>
            <a:ext cx="1234440" cy="731520"/>
          </a:xfrm>
          <a:prstGeom prst="roundRect">
            <a:avLst>
              <a:gd name="adj" fmla="val 10000"/>
            </a:avLst>
          </a:prstGeom>
          <a:solidFill>
            <a:srgbClr val="159A8C"/>
          </a:solidFill>
          <a:ln>
            <a:solidFill>
              <a:srgbClr val="159A8C"/>
            </a:solidFill>
          </a:ln>
        </p:spPr>
        <p:txBody>
          <a:bodyPr wrap="square" lIns="76200" tIns="76200" rIns="76200" bIns="76200" rtlCol="0" anchor="ctr"/>
          <a:lstStyle/>
          <a:p>
            <a:pPr algn="ctr" indent="0" marL="0">
              <a:buNone/>
            </a:pPr>
            <a:r>
              <a:rPr lang="en-US" sz="1700" b="1" dirty="0">
                <a:solidFill>
                  <a:srgbClr val="FFFFFF"/>
                </a:solidFill>
                <a:latin typeface="Malgun Gothic" pitchFamily="34" charset="0"/>
                <a:ea typeface="Malgun Gothic" pitchFamily="34" charset="-122"/>
                <a:cs typeface="Malgun Gothic" pitchFamily="34" charset="-120"/>
              </a:rPr>
              <a:t>적용</a:t>
            </a:r>
            <a:endParaRPr lang="en-US" sz="1300" dirty="0"/>
          </a:p>
          <a:p>
            <a:pPr algn="ctr" indent="0" marL="0">
              <a:buNone/>
            </a:pPr>
            <a:r>
              <a:rPr lang="en-US" sz="1100" dirty="0">
                <a:solidFill>
                  <a:srgbClr val="FFFFFF"/>
                </a:solidFill>
                <a:latin typeface="Malgun Gothic" pitchFamily="34" charset="0"/>
                <a:ea typeface="Malgun Gothic" pitchFamily="34" charset="-122"/>
                <a:cs typeface="Malgun Gothic" pitchFamily="34" charset="-120"/>
              </a:rPr>
              <a:t>실적 무관</a:t>
            </a:r>
            <a:endParaRPr lang="en-US" sz="1300" dirty="0"/>
          </a:p>
        </p:txBody>
      </p:sp>
      <p:sp>
        <p:nvSpPr>
          <p:cNvPr id="8" name="Text 6"/>
          <p:cNvSpPr txBox="1"/>
          <p:nvPr/>
        </p:nvSpPr>
        <p:spPr>
          <a:xfrm>
            <a:off x="5532120" y="1874520"/>
            <a:ext cx="1363142" cy="640080"/>
          </a:xfrm>
          <a:prstGeom prst="roundRect">
            <a:avLst>
              <a:gd name="adj" fmla="val 17143"/>
            </a:avLst>
          </a:prstGeom>
          <a:solidFill>
            <a:srgbClr val="0E1A2B"/>
          </a:solidFill>
          <a:ln>
            <a:solidFill>
              <a:srgbClr val="0E1A2B"/>
            </a:solidFill>
          </a:ln>
        </p:spPr>
        <p:txBody>
          <a:bodyPr wrap="square" lIns="38100" tIns="38100" rIns="38100" bIns="38100" rtlCol="0" anchor="ct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STYLE</a:t>
            </a:r>
            <a:endParaRPr lang="en-US" sz="1200" dirty="0"/>
          </a:p>
        </p:txBody>
      </p:sp>
      <p:sp>
        <p:nvSpPr>
          <p:cNvPr id="9" name="Shape 7"/>
          <p:cNvSpPr/>
          <p:nvPr/>
        </p:nvSpPr>
        <p:spPr>
          <a:xfrm>
            <a:off x="6913550" y="2194560"/>
            <a:ext cx="182880" cy="0"/>
          </a:xfrm>
          <a:prstGeom prst="line">
            <a:avLst/>
          </a:prstGeom>
          <a:noFill/>
          <a:ln w="19050">
            <a:solidFill>
              <a:srgbClr val="8A94A3"/>
            </a:solidFill>
            <a:prstDash val="solid"/>
            <a:tailEnd type="triangle"/>
          </a:ln>
        </p:spPr>
      </p:sp>
      <p:sp>
        <p:nvSpPr>
          <p:cNvPr id="10" name="Text 8"/>
          <p:cNvSpPr txBox="1"/>
          <p:nvPr/>
        </p:nvSpPr>
        <p:spPr>
          <a:xfrm>
            <a:off x="7114718" y="1874520"/>
            <a:ext cx="1363142" cy="640080"/>
          </a:xfrm>
          <a:prstGeom prst="roundRect">
            <a:avLst>
              <a:gd name="adj" fmla="val 17143"/>
            </a:avLst>
          </a:prstGeom>
          <a:solidFill>
            <a:srgbClr val="159A8C"/>
          </a:solidFill>
          <a:ln>
            <a:solidFill>
              <a:srgbClr val="159A8C"/>
            </a:solidFill>
          </a:ln>
        </p:spPr>
        <p:txBody>
          <a:bodyPr wrap="square" lIns="38100" tIns="38100" rIns="38100" bIns="38100" rtlCol="0" anchor="ct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ONE PICK</a:t>
            </a:r>
            <a:endParaRPr lang="en-US" sz="1200" dirty="0"/>
          </a:p>
        </p:txBody>
      </p:sp>
      <p:sp>
        <p:nvSpPr>
          <p:cNvPr id="11" name="Shape 9"/>
          <p:cNvSpPr/>
          <p:nvPr/>
        </p:nvSpPr>
        <p:spPr>
          <a:xfrm>
            <a:off x="8496148" y="2194560"/>
            <a:ext cx="182880" cy="0"/>
          </a:xfrm>
          <a:prstGeom prst="line">
            <a:avLst/>
          </a:prstGeom>
          <a:noFill/>
          <a:ln w="19050">
            <a:solidFill>
              <a:srgbClr val="8A94A3"/>
            </a:solidFill>
            <a:prstDash val="solid"/>
            <a:tailEnd type="triangle"/>
          </a:ln>
        </p:spPr>
      </p:sp>
      <p:sp>
        <p:nvSpPr>
          <p:cNvPr id="12" name="Text 10"/>
          <p:cNvSpPr txBox="1"/>
          <p:nvPr/>
        </p:nvSpPr>
        <p:spPr>
          <a:xfrm>
            <a:off x="8697316" y="1874520"/>
            <a:ext cx="1363142" cy="640080"/>
          </a:xfrm>
          <a:prstGeom prst="roundRect">
            <a:avLst>
              <a:gd name="adj" fmla="val 17143"/>
            </a:avLst>
          </a:prstGeom>
          <a:solidFill>
            <a:srgbClr val="E8A33D"/>
          </a:solidFill>
          <a:ln>
            <a:solidFill>
              <a:srgbClr val="E8A33D"/>
            </a:solidFill>
          </a:ln>
        </p:spPr>
        <p:txBody>
          <a:bodyPr wrap="square" lIns="38100" tIns="38100" rIns="38100" bIns="38100" rtlCol="0" anchor="ctr"/>
          <a:lstStyle/>
          <a:p>
            <a:pPr algn="ctr" indent="0" marL="0">
              <a:buNone/>
            </a:pPr>
            <a:r>
              <a:rPr lang="en-US" sz="1200" b="1" dirty="0">
                <a:solidFill>
                  <a:srgbClr val="0E1A2B"/>
                </a:solidFill>
                <a:latin typeface="Malgun Gothic" pitchFamily="34" charset="0"/>
                <a:ea typeface="Malgun Gothic" pitchFamily="34" charset="-122"/>
                <a:cs typeface="Malgun Gothic" pitchFamily="34" charset="-120"/>
              </a:rPr>
              <a:t>실적 조건 없음</a:t>
            </a:r>
            <a:endParaRPr lang="en-US" sz="1200" dirty="0"/>
          </a:p>
        </p:txBody>
      </p:sp>
      <p:sp>
        <p:nvSpPr>
          <p:cNvPr id="13" name="Shape 11"/>
          <p:cNvSpPr/>
          <p:nvPr/>
        </p:nvSpPr>
        <p:spPr>
          <a:xfrm>
            <a:off x="10078745" y="2194560"/>
            <a:ext cx="182880" cy="0"/>
          </a:xfrm>
          <a:prstGeom prst="line">
            <a:avLst/>
          </a:prstGeom>
          <a:noFill/>
          <a:ln w="19050">
            <a:solidFill>
              <a:srgbClr val="8A94A3"/>
            </a:solidFill>
            <a:prstDash val="solid"/>
            <a:tailEnd type="triangle"/>
          </a:ln>
        </p:spPr>
      </p:sp>
      <p:sp>
        <p:nvSpPr>
          <p:cNvPr id="14" name="Text 12"/>
          <p:cNvSpPr txBox="1"/>
          <p:nvPr/>
        </p:nvSpPr>
        <p:spPr>
          <a:xfrm>
            <a:off x="10279913" y="1874520"/>
            <a:ext cx="1363142" cy="640080"/>
          </a:xfrm>
          <a:prstGeom prst="roundRect">
            <a:avLst>
              <a:gd name="adj" fmla="val 17143"/>
            </a:avLst>
          </a:prstGeom>
          <a:solidFill>
            <a:srgbClr val="6A4FB0"/>
          </a:solidFill>
          <a:ln>
            <a:solidFill>
              <a:srgbClr val="6A4FB0"/>
            </a:solidFill>
          </a:ln>
        </p:spPr>
        <p:txBody>
          <a:bodyPr wrap="square" lIns="38100" tIns="38100" rIns="38100" bIns="38100" rtlCol="0" anchor="ct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1쪽 ONE PICK 조항</a:t>
            </a:r>
            <a:endParaRPr lang="en-US" sz="1200" dirty="0"/>
          </a:p>
        </p:txBody>
      </p:sp>
      <p:sp>
        <p:nvSpPr>
          <p:cNvPr id="15" name="Text 13"/>
          <p:cNvSpPr txBox="1"/>
          <p:nvPr/>
        </p:nvSpPr>
        <p:spPr>
          <a:xfrm>
            <a:off x="548640" y="2770632"/>
            <a:ext cx="3383280" cy="1005840"/>
          </a:xfrm>
          <a:prstGeom prst="roundRect">
            <a:avLst>
              <a:gd name="adj" fmla="val 7273"/>
            </a:avLst>
          </a:prstGeom>
          <a:solidFill>
            <a:srgbClr val="F3F5F8"/>
          </a:solidFill>
          <a:ln w="9525">
            <a:solidFill>
              <a:srgbClr val="F3F5F8"/>
            </a:solidFill>
          </a:ln>
        </p:spPr>
        <p:txBody>
          <a:bodyPr wrap="square" lIns="127000" tIns="127000" rIns="127000" bIns="127000" rtlCol="0" anchor="ctr"/>
          <a:lstStyle/>
          <a:p>
            <a:pPr algn="l" indent="0" marL="0">
              <a:buNone/>
            </a:pPr>
            <a:r>
              <a:rPr lang="en-US" sz="1300" dirty="0">
                <a:solidFill>
                  <a:srgbClr val="0E1A2B"/>
                </a:solidFill>
                <a:latin typeface="Malgun Gothic" pitchFamily="34" charset="0"/>
                <a:ea typeface="Malgun Gothic" pitchFamily="34" charset="-122"/>
                <a:cs typeface="Malgun Gothic" pitchFamily="34" charset="-120"/>
              </a:rPr>
              <a:t>STYLE로 상품권을 사면 ONE MORE 대중교통 실적 10만원에 포함되나요?</a:t>
            </a:r>
            <a:endParaRPr lang="en-US" sz="1300" dirty="0"/>
          </a:p>
        </p:txBody>
      </p:sp>
      <p:sp>
        <p:nvSpPr>
          <p:cNvPr id="16" name="Text 14"/>
          <p:cNvSpPr txBox="1"/>
          <p:nvPr/>
        </p:nvSpPr>
        <p:spPr>
          <a:xfrm>
            <a:off x="4069080" y="2907792"/>
            <a:ext cx="1234440" cy="731520"/>
          </a:xfrm>
          <a:prstGeom prst="roundRect">
            <a:avLst>
              <a:gd name="adj" fmla="val 10000"/>
            </a:avLst>
          </a:prstGeom>
          <a:solidFill>
            <a:srgbClr val="D9472B"/>
          </a:solidFill>
          <a:ln>
            <a:solidFill>
              <a:srgbClr val="D9472B"/>
            </a:solidFill>
          </a:ln>
        </p:spPr>
        <p:txBody>
          <a:bodyPr wrap="square" lIns="76200" tIns="76200" rIns="76200" bIns="76200" rtlCol="0" anchor="ctr"/>
          <a:lstStyle/>
          <a:p>
            <a:pPr algn="ctr" indent="0" marL="0">
              <a:buNone/>
            </a:pPr>
            <a:r>
              <a:rPr lang="en-US" sz="1700" b="1" dirty="0">
                <a:solidFill>
                  <a:srgbClr val="FFFFFF"/>
                </a:solidFill>
                <a:latin typeface="Malgun Gothic" pitchFamily="34" charset="0"/>
                <a:ea typeface="Malgun Gothic" pitchFamily="34" charset="-122"/>
                <a:cs typeface="Malgun Gothic" pitchFamily="34" charset="-120"/>
              </a:rPr>
              <a:t>미적용</a:t>
            </a:r>
            <a:endParaRPr lang="en-US" sz="1300" dirty="0"/>
          </a:p>
          <a:p>
            <a:pPr algn="ctr" indent="0" marL="0">
              <a:buNone/>
            </a:pPr>
            <a:r>
              <a:rPr lang="en-US" sz="1100" dirty="0">
                <a:solidFill>
                  <a:srgbClr val="FFFFFF"/>
                </a:solidFill>
                <a:latin typeface="Malgun Gothic" pitchFamily="34" charset="0"/>
                <a:ea typeface="Malgun Gothic" pitchFamily="34" charset="-122"/>
                <a:cs typeface="Malgun Gothic" pitchFamily="34" charset="-120"/>
              </a:rPr>
              <a:t>실적 제외</a:t>
            </a:r>
            <a:endParaRPr lang="en-US" sz="1300" dirty="0"/>
          </a:p>
        </p:txBody>
      </p:sp>
      <p:sp>
        <p:nvSpPr>
          <p:cNvPr id="17" name="Text 15"/>
          <p:cNvSpPr txBox="1"/>
          <p:nvPr/>
        </p:nvSpPr>
        <p:spPr>
          <a:xfrm>
            <a:off x="5532120" y="2953512"/>
            <a:ext cx="1046622" cy="640080"/>
          </a:xfrm>
          <a:prstGeom prst="roundRect">
            <a:avLst>
              <a:gd name="adj" fmla="val 17143"/>
            </a:avLst>
          </a:prstGeom>
          <a:solidFill>
            <a:srgbClr val="0E1A2B"/>
          </a:solidFill>
          <a:ln>
            <a:solidFill>
              <a:srgbClr val="0E1A2B"/>
            </a:solidFill>
          </a:ln>
        </p:spPr>
        <p:txBody>
          <a:bodyPr wrap="square" lIns="38100" tIns="38100" rIns="38100" bIns="38100" rtlCol="0" anchor="ct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STYLE</a:t>
            </a:r>
            <a:endParaRPr lang="en-US" sz="1200" dirty="0"/>
          </a:p>
        </p:txBody>
      </p:sp>
      <p:sp>
        <p:nvSpPr>
          <p:cNvPr id="18" name="Shape 16"/>
          <p:cNvSpPr/>
          <p:nvPr/>
        </p:nvSpPr>
        <p:spPr>
          <a:xfrm>
            <a:off x="6597030" y="3273552"/>
            <a:ext cx="182880" cy="0"/>
          </a:xfrm>
          <a:prstGeom prst="line">
            <a:avLst/>
          </a:prstGeom>
          <a:noFill/>
          <a:ln w="19050">
            <a:solidFill>
              <a:srgbClr val="8A94A3"/>
            </a:solidFill>
            <a:prstDash val="solid"/>
            <a:tailEnd type="triangle"/>
          </a:ln>
        </p:spPr>
      </p:sp>
      <p:sp>
        <p:nvSpPr>
          <p:cNvPr id="19" name="Text 17"/>
          <p:cNvSpPr txBox="1"/>
          <p:nvPr/>
        </p:nvSpPr>
        <p:spPr>
          <a:xfrm>
            <a:off x="6798198" y="2953512"/>
            <a:ext cx="1046622" cy="640080"/>
          </a:xfrm>
          <a:prstGeom prst="roundRect">
            <a:avLst>
              <a:gd name="adj" fmla="val 17143"/>
            </a:avLst>
          </a:prstGeom>
          <a:solidFill>
            <a:srgbClr val="159A8C"/>
          </a:solidFill>
          <a:ln>
            <a:solidFill>
              <a:srgbClr val="159A8C"/>
            </a:solidFill>
          </a:ln>
        </p:spPr>
        <p:txBody>
          <a:bodyPr wrap="square" lIns="38100" tIns="38100" rIns="38100" bIns="38100" rtlCol="0" anchor="ct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ONE MORE 대중교통</a:t>
            </a:r>
            <a:endParaRPr lang="en-US" sz="1200" dirty="0"/>
          </a:p>
        </p:txBody>
      </p:sp>
      <p:sp>
        <p:nvSpPr>
          <p:cNvPr id="20" name="Shape 18"/>
          <p:cNvSpPr/>
          <p:nvPr/>
        </p:nvSpPr>
        <p:spPr>
          <a:xfrm>
            <a:off x="7863108" y="3273552"/>
            <a:ext cx="182880" cy="0"/>
          </a:xfrm>
          <a:prstGeom prst="line">
            <a:avLst/>
          </a:prstGeom>
          <a:noFill/>
          <a:ln w="19050">
            <a:solidFill>
              <a:srgbClr val="8A94A3"/>
            </a:solidFill>
            <a:prstDash val="solid"/>
            <a:tailEnd type="triangle"/>
          </a:ln>
        </p:spPr>
      </p:sp>
      <p:sp>
        <p:nvSpPr>
          <p:cNvPr id="21" name="Text 19"/>
          <p:cNvSpPr txBox="1"/>
          <p:nvPr/>
        </p:nvSpPr>
        <p:spPr>
          <a:xfrm>
            <a:off x="8064276" y="2953512"/>
            <a:ext cx="1046622" cy="640080"/>
          </a:xfrm>
          <a:prstGeom prst="roundRect">
            <a:avLst>
              <a:gd name="adj" fmla="val 17143"/>
            </a:avLst>
          </a:prstGeom>
          <a:solidFill>
            <a:srgbClr val="E8A33D"/>
          </a:solidFill>
          <a:ln>
            <a:solidFill>
              <a:srgbClr val="E8A33D"/>
            </a:solidFill>
          </a:ln>
        </p:spPr>
        <p:txBody>
          <a:bodyPr wrap="square" lIns="38100" tIns="38100" rIns="38100" bIns="38100" rtlCol="0" anchor="ctr"/>
          <a:lstStyle/>
          <a:p>
            <a:pPr algn="ctr" indent="0" marL="0">
              <a:buNone/>
            </a:pPr>
            <a:r>
              <a:rPr lang="en-US" sz="1200" b="1" dirty="0">
                <a:solidFill>
                  <a:srgbClr val="0E1A2B"/>
                </a:solidFill>
                <a:latin typeface="Malgun Gothic" pitchFamily="34" charset="0"/>
                <a:ea typeface="Malgun Gothic" pitchFamily="34" charset="-122"/>
                <a:cs typeface="Malgun Gothic" pitchFamily="34" charset="-120"/>
              </a:rPr>
              <a:t>전월실적</a:t>
            </a:r>
            <a:endParaRPr lang="en-US" sz="1200" dirty="0"/>
          </a:p>
          <a:p>
            <a:pPr algn="ctr" indent="0" marL="0">
              <a:buNone/>
            </a:pPr>
            <a:r>
              <a:rPr lang="en-US" sz="1200" b="1" dirty="0">
                <a:solidFill>
                  <a:srgbClr val="0E1A2B"/>
                </a:solidFill>
                <a:latin typeface="Malgun Gothic" pitchFamily="34" charset="0"/>
                <a:ea typeface="Malgun Gothic" pitchFamily="34" charset="-122"/>
                <a:cs typeface="Malgun Gothic" pitchFamily="34" charset="-120"/>
              </a:rPr>
              <a:t>10만원</a:t>
            </a:r>
            <a:endParaRPr lang="en-US" sz="1200" dirty="0"/>
          </a:p>
        </p:txBody>
      </p:sp>
      <p:sp>
        <p:nvSpPr>
          <p:cNvPr id="22" name="Shape 20"/>
          <p:cNvSpPr/>
          <p:nvPr/>
        </p:nvSpPr>
        <p:spPr>
          <a:xfrm>
            <a:off x="9129187" y="3273552"/>
            <a:ext cx="182880" cy="0"/>
          </a:xfrm>
          <a:prstGeom prst="line">
            <a:avLst/>
          </a:prstGeom>
          <a:noFill/>
          <a:ln w="19050">
            <a:solidFill>
              <a:srgbClr val="8A94A3"/>
            </a:solidFill>
            <a:prstDash val="solid"/>
            <a:tailEnd type="triangle"/>
          </a:ln>
        </p:spPr>
      </p:sp>
      <p:sp>
        <p:nvSpPr>
          <p:cNvPr id="23" name="Text 21"/>
          <p:cNvSpPr txBox="1"/>
          <p:nvPr/>
        </p:nvSpPr>
        <p:spPr>
          <a:xfrm>
            <a:off x="9330355" y="2953512"/>
            <a:ext cx="1046622" cy="640080"/>
          </a:xfrm>
          <a:prstGeom prst="roundRect">
            <a:avLst>
              <a:gd name="adj" fmla="val 17143"/>
            </a:avLst>
          </a:prstGeom>
          <a:solidFill>
            <a:srgbClr val="D9472B"/>
          </a:solidFill>
          <a:ln>
            <a:solidFill>
              <a:srgbClr val="D9472B"/>
            </a:solidFill>
          </a:ln>
        </p:spPr>
        <p:txBody>
          <a:bodyPr wrap="square" lIns="38100" tIns="38100" rIns="38100" bIns="38100" rtlCol="0" anchor="ct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제외: 상품권 구매</a:t>
            </a:r>
            <a:endParaRPr lang="en-US" sz="1200" dirty="0"/>
          </a:p>
        </p:txBody>
      </p:sp>
      <p:sp>
        <p:nvSpPr>
          <p:cNvPr id="24" name="Shape 22"/>
          <p:cNvSpPr/>
          <p:nvPr/>
        </p:nvSpPr>
        <p:spPr>
          <a:xfrm>
            <a:off x="10395265" y="3273552"/>
            <a:ext cx="182880" cy="0"/>
          </a:xfrm>
          <a:prstGeom prst="line">
            <a:avLst/>
          </a:prstGeom>
          <a:noFill/>
          <a:ln w="19050">
            <a:solidFill>
              <a:srgbClr val="8A94A3"/>
            </a:solidFill>
            <a:prstDash val="solid"/>
            <a:tailEnd type="triangle"/>
          </a:ln>
        </p:spPr>
      </p:sp>
      <p:sp>
        <p:nvSpPr>
          <p:cNvPr id="25" name="Text 23"/>
          <p:cNvSpPr txBox="1"/>
          <p:nvPr/>
        </p:nvSpPr>
        <p:spPr>
          <a:xfrm>
            <a:off x="10596433" y="2953512"/>
            <a:ext cx="1046622" cy="640080"/>
          </a:xfrm>
          <a:prstGeom prst="roundRect">
            <a:avLst>
              <a:gd name="adj" fmla="val 17143"/>
            </a:avLst>
          </a:prstGeom>
          <a:solidFill>
            <a:srgbClr val="6A4FB0"/>
          </a:solidFill>
          <a:ln>
            <a:solidFill>
              <a:srgbClr val="6A4FB0"/>
            </a:solidFill>
          </a:ln>
        </p:spPr>
        <p:txBody>
          <a:bodyPr wrap="square" lIns="38100" tIns="38100" rIns="38100" bIns="38100" rtlCol="0" anchor="ct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1쪽 실적 제외 대상</a:t>
            </a:r>
            <a:endParaRPr lang="en-US" sz="1200" dirty="0"/>
          </a:p>
        </p:txBody>
      </p:sp>
      <p:sp>
        <p:nvSpPr>
          <p:cNvPr id="26" name="Text 24"/>
          <p:cNvSpPr txBox="1"/>
          <p:nvPr/>
        </p:nvSpPr>
        <p:spPr>
          <a:xfrm>
            <a:off x="548640" y="3849624"/>
            <a:ext cx="3383280" cy="1005840"/>
          </a:xfrm>
          <a:prstGeom prst="roundRect">
            <a:avLst>
              <a:gd name="adj" fmla="val 7273"/>
            </a:avLst>
          </a:prstGeom>
          <a:solidFill>
            <a:srgbClr val="F3F5F8"/>
          </a:solidFill>
          <a:ln w="9525">
            <a:solidFill>
              <a:srgbClr val="F3F5F8"/>
            </a:solidFill>
          </a:ln>
        </p:spPr>
        <p:txBody>
          <a:bodyPr wrap="square" lIns="127000" tIns="127000" rIns="127000" bIns="127000" rtlCol="0" anchor="ctr"/>
          <a:lstStyle/>
          <a:p>
            <a:pPr algn="l" indent="0" marL="0">
              <a:buNone/>
            </a:pPr>
            <a:r>
              <a:rPr lang="en-US" sz="1300" dirty="0">
                <a:solidFill>
                  <a:srgbClr val="0E1A2B"/>
                </a:solidFill>
                <a:latin typeface="Malgun Gothic" pitchFamily="34" charset="0"/>
                <a:ea typeface="Malgun Gothic" pitchFamily="34" charset="-122"/>
                <a:cs typeface="Malgun Gothic" pitchFamily="34" charset="-120"/>
              </a:rPr>
              <a:t>○○ 가게가 ONE PICK 편의점 혜택 대상인가요? (가상 가맹점)</a:t>
            </a:r>
            <a:endParaRPr lang="en-US" sz="1300" dirty="0"/>
          </a:p>
        </p:txBody>
      </p:sp>
      <p:sp>
        <p:nvSpPr>
          <p:cNvPr id="27" name="Text 25"/>
          <p:cNvSpPr txBox="1"/>
          <p:nvPr/>
        </p:nvSpPr>
        <p:spPr>
          <a:xfrm>
            <a:off x="4069080" y="3986784"/>
            <a:ext cx="1234440" cy="731520"/>
          </a:xfrm>
          <a:prstGeom prst="roundRect">
            <a:avLst>
              <a:gd name="adj" fmla="val 10000"/>
            </a:avLst>
          </a:prstGeom>
          <a:solidFill>
            <a:srgbClr val="3A4A60"/>
          </a:solidFill>
          <a:ln>
            <a:solidFill>
              <a:srgbClr val="3A4A60"/>
            </a:solidFill>
          </a:ln>
        </p:spPr>
        <p:txBody>
          <a:bodyPr wrap="square" lIns="76200" tIns="76200" rIns="76200" bIns="76200" rtlCol="0" anchor="ctr"/>
          <a:lstStyle/>
          <a:p>
            <a:pPr algn="ctr" indent="0" marL="0">
              <a:buNone/>
            </a:pPr>
            <a:r>
              <a:rPr lang="en-US" sz="1700" b="1" dirty="0">
                <a:solidFill>
                  <a:srgbClr val="FFFFFF"/>
                </a:solidFill>
                <a:latin typeface="Malgun Gothic" pitchFamily="34" charset="0"/>
                <a:ea typeface="Malgun Gothic" pitchFamily="34" charset="-122"/>
                <a:cs typeface="Malgun Gothic" pitchFamily="34" charset="-120"/>
              </a:rPr>
              <a:t>판단 불가</a:t>
            </a:r>
            <a:endParaRPr lang="en-US" sz="1300" dirty="0"/>
          </a:p>
          <a:p>
            <a:pPr algn="ctr" indent="0" marL="0">
              <a:buNone/>
            </a:pPr>
            <a:r>
              <a:rPr lang="en-US" sz="1100" dirty="0">
                <a:solidFill>
                  <a:srgbClr val="FFFFFF"/>
                </a:solidFill>
                <a:latin typeface="Malgun Gothic" pitchFamily="34" charset="0"/>
                <a:ea typeface="Malgun Gothic" pitchFamily="34" charset="-122"/>
                <a:cs typeface="Malgun Gothic" pitchFamily="34" charset="-120"/>
              </a:rPr>
              <a:t>사유 표시</a:t>
            </a:r>
            <a:endParaRPr lang="en-US" sz="1300" dirty="0"/>
          </a:p>
        </p:txBody>
      </p:sp>
      <p:sp>
        <p:nvSpPr>
          <p:cNvPr id="28" name="Text 26"/>
          <p:cNvSpPr txBox="1"/>
          <p:nvPr/>
        </p:nvSpPr>
        <p:spPr>
          <a:xfrm>
            <a:off x="5532120" y="4032504"/>
            <a:ext cx="1363142" cy="640080"/>
          </a:xfrm>
          <a:prstGeom prst="roundRect">
            <a:avLst>
              <a:gd name="adj" fmla="val 17143"/>
            </a:avLst>
          </a:prstGeom>
          <a:solidFill>
            <a:srgbClr val="0E1A2B"/>
          </a:solidFill>
          <a:ln>
            <a:solidFill>
              <a:srgbClr val="0E1A2B"/>
            </a:solidFill>
          </a:ln>
        </p:spPr>
        <p:txBody>
          <a:bodyPr wrap="square" lIns="38100" tIns="38100" rIns="38100" bIns="38100" rtlCol="0" anchor="ct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STYLE</a:t>
            </a:r>
            <a:endParaRPr lang="en-US" sz="1200" dirty="0"/>
          </a:p>
        </p:txBody>
      </p:sp>
      <p:sp>
        <p:nvSpPr>
          <p:cNvPr id="29" name="Shape 27"/>
          <p:cNvSpPr/>
          <p:nvPr/>
        </p:nvSpPr>
        <p:spPr>
          <a:xfrm>
            <a:off x="6913550" y="4352544"/>
            <a:ext cx="182880" cy="0"/>
          </a:xfrm>
          <a:prstGeom prst="line">
            <a:avLst/>
          </a:prstGeom>
          <a:noFill/>
          <a:ln w="19050">
            <a:solidFill>
              <a:srgbClr val="8A94A3"/>
            </a:solidFill>
            <a:prstDash val="solid"/>
            <a:tailEnd type="triangle"/>
          </a:ln>
        </p:spPr>
      </p:sp>
      <p:sp>
        <p:nvSpPr>
          <p:cNvPr id="30" name="Text 28"/>
          <p:cNvSpPr txBox="1"/>
          <p:nvPr/>
        </p:nvSpPr>
        <p:spPr>
          <a:xfrm>
            <a:off x="7114718" y="4032504"/>
            <a:ext cx="1363142" cy="640080"/>
          </a:xfrm>
          <a:prstGeom prst="roundRect">
            <a:avLst>
              <a:gd name="adj" fmla="val 17143"/>
            </a:avLst>
          </a:prstGeom>
          <a:solidFill>
            <a:srgbClr val="159A8C"/>
          </a:solidFill>
          <a:ln>
            <a:solidFill>
              <a:srgbClr val="159A8C"/>
            </a:solidFill>
          </a:ln>
        </p:spPr>
        <p:txBody>
          <a:bodyPr wrap="square" lIns="38100" tIns="38100" rIns="38100" bIns="38100" rtlCol="0" anchor="ct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ONE PICK 편의점</a:t>
            </a:r>
            <a:endParaRPr lang="en-US" sz="1200" dirty="0"/>
          </a:p>
        </p:txBody>
      </p:sp>
      <p:sp>
        <p:nvSpPr>
          <p:cNvPr id="31" name="Shape 29"/>
          <p:cNvSpPr/>
          <p:nvPr/>
        </p:nvSpPr>
        <p:spPr>
          <a:xfrm>
            <a:off x="8496148" y="4352544"/>
            <a:ext cx="182880" cy="0"/>
          </a:xfrm>
          <a:prstGeom prst="line">
            <a:avLst/>
          </a:prstGeom>
          <a:noFill/>
          <a:ln w="19050">
            <a:solidFill>
              <a:srgbClr val="8A94A3"/>
            </a:solidFill>
            <a:prstDash val="solid"/>
            <a:tailEnd type="triangle"/>
          </a:ln>
        </p:spPr>
      </p:sp>
      <p:sp>
        <p:nvSpPr>
          <p:cNvPr id="32" name="Text 30"/>
          <p:cNvSpPr txBox="1"/>
          <p:nvPr/>
        </p:nvSpPr>
        <p:spPr>
          <a:xfrm>
            <a:off x="8697316" y="4032504"/>
            <a:ext cx="1363142" cy="640080"/>
          </a:xfrm>
          <a:prstGeom prst="roundRect">
            <a:avLst>
              <a:gd name="adj" fmla="val 17143"/>
            </a:avLst>
          </a:prstGeom>
          <a:solidFill>
            <a:srgbClr val="E8A33D"/>
          </a:solidFill>
          <a:ln>
            <a:solidFill>
              <a:srgbClr val="E8A33D"/>
            </a:solidFill>
          </a:ln>
        </p:spPr>
        <p:txBody>
          <a:bodyPr wrap="square" lIns="38100" tIns="38100" rIns="38100" bIns="38100" rtlCol="0" anchor="ctr"/>
          <a:lstStyle/>
          <a:p>
            <a:pPr algn="ctr" indent="0" marL="0">
              <a:buNone/>
            </a:pPr>
            <a:r>
              <a:rPr lang="en-US" sz="1200" b="1" dirty="0">
                <a:solidFill>
                  <a:srgbClr val="0E1A2B"/>
                </a:solidFill>
                <a:latin typeface="Malgun Gothic" pitchFamily="34" charset="0"/>
                <a:ea typeface="Malgun Gothic" pitchFamily="34" charset="-122"/>
                <a:cs typeface="Malgun Gothic" pitchFamily="34" charset="-120"/>
              </a:rPr>
              <a:t>가맹점 업종 분류</a:t>
            </a:r>
            <a:endParaRPr lang="en-US" sz="1200" dirty="0"/>
          </a:p>
        </p:txBody>
      </p:sp>
      <p:sp>
        <p:nvSpPr>
          <p:cNvPr id="33" name="Shape 31"/>
          <p:cNvSpPr/>
          <p:nvPr/>
        </p:nvSpPr>
        <p:spPr>
          <a:xfrm>
            <a:off x="10078745" y="4352544"/>
            <a:ext cx="182880" cy="0"/>
          </a:xfrm>
          <a:prstGeom prst="line">
            <a:avLst/>
          </a:prstGeom>
          <a:noFill/>
          <a:ln w="19050">
            <a:solidFill>
              <a:srgbClr val="8A94A3"/>
            </a:solidFill>
            <a:prstDash val="solid"/>
            <a:tailEnd type="triangle"/>
          </a:ln>
        </p:spPr>
      </p:sp>
      <p:sp>
        <p:nvSpPr>
          <p:cNvPr id="34" name="Text 32"/>
          <p:cNvSpPr txBox="1"/>
          <p:nvPr/>
        </p:nvSpPr>
        <p:spPr>
          <a:xfrm>
            <a:off x="10279913" y="4032504"/>
            <a:ext cx="1363142" cy="640080"/>
          </a:xfrm>
          <a:prstGeom prst="roundRect">
            <a:avLst>
              <a:gd name="adj" fmla="val 11429"/>
            </a:avLst>
          </a:prstGeom>
          <a:solidFill>
            <a:srgbClr val="FFFFFF"/>
          </a:solidFill>
          <a:ln w="15875">
            <a:solidFill>
              <a:srgbClr val="D9472B"/>
            </a:solidFill>
            <a:prstDash val="dash"/>
          </a:ln>
        </p:spPr>
        <p:txBody>
          <a:bodyPr wrap="square" lIns="38100" tIns="38100" rIns="38100" bIns="38100" rtlCol="0" anchor="ctr"/>
          <a:lstStyle/>
          <a:p>
            <a:pPr algn="ctr" indent="0" marL="0">
              <a:buNone/>
            </a:pPr>
            <a:r>
              <a:rPr lang="en-US" sz="1200" b="1" dirty="0">
                <a:solidFill>
                  <a:srgbClr val="A8311A"/>
                </a:solidFill>
                <a:latin typeface="Malgun Gothic" pitchFamily="34" charset="0"/>
                <a:ea typeface="Malgun Gothic" pitchFamily="34" charset="-122"/>
                <a:cs typeface="Malgun Gothic" pitchFamily="34" charset="-120"/>
              </a:rPr>
              <a:t>PDF 밖 정보 — 경로 단절</a:t>
            </a:r>
            <a:endParaRPr lang="en-US" sz="1200" dirty="0"/>
          </a:p>
        </p:txBody>
      </p:sp>
      <p:sp>
        <p:nvSpPr>
          <p:cNvPr id="35" name="Text 33"/>
          <p:cNvSpPr txBox="1"/>
          <p:nvPr/>
        </p:nvSpPr>
        <p:spPr>
          <a:xfrm>
            <a:off x="548640" y="4937760"/>
            <a:ext cx="11094415" cy="292608"/>
          </a:xfrm>
          <a:prstGeom prst="rect">
            <a:avLst/>
          </a:prstGeom>
          <a:noFill/>
          <a:ln/>
        </p:spPr>
        <p:txBody>
          <a:bodyPr wrap="square" lIns="0" tIns="0" rIns="0" bIns="0" rtlCol="0" anchor="t"/>
          <a:lstStyle/>
          <a:p>
            <a:pPr indent="0" marL="0">
              <a:buNone/>
            </a:pPr>
            <a:r>
              <a:rPr lang="en-US" sz="1100" dirty="0">
                <a:solidFill>
                  <a:srgbClr val="5B6778"/>
                </a:solidFill>
                <a:latin typeface="Malgun Gothic" pitchFamily="34" charset="0"/>
                <a:ea typeface="Malgun Gothic" pitchFamily="34" charset="-122"/>
                <a:cs typeface="Malgun Gothic" pitchFamily="34" charset="-120"/>
              </a:rPr>
              <a:t>원문 근거: “모든 서비스는 하나카드에 등록된 국내 가맹점 및 업종 기준에 따라 제공” — 업종 분류는 상품설명서 밖 정보이므로 단정하지 않습니다.</a:t>
            </a:r>
            <a:endParaRPr lang="en-US" sz="1100" dirty="0"/>
          </a:p>
        </p:txBody>
      </p:sp>
      <p:sp>
        <p:nvSpPr>
          <p:cNvPr id="36" name="Text 34"/>
          <p:cNvSpPr txBox="1"/>
          <p:nvPr/>
        </p:nvSpPr>
        <p:spPr>
          <a:xfrm>
            <a:off x="548640" y="5349240"/>
            <a:ext cx="11094415" cy="685800"/>
          </a:xfrm>
          <a:prstGeom prst="roundRect">
            <a:avLst>
              <a:gd name="adj" fmla="val 10667"/>
            </a:avLst>
          </a:prstGeom>
          <a:solidFill>
            <a:srgbClr val="0E1A2B"/>
          </a:solidFill>
          <a:ln>
            <a:solidFill>
              <a:srgbClr val="0E1A2B"/>
            </a:solidFill>
          </a:ln>
        </p:spPr>
        <p:txBody>
          <a:bodyPr wrap="square" lIns="177800" tIns="177800" rIns="177800" bIns="177800" rtlCol="0" anchor="ctr"/>
          <a:lstStyle/>
          <a:p>
            <a:pPr algn="l" indent="0" marL="0">
              <a:buNone/>
            </a:pPr>
            <a:r>
              <a:rPr lang="en-US" sz="1500" b="1" dirty="0">
                <a:solidFill>
                  <a:srgbClr val="FFFFFF"/>
                </a:solidFill>
                <a:latin typeface="Malgun Gothic" pitchFamily="34" charset="0"/>
                <a:ea typeface="Malgun Gothic" pitchFamily="34" charset="-122"/>
                <a:cs typeface="Malgun Gothic" pitchFamily="34" charset="-120"/>
              </a:rPr>
              <a:t>핵심: 혜택 단위 조건(ONE PICK 실적 무관 / ONE MORE 10만원)을 카드 전체 조건으로 넓히지 않고, 근거가 없으면 답하지 않습니다.</a:t>
            </a:r>
            <a:endParaRPr lang="en-US" sz="1500" dirty="0"/>
          </a:p>
        </p:txBody>
      </p:sp>
      <p:sp>
        <p:nvSpPr>
          <p:cNvPr id="37" name="Text 35"/>
          <p:cNvSpPr txBox="1"/>
          <p:nvPr/>
        </p:nvSpPr>
        <p:spPr>
          <a:xfrm>
            <a:off x="548640" y="6400800"/>
            <a:ext cx="10515600" cy="292608"/>
          </a:xfrm>
          <a:prstGeom prst="rect">
            <a:avLst/>
          </a:prstGeom>
          <a:noFill/>
          <a:ln/>
        </p:spPr>
        <p:txBody>
          <a:bodyPr wrap="square" lIns="0" tIns="0" rIns="0" bIns="0" rtlCol="0" anchor="ctr"/>
          <a:lstStyle/>
          <a:p>
            <a:pPr indent="0" marL="0">
              <a:buNone/>
            </a:pPr>
            <a:r>
              <a:rPr lang="en-US" sz="1000" dirty="0">
                <a:solidFill>
                  <a:srgbClr val="6B7686"/>
                </a:solidFill>
                <a:latin typeface="Malgun Gothic" pitchFamily="34" charset="0"/>
                <a:ea typeface="Malgun Gothic" pitchFamily="34" charset="-122"/>
                <a:cs typeface="Malgun Gothic" pitchFamily="34" charset="-120"/>
              </a:rPr>
              <a:t>판정 값은 ONE PICK STYLE 상품설명서 원문으로 확인 · 그래프 경로·응답 화면은 M7-①③ 시연 설계(미구현) · 노드 색: 카드·혜택·조건·제외 항목·조항</a:t>
            </a:r>
            <a:endParaRPr lang="en-US" sz="1000" dirty="0"/>
          </a:p>
        </p:txBody>
      </p:sp>
      <p:sp>
        <p:nvSpPr>
          <p:cNvPr id="25" name="Slide Number Placeholder 0"/>
          <p:cNvSpPr>
            <a:spLocks noGrp="1"/>
          </p:cNvSpPr>
          <p:nvPr>
            <p:ph type="sldNum" sz="quarter" idx="4294967295"/>
          </p:nvPr>
        </p:nvSpPr>
        <p:spPr>
          <a:xfrm>
            <a:off x="11274552" y="6437376"/>
            <a:ext cx="36576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Malgun Gothic"/>
                <a:ea typeface="Malgun Gothic"/>
                <a:cs typeface="Malgun Gothic"/>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329184"/>
            <a:ext cx="7498080" cy="292608"/>
          </a:xfrm>
          <a:prstGeom prst="rect">
            <a:avLst/>
          </a:prstGeom>
          <a:noFill/>
          <a:ln/>
        </p:spPr>
        <p:txBody>
          <a:bodyPr wrap="square" lIns="0" tIns="0" rIns="0" bIns="0" rtlCol="0" anchor="ctr"/>
          <a:lstStyle/>
          <a:p>
            <a:pPr indent="0" marL="0">
              <a:buNone/>
            </a:pPr>
            <a:r>
              <a:rPr lang="en-US" sz="1200" b="1" dirty="0">
                <a:solidFill>
                  <a:srgbClr val="8F5208"/>
                </a:solidFill>
                <a:latin typeface="Malgun Gothic" pitchFamily="34" charset="0"/>
                <a:ea typeface="Malgun Gothic" pitchFamily="34" charset="-122"/>
                <a:cs typeface="Malgun Gothic" pitchFamily="34" charset="-120"/>
              </a:rPr>
              <a:t>08   시연 ② 조건 변경 영향 — 핵심 시연</a:t>
            </a:r>
            <a:endParaRPr lang="en-US" sz="1200" dirty="0"/>
          </a:p>
        </p:txBody>
      </p:sp>
      <p:sp>
        <p:nvSpPr>
          <p:cNvPr id="3" name="Text 0"/>
          <p:cNvSpPr/>
          <p:nvPr>
            <p:ph idx="101"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2400" b="1" dirty="0">
                <a:solidFill>
                  <a:srgbClr val="0E1A2B"/>
                </a:solidFill>
                <a:latin typeface="Malgun Gothic" pitchFamily="34" charset="0"/>
                <a:ea typeface="Malgun Gothic" pitchFamily="34" charset="-122"/>
                <a:cs typeface="Malgun Gothic" pitchFamily="34" charset="-120"/>
              </a:rPr>
              <a:t>조건 변경의 영향을 혜택·조항 경로로 추적하도록 설계합니다</a:t>
            </a:r>
            <a:endParaRPr lang="en-US" sz="2400" dirty="0"/>
          </a:p>
        </p:txBody>
      </p:sp>
      <p:sp>
        <p:nvSpPr>
          <p:cNvPr id="4" name="Text 2"/>
          <p:cNvSpPr txBox="1"/>
          <p:nvPr/>
        </p:nvSpPr>
        <p:spPr>
          <a:xfrm>
            <a:off x="10783519" y="329184"/>
            <a:ext cx="859536" cy="292608"/>
          </a:xfrm>
          <a:prstGeom prst="roundRect">
            <a:avLst>
              <a:gd name="adj" fmla="val 46875"/>
            </a:avLst>
          </a:prstGeom>
          <a:solidFill>
            <a:srgbClr val="FDF0DC"/>
          </a:solidFill>
          <a:ln>
            <a:solidFill>
              <a:srgbClr val="FDF0DC"/>
            </a:solidFill>
          </a:ln>
        </p:spPr>
        <p:txBody>
          <a:bodyPr wrap="square" lIns="0" tIns="0" rIns="0" bIns="0" rtlCol="0" anchor="ctr"/>
          <a:lstStyle/>
          <a:p>
            <a:pPr algn="ctr" indent="0" marL="0">
              <a:buNone/>
            </a:pPr>
            <a:r>
              <a:rPr lang="en-US" sz="1100" b="1" dirty="0">
                <a:solidFill>
                  <a:srgbClr val="8F5208"/>
                </a:solidFill>
                <a:latin typeface="Malgun Gothic" pitchFamily="34" charset="0"/>
                <a:ea typeface="Malgun Gothic" pitchFamily="34" charset="-122"/>
                <a:cs typeface="Malgun Gothic" pitchFamily="34" charset="-120"/>
              </a:rPr>
              <a:t>시연 예정</a:t>
            </a:r>
            <a:endParaRPr lang="en-US" sz="1100" dirty="0"/>
          </a:p>
        </p:txBody>
      </p:sp>
      <p:sp>
        <p:nvSpPr>
          <p:cNvPr id="5" name="Text 3"/>
          <p:cNvSpPr txBox="1"/>
          <p:nvPr/>
        </p:nvSpPr>
        <p:spPr>
          <a:xfrm>
            <a:off x="9832543" y="329184"/>
            <a:ext cx="859536" cy="292608"/>
          </a:xfrm>
          <a:prstGeom prst="roundRect">
            <a:avLst>
              <a:gd name="adj" fmla="val 46875"/>
            </a:avLst>
          </a:prstGeom>
          <a:solidFill>
            <a:srgbClr val="E3F4F1"/>
          </a:solidFill>
          <a:ln>
            <a:solidFill>
              <a:srgbClr val="E3F4F1"/>
            </a:solidFill>
          </a:ln>
        </p:spPr>
        <p:txBody>
          <a:bodyPr wrap="square" lIns="0" tIns="0" rIns="0" bIns="0" rtlCol="0" anchor="ctr"/>
          <a:lstStyle/>
          <a:p>
            <a:pPr algn="ctr" indent="0" marL="0">
              <a:buNone/>
            </a:pPr>
            <a:r>
              <a:rPr lang="en-US" sz="1100" b="1" dirty="0">
                <a:solidFill>
                  <a:srgbClr val="0D6F64"/>
                </a:solidFill>
                <a:latin typeface="Malgun Gothic" pitchFamily="34" charset="0"/>
                <a:ea typeface="Malgun Gothic" pitchFamily="34" charset="-122"/>
                <a:cs typeface="Malgun Gothic" pitchFamily="34" charset="-120"/>
              </a:rPr>
              <a:t>원문 확인</a:t>
            </a:r>
            <a:endParaRPr lang="en-US" sz="1100" dirty="0"/>
          </a:p>
        </p:txBody>
      </p:sp>
      <p:sp>
        <p:nvSpPr>
          <p:cNvPr id="6" name="Text 4"/>
          <p:cNvSpPr txBox="1"/>
          <p:nvPr/>
        </p:nvSpPr>
        <p:spPr>
          <a:xfrm>
            <a:off x="548640" y="1645920"/>
            <a:ext cx="11094415" cy="502920"/>
          </a:xfrm>
          <a:prstGeom prst="roundRect">
            <a:avLst>
              <a:gd name="adj" fmla="val 14545"/>
            </a:avLst>
          </a:prstGeom>
          <a:solidFill>
            <a:srgbClr val="FDF0DC"/>
          </a:solidFill>
          <a:ln>
            <a:solidFill>
              <a:srgbClr val="FDF0DC"/>
            </a:solidFill>
          </a:ln>
        </p:spPr>
        <p:txBody>
          <a:bodyPr wrap="square" lIns="177800" tIns="177800" rIns="177800" bIns="177800" rtlCol="0" anchor="ctr"/>
          <a:lstStyle/>
          <a:p>
            <a:pPr algn="l" indent="0" marL="0">
              <a:buNone/>
            </a:pPr>
            <a:r>
              <a:rPr lang="en-US" sz="1600" b="1" dirty="0">
                <a:solidFill>
                  <a:srgbClr val="8F5208"/>
                </a:solidFill>
                <a:latin typeface="Malgun Gothic" pitchFamily="34" charset="0"/>
                <a:ea typeface="Malgun Gothic" pitchFamily="34" charset="-122"/>
                <a:cs typeface="Malgun Gothic" pitchFamily="34" charset="-120"/>
              </a:rPr>
              <a:t>가정:  ‘상품권·기프트카드 구매’를 전월실적 산정에 포함하도록 조항이 바뀐다면?</a:t>
            </a:r>
            <a:endParaRPr lang="en-US" sz="1600" dirty="0"/>
          </a:p>
        </p:txBody>
      </p:sp>
      <p:sp>
        <p:nvSpPr>
          <p:cNvPr id="7" name="Text 5"/>
          <p:cNvSpPr txBox="1"/>
          <p:nvPr/>
        </p:nvSpPr>
        <p:spPr>
          <a:xfrm>
            <a:off x="548640" y="2286000"/>
            <a:ext cx="3840480" cy="292608"/>
          </a:xfrm>
          <a:prstGeom prst="rect">
            <a:avLst/>
          </a:prstGeom>
          <a:noFill/>
          <a:ln/>
        </p:spPr>
        <p:txBody>
          <a:bodyPr wrap="square" lIns="0" tIns="0" rIns="0" bIns="0" rtlCol="0" anchor="t"/>
          <a:lstStyle/>
          <a:p>
            <a:pPr indent="0" marL="0">
              <a:buNone/>
            </a:pPr>
            <a:r>
              <a:rPr lang="en-US" sz="1400" b="1" dirty="0">
                <a:solidFill>
                  <a:srgbClr val="0D6F64"/>
                </a:solidFill>
                <a:latin typeface="Malgun Gothic" pitchFamily="34" charset="0"/>
                <a:ea typeface="Malgun Gothic" pitchFamily="34" charset="-122"/>
                <a:cs typeface="Malgun Gothic" pitchFamily="34" charset="-120"/>
              </a:rPr>
              <a:t>원문 사전 검토 4종 · 혜택 7개</a:t>
            </a:r>
            <a:endParaRPr lang="en-US" sz="1400" dirty="0"/>
          </a:p>
        </p:txBody>
      </p:sp>
      <p:sp>
        <p:nvSpPr>
          <p:cNvPr id="8" name="Text 6"/>
          <p:cNvSpPr txBox="1"/>
          <p:nvPr/>
        </p:nvSpPr>
        <p:spPr>
          <a:xfrm>
            <a:off x="548640" y="2633472"/>
            <a:ext cx="3703320" cy="548640"/>
          </a:xfrm>
          <a:prstGeom prst="roundRect">
            <a:avLst>
              <a:gd name="adj" fmla="val 13333"/>
            </a:avLst>
          </a:prstGeom>
          <a:solidFill>
            <a:srgbClr val="E3F4F1"/>
          </a:solidFill>
          <a:ln w="12700">
            <a:solidFill>
              <a:srgbClr val="159A8C"/>
            </a:solidFill>
          </a:ln>
        </p:spPr>
        <p:txBody>
          <a:bodyPr wrap="square" lIns="101600" tIns="101600" rIns="101600" bIns="101600" rtlCol="0" anchor="ctr"/>
          <a:lstStyle/>
          <a:p>
            <a:pPr algn="l" indent="0" marL="0">
              <a:buNone/>
            </a:pPr>
            <a:r>
              <a:rPr lang="en-US" sz="1300" b="1" dirty="0">
                <a:solidFill>
                  <a:srgbClr val="0E1A2B"/>
                </a:solidFill>
                <a:latin typeface="Malgun Gothic" pitchFamily="34" charset="0"/>
                <a:ea typeface="Malgun Gothic" pitchFamily="34" charset="-122"/>
                <a:cs typeface="Malgun Gothic" pitchFamily="34" charset="-120"/>
              </a:rPr>
              <a:t>ONE PICK STYLE</a:t>
            </a:r>
            <a:endParaRPr lang="en-US" sz="1300" dirty="0"/>
          </a:p>
          <a:p>
            <a:pPr algn="l" indent="0" marL="0">
              <a:buNone/>
            </a:pPr>
            <a:r>
              <a:rPr lang="en-US" sz="1200" dirty="0">
                <a:solidFill>
                  <a:srgbClr val="0D6F64"/>
                </a:solidFill>
                <a:latin typeface="Malgun Gothic" pitchFamily="34" charset="0"/>
                <a:ea typeface="Malgun Gothic" pitchFamily="34" charset="-122"/>
                <a:cs typeface="Malgun Gothic" pitchFamily="34" charset="-120"/>
              </a:rPr>
              <a:t>ONE MORE 대중교통(10만) · 놀이공원(20만)</a:t>
            </a:r>
            <a:endParaRPr lang="en-US" sz="1300" dirty="0"/>
          </a:p>
        </p:txBody>
      </p:sp>
      <p:sp>
        <p:nvSpPr>
          <p:cNvPr id="9" name="Shape 7"/>
          <p:cNvSpPr/>
          <p:nvPr/>
        </p:nvSpPr>
        <p:spPr>
          <a:xfrm>
            <a:off x="4251960" y="2907792"/>
            <a:ext cx="274320" cy="0"/>
          </a:xfrm>
          <a:prstGeom prst="line">
            <a:avLst/>
          </a:prstGeom>
          <a:noFill/>
          <a:ln w="19050">
            <a:solidFill>
              <a:srgbClr val="159A8C"/>
            </a:solidFill>
            <a:prstDash val="solid"/>
          </a:ln>
        </p:spPr>
      </p:sp>
      <p:sp>
        <p:nvSpPr>
          <p:cNvPr id="10" name="Text 8"/>
          <p:cNvSpPr txBox="1"/>
          <p:nvPr/>
        </p:nvSpPr>
        <p:spPr>
          <a:xfrm>
            <a:off x="548640" y="3255264"/>
            <a:ext cx="3703320" cy="548640"/>
          </a:xfrm>
          <a:prstGeom prst="roundRect">
            <a:avLst>
              <a:gd name="adj" fmla="val 13333"/>
            </a:avLst>
          </a:prstGeom>
          <a:solidFill>
            <a:srgbClr val="E3F4F1"/>
          </a:solidFill>
          <a:ln w="12700">
            <a:solidFill>
              <a:srgbClr val="159A8C"/>
            </a:solidFill>
          </a:ln>
        </p:spPr>
        <p:txBody>
          <a:bodyPr wrap="square" lIns="101600" tIns="101600" rIns="101600" bIns="101600" rtlCol="0" anchor="ctr"/>
          <a:lstStyle/>
          <a:p>
            <a:pPr algn="l" indent="0" marL="0">
              <a:buNone/>
            </a:pPr>
            <a:r>
              <a:rPr lang="en-US" sz="1300" b="1" dirty="0">
                <a:solidFill>
                  <a:srgbClr val="0E1A2B"/>
                </a:solidFill>
                <a:latin typeface="Malgun Gothic" pitchFamily="34" charset="0"/>
                <a:ea typeface="Malgun Gothic" pitchFamily="34" charset="-122"/>
                <a:cs typeface="Malgun Gothic" pitchFamily="34" charset="-120"/>
              </a:rPr>
              <a:t>ONE PICK PLAY</a:t>
            </a:r>
            <a:endParaRPr lang="en-US" sz="1300" dirty="0"/>
          </a:p>
          <a:p>
            <a:pPr algn="l" indent="0" marL="0">
              <a:buNone/>
            </a:pPr>
            <a:r>
              <a:rPr lang="en-US" sz="1200" dirty="0">
                <a:solidFill>
                  <a:srgbClr val="0D6F64"/>
                </a:solidFill>
                <a:latin typeface="Malgun Gothic" pitchFamily="34" charset="0"/>
                <a:ea typeface="Malgun Gothic" pitchFamily="34" charset="-122"/>
                <a:cs typeface="Malgun Gothic" pitchFamily="34" charset="-120"/>
              </a:rPr>
              <a:t>ONE MORE 대중교통(10만) · 놀이공원(20만)</a:t>
            </a:r>
            <a:endParaRPr lang="en-US" sz="1300" dirty="0"/>
          </a:p>
        </p:txBody>
      </p:sp>
      <p:sp>
        <p:nvSpPr>
          <p:cNvPr id="11" name="Shape 9"/>
          <p:cNvSpPr/>
          <p:nvPr/>
        </p:nvSpPr>
        <p:spPr>
          <a:xfrm>
            <a:off x="4251960" y="3529584"/>
            <a:ext cx="274320" cy="0"/>
          </a:xfrm>
          <a:prstGeom prst="line">
            <a:avLst/>
          </a:prstGeom>
          <a:noFill/>
          <a:ln w="19050">
            <a:solidFill>
              <a:srgbClr val="159A8C"/>
            </a:solidFill>
            <a:prstDash val="solid"/>
          </a:ln>
        </p:spPr>
      </p:sp>
      <p:sp>
        <p:nvSpPr>
          <p:cNvPr id="12" name="Text 10"/>
          <p:cNvSpPr txBox="1"/>
          <p:nvPr/>
        </p:nvSpPr>
        <p:spPr>
          <a:xfrm>
            <a:off x="548640" y="3877056"/>
            <a:ext cx="3703320" cy="548640"/>
          </a:xfrm>
          <a:prstGeom prst="roundRect">
            <a:avLst>
              <a:gd name="adj" fmla="val 13333"/>
            </a:avLst>
          </a:prstGeom>
          <a:solidFill>
            <a:srgbClr val="E3F4F1"/>
          </a:solidFill>
          <a:ln w="12700">
            <a:solidFill>
              <a:srgbClr val="159A8C"/>
            </a:solidFill>
          </a:ln>
        </p:spPr>
        <p:txBody>
          <a:bodyPr wrap="square" lIns="101600" tIns="101600" rIns="101600" bIns="101600" rtlCol="0" anchor="ctr"/>
          <a:lstStyle/>
          <a:p>
            <a:pPr algn="l" indent="0" marL="0">
              <a:buNone/>
            </a:pPr>
            <a:r>
              <a:rPr lang="en-US" sz="1300" b="1" dirty="0">
                <a:solidFill>
                  <a:srgbClr val="0E1A2B"/>
                </a:solidFill>
                <a:latin typeface="Malgun Gothic" pitchFamily="34" charset="0"/>
                <a:ea typeface="Malgun Gothic" pitchFamily="34" charset="-122"/>
                <a:cs typeface="Malgun Gothic" pitchFamily="34" charset="-120"/>
              </a:rPr>
              <a:t>BT</a:t>
            </a:r>
            <a:endParaRPr lang="en-US" sz="1300" dirty="0"/>
          </a:p>
          <a:p>
            <a:pPr algn="l" indent="0" marL="0">
              <a:buNone/>
            </a:pPr>
            <a:r>
              <a:rPr lang="en-US" sz="1200" dirty="0">
                <a:solidFill>
                  <a:srgbClr val="0D6F64"/>
                </a:solidFill>
                <a:latin typeface="Malgun Gothic" pitchFamily="34" charset="0"/>
                <a:ea typeface="Malgun Gothic" pitchFamily="34" charset="-122"/>
                <a:cs typeface="Malgun Gothic" pitchFamily="34" charset="-120"/>
              </a:rPr>
              <a:t>인천공항 라운지(50만)</a:t>
            </a:r>
            <a:endParaRPr lang="en-US" sz="1300" dirty="0"/>
          </a:p>
        </p:txBody>
      </p:sp>
      <p:sp>
        <p:nvSpPr>
          <p:cNvPr id="13" name="Shape 11"/>
          <p:cNvSpPr/>
          <p:nvPr/>
        </p:nvSpPr>
        <p:spPr>
          <a:xfrm>
            <a:off x="4251960" y="4151376"/>
            <a:ext cx="274320" cy="0"/>
          </a:xfrm>
          <a:prstGeom prst="line">
            <a:avLst/>
          </a:prstGeom>
          <a:noFill/>
          <a:ln w="19050">
            <a:solidFill>
              <a:srgbClr val="159A8C"/>
            </a:solidFill>
            <a:prstDash val="solid"/>
          </a:ln>
        </p:spPr>
      </p:sp>
      <p:sp>
        <p:nvSpPr>
          <p:cNvPr id="14" name="Text 12"/>
          <p:cNvSpPr txBox="1"/>
          <p:nvPr/>
        </p:nvSpPr>
        <p:spPr>
          <a:xfrm>
            <a:off x="548640" y="4498848"/>
            <a:ext cx="3703320" cy="548640"/>
          </a:xfrm>
          <a:prstGeom prst="roundRect">
            <a:avLst>
              <a:gd name="adj" fmla="val 13333"/>
            </a:avLst>
          </a:prstGeom>
          <a:solidFill>
            <a:srgbClr val="E3F4F1"/>
          </a:solidFill>
          <a:ln w="12700">
            <a:solidFill>
              <a:srgbClr val="159A8C"/>
            </a:solidFill>
          </a:ln>
        </p:spPr>
        <p:txBody>
          <a:bodyPr wrap="square" lIns="101600" tIns="101600" rIns="101600" bIns="101600" rtlCol="0" anchor="ctr"/>
          <a:lstStyle/>
          <a:p>
            <a:pPr algn="l" indent="0" marL="0">
              <a:buNone/>
            </a:pPr>
            <a:r>
              <a:rPr lang="en-US" sz="1300" b="1" dirty="0">
                <a:solidFill>
                  <a:srgbClr val="0E1A2B"/>
                </a:solidFill>
                <a:latin typeface="Malgun Gothic" pitchFamily="34" charset="0"/>
                <a:ea typeface="Malgun Gothic" pitchFamily="34" charset="-122"/>
                <a:cs typeface="Malgun Gothic" pitchFamily="34" charset="-120"/>
              </a:rPr>
              <a:t>에너지 더블</a:t>
            </a:r>
            <a:endParaRPr lang="en-US" sz="1300" dirty="0"/>
          </a:p>
          <a:p>
            <a:pPr algn="l" indent="0" marL="0">
              <a:buNone/>
            </a:pPr>
            <a:r>
              <a:rPr lang="en-US" sz="1200" dirty="0">
                <a:solidFill>
                  <a:srgbClr val="0D6F64"/>
                </a:solidFill>
                <a:latin typeface="Malgun Gothic" pitchFamily="34" charset="0"/>
                <a:ea typeface="Malgun Gothic" pitchFamily="34" charset="-122"/>
                <a:cs typeface="Malgun Gothic" pitchFamily="34" charset="-120"/>
              </a:rPr>
              <a:t>에너지 공과금(40/80만) · 일상생활(40만)</a:t>
            </a:r>
            <a:endParaRPr lang="en-US" sz="1300" dirty="0"/>
          </a:p>
        </p:txBody>
      </p:sp>
      <p:sp>
        <p:nvSpPr>
          <p:cNvPr id="15" name="Shape 13"/>
          <p:cNvSpPr/>
          <p:nvPr/>
        </p:nvSpPr>
        <p:spPr>
          <a:xfrm>
            <a:off x="4251960" y="4773168"/>
            <a:ext cx="274320" cy="0"/>
          </a:xfrm>
          <a:prstGeom prst="line">
            <a:avLst/>
          </a:prstGeom>
          <a:noFill/>
          <a:ln w="19050">
            <a:solidFill>
              <a:srgbClr val="159A8C"/>
            </a:solidFill>
            <a:prstDash val="solid"/>
          </a:ln>
        </p:spPr>
      </p:sp>
      <p:sp>
        <p:nvSpPr>
          <p:cNvPr id="16" name="Shape 14"/>
          <p:cNvSpPr/>
          <p:nvPr/>
        </p:nvSpPr>
        <p:spPr>
          <a:xfrm>
            <a:off x="4526280" y="2907792"/>
            <a:ext cx="0" cy="1865376"/>
          </a:xfrm>
          <a:prstGeom prst="line">
            <a:avLst/>
          </a:prstGeom>
          <a:noFill/>
          <a:ln w="19050">
            <a:solidFill>
              <a:srgbClr val="159A8C"/>
            </a:solidFill>
            <a:prstDash val="solid"/>
          </a:ln>
        </p:spPr>
      </p:sp>
      <p:sp>
        <p:nvSpPr>
          <p:cNvPr id="17" name="Shape 15"/>
          <p:cNvSpPr/>
          <p:nvPr/>
        </p:nvSpPr>
        <p:spPr>
          <a:xfrm>
            <a:off x="4526280" y="3767328"/>
            <a:ext cx="301752" cy="0"/>
          </a:xfrm>
          <a:prstGeom prst="line">
            <a:avLst/>
          </a:prstGeom>
          <a:noFill/>
          <a:ln w="19050">
            <a:solidFill>
              <a:srgbClr val="159A8C"/>
            </a:solidFill>
            <a:prstDash val="solid"/>
            <a:tailEnd type="triangle"/>
          </a:ln>
        </p:spPr>
      </p:sp>
      <p:sp>
        <p:nvSpPr>
          <p:cNvPr id="18" name="Text 16"/>
          <p:cNvSpPr txBox="1"/>
          <p:nvPr/>
        </p:nvSpPr>
        <p:spPr>
          <a:xfrm>
            <a:off x="4297680" y="2313432"/>
            <a:ext cx="3291840" cy="256032"/>
          </a:xfrm>
          <a:prstGeom prst="rect">
            <a:avLst/>
          </a:prstGeom>
          <a:noFill/>
          <a:ln/>
        </p:spPr>
        <p:txBody>
          <a:bodyPr wrap="square" lIns="0" tIns="0" rIns="0" bIns="0" rtlCol="0" anchor="t"/>
          <a:lstStyle/>
          <a:p>
            <a:pPr indent="0" marL="0">
              <a:buNone/>
            </a:pPr>
            <a:r>
              <a:rPr lang="en-US" sz="1000" b="1" dirty="0">
                <a:solidFill>
                  <a:srgbClr val="0D6F64"/>
                </a:solidFill>
                <a:latin typeface="Courier New" pitchFamily="34" charset="0"/>
                <a:ea typeface="Courier New" pitchFamily="34" charset="-122"/>
                <a:cs typeface="Courier New" pitchFamily="34" charset="-120"/>
              </a:rPr>
              <a:t>REQUIRES → EXCLUDES {scope: 실적}</a:t>
            </a:r>
            <a:endParaRPr lang="en-US" sz="1000" dirty="0"/>
          </a:p>
        </p:txBody>
      </p:sp>
      <p:sp>
        <p:nvSpPr>
          <p:cNvPr id="19" name="Text 17"/>
          <p:cNvSpPr txBox="1"/>
          <p:nvPr/>
        </p:nvSpPr>
        <p:spPr>
          <a:xfrm>
            <a:off x="4846320" y="3081528"/>
            <a:ext cx="2148840" cy="1371600"/>
          </a:xfrm>
          <a:prstGeom prst="roundRect">
            <a:avLst>
              <a:gd name="adj" fmla="val 8000"/>
            </a:avLst>
          </a:prstGeom>
          <a:solidFill>
            <a:srgbClr val="D9472B"/>
          </a:solidFill>
          <a:ln>
            <a:solidFill>
              <a:srgbClr val="D9472B"/>
            </a:solidFill>
          </a:ln>
        </p:spPr>
        <p:txBody>
          <a:bodyPr wrap="square" lIns="38100" tIns="38100" rIns="38100" bIns="38100" rtlCol="0" anchor="ctr"/>
          <a:lstStyle/>
          <a:p>
            <a:pPr algn="ctr" indent="0" marL="0">
              <a:buNone/>
            </a:pPr>
            <a:r>
              <a:rPr lang="en-US" sz="1400" b="1" dirty="0">
                <a:solidFill>
                  <a:srgbClr val="FFFFFF"/>
                </a:solidFill>
                <a:latin typeface="Malgun Gothic" pitchFamily="34" charset="0"/>
                <a:ea typeface="Malgun Gothic" pitchFamily="34" charset="-122"/>
                <a:cs typeface="Malgun Gothic" pitchFamily="34" charset="-120"/>
              </a:rPr>
              <a:t>상품권·</a:t>
            </a:r>
            <a:endParaRPr lang="en-US" sz="1400" dirty="0"/>
          </a:p>
          <a:p>
            <a:pPr algn="ctr" indent="0" marL="0">
              <a:buNone/>
            </a:pPr>
            <a:r>
              <a:rPr lang="en-US" sz="1400" b="1" dirty="0">
                <a:solidFill>
                  <a:srgbClr val="FFFFFF"/>
                </a:solidFill>
                <a:latin typeface="Malgun Gothic" pitchFamily="34" charset="0"/>
                <a:ea typeface="Malgun Gothic" pitchFamily="34" charset="-122"/>
                <a:cs typeface="Malgun Gothic" pitchFamily="34" charset="-120"/>
              </a:rPr>
              <a:t>기프트카드 구매</a:t>
            </a:r>
            <a:endParaRPr lang="en-US" sz="1400" dirty="0"/>
          </a:p>
          <a:p>
            <a:pPr algn="ctr" indent="0" marL="0">
              <a:buNone/>
            </a:pPr>
            <a:r>
              <a:rPr lang="en-US" sz="1400" b="1" dirty="0">
                <a:solidFill>
                  <a:srgbClr val="FFFFFF"/>
                </a:solidFill>
                <a:latin typeface="Malgun Gothic" pitchFamily="34" charset="0"/>
                <a:ea typeface="Malgun Gothic" pitchFamily="34" charset="-122"/>
                <a:cs typeface="Malgun Gothic" pitchFamily="34" charset="-120"/>
              </a:rPr>
              <a:t>(실적 제외 항목)</a:t>
            </a:r>
            <a:endParaRPr lang="en-US" sz="1400" dirty="0"/>
          </a:p>
        </p:txBody>
      </p:sp>
      <p:sp>
        <p:nvSpPr>
          <p:cNvPr id="20" name="Text 18"/>
          <p:cNvSpPr txBox="1"/>
          <p:nvPr/>
        </p:nvSpPr>
        <p:spPr>
          <a:xfrm>
            <a:off x="7726680" y="2286000"/>
            <a:ext cx="3913632" cy="292608"/>
          </a:xfrm>
          <a:prstGeom prst="rect">
            <a:avLst/>
          </a:prstGeom>
          <a:noFill/>
          <a:ln/>
        </p:spPr>
        <p:txBody>
          <a:bodyPr wrap="square" lIns="0" tIns="0" rIns="0" bIns="0" rtlCol="0" anchor="t"/>
          <a:lstStyle/>
          <a:p>
            <a:pPr indent="0" marL="0">
              <a:buNone/>
            </a:pPr>
            <a:r>
              <a:rPr lang="en-US" sz="1400" b="1" dirty="0">
                <a:solidFill>
                  <a:srgbClr val="3A4A60"/>
                </a:solidFill>
                <a:latin typeface="Malgun Gothic" pitchFamily="34" charset="0"/>
                <a:ea typeface="Malgun Gothic" pitchFamily="34" charset="-122"/>
                <a:cs typeface="Malgun Gothic" pitchFamily="34" charset="-120"/>
              </a:rPr>
              <a:t>같은 단어, 다른 범위 — 별도 표시</a:t>
            </a:r>
            <a:endParaRPr lang="en-US" sz="1400" dirty="0"/>
          </a:p>
        </p:txBody>
      </p:sp>
      <p:sp>
        <p:nvSpPr>
          <p:cNvPr id="21" name="Text 19"/>
          <p:cNvSpPr txBox="1"/>
          <p:nvPr/>
        </p:nvSpPr>
        <p:spPr>
          <a:xfrm>
            <a:off x="7726680" y="2633472"/>
            <a:ext cx="3913632" cy="548640"/>
          </a:xfrm>
          <a:prstGeom prst="roundRect">
            <a:avLst>
              <a:gd name="adj" fmla="val 13333"/>
            </a:avLst>
          </a:prstGeom>
          <a:solidFill>
            <a:srgbClr val="F3F5F8"/>
          </a:solidFill>
          <a:ln w="9525">
            <a:solidFill>
              <a:srgbClr val="F3F5F8"/>
            </a:solidFill>
          </a:ln>
        </p:spPr>
        <p:txBody>
          <a:bodyPr wrap="square" lIns="127000" tIns="127000" rIns="127000" bIns="127000" rtlCol="0" anchor="ctr"/>
          <a:lstStyle/>
          <a:p>
            <a:pPr algn="l" indent="0" marL="0">
              <a:buNone/>
            </a:pPr>
            <a:r>
              <a:rPr lang="en-US" sz="1300" dirty="0">
                <a:solidFill>
                  <a:srgbClr val="3A4A60"/>
                </a:solidFill>
                <a:latin typeface="Malgun Gothic" pitchFamily="34" charset="0"/>
                <a:ea typeface="Malgun Gothic" pitchFamily="34" charset="-122"/>
                <a:cs typeface="Malgun Gothic" pitchFamily="34" charset="-120"/>
              </a:rPr>
              <a:t>BT · BIG TICKET 할인 제외</a:t>
            </a:r>
            <a:endParaRPr lang="en-US" sz="1300" dirty="0"/>
          </a:p>
        </p:txBody>
      </p:sp>
      <p:sp>
        <p:nvSpPr>
          <p:cNvPr id="22" name="Shape 20"/>
          <p:cNvSpPr/>
          <p:nvPr/>
        </p:nvSpPr>
        <p:spPr>
          <a:xfrm>
            <a:off x="7406640" y="2907792"/>
            <a:ext cx="320040" cy="0"/>
          </a:xfrm>
          <a:prstGeom prst="line">
            <a:avLst/>
          </a:prstGeom>
          <a:noFill/>
          <a:ln w="15875">
            <a:solidFill>
              <a:srgbClr val="A0AAB8"/>
            </a:solidFill>
            <a:prstDash val="dash"/>
          </a:ln>
        </p:spPr>
      </p:sp>
      <p:sp>
        <p:nvSpPr>
          <p:cNvPr id="23" name="Text 21"/>
          <p:cNvSpPr txBox="1"/>
          <p:nvPr/>
        </p:nvSpPr>
        <p:spPr>
          <a:xfrm>
            <a:off x="7726680" y="3255264"/>
            <a:ext cx="3913632" cy="548640"/>
          </a:xfrm>
          <a:prstGeom prst="roundRect">
            <a:avLst>
              <a:gd name="adj" fmla="val 13333"/>
            </a:avLst>
          </a:prstGeom>
          <a:solidFill>
            <a:srgbClr val="F3F5F8"/>
          </a:solidFill>
          <a:ln w="9525">
            <a:solidFill>
              <a:srgbClr val="F3F5F8"/>
            </a:solidFill>
          </a:ln>
        </p:spPr>
        <p:txBody>
          <a:bodyPr wrap="square" lIns="127000" tIns="127000" rIns="127000" bIns="127000" rtlCol="0" anchor="ctr"/>
          <a:lstStyle/>
          <a:p>
            <a:pPr algn="l" indent="0" marL="0">
              <a:buNone/>
            </a:pPr>
            <a:r>
              <a:rPr lang="en-US" sz="1300" dirty="0">
                <a:solidFill>
                  <a:srgbClr val="3A4A60"/>
                </a:solidFill>
                <a:latin typeface="Malgun Gothic" pitchFamily="34" charset="0"/>
                <a:ea typeface="Malgun Gothic" pitchFamily="34" charset="-122"/>
                <a:cs typeface="Malgun Gothic" pitchFamily="34" charset="-120"/>
              </a:rPr>
              <a:t>에너지 더블 · 대형마트 할인 제외</a:t>
            </a:r>
            <a:endParaRPr lang="en-US" sz="1300" dirty="0"/>
          </a:p>
        </p:txBody>
      </p:sp>
      <p:sp>
        <p:nvSpPr>
          <p:cNvPr id="24" name="Shape 22"/>
          <p:cNvSpPr/>
          <p:nvPr/>
        </p:nvSpPr>
        <p:spPr>
          <a:xfrm>
            <a:off x="7406640" y="3529584"/>
            <a:ext cx="320040" cy="0"/>
          </a:xfrm>
          <a:prstGeom prst="line">
            <a:avLst/>
          </a:prstGeom>
          <a:noFill/>
          <a:ln w="15875">
            <a:solidFill>
              <a:srgbClr val="A0AAB8"/>
            </a:solidFill>
            <a:prstDash val="dash"/>
          </a:ln>
        </p:spPr>
      </p:sp>
      <p:sp>
        <p:nvSpPr>
          <p:cNvPr id="25" name="Text 23"/>
          <p:cNvSpPr txBox="1"/>
          <p:nvPr/>
        </p:nvSpPr>
        <p:spPr>
          <a:xfrm>
            <a:off x="7726680" y="3877056"/>
            <a:ext cx="3913632" cy="548640"/>
          </a:xfrm>
          <a:prstGeom prst="roundRect">
            <a:avLst>
              <a:gd name="adj" fmla="val 13333"/>
            </a:avLst>
          </a:prstGeom>
          <a:solidFill>
            <a:srgbClr val="F3F5F8"/>
          </a:solidFill>
          <a:ln w="9525">
            <a:solidFill>
              <a:srgbClr val="F3F5F8"/>
            </a:solidFill>
          </a:ln>
        </p:spPr>
        <p:txBody>
          <a:bodyPr wrap="square" lIns="127000" tIns="127000" rIns="127000" bIns="127000" rtlCol="0" anchor="ctr"/>
          <a:lstStyle/>
          <a:p>
            <a:pPr algn="l" indent="0" marL="0">
              <a:buNone/>
            </a:pPr>
            <a:r>
              <a:rPr lang="en-US" sz="1300" dirty="0">
                <a:solidFill>
                  <a:srgbClr val="3A4A60"/>
                </a:solidFill>
                <a:latin typeface="Malgun Gothic" pitchFamily="34" charset="0"/>
                <a:ea typeface="Malgun Gothic" pitchFamily="34" charset="-122"/>
                <a:cs typeface="Malgun Gothic" pitchFamily="34" charset="-120"/>
              </a:rPr>
              <a:t>STYLE·PLAY · 서비스 공통 제외</a:t>
            </a:r>
            <a:endParaRPr lang="en-US" sz="1300" dirty="0"/>
          </a:p>
        </p:txBody>
      </p:sp>
      <p:sp>
        <p:nvSpPr>
          <p:cNvPr id="26" name="Shape 24"/>
          <p:cNvSpPr/>
          <p:nvPr/>
        </p:nvSpPr>
        <p:spPr>
          <a:xfrm>
            <a:off x="7406640" y="4151376"/>
            <a:ext cx="320040" cy="0"/>
          </a:xfrm>
          <a:prstGeom prst="line">
            <a:avLst/>
          </a:prstGeom>
          <a:noFill/>
          <a:ln w="15875">
            <a:solidFill>
              <a:srgbClr val="A0AAB8"/>
            </a:solidFill>
            <a:prstDash val="dash"/>
          </a:ln>
        </p:spPr>
      </p:sp>
      <p:sp>
        <p:nvSpPr>
          <p:cNvPr id="27" name="Shape 25"/>
          <p:cNvSpPr/>
          <p:nvPr/>
        </p:nvSpPr>
        <p:spPr>
          <a:xfrm>
            <a:off x="7406640" y="2907792"/>
            <a:ext cx="0" cy="1243584"/>
          </a:xfrm>
          <a:prstGeom prst="line">
            <a:avLst/>
          </a:prstGeom>
          <a:noFill/>
          <a:ln w="15875">
            <a:solidFill>
              <a:srgbClr val="A0AAB8"/>
            </a:solidFill>
            <a:prstDash val="dash"/>
          </a:ln>
        </p:spPr>
      </p:sp>
      <p:sp>
        <p:nvSpPr>
          <p:cNvPr id="28" name="Shape 26"/>
          <p:cNvSpPr/>
          <p:nvPr/>
        </p:nvSpPr>
        <p:spPr>
          <a:xfrm>
            <a:off x="6995160" y="3767328"/>
            <a:ext cx="411480" cy="0"/>
          </a:xfrm>
          <a:prstGeom prst="line">
            <a:avLst/>
          </a:prstGeom>
          <a:noFill/>
          <a:ln w="15875">
            <a:solidFill>
              <a:srgbClr val="A0AAB8"/>
            </a:solidFill>
            <a:prstDash val="dash"/>
          </a:ln>
        </p:spPr>
      </p:sp>
      <p:sp>
        <p:nvSpPr>
          <p:cNvPr id="29" name="Text 27"/>
          <p:cNvSpPr txBox="1"/>
          <p:nvPr/>
        </p:nvSpPr>
        <p:spPr>
          <a:xfrm>
            <a:off x="7059168" y="3246120"/>
            <a:ext cx="365760" cy="457200"/>
          </a:xfrm>
          <a:prstGeom prst="rect">
            <a:avLst/>
          </a:prstGeom>
          <a:noFill/>
          <a:ln/>
        </p:spPr>
        <p:txBody>
          <a:bodyPr wrap="square" lIns="0" tIns="0" rIns="0" bIns="0" rtlCol="0" anchor="t"/>
          <a:lstStyle/>
          <a:p>
            <a:pPr indent="0" marL="0">
              <a:buNone/>
            </a:pPr>
            <a:r>
              <a:rPr lang="en-US" sz="900" dirty="0">
                <a:solidFill>
                  <a:srgbClr val="5B6778"/>
                </a:solidFill>
                <a:latin typeface="Malgun Gothic" pitchFamily="34" charset="0"/>
                <a:ea typeface="Malgun Gothic" pitchFamily="34" charset="-122"/>
                <a:cs typeface="Malgun Gothic" pitchFamily="34" charset="-120"/>
              </a:rPr>
              <a:t>scope:</a:t>
            </a:r>
            <a:endParaRPr lang="en-US" sz="900" dirty="0"/>
          </a:p>
          <a:p>
            <a:pPr indent="0" marL="0">
              <a:buNone/>
            </a:pPr>
            <a:r>
              <a:rPr lang="en-US" sz="900" dirty="0">
                <a:solidFill>
                  <a:srgbClr val="5B6778"/>
                </a:solidFill>
                <a:latin typeface="Malgun Gothic" pitchFamily="34" charset="0"/>
                <a:ea typeface="Malgun Gothic" pitchFamily="34" charset="-122"/>
                <a:cs typeface="Malgun Gothic" pitchFamily="34" charset="-120"/>
              </a:rPr>
              <a:t>혜택</a:t>
            </a:r>
            <a:endParaRPr lang="en-US" sz="900" dirty="0"/>
          </a:p>
        </p:txBody>
      </p:sp>
      <p:sp>
        <p:nvSpPr>
          <p:cNvPr id="30" name="Text 28"/>
          <p:cNvSpPr txBox="1"/>
          <p:nvPr/>
        </p:nvSpPr>
        <p:spPr>
          <a:xfrm>
            <a:off x="7726680" y="4498848"/>
            <a:ext cx="3913632" cy="548640"/>
          </a:xfrm>
          <a:prstGeom prst="roundRect">
            <a:avLst>
              <a:gd name="adj" fmla="val 13333"/>
            </a:avLst>
          </a:prstGeom>
          <a:solidFill>
            <a:srgbClr val="FFFFFF"/>
          </a:solidFill>
          <a:ln w="12700">
            <a:solidFill>
              <a:srgbClr val="A0AAB8"/>
            </a:solidFill>
            <a:prstDash val="dash"/>
          </a:ln>
        </p:spPr>
        <p:txBody>
          <a:bodyPr wrap="square" lIns="127000" tIns="127000" rIns="127000" bIns="127000" rtlCol="0" anchor="ctr"/>
          <a:lstStyle/>
          <a:p>
            <a:pPr algn="l" indent="0" marL="0">
              <a:buNone/>
            </a:pPr>
            <a:r>
              <a:rPr lang="en-US" sz="1200" dirty="0">
                <a:solidFill>
                  <a:srgbClr val="5B6778"/>
                </a:solidFill>
                <a:latin typeface="Malgun Gothic" pitchFamily="34" charset="0"/>
                <a:ea typeface="Malgun Gothic" pitchFamily="34" charset="-122"/>
                <a:cs typeface="Malgun Gothic" pitchFamily="34" charset="-120"/>
              </a:rPr>
              <a:t>영향 없음: ONE PICK·STYLE/PLAY 영역, BIG TICKET (지난달 실적 조건 없음)</a:t>
            </a:r>
            <a:endParaRPr lang="en-US" sz="1200" dirty="0"/>
          </a:p>
        </p:txBody>
      </p:sp>
      <p:sp>
        <p:nvSpPr>
          <p:cNvPr id="31" name="Text 29"/>
          <p:cNvSpPr txBox="1"/>
          <p:nvPr/>
        </p:nvSpPr>
        <p:spPr>
          <a:xfrm>
            <a:off x="548640" y="5303520"/>
            <a:ext cx="11094415" cy="685800"/>
          </a:xfrm>
          <a:prstGeom prst="roundRect">
            <a:avLst>
              <a:gd name="adj" fmla="val 10667"/>
            </a:avLst>
          </a:prstGeom>
          <a:solidFill>
            <a:srgbClr val="0E1A2B"/>
          </a:solidFill>
          <a:ln>
            <a:solidFill>
              <a:srgbClr val="0E1A2B"/>
            </a:solidFill>
          </a:ln>
        </p:spPr>
        <p:txBody>
          <a:bodyPr wrap="square" lIns="177800" tIns="177800" rIns="177800" bIns="177800" rtlCol="0" anchor="ctr"/>
          <a:lstStyle/>
          <a:p>
            <a:pPr algn="l" indent="0" marL="0">
              <a:buNone/>
            </a:pPr>
            <a:r>
              <a:rPr lang="en-US" sz="1500" dirty="0">
                <a:solidFill>
                  <a:srgbClr val="A9B7C9"/>
                </a:solidFill>
                <a:latin typeface="Malgun Gothic" pitchFamily="34" charset="0"/>
                <a:ea typeface="Malgun Gothic" pitchFamily="34" charset="-122"/>
                <a:cs typeface="Malgun Gothic" pitchFamily="34" charset="-120"/>
              </a:rPr>
              <a:t>‘상품권’ 검색 → </a:t>
            </a:r>
            <a:pPr algn="l" indent="0" marL="0">
              <a:buNone/>
            </a:pPr>
            <a:r>
              <a:rPr lang="en-US" sz="1500" b="1" dirty="0">
                <a:solidFill>
                  <a:srgbClr val="FFFFFF"/>
                </a:solidFill>
                <a:latin typeface="Malgun Gothic" pitchFamily="34" charset="0"/>
                <a:ea typeface="Malgun Gothic" pitchFamily="34" charset="-122"/>
                <a:cs typeface="Malgun Gothic" pitchFamily="34" charset="-120"/>
              </a:rPr>
              <a:t>상품권 문구 전부</a:t>
            </a:r>
            <a:pPr algn="l" indent="0" marL="0">
              <a:buNone/>
            </a:pPr>
            <a:r>
              <a:rPr lang="en-US" sz="1500" dirty="0">
                <a:solidFill>
                  <a:srgbClr val="A9B7C9"/>
                </a:solidFill>
                <a:latin typeface="Malgun Gothic" pitchFamily="34" charset="0"/>
                <a:ea typeface="Malgun Gothic" pitchFamily="34" charset="-122"/>
                <a:cs typeface="Malgun Gothic" pitchFamily="34" charset="-120"/>
              </a:rPr>
              <a:t>      그래프 경로 → </a:t>
            </a:r>
            <a:pPr algn="l" indent="0" marL="0">
              <a:buNone/>
            </a:pPr>
            <a:r>
              <a:rPr lang="en-US" sz="1500" b="1" dirty="0">
                <a:solidFill>
                  <a:srgbClr val="E8A33D"/>
                </a:solidFill>
                <a:latin typeface="Malgun Gothic" pitchFamily="34" charset="0"/>
                <a:ea typeface="Malgun Gothic" pitchFamily="34" charset="-122"/>
                <a:cs typeface="Malgun Gothic" pitchFamily="34" charset="-120"/>
              </a:rPr>
              <a:t>실적 조건에 걸린 7개 혜택 + 범위 다른 조항 분리</a:t>
            </a:r>
            <a:endParaRPr lang="en-US" sz="1500" dirty="0"/>
          </a:p>
        </p:txBody>
      </p:sp>
      <p:sp>
        <p:nvSpPr>
          <p:cNvPr id="32" name="Text 30"/>
          <p:cNvSpPr txBox="1"/>
          <p:nvPr/>
        </p:nvSpPr>
        <p:spPr>
          <a:xfrm>
            <a:off x="548640" y="6400800"/>
            <a:ext cx="10515600" cy="292608"/>
          </a:xfrm>
          <a:prstGeom prst="rect">
            <a:avLst/>
          </a:prstGeom>
          <a:noFill/>
          <a:ln/>
        </p:spPr>
        <p:txBody>
          <a:bodyPr wrap="square" lIns="0" tIns="0" rIns="0" bIns="0" rtlCol="0" anchor="ctr"/>
          <a:lstStyle/>
          <a:p>
            <a:pPr indent="0" marL="0">
              <a:buNone/>
            </a:pPr>
            <a:r>
              <a:rPr lang="en-US" sz="1000" dirty="0">
                <a:solidFill>
                  <a:srgbClr val="6B7686"/>
                </a:solidFill>
                <a:latin typeface="Malgun Gothic" pitchFamily="34" charset="0"/>
                <a:ea typeface="Malgun Gothic" pitchFamily="34" charset="-122"/>
                <a:cs typeface="Malgun Gothic" pitchFamily="34" charset="-120"/>
              </a:rPr>
              <a:t>4종 원문 수작업 검토에서 도출한 기대 결과 · 10종 확대 시 재검토 예정 · Cypher·MCP 미실행 · 자동 변경 아닌 검토 후보</a:t>
            </a:r>
            <a:endParaRPr lang="en-US" sz="1000" dirty="0"/>
          </a:p>
        </p:txBody>
      </p:sp>
      <p:sp>
        <p:nvSpPr>
          <p:cNvPr id="25" name="Slide Number Placeholder 0"/>
          <p:cNvSpPr>
            <a:spLocks noGrp="1"/>
          </p:cNvSpPr>
          <p:nvPr>
            <p:ph type="sldNum" sz="quarter" idx="4294967295"/>
          </p:nvPr>
        </p:nvSpPr>
        <p:spPr>
          <a:xfrm>
            <a:off x="11274552" y="6437376"/>
            <a:ext cx="36576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Malgun Gothic"/>
                <a:ea typeface="Malgun Gothic"/>
                <a:cs typeface="Malgun Gothic"/>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548640" y="329184"/>
            <a:ext cx="7498080" cy="292608"/>
          </a:xfrm>
          <a:prstGeom prst="rect">
            <a:avLst/>
          </a:prstGeom>
          <a:noFill/>
          <a:ln/>
        </p:spPr>
        <p:txBody>
          <a:bodyPr wrap="square" lIns="0" tIns="0" rIns="0" bIns="0" rtlCol="0" anchor="ctr"/>
          <a:lstStyle/>
          <a:p>
            <a:pPr indent="0" marL="0">
              <a:buNone/>
            </a:pPr>
            <a:r>
              <a:rPr lang="en-US" sz="1200" b="1" dirty="0">
                <a:solidFill>
                  <a:srgbClr val="8F5208"/>
                </a:solidFill>
                <a:latin typeface="Malgun Gothic" pitchFamily="34" charset="0"/>
                <a:ea typeface="Malgun Gothic" pitchFamily="34" charset="-122"/>
                <a:cs typeface="Malgun Gothic" pitchFamily="34" charset="-120"/>
              </a:rPr>
              <a:t>09   시연 ③ 오류 검증</a:t>
            </a:r>
            <a:endParaRPr lang="en-US" sz="1200" dirty="0"/>
          </a:p>
        </p:txBody>
      </p:sp>
      <p:sp>
        <p:nvSpPr>
          <p:cNvPr id="3" name="Text 0"/>
          <p:cNvSpPr/>
          <p:nvPr>
            <p:ph idx="101"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2400" b="1" dirty="0">
                <a:solidFill>
                  <a:srgbClr val="0E1A2B"/>
                </a:solidFill>
                <a:latin typeface="Malgun Gothic" pitchFamily="34" charset="0"/>
                <a:ea typeface="Malgun Gothic" pitchFamily="34" charset="-122"/>
                <a:cs typeface="Malgun Gothic" pitchFamily="34" charset="-120"/>
              </a:rPr>
              <a:t>틀린 관계는 검증하고, 근거가 부족하면 판단을 보류합니다</a:t>
            </a:r>
            <a:endParaRPr lang="en-US" sz="2400" dirty="0"/>
          </a:p>
        </p:txBody>
      </p:sp>
      <p:sp>
        <p:nvSpPr>
          <p:cNvPr id="4" name="Text 2"/>
          <p:cNvSpPr txBox="1"/>
          <p:nvPr/>
        </p:nvSpPr>
        <p:spPr>
          <a:xfrm>
            <a:off x="10783519" y="329184"/>
            <a:ext cx="859536" cy="292608"/>
          </a:xfrm>
          <a:prstGeom prst="roundRect">
            <a:avLst>
              <a:gd name="adj" fmla="val 46875"/>
            </a:avLst>
          </a:prstGeom>
          <a:solidFill>
            <a:srgbClr val="FDF0DC"/>
          </a:solidFill>
          <a:ln>
            <a:solidFill>
              <a:srgbClr val="FDF0DC"/>
            </a:solidFill>
          </a:ln>
        </p:spPr>
        <p:txBody>
          <a:bodyPr wrap="square" lIns="0" tIns="0" rIns="0" bIns="0" rtlCol="0" anchor="ctr"/>
          <a:lstStyle/>
          <a:p>
            <a:pPr algn="ctr" indent="0" marL="0">
              <a:buNone/>
            </a:pPr>
            <a:r>
              <a:rPr lang="en-US" sz="1100" b="1" dirty="0">
                <a:solidFill>
                  <a:srgbClr val="8F5208"/>
                </a:solidFill>
                <a:latin typeface="Malgun Gothic" pitchFamily="34" charset="0"/>
                <a:ea typeface="Malgun Gothic" pitchFamily="34" charset="-122"/>
                <a:cs typeface="Malgun Gothic" pitchFamily="34" charset="-120"/>
              </a:rPr>
              <a:t>검증 예정</a:t>
            </a:r>
            <a:endParaRPr lang="en-US" sz="1100" dirty="0"/>
          </a:p>
        </p:txBody>
      </p:sp>
      <p:sp>
        <p:nvSpPr>
          <p:cNvPr id="5" name="Text 3"/>
          <p:cNvSpPr txBox="1"/>
          <p:nvPr/>
        </p:nvSpPr>
        <p:spPr>
          <a:xfrm>
            <a:off x="9832543" y="329184"/>
            <a:ext cx="859536" cy="292608"/>
          </a:xfrm>
          <a:prstGeom prst="roundRect">
            <a:avLst>
              <a:gd name="adj" fmla="val 46875"/>
            </a:avLst>
          </a:prstGeom>
          <a:solidFill>
            <a:srgbClr val="E3F4F1"/>
          </a:solidFill>
          <a:ln>
            <a:solidFill>
              <a:srgbClr val="E3F4F1"/>
            </a:solidFill>
          </a:ln>
        </p:spPr>
        <p:txBody>
          <a:bodyPr wrap="square" lIns="0" tIns="0" rIns="0" bIns="0" rtlCol="0" anchor="ctr"/>
          <a:lstStyle/>
          <a:p>
            <a:pPr algn="ctr" indent="0" marL="0">
              <a:buNone/>
            </a:pPr>
            <a:r>
              <a:rPr lang="en-US" sz="1100" b="1" dirty="0">
                <a:solidFill>
                  <a:srgbClr val="0D6F64"/>
                </a:solidFill>
                <a:latin typeface="Malgun Gothic" pitchFamily="34" charset="0"/>
                <a:ea typeface="Malgun Gothic" pitchFamily="34" charset="-122"/>
                <a:cs typeface="Malgun Gothic" pitchFamily="34" charset="-120"/>
              </a:rPr>
              <a:t>원문 확인</a:t>
            </a:r>
            <a:endParaRPr lang="en-US" sz="1100" dirty="0"/>
          </a:p>
        </p:txBody>
      </p:sp>
      <p:sp>
        <p:nvSpPr>
          <p:cNvPr id="6" name="Text 4"/>
          <p:cNvSpPr txBox="1"/>
          <p:nvPr/>
        </p:nvSpPr>
        <p:spPr>
          <a:xfrm>
            <a:off x="548640" y="1691640"/>
            <a:ext cx="2487168" cy="530352"/>
          </a:xfrm>
          <a:prstGeom prst="roundRect">
            <a:avLst>
              <a:gd name="adj" fmla="val 13793"/>
            </a:avLst>
          </a:prstGeom>
          <a:solidFill>
            <a:srgbClr val="E8ECF2"/>
          </a:solidFill>
          <a:ln>
            <a:solidFill>
              <a:srgbClr val="E8ECF2"/>
            </a:solidFill>
          </a:ln>
        </p:spPr>
        <p:txBody>
          <a:bodyPr wrap="square" lIns="76200" tIns="76200" rIns="76200" bIns="76200" rtlCol="0" anchor="ctr"/>
          <a:lstStyle/>
          <a:p>
            <a:pPr algn="ctr" indent="0" marL="0">
              <a:buNone/>
            </a:pPr>
            <a:r>
              <a:rPr lang="en-US" sz="1400" b="1" dirty="0">
                <a:solidFill>
                  <a:srgbClr val="0E1A2B"/>
                </a:solidFill>
                <a:latin typeface="Malgun Gothic" pitchFamily="34" charset="0"/>
                <a:ea typeface="Malgun Gothic" pitchFamily="34" charset="-122"/>
                <a:cs typeface="Malgun Gothic" pitchFamily="34" charset="-120"/>
              </a:rPr>
              <a:t>원문 청크</a:t>
            </a:r>
            <a:endParaRPr lang="en-US" sz="1400" dirty="0"/>
          </a:p>
        </p:txBody>
      </p:sp>
      <p:sp>
        <p:nvSpPr>
          <p:cNvPr id="7" name="Shape 5"/>
          <p:cNvSpPr/>
          <p:nvPr/>
        </p:nvSpPr>
        <p:spPr>
          <a:xfrm>
            <a:off x="3063240" y="1956816"/>
            <a:ext cx="327050" cy="0"/>
          </a:xfrm>
          <a:prstGeom prst="line">
            <a:avLst/>
          </a:prstGeom>
          <a:noFill/>
          <a:ln w="19050">
            <a:solidFill>
              <a:srgbClr val="8A94A3"/>
            </a:solidFill>
            <a:prstDash val="solid"/>
            <a:tailEnd type="triangle"/>
          </a:ln>
        </p:spPr>
      </p:sp>
      <p:sp>
        <p:nvSpPr>
          <p:cNvPr id="8" name="Text 6"/>
          <p:cNvSpPr txBox="1"/>
          <p:nvPr/>
        </p:nvSpPr>
        <p:spPr>
          <a:xfrm>
            <a:off x="3417722" y="1691640"/>
            <a:ext cx="2487168" cy="530352"/>
          </a:xfrm>
          <a:prstGeom prst="roundRect">
            <a:avLst>
              <a:gd name="adj" fmla="val 13793"/>
            </a:avLst>
          </a:prstGeom>
          <a:solidFill>
            <a:srgbClr val="E8ECF2"/>
          </a:solidFill>
          <a:ln>
            <a:solidFill>
              <a:srgbClr val="E8ECF2"/>
            </a:solidFill>
          </a:ln>
        </p:spPr>
        <p:txBody>
          <a:bodyPr wrap="square" lIns="76200" tIns="76200" rIns="76200" bIns="76200" rtlCol="0" anchor="ctr"/>
          <a:lstStyle/>
          <a:p>
            <a:pPr algn="ctr" indent="0" marL="0">
              <a:buNone/>
            </a:pPr>
            <a:r>
              <a:rPr lang="en-US" sz="1400" b="1" dirty="0">
                <a:solidFill>
                  <a:srgbClr val="0E1A2B"/>
                </a:solidFill>
                <a:latin typeface="Malgun Gothic" pitchFamily="34" charset="0"/>
                <a:ea typeface="Malgun Gothic" pitchFamily="34" charset="-122"/>
                <a:cs typeface="Malgun Gothic" pitchFamily="34" charset="-120"/>
              </a:rPr>
              <a:t>트리플 JSON</a:t>
            </a:r>
            <a:endParaRPr lang="en-US" sz="1400" dirty="0"/>
          </a:p>
        </p:txBody>
      </p:sp>
      <p:sp>
        <p:nvSpPr>
          <p:cNvPr id="9" name="Shape 7"/>
          <p:cNvSpPr/>
          <p:nvPr/>
        </p:nvSpPr>
        <p:spPr>
          <a:xfrm>
            <a:off x="5932322" y="1956816"/>
            <a:ext cx="327050" cy="0"/>
          </a:xfrm>
          <a:prstGeom prst="line">
            <a:avLst/>
          </a:prstGeom>
          <a:noFill/>
          <a:ln w="19050">
            <a:solidFill>
              <a:srgbClr val="8A94A3"/>
            </a:solidFill>
            <a:prstDash val="solid"/>
            <a:tailEnd type="triangle"/>
          </a:ln>
        </p:spPr>
      </p:sp>
      <p:sp>
        <p:nvSpPr>
          <p:cNvPr id="10" name="Text 8"/>
          <p:cNvSpPr txBox="1"/>
          <p:nvPr/>
        </p:nvSpPr>
        <p:spPr>
          <a:xfrm>
            <a:off x="6286805" y="1691640"/>
            <a:ext cx="2487168" cy="530352"/>
          </a:xfrm>
          <a:prstGeom prst="roundRect">
            <a:avLst>
              <a:gd name="adj" fmla="val 13793"/>
            </a:avLst>
          </a:prstGeom>
          <a:solidFill>
            <a:srgbClr val="E8ECF2"/>
          </a:solidFill>
          <a:ln>
            <a:solidFill>
              <a:srgbClr val="E8ECF2"/>
            </a:solidFill>
          </a:ln>
        </p:spPr>
        <p:txBody>
          <a:bodyPr wrap="square" lIns="76200" tIns="76200" rIns="76200" bIns="76200" rtlCol="0" anchor="ctr"/>
          <a:lstStyle/>
          <a:p>
            <a:pPr algn="ctr" indent="0" marL="0">
              <a:buNone/>
            </a:pPr>
            <a:r>
              <a:rPr lang="en-US" sz="1400" b="1" dirty="0">
                <a:solidFill>
                  <a:srgbClr val="0E1A2B"/>
                </a:solidFill>
                <a:latin typeface="Malgun Gothic" pitchFamily="34" charset="0"/>
                <a:ea typeface="Malgun Gothic" pitchFamily="34" charset="-122"/>
                <a:cs typeface="Malgun Gothic" pitchFamily="34" charset="-120"/>
              </a:rPr>
              <a:t>정규화 개체</a:t>
            </a:r>
            <a:endParaRPr lang="en-US" sz="1400" dirty="0"/>
          </a:p>
        </p:txBody>
      </p:sp>
      <p:sp>
        <p:nvSpPr>
          <p:cNvPr id="11" name="Shape 9"/>
          <p:cNvSpPr/>
          <p:nvPr/>
        </p:nvSpPr>
        <p:spPr>
          <a:xfrm>
            <a:off x="8801405" y="1956816"/>
            <a:ext cx="327050" cy="0"/>
          </a:xfrm>
          <a:prstGeom prst="line">
            <a:avLst/>
          </a:prstGeom>
          <a:noFill/>
          <a:ln w="19050">
            <a:solidFill>
              <a:srgbClr val="8A94A3"/>
            </a:solidFill>
            <a:prstDash val="solid"/>
            <a:tailEnd type="triangle"/>
          </a:ln>
        </p:spPr>
      </p:sp>
      <p:sp>
        <p:nvSpPr>
          <p:cNvPr id="12" name="Text 10"/>
          <p:cNvSpPr txBox="1"/>
          <p:nvPr/>
        </p:nvSpPr>
        <p:spPr>
          <a:xfrm>
            <a:off x="9155887" y="1691640"/>
            <a:ext cx="2487168" cy="530352"/>
          </a:xfrm>
          <a:prstGeom prst="roundRect">
            <a:avLst>
              <a:gd name="adj" fmla="val 13793"/>
            </a:avLst>
          </a:prstGeom>
          <a:solidFill>
            <a:srgbClr val="E8ECF2"/>
          </a:solidFill>
          <a:ln>
            <a:solidFill>
              <a:srgbClr val="E8ECF2"/>
            </a:solidFill>
          </a:ln>
        </p:spPr>
        <p:txBody>
          <a:bodyPr wrap="square" lIns="76200" tIns="76200" rIns="76200" bIns="76200" rtlCol="0" anchor="ctr"/>
          <a:lstStyle/>
          <a:p>
            <a:pPr algn="ctr" indent="0" marL="0">
              <a:buNone/>
            </a:pPr>
            <a:r>
              <a:rPr lang="en-US" sz="1400" b="1" dirty="0">
                <a:solidFill>
                  <a:srgbClr val="0E1A2B"/>
                </a:solidFill>
                <a:latin typeface="Malgun Gothic" pitchFamily="34" charset="0"/>
                <a:ea typeface="Malgun Gothic" pitchFamily="34" charset="-122"/>
                <a:cs typeface="Malgun Gothic" pitchFamily="34" charset="-120"/>
              </a:rPr>
              <a:t>Neo4j 그래프</a:t>
            </a:r>
            <a:endParaRPr lang="en-US" sz="1400" dirty="0"/>
          </a:p>
        </p:txBody>
      </p:sp>
      <p:sp>
        <p:nvSpPr>
          <p:cNvPr id="13" name="Text 11"/>
          <p:cNvSpPr txBox="1"/>
          <p:nvPr/>
        </p:nvSpPr>
        <p:spPr>
          <a:xfrm>
            <a:off x="548640" y="2286000"/>
            <a:ext cx="11094415" cy="256032"/>
          </a:xfrm>
          <a:prstGeom prst="rect">
            <a:avLst/>
          </a:prstGeom>
          <a:noFill/>
          <a:ln/>
        </p:spPr>
        <p:txBody>
          <a:bodyPr wrap="square" lIns="0" tIns="0" rIns="0" bIns="0" rtlCol="0" anchor="t"/>
          <a:lstStyle/>
          <a:p>
            <a:pPr algn="ctr" indent="0" marL="0">
              <a:buNone/>
            </a:pPr>
            <a:r>
              <a:rPr lang="en-US" sz="1100" dirty="0">
                <a:solidFill>
                  <a:srgbClr val="5B6778"/>
                </a:solidFill>
                <a:latin typeface="Malgun Gothic" pitchFamily="34" charset="0"/>
                <a:ea typeface="Malgun Gothic" pitchFamily="34" charset="-122"/>
                <a:cs typeface="Malgun Gothic" pitchFamily="34" charset="-120"/>
              </a:rPr>
              <a:t>단계 사이를 원문과 대조 (M8)</a:t>
            </a:r>
            <a:endParaRPr lang="en-US" sz="1100" dirty="0"/>
          </a:p>
        </p:txBody>
      </p:sp>
      <p:sp>
        <p:nvSpPr>
          <p:cNvPr id="14" name="Text 12"/>
          <p:cNvSpPr txBox="1"/>
          <p:nvPr/>
        </p:nvSpPr>
        <p:spPr>
          <a:xfrm>
            <a:off x="548640" y="2697480"/>
            <a:ext cx="5394960" cy="292608"/>
          </a:xfrm>
          <a:prstGeom prst="rect">
            <a:avLst/>
          </a:prstGeom>
          <a:noFill/>
          <a:ln/>
        </p:spPr>
        <p:txBody>
          <a:bodyPr wrap="square" lIns="0" tIns="0" rIns="0" bIns="0" rtlCol="0" anchor="t"/>
          <a:lstStyle/>
          <a:p>
            <a:pPr indent="0" marL="0">
              <a:buNone/>
            </a:pPr>
            <a:r>
              <a:rPr lang="en-US" sz="1400" b="1" dirty="0">
                <a:solidFill>
                  <a:srgbClr val="0E1A2B"/>
                </a:solidFill>
                <a:latin typeface="Malgun Gothic" pitchFamily="34" charset="0"/>
                <a:ea typeface="Malgun Gothic" pitchFamily="34" charset="-122"/>
                <a:cs typeface="Malgun Gothic" pitchFamily="34" charset="-120"/>
              </a:rPr>
              <a:t>오류 6분류 — M8 검증 기준</a:t>
            </a:r>
            <a:endParaRPr lang="en-US" sz="1400" dirty="0"/>
          </a:p>
        </p:txBody>
      </p:sp>
      <p:sp>
        <p:nvSpPr>
          <p:cNvPr id="15" name="Text 13"/>
          <p:cNvSpPr txBox="1"/>
          <p:nvPr/>
        </p:nvSpPr>
        <p:spPr>
          <a:xfrm>
            <a:off x="548640" y="3063240"/>
            <a:ext cx="1719072" cy="365760"/>
          </a:xfrm>
          <a:prstGeom prst="roundRect">
            <a:avLst>
              <a:gd name="adj" fmla="val 15000"/>
            </a:avLst>
          </a:prstGeom>
          <a:solidFill>
            <a:srgbClr val="FBE6E2"/>
          </a:solidFill>
          <a:ln>
            <a:solidFill>
              <a:srgbClr val="FBE6E2"/>
            </a:solidFill>
          </a:ln>
        </p:spPr>
        <p:txBody>
          <a:bodyPr wrap="square" lIns="38100" tIns="38100" rIns="38100" bIns="38100" rtlCol="0" anchor="ctr"/>
          <a:lstStyle/>
          <a:p>
            <a:pPr algn="ctr" indent="0" marL="0">
              <a:buNone/>
            </a:pPr>
            <a:r>
              <a:rPr lang="en-US" sz="1300" b="1" dirty="0">
                <a:solidFill>
                  <a:srgbClr val="A8311A"/>
                </a:solidFill>
                <a:latin typeface="Malgun Gothic" pitchFamily="34" charset="0"/>
                <a:ea typeface="Malgun Gothic" pitchFamily="34" charset="-122"/>
                <a:cs typeface="Malgun Gothic" pitchFamily="34" charset="-120"/>
              </a:rPr>
              <a:t>원문에 없는 관계</a:t>
            </a:r>
            <a:endParaRPr lang="en-US" sz="1300" dirty="0"/>
          </a:p>
        </p:txBody>
      </p:sp>
      <p:sp>
        <p:nvSpPr>
          <p:cNvPr id="16" name="Text 14"/>
          <p:cNvSpPr txBox="1"/>
          <p:nvPr/>
        </p:nvSpPr>
        <p:spPr>
          <a:xfrm>
            <a:off x="2359152" y="3063240"/>
            <a:ext cx="1719072" cy="365760"/>
          </a:xfrm>
          <a:prstGeom prst="roundRect">
            <a:avLst>
              <a:gd name="adj" fmla="val 15000"/>
            </a:avLst>
          </a:prstGeom>
          <a:solidFill>
            <a:srgbClr val="FBE6E2"/>
          </a:solidFill>
          <a:ln>
            <a:solidFill>
              <a:srgbClr val="FBE6E2"/>
            </a:solidFill>
          </a:ln>
        </p:spPr>
        <p:txBody>
          <a:bodyPr wrap="square" lIns="38100" tIns="38100" rIns="38100" bIns="38100" rtlCol="0" anchor="ctr"/>
          <a:lstStyle/>
          <a:p>
            <a:pPr algn="ctr" indent="0" marL="0">
              <a:buNone/>
            </a:pPr>
            <a:r>
              <a:rPr lang="en-US" sz="1300" b="1" dirty="0">
                <a:solidFill>
                  <a:srgbClr val="A8311A"/>
                </a:solidFill>
                <a:latin typeface="Malgun Gothic" pitchFamily="34" charset="0"/>
                <a:ea typeface="Malgun Gothic" pitchFamily="34" charset="-122"/>
                <a:cs typeface="Malgun Gothic" pitchFamily="34" charset="-120"/>
              </a:rPr>
              <a:t>방향 오류</a:t>
            </a:r>
            <a:endParaRPr lang="en-US" sz="1300" dirty="0"/>
          </a:p>
        </p:txBody>
      </p:sp>
      <p:sp>
        <p:nvSpPr>
          <p:cNvPr id="17" name="Text 15"/>
          <p:cNvSpPr txBox="1"/>
          <p:nvPr/>
        </p:nvSpPr>
        <p:spPr>
          <a:xfrm>
            <a:off x="4169664" y="3063240"/>
            <a:ext cx="1719072" cy="365760"/>
          </a:xfrm>
          <a:prstGeom prst="roundRect">
            <a:avLst>
              <a:gd name="adj" fmla="val 15000"/>
            </a:avLst>
          </a:prstGeom>
          <a:solidFill>
            <a:srgbClr val="FBE6E2"/>
          </a:solidFill>
          <a:ln>
            <a:solidFill>
              <a:srgbClr val="FBE6E2"/>
            </a:solidFill>
          </a:ln>
        </p:spPr>
        <p:txBody>
          <a:bodyPr wrap="square" lIns="38100" tIns="38100" rIns="38100" bIns="38100" rtlCol="0" anchor="ctr"/>
          <a:lstStyle/>
          <a:p>
            <a:pPr algn="ctr" indent="0" marL="0">
              <a:buNone/>
            </a:pPr>
            <a:r>
              <a:rPr lang="en-US" sz="1300" b="1" dirty="0">
                <a:solidFill>
                  <a:srgbClr val="A8311A"/>
                </a:solidFill>
                <a:latin typeface="Malgun Gothic" pitchFamily="34" charset="0"/>
                <a:ea typeface="Malgun Gothic" pitchFamily="34" charset="-122"/>
                <a:cs typeface="Malgun Gothic" pitchFamily="34" charset="-120"/>
              </a:rPr>
              <a:t>중복</a:t>
            </a:r>
            <a:endParaRPr lang="en-US" sz="1300" dirty="0"/>
          </a:p>
        </p:txBody>
      </p:sp>
      <p:sp>
        <p:nvSpPr>
          <p:cNvPr id="18" name="Text 16"/>
          <p:cNvSpPr txBox="1"/>
          <p:nvPr/>
        </p:nvSpPr>
        <p:spPr>
          <a:xfrm>
            <a:off x="548640" y="3502152"/>
            <a:ext cx="1719072" cy="365760"/>
          </a:xfrm>
          <a:prstGeom prst="roundRect">
            <a:avLst>
              <a:gd name="adj" fmla="val 15000"/>
            </a:avLst>
          </a:prstGeom>
          <a:solidFill>
            <a:srgbClr val="FBE6E2"/>
          </a:solidFill>
          <a:ln>
            <a:solidFill>
              <a:srgbClr val="FBE6E2"/>
            </a:solidFill>
          </a:ln>
        </p:spPr>
        <p:txBody>
          <a:bodyPr wrap="square" lIns="38100" tIns="38100" rIns="38100" bIns="38100" rtlCol="0" anchor="ctr"/>
          <a:lstStyle/>
          <a:p>
            <a:pPr algn="ctr" indent="0" marL="0">
              <a:buNone/>
            </a:pPr>
            <a:r>
              <a:rPr lang="en-US" sz="1300" b="1" dirty="0">
                <a:solidFill>
                  <a:srgbClr val="A8311A"/>
                </a:solidFill>
                <a:latin typeface="Malgun Gothic" pitchFamily="34" charset="0"/>
                <a:ea typeface="Malgun Gothic" pitchFamily="34" charset="-122"/>
                <a:cs typeface="Malgun Gothic" pitchFamily="34" charset="-120"/>
              </a:rPr>
              <a:t>오병합</a:t>
            </a:r>
            <a:endParaRPr lang="en-US" sz="1300" dirty="0"/>
          </a:p>
        </p:txBody>
      </p:sp>
      <p:sp>
        <p:nvSpPr>
          <p:cNvPr id="19" name="Text 17"/>
          <p:cNvSpPr txBox="1"/>
          <p:nvPr/>
        </p:nvSpPr>
        <p:spPr>
          <a:xfrm>
            <a:off x="2359152" y="3502152"/>
            <a:ext cx="1719072" cy="365760"/>
          </a:xfrm>
          <a:prstGeom prst="roundRect">
            <a:avLst>
              <a:gd name="adj" fmla="val 15000"/>
            </a:avLst>
          </a:prstGeom>
          <a:solidFill>
            <a:srgbClr val="FBE6E2"/>
          </a:solidFill>
          <a:ln>
            <a:solidFill>
              <a:srgbClr val="FBE6E2"/>
            </a:solidFill>
          </a:ln>
        </p:spPr>
        <p:txBody>
          <a:bodyPr wrap="square" lIns="38100" tIns="38100" rIns="38100" bIns="38100" rtlCol="0" anchor="ctr"/>
          <a:lstStyle/>
          <a:p>
            <a:pPr algn="ctr" indent="0" marL="0">
              <a:buNone/>
            </a:pPr>
            <a:r>
              <a:rPr lang="en-US" sz="1300" b="1" dirty="0">
                <a:solidFill>
                  <a:srgbClr val="A8311A"/>
                </a:solidFill>
                <a:latin typeface="Malgun Gothic" pitchFamily="34" charset="0"/>
                <a:ea typeface="Malgun Gothic" pitchFamily="34" charset="-122"/>
                <a:cs typeface="Malgun Gothic" pitchFamily="34" charset="-120"/>
              </a:rPr>
              <a:t>스키마 위반</a:t>
            </a:r>
            <a:endParaRPr lang="en-US" sz="1300" dirty="0"/>
          </a:p>
        </p:txBody>
      </p:sp>
      <p:sp>
        <p:nvSpPr>
          <p:cNvPr id="20" name="Text 18"/>
          <p:cNvSpPr txBox="1"/>
          <p:nvPr/>
        </p:nvSpPr>
        <p:spPr>
          <a:xfrm>
            <a:off x="4169664" y="3502152"/>
            <a:ext cx="1719072" cy="365760"/>
          </a:xfrm>
          <a:prstGeom prst="roundRect">
            <a:avLst>
              <a:gd name="adj" fmla="val 15000"/>
            </a:avLst>
          </a:prstGeom>
          <a:solidFill>
            <a:srgbClr val="FBE6E2"/>
          </a:solidFill>
          <a:ln>
            <a:solidFill>
              <a:srgbClr val="FBE6E2"/>
            </a:solidFill>
          </a:ln>
        </p:spPr>
        <p:txBody>
          <a:bodyPr wrap="square" lIns="38100" tIns="38100" rIns="38100" bIns="38100" rtlCol="0" anchor="ctr"/>
          <a:lstStyle/>
          <a:p>
            <a:pPr algn="ctr" indent="0" marL="0">
              <a:buNone/>
            </a:pPr>
            <a:r>
              <a:rPr lang="en-US" sz="1300" b="1" dirty="0">
                <a:solidFill>
                  <a:srgbClr val="A8311A"/>
                </a:solidFill>
                <a:latin typeface="Malgun Gothic" pitchFamily="34" charset="0"/>
                <a:ea typeface="Malgun Gothic" pitchFamily="34" charset="-122"/>
                <a:cs typeface="Malgun Gothic" pitchFamily="34" charset="-120"/>
              </a:rPr>
              <a:t>적재 누락</a:t>
            </a:r>
            <a:endParaRPr lang="en-US" sz="1300" dirty="0"/>
          </a:p>
        </p:txBody>
      </p:sp>
      <p:sp>
        <p:nvSpPr>
          <p:cNvPr id="21" name="Text 19"/>
          <p:cNvSpPr txBox="1"/>
          <p:nvPr/>
        </p:nvSpPr>
        <p:spPr>
          <a:xfrm>
            <a:off x="548640" y="4041648"/>
            <a:ext cx="5394960" cy="292608"/>
          </a:xfrm>
          <a:prstGeom prst="rect">
            <a:avLst/>
          </a:prstGeom>
          <a:noFill/>
          <a:ln/>
        </p:spPr>
        <p:txBody>
          <a:bodyPr wrap="square" lIns="0" tIns="0" rIns="0" bIns="0" rtlCol="0" anchor="t"/>
          <a:lstStyle/>
          <a:p>
            <a:pPr indent="0" marL="0">
              <a:buNone/>
            </a:pPr>
            <a:r>
              <a:rPr lang="en-US" sz="1400" b="1" dirty="0">
                <a:solidFill>
                  <a:srgbClr val="0E1A2B"/>
                </a:solidFill>
                <a:latin typeface="Malgun Gothic" pitchFamily="34" charset="0"/>
                <a:ea typeface="Malgun Gothic" pitchFamily="34" charset="-122"/>
                <a:cs typeface="Malgun Gothic" pitchFamily="34" charset="-120"/>
              </a:rPr>
              <a:t>개선 루프</a:t>
            </a:r>
            <a:endParaRPr lang="en-US" sz="1400" dirty="0"/>
          </a:p>
        </p:txBody>
      </p:sp>
      <p:sp>
        <p:nvSpPr>
          <p:cNvPr id="22" name="Text 20"/>
          <p:cNvSpPr txBox="1"/>
          <p:nvPr/>
        </p:nvSpPr>
        <p:spPr>
          <a:xfrm>
            <a:off x="548640" y="4389120"/>
            <a:ext cx="1188720" cy="566928"/>
          </a:xfrm>
          <a:prstGeom prst="roundRect">
            <a:avLst>
              <a:gd name="adj" fmla="val 12903"/>
            </a:avLst>
          </a:prstGeom>
          <a:solidFill>
            <a:srgbClr val="FDF0DC"/>
          </a:solidFill>
          <a:ln>
            <a:solidFill>
              <a:srgbClr val="FDF0DC"/>
            </a:solidFill>
          </a:ln>
        </p:spPr>
        <p:txBody>
          <a:bodyPr wrap="square" lIns="38100" tIns="38100" rIns="38100" bIns="38100" rtlCol="0" anchor="ctr"/>
          <a:lstStyle/>
          <a:p>
            <a:pPr algn="ctr" indent="0" marL="0">
              <a:buNone/>
            </a:pPr>
            <a:r>
              <a:rPr lang="en-US" sz="1200" b="1" dirty="0">
                <a:solidFill>
                  <a:srgbClr val="8F5208"/>
                </a:solidFill>
                <a:latin typeface="Malgun Gothic" pitchFamily="34" charset="0"/>
                <a:ea typeface="Malgun Gothic" pitchFamily="34" charset="-122"/>
                <a:cs typeface="Malgun Gothic" pitchFamily="34" charset="-120"/>
              </a:rPr>
              <a:t>오류 분류</a:t>
            </a:r>
            <a:endParaRPr lang="en-US" sz="1200" dirty="0"/>
          </a:p>
        </p:txBody>
      </p:sp>
      <p:sp>
        <p:nvSpPr>
          <p:cNvPr id="23" name="Shape 21"/>
          <p:cNvSpPr/>
          <p:nvPr/>
        </p:nvSpPr>
        <p:spPr>
          <a:xfrm>
            <a:off x="1746504" y="4672584"/>
            <a:ext cx="164592" cy="0"/>
          </a:xfrm>
          <a:prstGeom prst="line">
            <a:avLst/>
          </a:prstGeom>
          <a:noFill/>
          <a:ln w="19050">
            <a:solidFill>
              <a:srgbClr val="8A94A3"/>
            </a:solidFill>
            <a:prstDash val="solid"/>
            <a:tailEnd type="triangle"/>
          </a:ln>
        </p:spPr>
      </p:sp>
      <p:sp>
        <p:nvSpPr>
          <p:cNvPr id="24" name="Text 22"/>
          <p:cNvSpPr txBox="1"/>
          <p:nvPr/>
        </p:nvSpPr>
        <p:spPr>
          <a:xfrm>
            <a:off x="1920240" y="4389120"/>
            <a:ext cx="1188720" cy="566928"/>
          </a:xfrm>
          <a:prstGeom prst="roundRect">
            <a:avLst>
              <a:gd name="adj" fmla="val 12903"/>
            </a:avLst>
          </a:prstGeom>
          <a:solidFill>
            <a:srgbClr val="FDF0DC"/>
          </a:solidFill>
          <a:ln>
            <a:solidFill>
              <a:srgbClr val="FDF0DC"/>
            </a:solidFill>
          </a:ln>
        </p:spPr>
        <p:txBody>
          <a:bodyPr wrap="square" lIns="38100" tIns="38100" rIns="38100" bIns="38100" rtlCol="0" anchor="ctr"/>
          <a:lstStyle/>
          <a:p>
            <a:pPr algn="ctr" indent="0" marL="0">
              <a:buNone/>
            </a:pPr>
            <a:r>
              <a:rPr lang="en-US" sz="1200" b="1" dirty="0">
                <a:solidFill>
                  <a:srgbClr val="8F5208"/>
                </a:solidFill>
                <a:latin typeface="Malgun Gothic" pitchFamily="34" charset="0"/>
                <a:ea typeface="Malgun Gothic" pitchFamily="34" charset="-122"/>
                <a:cs typeface="Malgun Gothic" pitchFamily="34" charset="-120"/>
              </a:rPr>
              <a:t>프롬프트·정규화 수정</a:t>
            </a:r>
            <a:endParaRPr lang="en-US" sz="1200" dirty="0"/>
          </a:p>
        </p:txBody>
      </p:sp>
      <p:sp>
        <p:nvSpPr>
          <p:cNvPr id="25" name="Shape 23"/>
          <p:cNvSpPr/>
          <p:nvPr/>
        </p:nvSpPr>
        <p:spPr>
          <a:xfrm>
            <a:off x="3118104" y="4672584"/>
            <a:ext cx="164592" cy="0"/>
          </a:xfrm>
          <a:prstGeom prst="line">
            <a:avLst/>
          </a:prstGeom>
          <a:noFill/>
          <a:ln w="19050">
            <a:solidFill>
              <a:srgbClr val="8A94A3"/>
            </a:solidFill>
            <a:prstDash val="solid"/>
            <a:tailEnd type="triangle"/>
          </a:ln>
        </p:spPr>
      </p:sp>
      <p:sp>
        <p:nvSpPr>
          <p:cNvPr id="26" name="Text 24"/>
          <p:cNvSpPr txBox="1"/>
          <p:nvPr/>
        </p:nvSpPr>
        <p:spPr>
          <a:xfrm>
            <a:off x="3291840" y="4389120"/>
            <a:ext cx="1188720" cy="566928"/>
          </a:xfrm>
          <a:prstGeom prst="roundRect">
            <a:avLst>
              <a:gd name="adj" fmla="val 12903"/>
            </a:avLst>
          </a:prstGeom>
          <a:solidFill>
            <a:srgbClr val="FDF0DC"/>
          </a:solidFill>
          <a:ln>
            <a:solidFill>
              <a:srgbClr val="FDF0DC"/>
            </a:solidFill>
          </a:ln>
        </p:spPr>
        <p:txBody>
          <a:bodyPr wrap="square" lIns="38100" tIns="38100" rIns="38100" bIns="38100" rtlCol="0" anchor="ctr"/>
          <a:lstStyle/>
          <a:p>
            <a:pPr algn="ctr" indent="0" marL="0">
              <a:buNone/>
            </a:pPr>
            <a:r>
              <a:rPr lang="en-US" sz="1200" b="1" dirty="0">
                <a:solidFill>
                  <a:srgbClr val="8F5208"/>
                </a:solidFill>
                <a:latin typeface="Malgun Gothic" pitchFamily="34" charset="0"/>
                <a:ea typeface="Malgun Gothic" pitchFamily="34" charset="-122"/>
                <a:cs typeface="Malgun Gothic" pitchFamily="34" charset="-120"/>
              </a:rPr>
              <a:t>재추출</a:t>
            </a:r>
            <a:endParaRPr lang="en-US" sz="1200" dirty="0"/>
          </a:p>
        </p:txBody>
      </p:sp>
      <p:sp>
        <p:nvSpPr>
          <p:cNvPr id="27" name="Shape 25"/>
          <p:cNvSpPr/>
          <p:nvPr/>
        </p:nvSpPr>
        <p:spPr>
          <a:xfrm>
            <a:off x="4489704" y="4672584"/>
            <a:ext cx="164592" cy="0"/>
          </a:xfrm>
          <a:prstGeom prst="line">
            <a:avLst/>
          </a:prstGeom>
          <a:noFill/>
          <a:ln w="19050">
            <a:solidFill>
              <a:srgbClr val="8A94A3"/>
            </a:solidFill>
            <a:prstDash val="solid"/>
            <a:tailEnd type="triangle"/>
          </a:ln>
        </p:spPr>
      </p:sp>
      <p:sp>
        <p:nvSpPr>
          <p:cNvPr id="28" name="Text 26"/>
          <p:cNvSpPr txBox="1"/>
          <p:nvPr/>
        </p:nvSpPr>
        <p:spPr>
          <a:xfrm>
            <a:off x="4663440" y="4389120"/>
            <a:ext cx="1188720" cy="566928"/>
          </a:xfrm>
          <a:prstGeom prst="roundRect">
            <a:avLst>
              <a:gd name="adj" fmla="val 12903"/>
            </a:avLst>
          </a:prstGeom>
          <a:solidFill>
            <a:srgbClr val="FDF0DC"/>
          </a:solidFill>
          <a:ln>
            <a:solidFill>
              <a:srgbClr val="FDF0DC"/>
            </a:solidFill>
          </a:ln>
        </p:spPr>
        <p:txBody>
          <a:bodyPr wrap="square" lIns="38100" tIns="38100" rIns="38100" bIns="38100" rtlCol="0" anchor="ctr"/>
          <a:lstStyle/>
          <a:p>
            <a:pPr algn="ctr" indent="0" marL="0">
              <a:buNone/>
            </a:pPr>
            <a:r>
              <a:rPr lang="en-US" sz="1200" b="1" dirty="0">
                <a:solidFill>
                  <a:srgbClr val="8F5208"/>
                </a:solidFill>
                <a:latin typeface="Malgun Gothic" pitchFamily="34" charset="0"/>
                <a:ea typeface="Malgun Gothic" pitchFamily="34" charset="-122"/>
                <a:cs typeface="Malgun Gothic" pitchFamily="34" charset="-120"/>
              </a:rPr>
              <a:t>같은 질문 재검증</a:t>
            </a:r>
            <a:endParaRPr lang="en-US" sz="1200" dirty="0"/>
          </a:p>
        </p:txBody>
      </p:sp>
      <p:sp>
        <p:nvSpPr>
          <p:cNvPr id="29" name="Text 27"/>
          <p:cNvSpPr txBox="1"/>
          <p:nvPr/>
        </p:nvSpPr>
        <p:spPr>
          <a:xfrm>
            <a:off x="548640" y="5074920"/>
            <a:ext cx="5440680" cy="502920"/>
          </a:xfrm>
          <a:prstGeom prst="rect">
            <a:avLst/>
          </a:prstGeom>
          <a:noFill/>
          <a:ln/>
        </p:spPr>
        <p:txBody>
          <a:bodyPr wrap="square" lIns="0" tIns="0" rIns="0" bIns="0" rtlCol="0" anchor="t"/>
          <a:lstStyle/>
          <a:p>
            <a:pPr indent="0" marL="0">
              <a:buNone/>
            </a:pPr>
            <a:r>
              <a:rPr lang="en-US" sz="1200" dirty="0">
                <a:solidFill>
                  <a:srgbClr val="3A4A60"/>
                </a:solidFill>
                <a:latin typeface="Malgun Gothic" pitchFamily="34" charset="0"/>
                <a:ea typeface="Malgun Gothic" pitchFamily="34" charset="-122"/>
                <a:cs typeface="Malgun Gothic" pitchFamily="34" charset="-120"/>
              </a:rPr>
              <a:t>A(파일)·B(PostgreSQL) 두 파이프라인의 추출이 어긋나는 항목은 사람 검토 대상으로 분류합니다.</a:t>
            </a:r>
            <a:endParaRPr lang="en-US" sz="1200" dirty="0"/>
          </a:p>
        </p:txBody>
      </p:sp>
      <p:sp>
        <p:nvSpPr>
          <p:cNvPr id="30" name="Text 28"/>
          <p:cNvSpPr txBox="1"/>
          <p:nvPr/>
        </p:nvSpPr>
        <p:spPr>
          <a:xfrm>
            <a:off x="6263640" y="2697480"/>
            <a:ext cx="5376672" cy="292608"/>
          </a:xfrm>
          <a:prstGeom prst="rect">
            <a:avLst/>
          </a:prstGeom>
          <a:noFill/>
          <a:ln/>
        </p:spPr>
        <p:txBody>
          <a:bodyPr wrap="square" lIns="0" tIns="0" rIns="0" bIns="0" rtlCol="0" anchor="t"/>
          <a:lstStyle/>
          <a:p>
            <a:pPr indent="0" marL="0">
              <a:buNone/>
            </a:pPr>
            <a:r>
              <a:rPr lang="en-US" sz="1400" b="1" dirty="0">
                <a:solidFill>
                  <a:srgbClr val="0E1A2B"/>
                </a:solidFill>
                <a:latin typeface="Malgun Gothic" pitchFamily="34" charset="0"/>
                <a:ea typeface="Malgun Gothic" pitchFamily="34" charset="-122"/>
                <a:cs typeface="Malgun Gothic" pitchFamily="34" charset="-120"/>
              </a:rPr>
              <a:t>원문 조사에서 이미 확인한 함정 — 시연 후보</a:t>
            </a:r>
            <a:endParaRPr lang="en-US" sz="1400" dirty="0"/>
          </a:p>
        </p:txBody>
      </p:sp>
      <p:sp>
        <p:nvSpPr>
          <p:cNvPr id="31" name="Shape 29"/>
          <p:cNvSpPr/>
          <p:nvPr/>
        </p:nvSpPr>
        <p:spPr>
          <a:xfrm>
            <a:off x="6263640" y="3063240"/>
            <a:ext cx="5376672" cy="777240"/>
          </a:xfrm>
          <a:prstGeom prst="roundRect">
            <a:avLst>
              <a:gd name="adj" fmla="val 11765"/>
            </a:avLst>
          </a:prstGeom>
          <a:solidFill>
            <a:srgbClr val="F3F5F8"/>
          </a:solidFill>
          <a:ln w="9525">
            <a:solidFill>
              <a:srgbClr val="F3F5F8"/>
            </a:solidFill>
            <a:prstDash val="solid"/>
          </a:ln>
        </p:spPr>
      </p:sp>
      <p:sp>
        <p:nvSpPr>
          <p:cNvPr id="32" name="Text 30"/>
          <p:cNvSpPr txBox="1"/>
          <p:nvPr/>
        </p:nvSpPr>
        <p:spPr>
          <a:xfrm>
            <a:off x="6419088" y="3127248"/>
            <a:ext cx="5074920" cy="685800"/>
          </a:xfrm>
          <a:prstGeom prst="rect">
            <a:avLst/>
          </a:prstGeom>
          <a:noFill/>
          <a:ln/>
        </p:spPr>
        <p:txBody>
          <a:bodyPr wrap="square" lIns="0" tIns="0" rIns="0" bIns="0" rtlCol="0" anchor="t"/>
          <a:lstStyle/>
          <a:p>
            <a:pPr indent="0" marL="0">
              <a:buNone/>
            </a:pPr>
            <a:r>
              <a:rPr lang="en-US" sz="1300" b="1" dirty="0">
                <a:solidFill>
                  <a:srgbClr val="0E1A2B"/>
                </a:solidFill>
                <a:latin typeface="Malgun Gothic" pitchFamily="34" charset="0"/>
                <a:ea typeface="Malgun Gothic" pitchFamily="34" charset="-122"/>
                <a:cs typeface="Malgun Gothic" pitchFamily="34" charset="-120"/>
              </a:rPr>
              <a:t>실적 제외 ↔ 혜택 제외 혼동</a:t>
            </a:r>
            <a:endParaRPr lang="en-US" sz="1400" dirty="0"/>
          </a:p>
          <a:p>
            <a:pPr indent="0" marL="0">
              <a:buNone/>
            </a:pPr>
            <a:r>
              <a:rPr lang="en-US" sz="1200" dirty="0">
                <a:solidFill>
                  <a:srgbClr val="3A4A60"/>
                </a:solidFill>
                <a:latin typeface="Malgun Gothic" pitchFamily="34" charset="0"/>
                <a:ea typeface="Malgun Gothic" pitchFamily="34" charset="-122"/>
                <a:cs typeface="Malgun Gothic" pitchFamily="34" charset="-120"/>
              </a:rPr>
              <a:t>상품권이 BT 실적 제외와 BIG TICKET 할인 제외에 모두 등장. scope를 잘못 붙이면 시연 ② 영향 목록이 틀어집니다.</a:t>
            </a:r>
            <a:endParaRPr lang="en-US" sz="1400" dirty="0"/>
          </a:p>
        </p:txBody>
      </p:sp>
      <p:sp>
        <p:nvSpPr>
          <p:cNvPr id="33" name="Shape 31"/>
          <p:cNvSpPr/>
          <p:nvPr/>
        </p:nvSpPr>
        <p:spPr>
          <a:xfrm>
            <a:off x="6263640" y="3931920"/>
            <a:ext cx="5376672" cy="777240"/>
          </a:xfrm>
          <a:prstGeom prst="roundRect">
            <a:avLst>
              <a:gd name="adj" fmla="val 11765"/>
            </a:avLst>
          </a:prstGeom>
          <a:solidFill>
            <a:srgbClr val="F3F5F8"/>
          </a:solidFill>
          <a:ln w="9525">
            <a:solidFill>
              <a:srgbClr val="F3F5F8"/>
            </a:solidFill>
            <a:prstDash val="solid"/>
          </a:ln>
        </p:spPr>
      </p:sp>
      <p:sp>
        <p:nvSpPr>
          <p:cNvPr id="34" name="Text 32"/>
          <p:cNvSpPr txBox="1"/>
          <p:nvPr/>
        </p:nvSpPr>
        <p:spPr>
          <a:xfrm>
            <a:off x="6419088" y="3995928"/>
            <a:ext cx="5074920" cy="685800"/>
          </a:xfrm>
          <a:prstGeom prst="rect">
            <a:avLst/>
          </a:prstGeom>
          <a:noFill/>
          <a:ln/>
        </p:spPr>
        <p:txBody>
          <a:bodyPr wrap="square" lIns="0" tIns="0" rIns="0" bIns="0" rtlCol="0" anchor="t"/>
          <a:lstStyle/>
          <a:p>
            <a:pPr indent="0" marL="0">
              <a:buNone/>
            </a:pPr>
            <a:r>
              <a:rPr lang="en-US" sz="1300" b="1" dirty="0">
                <a:solidFill>
                  <a:srgbClr val="0E1A2B"/>
                </a:solidFill>
                <a:latin typeface="Malgun Gothic" pitchFamily="34" charset="0"/>
                <a:ea typeface="Malgun Gothic" pitchFamily="34" charset="-122"/>
                <a:cs typeface="Malgun Gothic" pitchFamily="34" charset="-120"/>
              </a:rPr>
              <a:t>표 구조 손실 → 잘못된 관계</a:t>
            </a:r>
            <a:endParaRPr lang="en-US" sz="1400" dirty="0"/>
          </a:p>
          <a:p>
            <a:pPr indent="0" marL="0">
              <a:buNone/>
            </a:pPr>
            <a:r>
              <a:rPr lang="en-US" sz="1200" dirty="0">
                <a:solidFill>
                  <a:srgbClr val="3A4A60"/>
                </a:solidFill>
                <a:latin typeface="Malgun Gothic" pitchFamily="34" charset="0"/>
                <a:ea typeface="Malgun Gothic" pitchFamily="34" charset="-122"/>
                <a:cs typeface="Malgun Gothic" pitchFamily="34" charset="-120"/>
              </a:rPr>
              <a:t>BT 할인율 4개가 한 셀로 추출. 구간별 할인율·한도 연결은 사람 검토 대상입니다.</a:t>
            </a:r>
            <a:endParaRPr lang="en-US" sz="1400" dirty="0"/>
          </a:p>
        </p:txBody>
      </p:sp>
      <p:sp>
        <p:nvSpPr>
          <p:cNvPr id="35" name="Shape 33"/>
          <p:cNvSpPr/>
          <p:nvPr/>
        </p:nvSpPr>
        <p:spPr>
          <a:xfrm>
            <a:off x="6263640" y="4800600"/>
            <a:ext cx="5376672" cy="777240"/>
          </a:xfrm>
          <a:prstGeom prst="roundRect">
            <a:avLst>
              <a:gd name="adj" fmla="val 11765"/>
            </a:avLst>
          </a:prstGeom>
          <a:solidFill>
            <a:srgbClr val="F3F5F8"/>
          </a:solidFill>
          <a:ln w="9525">
            <a:solidFill>
              <a:srgbClr val="F3F5F8"/>
            </a:solidFill>
            <a:prstDash val="solid"/>
          </a:ln>
        </p:spPr>
      </p:sp>
      <p:sp>
        <p:nvSpPr>
          <p:cNvPr id="36" name="Text 34"/>
          <p:cNvSpPr txBox="1"/>
          <p:nvPr/>
        </p:nvSpPr>
        <p:spPr>
          <a:xfrm>
            <a:off x="6419088" y="4864608"/>
            <a:ext cx="5074920" cy="685800"/>
          </a:xfrm>
          <a:prstGeom prst="rect">
            <a:avLst/>
          </a:prstGeom>
          <a:noFill/>
          <a:ln/>
        </p:spPr>
        <p:txBody>
          <a:bodyPr wrap="square" lIns="0" tIns="0" rIns="0" bIns="0" rtlCol="0" anchor="t"/>
          <a:lstStyle/>
          <a:p>
            <a:pPr indent="0" marL="0">
              <a:buNone/>
            </a:pPr>
            <a:r>
              <a:rPr lang="en-US" sz="1300" b="1" dirty="0">
                <a:solidFill>
                  <a:srgbClr val="0E1A2B"/>
                </a:solidFill>
                <a:latin typeface="Malgun Gothic" pitchFamily="34" charset="0"/>
                <a:ea typeface="Malgun Gothic" pitchFamily="34" charset="-122"/>
                <a:cs typeface="Malgun Gothic" pitchFamily="34" charset="-120"/>
              </a:rPr>
              <a:t>원문 문구의 임의 정규화</a:t>
            </a:r>
            <a:endParaRPr lang="en-US" sz="1400" dirty="0"/>
          </a:p>
          <a:p>
            <a:pPr indent="0" marL="0">
              <a:buNone/>
            </a:pPr>
            <a:r>
              <a:rPr lang="en-US" sz="1200" dirty="0">
                <a:solidFill>
                  <a:srgbClr val="3A4A60"/>
                </a:solidFill>
                <a:latin typeface="Malgun Gothic" pitchFamily="34" charset="0"/>
                <a:ea typeface="Malgun Gothic" pitchFamily="34" charset="-122"/>
                <a:cs typeface="Malgun Gothic" pitchFamily="34" charset="-120"/>
              </a:rPr>
              <a:t>신한 건담 X 원문의 ‘상품/선불전자지급수단’ → ‘상품권’으로 자동 변환하지 않고 판단 보류.</a:t>
            </a:r>
            <a:endParaRPr lang="en-US" sz="1400" dirty="0"/>
          </a:p>
        </p:txBody>
      </p:sp>
      <p:sp>
        <p:nvSpPr>
          <p:cNvPr id="37" name="Text 35"/>
          <p:cNvSpPr txBox="1"/>
          <p:nvPr/>
        </p:nvSpPr>
        <p:spPr>
          <a:xfrm>
            <a:off x="548640" y="5669280"/>
            <a:ext cx="11094415" cy="594360"/>
          </a:xfrm>
          <a:prstGeom prst="roundRect">
            <a:avLst>
              <a:gd name="adj" fmla="val 12308"/>
            </a:avLst>
          </a:prstGeom>
          <a:solidFill>
            <a:srgbClr val="0E1A2B"/>
          </a:solidFill>
          <a:ln>
            <a:solidFill>
              <a:srgbClr val="0E1A2B"/>
            </a:solidFill>
          </a:ln>
        </p:spPr>
        <p:txBody>
          <a:bodyPr wrap="square" lIns="177800" tIns="177800" rIns="177800" bIns="177800" rtlCol="0" anchor="ctr"/>
          <a:lstStyle/>
          <a:p>
            <a:pPr algn="l" indent="0" marL="0">
              <a:buNone/>
            </a:pPr>
            <a:r>
              <a:rPr lang="en-US" sz="1500" b="1" dirty="0">
                <a:solidFill>
                  <a:srgbClr val="FFFFFF"/>
                </a:solidFill>
                <a:latin typeface="Malgun Gothic" pitchFamily="34" charset="0"/>
                <a:ea typeface="Malgun Gothic" pitchFamily="34" charset="-122"/>
                <a:cs typeface="Malgun Gothic" pitchFamily="34" charset="-120"/>
              </a:rPr>
              <a:t>목표는 ‘전부 고쳤다’가 아니라 ‘어디서 멈추는지 안다’입니다. 미해결 1건은 판단 보류로 그대로 공개합니다.</a:t>
            </a:r>
            <a:endParaRPr lang="en-US" sz="1500" dirty="0"/>
          </a:p>
        </p:txBody>
      </p:sp>
      <p:sp>
        <p:nvSpPr>
          <p:cNvPr id="38" name="Text 36"/>
          <p:cNvSpPr txBox="1"/>
          <p:nvPr/>
        </p:nvSpPr>
        <p:spPr>
          <a:xfrm>
            <a:off x="548640" y="6400800"/>
            <a:ext cx="10515600" cy="292608"/>
          </a:xfrm>
          <a:prstGeom prst="rect">
            <a:avLst/>
          </a:prstGeom>
          <a:noFill/>
          <a:ln/>
        </p:spPr>
        <p:txBody>
          <a:bodyPr wrap="square" lIns="0" tIns="0" rIns="0" bIns="0" rtlCol="0" anchor="ctr"/>
          <a:lstStyle/>
          <a:p>
            <a:pPr indent="0" marL="0">
              <a:buNone/>
            </a:pPr>
            <a:r>
              <a:rPr lang="en-US" sz="1000" dirty="0">
                <a:solidFill>
                  <a:srgbClr val="6B7686"/>
                </a:solidFill>
                <a:latin typeface="Malgun Gothic" pitchFamily="34" charset="0"/>
                <a:ea typeface="Malgun Gothic" pitchFamily="34" charset="-122"/>
                <a:cs typeface="Malgun Gothic" pitchFamily="34" charset="-120"/>
              </a:rPr>
              <a:t>함정 사례는 원문 조사로 확인한 위험 · LLM 실행 로그로 재현한 ‘실제 오답’은 M4·M8 이후 교체 (V1·V2 오답 공개 원칙)</a:t>
            </a:r>
            <a:endParaRPr lang="en-US" sz="1000" dirty="0"/>
          </a:p>
        </p:txBody>
      </p:sp>
      <p:sp>
        <p:nvSpPr>
          <p:cNvPr id="25" name="Slide Number Placeholder 0"/>
          <p:cNvSpPr>
            <a:spLocks noGrp="1"/>
          </p:cNvSpPr>
          <p:nvPr>
            <p:ph type="sldNum" sz="quarter" idx="4294967295"/>
          </p:nvPr>
        </p:nvSpPr>
        <p:spPr>
          <a:xfrm>
            <a:off x="11274552" y="6437376"/>
            <a:ext cx="36576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Malgun Gothic"/>
                <a:ea typeface="Malgun Gothic"/>
                <a:cs typeface="Malgun Gothic"/>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548640" y="329184"/>
            <a:ext cx="7498080" cy="292608"/>
          </a:xfrm>
          <a:prstGeom prst="rect">
            <a:avLst/>
          </a:prstGeom>
          <a:noFill/>
          <a:ln/>
        </p:spPr>
        <p:txBody>
          <a:bodyPr wrap="square" lIns="0" tIns="0" rIns="0" bIns="0" rtlCol="0" anchor="ctr"/>
          <a:lstStyle/>
          <a:p>
            <a:pPr indent="0" marL="0">
              <a:buNone/>
            </a:pPr>
            <a:r>
              <a:rPr lang="en-US" sz="1200" b="1" dirty="0">
                <a:solidFill>
                  <a:srgbClr val="8F5208"/>
                </a:solidFill>
                <a:latin typeface="Malgun Gothic" pitchFamily="34" charset="0"/>
                <a:ea typeface="Malgun Gothic" pitchFamily="34" charset="-122"/>
                <a:cs typeface="Malgun Gothic" pitchFamily="34" charset="-120"/>
              </a:rPr>
              <a:t>10   MCP 연동</a:t>
            </a:r>
            <a:endParaRPr lang="en-US" sz="1200" dirty="0"/>
          </a:p>
        </p:txBody>
      </p:sp>
      <p:sp>
        <p:nvSpPr>
          <p:cNvPr id="3" name="Text 0"/>
          <p:cNvSpPr/>
          <p:nvPr>
            <p:ph idx="101"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2400" b="1" dirty="0">
                <a:solidFill>
                  <a:srgbClr val="0E1A2B"/>
                </a:solidFill>
                <a:latin typeface="Malgun Gothic" pitchFamily="34" charset="0"/>
                <a:ea typeface="Malgun Gothic" pitchFamily="34" charset="-122"/>
                <a:cs typeface="Malgun Gothic" pitchFamily="34" charset="-120"/>
              </a:rPr>
              <a:t>MCP는 판단하지 않고, 같은 엔진의 조회 결과를 다른 AI에 연결합니다</a:t>
            </a:r>
            <a:endParaRPr lang="en-US" sz="2400" dirty="0"/>
          </a:p>
        </p:txBody>
      </p:sp>
      <p:sp>
        <p:nvSpPr>
          <p:cNvPr id="4" name="Text 2"/>
          <p:cNvSpPr txBox="1"/>
          <p:nvPr/>
        </p:nvSpPr>
        <p:spPr>
          <a:xfrm>
            <a:off x="10783519" y="329184"/>
            <a:ext cx="859536" cy="292608"/>
          </a:xfrm>
          <a:prstGeom prst="roundRect">
            <a:avLst>
              <a:gd name="adj" fmla="val 46875"/>
            </a:avLst>
          </a:prstGeom>
          <a:solidFill>
            <a:srgbClr val="FDF0DC"/>
          </a:solidFill>
          <a:ln>
            <a:solidFill>
              <a:srgbClr val="FDF0DC"/>
            </a:solidFill>
          </a:ln>
        </p:spPr>
        <p:txBody>
          <a:bodyPr wrap="square" lIns="0" tIns="0" rIns="0" bIns="0" rtlCol="0" anchor="ctr"/>
          <a:lstStyle/>
          <a:p>
            <a:pPr algn="ctr" indent="0" marL="0">
              <a:buNone/>
            </a:pPr>
            <a:r>
              <a:rPr lang="en-US" sz="1100" b="1" dirty="0">
                <a:solidFill>
                  <a:srgbClr val="8F5208"/>
                </a:solidFill>
                <a:latin typeface="Malgun Gothic" pitchFamily="34" charset="0"/>
                <a:ea typeface="Malgun Gothic" pitchFamily="34" charset="-122"/>
                <a:cs typeface="Malgun Gothic" pitchFamily="34" charset="-120"/>
              </a:rPr>
              <a:t>시연 예정</a:t>
            </a:r>
            <a:endParaRPr lang="en-US" sz="1100" dirty="0"/>
          </a:p>
        </p:txBody>
      </p:sp>
      <p:sp>
        <p:nvSpPr>
          <p:cNvPr id="5" name="Text 3"/>
          <p:cNvSpPr txBox="1"/>
          <p:nvPr/>
        </p:nvSpPr>
        <p:spPr>
          <a:xfrm>
            <a:off x="9969703" y="329184"/>
            <a:ext cx="722376" cy="292608"/>
          </a:xfrm>
          <a:prstGeom prst="roundRect">
            <a:avLst>
              <a:gd name="adj" fmla="val 46875"/>
            </a:avLst>
          </a:prstGeom>
          <a:solidFill>
            <a:srgbClr val="E8ECF2"/>
          </a:solidFill>
          <a:ln>
            <a:solidFill>
              <a:srgbClr val="E8ECF2"/>
            </a:solidFill>
          </a:ln>
        </p:spPr>
        <p:txBody>
          <a:bodyPr wrap="square" lIns="0" tIns="0" rIns="0" bIns="0" rtlCol="0" anchor="ctr"/>
          <a:lstStyle/>
          <a:p>
            <a:pPr algn="ctr" indent="0" marL="0">
              <a:buNone/>
            </a:pPr>
            <a:r>
              <a:rPr lang="en-US" sz="1100" b="1" dirty="0">
                <a:solidFill>
                  <a:srgbClr val="3A4A60"/>
                </a:solidFill>
                <a:latin typeface="Malgun Gothic" pitchFamily="34" charset="0"/>
                <a:ea typeface="Malgun Gothic" pitchFamily="34" charset="-122"/>
                <a:cs typeface="Malgun Gothic" pitchFamily="34" charset="-120"/>
              </a:rPr>
              <a:t>설계안</a:t>
            </a:r>
            <a:endParaRPr lang="en-US" sz="1100" dirty="0"/>
          </a:p>
        </p:txBody>
      </p:sp>
      <p:sp>
        <p:nvSpPr>
          <p:cNvPr id="6" name="Text 4"/>
          <p:cNvSpPr txBox="1"/>
          <p:nvPr/>
        </p:nvSpPr>
        <p:spPr>
          <a:xfrm>
            <a:off x="548640" y="1691640"/>
            <a:ext cx="5760720" cy="292608"/>
          </a:xfrm>
          <a:prstGeom prst="rect">
            <a:avLst/>
          </a:prstGeom>
          <a:noFill/>
          <a:ln/>
        </p:spPr>
        <p:txBody>
          <a:bodyPr wrap="square" lIns="0" tIns="0" rIns="0" bIns="0" rtlCol="0" anchor="t"/>
          <a:lstStyle/>
          <a:p>
            <a:pPr indent="0" marL="0">
              <a:buNone/>
            </a:pPr>
            <a:r>
              <a:rPr lang="en-US" sz="1400" b="1" dirty="0">
                <a:solidFill>
                  <a:srgbClr val="0E1A2B"/>
                </a:solidFill>
                <a:latin typeface="Malgun Gothic" pitchFamily="34" charset="0"/>
                <a:ea typeface="Malgun Gothic" pitchFamily="34" charset="-122"/>
                <a:cs typeface="Malgun Gothic" pitchFamily="34" charset="-120"/>
              </a:rPr>
              <a:t>같은 질문 · 두 경로 · 결과 일치 여부 검증</a:t>
            </a:r>
            <a:endParaRPr lang="en-US" sz="1400" dirty="0"/>
          </a:p>
        </p:txBody>
      </p:sp>
      <p:sp>
        <p:nvSpPr>
          <p:cNvPr id="7" name="Text 5"/>
          <p:cNvSpPr txBox="1"/>
          <p:nvPr/>
        </p:nvSpPr>
        <p:spPr>
          <a:xfrm>
            <a:off x="548640" y="2103120"/>
            <a:ext cx="1737360" cy="658368"/>
          </a:xfrm>
          <a:prstGeom prst="roundRect">
            <a:avLst>
              <a:gd name="adj" fmla="val 11111"/>
            </a:avLst>
          </a:prstGeom>
          <a:solidFill>
            <a:srgbClr val="F3F5F8"/>
          </a:solidFill>
          <a:ln>
            <a:solidFill>
              <a:srgbClr val="F3F5F8"/>
            </a:solidFill>
          </a:ln>
        </p:spPr>
        <p:txBody>
          <a:bodyPr wrap="square" lIns="38100" tIns="38100" rIns="38100" bIns="38100" rtlCol="0" anchor="ctr"/>
          <a:lstStyle/>
          <a:p>
            <a:pPr algn="ctr" indent="0" marL="0">
              <a:buNone/>
            </a:pPr>
            <a:r>
              <a:rPr lang="en-US" sz="1300" b="1" dirty="0">
                <a:solidFill>
                  <a:srgbClr val="0E1A2B"/>
                </a:solidFill>
                <a:latin typeface="Malgun Gothic" pitchFamily="34" charset="0"/>
                <a:ea typeface="Malgun Gothic" pitchFamily="34" charset="-122"/>
                <a:cs typeface="Malgun Gothic" pitchFamily="34" charset="-120"/>
              </a:rPr>
              <a:t>Neo4j Browser</a:t>
            </a:r>
            <a:endParaRPr lang="en-US" sz="1300" dirty="0"/>
          </a:p>
        </p:txBody>
      </p:sp>
      <p:sp>
        <p:nvSpPr>
          <p:cNvPr id="8" name="Shape 6"/>
          <p:cNvSpPr/>
          <p:nvPr/>
        </p:nvSpPr>
        <p:spPr>
          <a:xfrm>
            <a:off x="2304288" y="2432304"/>
            <a:ext cx="192024" cy="0"/>
          </a:xfrm>
          <a:prstGeom prst="line">
            <a:avLst/>
          </a:prstGeom>
          <a:noFill/>
          <a:ln w="19050">
            <a:solidFill>
              <a:srgbClr val="8A94A3"/>
            </a:solidFill>
            <a:prstDash val="solid"/>
            <a:tailEnd type="triangle"/>
          </a:ln>
        </p:spPr>
      </p:sp>
      <p:sp>
        <p:nvSpPr>
          <p:cNvPr id="9" name="Text 7"/>
          <p:cNvSpPr txBox="1"/>
          <p:nvPr/>
        </p:nvSpPr>
        <p:spPr>
          <a:xfrm>
            <a:off x="2514600" y="2103120"/>
            <a:ext cx="1737360" cy="658368"/>
          </a:xfrm>
          <a:prstGeom prst="roundRect">
            <a:avLst>
              <a:gd name="adj" fmla="val 11111"/>
            </a:avLst>
          </a:prstGeom>
          <a:solidFill>
            <a:srgbClr val="F3F5F8"/>
          </a:solidFill>
          <a:ln>
            <a:solidFill>
              <a:srgbClr val="F3F5F8"/>
            </a:solidFill>
          </a:ln>
        </p:spPr>
        <p:txBody>
          <a:bodyPr wrap="square" lIns="38100" tIns="38100" rIns="38100" bIns="38100" rtlCol="0" anchor="ctr"/>
          <a:lstStyle/>
          <a:p>
            <a:pPr algn="ctr" indent="0" marL="0">
              <a:buNone/>
            </a:pPr>
            <a:r>
              <a:rPr lang="en-US" sz="1300" b="1" dirty="0">
                <a:solidFill>
                  <a:srgbClr val="0E1A2B"/>
                </a:solidFill>
                <a:latin typeface="Malgun Gothic" pitchFamily="34" charset="0"/>
                <a:ea typeface="Malgun Gothic" pitchFamily="34" charset="-122"/>
                <a:cs typeface="Malgun Gothic" pitchFamily="34" charset="-120"/>
              </a:rPr>
              <a:t>Cypher 쿼리</a:t>
            </a:r>
            <a:endParaRPr lang="en-US" sz="1300" dirty="0"/>
          </a:p>
          <a:p>
            <a:pPr algn="ctr" indent="0" marL="0">
              <a:buNone/>
            </a:pPr>
            <a:r>
              <a:rPr lang="en-US" sz="1300" b="1" dirty="0">
                <a:solidFill>
                  <a:srgbClr val="0E1A2B"/>
                </a:solidFill>
                <a:latin typeface="Malgun Gothic" pitchFamily="34" charset="0"/>
                <a:ea typeface="Malgun Gothic" pitchFamily="34" charset="-122"/>
                <a:cs typeface="Malgun Gothic" pitchFamily="34" charset="-120"/>
              </a:rPr>
              <a:t>(M7-②)</a:t>
            </a:r>
            <a:endParaRPr lang="en-US" sz="1300" dirty="0"/>
          </a:p>
        </p:txBody>
      </p:sp>
      <p:sp>
        <p:nvSpPr>
          <p:cNvPr id="10" name="Shape 8"/>
          <p:cNvSpPr/>
          <p:nvPr/>
        </p:nvSpPr>
        <p:spPr>
          <a:xfrm>
            <a:off x="4270248" y="2432304"/>
            <a:ext cx="192024" cy="0"/>
          </a:xfrm>
          <a:prstGeom prst="line">
            <a:avLst/>
          </a:prstGeom>
          <a:noFill/>
          <a:ln w="19050">
            <a:solidFill>
              <a:srgbClr val="8A94A3"/>
            </a:solidFill>
            <a:prstDash val="solid"/>
            <a:tailEnd type="triangle"/>
          </a:ln>
        </p:spPr>
      </p:sp>
      <p:sp>
        <p:nvSpPr>
          <p:cNvPr id="11" name="Text 9"/>
          <p:cNvSpPr txBox="1"/>
          <p:nvPr/>
        </p:nvSpPr>
        <p:spPr>
          <a:xfrm>
            <a:off x="4480560" y="2103120"/>
            <a:ext cx="1737360" cy="658368"/>
          </a:xfrm>
          <a:prstGeom prst="roundRect">
            <a:avLst>
              <a:gd name="adj" fmla="val 11111"/>
            </a:avLst>
          </a:prstGeom>
          <a:solidFill>
            <a:srgbClr val="E3F4F1"/>
          </a:solidFill>
          <a:ln>
            <a:solidFill>
              <a:srgbClr val="E3F4F1"/>
            </a:solidFill>
          </a:ln>
        </p:spPr>
        <p:txBody>
          <a:bodyPr wrap="square" lIns="38100" tIns="38100" rIns="38100" bIns="38100" rtlCol="0" anchor="ctr"/>
          <a:lstStyle/>
          <a:p>
            <a:pPr algn="ctr" indent="0" marL="0">
              <a:buNone/>
            </a:pPr>
            <a:r>
              <a:rPr lang="en-US" sz="1300" b="1" dirty="0">
                <a:solidFill>
                  <a:srgbClr val="0D6F64"/>
                </a:solidFill>
                <a:latin typeface="Malgun Gothic" pitchFamily="34" charset="0"/>
                <a:ea typeface="Malgun Gothic" pitchFamily="34" charset="-122"/>
                <a:cs typeface="Malgun Gothic" pitchFamily="34" charset="-120"/>
              </a:rPr>
              <a:t>결과 A</a:t>
            </a:r>
            <a:endParaRPr lang="en-US" sz="1300" dirty="0"/>
          </a:p>
        </p:txBody>
      </p:sp>
      <p:sp>
        <p:nvSpPr>
          <p:cNvPr id="12" name="Text 10"/>
          <p:cNvSpPr txBox="1"/>
          <p:nvPr/>
        </p:nvSpPr>
        <p:spPr>
          <a:xfrm>
            <a:off x="548640" y="2907792"/>
            <a:ext cx="1737360" cy="658368"/>
          </a:xfrm>
          <a:prstGeom prst="roundRect">
            <a:avLst>
              <a:gd name="adj" fmla="val 11111"/>
            </a:avLst>
          </a:prstGeom>
          <a:solidFill>
            <a:srgbClr val="F3F5F8"/>
          </a:solidFill>
          <a:ln>
            <a:solidFill>
              <a:srgbClr val="F3F5F8"/>
            </a:solidFill>
          </a:ln>
        </p:spPr>
        <p:txBody>
          <a:bodyPr wrap="square" lIns="38100" tIns="38100" rIns="38100" bIns="38100" rtlCol="0" anchor="ctr"/>
          <a:lstStyle/>
          <a:p>
            <a:pPr algn="ctr" indent="0" marL="0">
              <a:buNone/>
            </a:pPr>
            <a:r>
              <a:rPr lang="en-US" sz="1300" b="1" dirty="0">
                <a:solidFill>
                  <a:srgbClr val="0E1A2B"/>
                </a:solidFill>
                <a:latin typeface="Malgun Gothic" pitchFamily="34" charset="0"/>
                <a:ea typeface="Malgun Gothic" pitchFamily="34" charset="-122"/>
                <a:cs typeface="Malgun Gothic" pitchFamily="34" charset="-120"/>
              </a:rPr>
              <a:t>로컬 MCP</a:t>
            </a:r>
            <a:endParaRPr lang="en-US" sz="1300" dirty="0"/>
          </a:p>
          <a:p>
            <a:pPr algn="ctr" indent="0" marL="0">
              <a:buNone/>
            </a:pPr>
            <a:r>
              <a:rPr lang="en-US" sz="1300" b="1" dirty="0">
                <a:solidFill>
                  <a:srgbClr val="0E1A2B"/>
                </a:solidFill>
                <a:latin typeface="Malgun Gothic" pitchFamily="34" charset="0"/>
                <a:ea typeface="Malgun Gothic" pitchFamily="34" charset="-122"/>
                <a:cs typeface="Malgun Gothic" pitchFamily="34" charset="-120"/>
              </a:rPr>
              <a:t>클라이언트</a:t>
            </a:r>
            <a:endParaRPr lang="en-US" sz="1300" dirty="0"/>
          </a:p>
        </p:txBody>
      </p:sp>
      <p:sp>
        <p:nvSpPr>
          <p:cNvPr id="13" name="Shape 11"/>
          <p:cNvSpPr/>
          <p:nvPr/>
        </p:nvSpPr>
        <p:spPr>
          <a:xfrm>
            <a:off x="2304288" y="3236976"/>
            <a:ext cx="192024" cy="0"/>
          </a:xfrm>
          <a:prstGeom prst="line">
            <a:avLst/>
          </a:prstGeom>
          <a:noFill/>
          <a:ln w="19050">
            <a:solidFill>
              <a:srgbClr val="8A94A3"/>
            </a:solidFill>
            <a:prstDash val="solid"/>
            <a:tailEnd type="triangle"/>
          </a:ln>
        </p:spPr>
      </p:sp>
      <p:sp>
        <p:nvSpPr>
          <p:cNvPr id="14" name="Text 12"/>
          <p:cNvSpPr txBox="1"/>
          <p:nvPr/>
        </p:nvSpPr>
        <p:spPr>
          <a:xfrm>
            <a:off x="2514600" y="2907792"/>
            <a:ext cx="1737360" cy="658368"/>
          </a:xfrm>
          <a:prstGeom prst="roundRect">
            <a:avLst>
              <a:gd name="adj" fmla="val 11111"/>
            </a:avLst>
          </a:prstGeom>
          <a:solidFill>
            <a:srgbClr val="FFFFFF"/>
          </a:solidFill>
          <a:ln w="19050">
            <a:solidFill>
              <a:srgbClr val="E8A33D"/>
            </a:solidFill>
          </a:ln>
        </p:spPr>
        <p:txBody>
          <a:bodyPr wrap="square" lIns="38100" tIns="38100" rIns="38100" bIns="38100" rtlCol="0" anchor="ctr"/>
          <a:lstStyle/>
          <a:p>
            <a:pPr algn="ctr" indent="0" marL="0">
              <a:buNone/>
            </a:pPr>
            <a:r>
              <a:rPr lang="en-US" sz="1300" b="1" dirty="0">
                <a:solidFill>
                  <a:srgbClr val="0E1A2B"/>
                </a:solidFill>
                <a:latin typeface="Malgun Gothic" pitchFamily="34" charset="0"/>
                <a:ea typeface="Malgun Gothic" pitchFamily="34" charset="-122"/>
                <a:cs typeface="Malgun Gothic" pitchFamily="34" charset="-120"/>
              </a:rPr>
              <a:t>MCP 서버 →</a:t>
            </a:r>
            <a:endParaRPr lang="en-US" sz="1300" dirty="0"/>
          </a:p>
          <a:p>
            <a:pPr algn="ctr" indent="0" marL="0">
              <a:buNone/>
            </a:pPr>
            <a:r>
              <a:rPr lang="en-US" sz="1300" b="1" dirty="0">
                <a:solidFill>
                  <a:srgbClr val="0E1A2B"/>
                </a:solidFill>
                <a:latin typeface="Malgun Gothic" pitchFamily="34" charset="0"/>
                <a:ea typeface="Malgun Gothic" pitchFamily="34" charset="-122"/>
                <a:cs typeface="Malgun Gothic" pitchFamily="34" charset="-120"/>
              </a:rPr>
              <a:t>같은 쿼리 함수</a:t>
            </a:r>
            <a:endParaRPr lang="en-US" sz="1300" dirty="0"/>
          </a:p>
        </p:txBody>
      </p:sp>
      <p:sp>
        <p:nvSpPr>
          <p:cNvPr id="15" name="Shape 13"/>
          <p:cNvSpPr/>
          <p:nvPr/>
        </p:nvSpPr>
        <p:spPr>
          <a:xfrm>
            <a:off x="4270248" y="3236976"/>
            <a:ext cx="192024" cy="0"/>
          </a:xfrm>
          <a:prstGeom prst="line">
            <a:avLst/>
          </a:prstGeom>
          <a:noFill/>
          <a:ln w="19050">
            <a:solidFill>
              <a:srgbClr val="8A94A3"/>
            </a:solidFill>
            <a:prstDash val="solid"/>
            <a:tailEnd type="triangle"/>
          </a:ln>
        </p:spPr>
      </p:sp>
      <p:sp>
        <p:nvSpPr>
          <p:cNvPr id="16" name="Text 14"/>
          <p:cNvSpPr txBox="1"/>
          <p:nvPr/>
        </p:nvSpPr>
        <p:spPr>
          <a:xfrm>
            <a:off x="4480560" y="2907792"/>
            <a:ext cx="1737360" cy="658368"/>
          </a:xfrm>
          <a:prstGeom prst="roundRect">
            <a:avLst>
              <a:gd name="adj" fmla="val 11111"/>
            </a:avLst>
          </a:prstGeom>
          <a:solidFill>
            <a:srgbClr val="E3F4F1"/>
          </a:solidFill>
          <a:ln>
            <a:solidFill>
              <a:srgbClr val="E3F4F1"/>
            </a:solidFill>
          </a:ln>
        </p:spPr>
        <p:txBody>
          <a:bodyPr wrap="square" lIns="38100" tIns="38100" rIns="38100" bIns="38100" rtlCol="0" anchor="ctr"/>
          <a:lstStyle/>
          <a:p>
            <a:pPr algn="ctr" indent="0" marL="0">
              <a:buNone/>
            </a:pPr>
            <a:r>
              <a:rPr lang="en-US" sz="1300" b="1" dirty="0">
                <a:solidFill>
                  <a:srgbClr val="0D6F64"/>
                </a:solidFill>
                <a:latin typeface="Malgun Gothic" pitchFamily="34" charset="0"/>
                <a:ea typeface="Malgun Gothic" pitchFamily="34" charset="-122"/>
                <a:cs typeface="Malgun Gothic" pitchFamily="34" charset="-120"/>
              </a:rPr>
              <a:t>결과 B</a:t>
            </a:r>
            <a:endParaRPr lang="en-US" sz="1300" dirty="0"/>
          </a:p>
        </p:txBody>
      </p:sp>
      <p:sp>
        <p:nvSpPr>
          <p:cNvPr id="17" name="Text 15"/>
          <p:cNvSpPr txBox="1"/>
          <p:nvPr/>
        </p:nvSpPr>
        <p:spPr>
          <a:xfrm>
            <a:off x="548640" y="3767328"/>
            <a:ext cx="5669280" cy="548640"/>
          </a:xfrm>
          <a:prstGeom prst="roundRect">
            <a:avLst>
              <a:gd name="adj" fmla="val 13333"/>
            </a:avLst>
          </a:prstGeom>
          <a:solidFill>
            <a:srgbClr val="FFFFFF"/>
          </a:solidFill>
          <a:ln w="15875">
            <a:solidFill>
              <a:srgbClr val="159A8C"/>
            </a:solidFill>
          </a:ln>
        </p:spPr>
        <p:txBody>
          <a:bodyPr wrap="square" lIns="127000" tIns="127000" rIns="127000" bIns="127000" rtlCol="0" anchor="ctr"/>
          <a:lstStyle/>
          <a:p>
            <a:pPr algn="l" indent="0" marL="0">
              <a:buNone/>
            </a:pPr>
            <a:r>
              <a:rPr lang="en-US" sz="1300" b="1" dirty="0">
                <a:solidFill>
                  <a:srgbClr val="0D6F64"/>
                </a:solidFill>
                <a:latin typeface="Malgun Gothic" pitchFamily="34" charset="0"/>
                <a:ea typeface="Malgun Gothic" pitchFamily="34" charset="-122"/>
                <a:cs typeface="Malgun Gothic" pitchFamily="34" charset="-120"/>
              </a:rPr>
              <a:t>결과 A = 결과 B ?  </a:t>
            </a:r>
            <a:pPr algn="l" indent="0" marL="0">
              <a:buNone/>
            </a:pPr>
            <a:r>
              <a:rPr lang="en-US" sz="1300" dirty="0">
                <a:solidFill>
                  <a:srgbClr val="1A2433"/>
                </a:solidFill>
                <a:latin typeface="Malgun Gothic" pitchFamily="34" charset="0"/>
                <a:ea typeface="Malgun Gothic" pitchFamily="34" charset="-122"/>
                <a:cs typeface="Malgun Gothic" pitchFamily="34" charset="-120"/>
              </a:rPr>
              <a:t>구조화 응답 일치 검증 · 최종 자연어 답변의 정확성은 별도 평가</a:t>
            </a:r>
            <a:endParaRPr lang="en-US" sz="13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4526280"/>
          <a:ext cx="5669280" cy="914400"/>
        </p:xfrm>
        <a:graphic>
          <a:graphicData uri="http://schemas.openxmlformats.org/drawingml/2006/table">
            <a:tbl>
              <a:tblPr/>
              <a:tblGrid>
                <a:gridCol w="3108960"/>
                <a:gridCol w="1691640"/>
                <a:gridCol w="868680"/>
              </a:tblGrid>
              <a:tr h="347472">
                <a:tc>
                  <a:txBody>
                    <a:bodyPr/>
                    <a:lstStyle/>
                    <a:p>
                      <a:pPr indent="0" marL="0">
                        <a:buNone/>
                      </a:pPr>
                      <a:r>
                        <a:rPr lang="en-US" sz="1100" b="1" dirty="0">
                          <a:solidFill>
                            <a:srgbClr val="FFFFFF"/>
                          </a:solidFill>
                          <a:latin typeface="Malgun Gothic" pitchFamily="34" charset="0"/>
                          <a:ea typeface="Malgun Gothic" pitchFamily="34" charset="-122"/>
                          <a:cs typeface="Malgun Gothic" pitchFamily="34" charset="-120"/>
                        </a:rPr>
                        <a:t>MCP 도구(안)</a:t>
                      </a:r>
                      <a:endParaRPr lang="en-US" sz="1100" dirty="0">
                        <a:latin typeface="Malgun Gothic" charset="0"/>
                        <a:ea typeface="Malgun Gothic" charset="0"/>
                        <a:cs typeface="Malgun Gothic" charset="0"/>
                      </a:endParaRPr>
                    </a:p>
                  </a:txBody>
                  <a:tcPr marL="63500" marR="635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3A4A60"/>
                    </a:solidFill>
                  </a:tcPr>
                </a:tc>
                <a:tc>
                  <a:txBody>
                    <a:bodyPr/>
                    <a:lstStyle/>
                    <a:p>
                      <a:pPr indent="0" marL="0">
                        <a:buNone/>
                      </a:pPr>
                      <a:r>
                        <a:rPr lang="en-US" sz="1100" b="1" dirty="0">
                          <a:solidFill>
                            <a:srgbClr val="FFFFFF"/>
                          </a:solidFill>
                          <a:latin typeface="Malgun Gothic" pitchFamily="34" charset="0"/>
                          <a:ea typeface="Malgun Gothic" pitchFamily="34" charset="-122"/>
                          <a:cs typeface="Malgun Gothic" pitchFamily="34" charset="-120"/>
                        </a:rPr>
                        <a:t>내부 동작</a:t>
                      </a:r>
                      <a:endParaRPr lang="en-US" sz="1100" dirty="0">
                        <a:latin typeface="Malgun Gothic" charset="0"/>
                        <a:ea typeface="Malgun Gothic" charset="0"/>
                        <a:cs typeface="Malgun Gothic" charset="0"/>
                      </a:endParaRPr>
                    </a:p>
                  </a:txBody>
                  <a:tcPr marL="63500" marR="635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3A4A60"/>
                    </a:solidFill>
                  </a:tcPr>
                </a:tc>
                <a:tc>
                  <a:txBody>
                    <a:bodyPr/>
                    <a:lstStyle/>
                    <a:p>
                      <a:pPr indent="0" marL="0">
                        <a:buNone/>
                      </a:pPr>
                      <a:r>
                        <a:rPr lang="en-US" sz="1100" b="1" dirty="0">
                          <a:solidFill>
                            <a:srgbClr val="FFFFFF"/>
                          </a:solidFill>
                          <a:latin typeface="Malgun Gothic" pitchFamily="34" charset="0"/>
                          <a:ea typeface="Malgun Gothic" pitchFamily="34" charset="-122"/>
                          <a:cs typeface="Malgun Gothic" pitchFamily="34" charset="-120"/>
                        </a:rPr>
                        <a:t>우선순위</a:t>
                      </a:r>
                      <a:endParaRPr lang="en-US" sz="1100" dirty="0">
                        <a:latin typeface="Malgun Gothic" charset="0"/>
                        <a:ea typeface="Malgun Gothic" charset="0"/>
                        <a:cs typeface="Malgun Gothic" charset="0"/>
                      </a:endParaRPr>
                    </a:p>
                  </a:txBody>
                  <a:tcPr marL="63500" marR="635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3A4A60"/>
                    </a:solidFill>
                  </a:tcPr>
                </a:tc>
              </a:tr>
              <a:tr h="347472">
                <a:tc>
                  <a:txBody>
                    <a:bodyPr/>
                    <a:lstStyle/>
                    <a:p>
                      <a:pPr indent="0" marL="0">
                        <a:buNone/>
                      </a:pPr>
                      <a:r>
                        <a:rPr lang="en-US" sz="1100" dirty="0">
                          <a:solidFill>
                            <a:srgbClr val="1A2433"/>
                          </a:solidFill>
                          <a:latin typeface="Malgun Gothic" pitchFamily="34" charset="0"/>
                          <a:ea typeface="Malgun Gothic" pitchFamily="34" charset="-122"/>
                          <a:cs typeface="Malgun Gothic" pitchFamily="34" charset="-120"/>
                        </a:rPr>
                        <a:t>get_card_benefits(card)</a:t>
                      </a:r>
                      <a:endParaRPr lang="en-US" sz="1100" dirty="0">
                        <a:latin typeface="Malgun Gothic" charset="0"/>
                        <a:ea typeface="Malgun Gothic" charset="0"/>
                        <a:cs typeface="Malgun Gothic" charset="0"/>
                      </a:endParaRPr>
                    </a:p>
                  </a:txBody>
                  <a:tcPr marL="63500" marR="635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100" dirty="0">
                          <a:solidFill>
                            <a:srgbClr val="1A2433"/>
                          </a:solidFill>
                          <a:latin typeface="Malgun Gothic" pitchFamily="34" charset="0"/>
                          <a:ea typeface="Malgun Gothic" pitchFamily="34" charset="-122"/>
                          <a:cs typeface="Malgun Gothic" pitchFamily="34" charset="-120"/>
                        </a:rPr>
                        <a:t>M7-① 혜택·조건·근거</a:t>
                      </a:r>
                      <a:endParaRPr lang="en-US" sz="1100" dirty="0">
                        <a:latin typeface="Malgun Gothic" charset="0"/>
                        <a:ea typeface="Malgun Gothic" charset="0"/>
                        <a:cs typeface="Malgun Gothic" charset="0"/>
                      </a:endParaRPr>
                    </a:p>
                  </a:txBody>
                  <a:tcPr marL="63500" marR="635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100" b="1" dirty="0">
                          <a:solidFill>
                            <a:srgbClr val="0D6F64"/>
                          </a:solidFill>
                          <a:latin typeface="Malgun Gothic" pitchFamily="34" charset="0"/>
                          <a:ea typeface="Malgun Gothic" pitchFamily="34" charset="-122"/>
                          <a:cs typeface="Malgun Gothic" pitchFamily="34" charset="-120"/>
                        </a:rPr>
                        <a:t>필수</a:t>
                      </a:r>
                      <a:endParaRPr lang="en-US" sz="1100" dirty="0">
                        <a:latin typeface="Malgun Gothic" charset="0"/>
                        <a:ea typeface="Malgun Gothic" charset="0"/>
                        <a:cs typeface="Malgun Gothic" charset="0"/>
                      </a:endParaRPr>
                    </a:p>
                  </a:txBody>
                  <a:tcPr marL="63500" marR="635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347472">
                <a:tc>
                  <a:txBody>
                    <a:bodyPr/>
                    <a:lstStyle/>
                    <a:p>
                      <a:pPr indent="0" marL="0">
                        <a:buNone/>
                      </a:pPr>
                      <a:r>
                        <a:rPr lang="en-US" sz="1100" dirty="0">
                          <a:solidFill>
                            <a:srgbClr val="1A2433"/>
                          </a:solidFill>
                          <a:latin typeface="Malgun Gothic" pitchFamily="34" charset="0"/>
                          <a:ea typeface="Malgun Gothic" pitchFamily="34" charset="-122"/>
                          <a:cs typeface="Malgun Gothic" pitchFamily="34" charset="-120"/>
                        </a:rPr>
                        <a:t>find_affected_by_condition(condition)</a:t>
                      </a:r>
                      <a:endParaRPr lang="en-US" sz="1100" dirty="0">
                        <a:latin typeface="Malgun Gothic" charset="0"/>
                        <a:ea typeface="Malgun Gothic" charset="0"/>
                        <a:cs typeface="Malgun Gothic" charset="0"/>
                      </a:endParaRPr>
                    </a:p>
                  </a:txBody>
                  <a:tcPr marL="63500" marR="635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100" dirty="0">
                          <a:solidFill>
                            <a:srgbClr val="1A2433"/>
                          </a:solidFill>
                          <a:latin typeface="Malgun Gothic" pitchFamily="34" charset="0"/>
                          <a:ea typeface="Malgun Gothic" pitchFamily="34" charset="-122"/>
                          <a:cs typeface="Malgun Gothic" pitchFamily="34" charset="-120"/>
                        </a:rPr>
                        <a:t>M7-② 영향 추적</a:t>
                      </a:r>
                      <a:endParaRPr lang="en-US" sz="1100" dirty="0">
                        <a:latin typeface="Malgun Gothic" charset="0"/>
                        <a:ea typeface="Malgun Gothic" charset="0"/>
                        <a:cs typeface="Malgun Gothic" charset="0"/>
                      </a:endParaRPr>
                    </a:p>
                  </a:txBody>
                  <a:tcPr marL="63500" marR="635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100" b="1" dirty="0">
                          <a:solidFill>
                            <a:srgbClr val="8F5208"/>
                          </a:solidFill>
                          <a:latin typeface="Malgun Gothic" pitchFamily="34" charset="0"/>
                          <a:ea typeface="Malgun Gothic" pitchFamily="34" charset="-122"/>
                          <a:cs typeface="Malgun Gothic" pitchFamily="34" charset="-120"/>
                        </a:rPr>
                        <a:t>가능하면</a:t>
                      </a:r>
                      <a:endParaRPr lang="en-US" sz="1100" dirty="0">
                        <a:latin typeface="Malgun Gothic" charset="0"/>
                        <a:ea typeface="Malgun Gothic" charset="0"/>
                        <a:cs typeface="Malgun Gothic" charset="0"/>
                      </a:endParaRPr>
                    </a:p>
                  </a:txBody>
                  <a:tcPr marL="63500" marR="635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347472">
                <a:tc>
                  <a:txBody>
                    <a:bodyPr/>
                    <a:lstStyle/>
                    <a:p>
                      <a:pPr indent="0" marL="0">
                        <a:buNone/>
                      </a:pPr>
                      <a:r>
                        <a:rPr lang="en-US" sz="1100" dirty="0">
                          <a:solidFill>
                            <a:srgbClr val="1A2433"/>
                          </a:solidFill>
                          <a:latin typeface="Malgun Gothic" pitchFamily="34" charset="0"/>
                          <a:ea typeface="Malgun Gothic" pitchFamily="34" charset="-122"/>
                          <a:cs typeface="Malgun Gothic" pitchFamily="34" charset="-120"/>
                        </a:rPr>
                        <a:t>explain_judgment(card, benefit)</a:t>
                      </a:r>
                      <a:endParaRPr lang="en-US" sz="1100" dirty="0">
                        <a:latin typeface="Malgun Gothic" charset="0"/>
                        <a:ea typeface="Malgun Gothic" charset="0"/>
                        <a:cs typeface="Malgun Gothic" charset="0"/>
                      </a:endParaRPr>
                    </a:p>
                  </a:txBody>
                  <a:tcPr marL="63500" marR="635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100" dirty="0">
                          <a:solidFill>
                            <a:srgbClr val="1A2433"/>
                          </a:solidFill>
                          <a:latin typeface="Malgun Gothic" pitchFamily="34" charset="0"/>
                          <a:ea typeface="Malgun Gothic" pitchFamily="34" charset="-122"/>
                          <a:cs typeface="Malgun Gothic" pitchFamily="34" charset="-120"/>
                        </a:rPr>
                        <a:t>M7-③ 판단 경로</a:t>
                      </a:r>
                      <a:endParaRPr lang="en-US" sz="1100" dirty="0">
                        <a:latin typeface="Malgun Gothic" charset="0"/>
                        <a:ea typeface="Malgun Gothic" charset="0"/>
                        <a:cs typeface="Malgun Gothic" charset="0"/>
                      </a:endParaRPr>
                    </a:p>
                  </a:txBody>
                  <a:tcPr marL="63500" marR="635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100" dirty="0">
                          <a:solidFill>
                            <a:srgbClr val="5B6778"/>
                          </a:solidFill>
                          <a:latin typeface="Malgun Gothic" pitchFamily="34" charset="0"/>
                          <a:ea typeface="Malgun Gothic" pitchFamily="34" charset="-122"/>
                          <a:cs typeface="Malgun Gothic" pitchFamily="34" charset="-120"/>
                        </a:rPr>
                        <a:t>후속</a:t>
                      </a:r>
                      <a:endParaRPr lang="en-US" sz="1100" dirty="0">
                        <a:latin typeface="Malgun Gothic" charset="0"/>
                        <a:ea typeface="Malgun Gothic" charset="0"/>
                        <a:cs typeface="Malgun Gothic" charset="0"/>
                      </a:endParaRPr>
                    </a:p>
                  </a:txBody>
                  <a:tcPr marL="63500" marR="635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bl>
          </a:graphicData>
        </a:graphic>
      </p:graphicFrame>
      <p:sp>
        <p:nvSpPr>
          <p:cNvPr id="19" name="Shape 16"/>
          <p:cNvSpPr/>
          <p:nvPr/>
        </p:nvSpPr>
        <p:spPr>
          <a:xfrm>
            <a:off x="6583680" y="1691640"/>
            <a:ext cx="5059375" cy="1783080"/>
          </a:xfrm>
          <a:prstGeom prst="roundRect">
            <a:avLst>
              <a:gd name="adj" fmla="val 5128"/>
            </a:avLst>
          </a:prstGeom>
          <a:solidFill>
            <a:srgbClr val="E3F4F1"/>
          </a:solidFill>
          <a:ln w="12700">
            <a:solidFill>
              <a:srgbClr val="E3F4F1"/>
            </a:solidFill>
            <a:prstDash val="solid"/>
          </a:ln>
        </p:spPr>
      </p:sp>
      <p:sp>
        <p:nvSpPr>
          <p:cNvPr id="20" name="Text 17"/>
          <p:cNvSpPr txBox="1"/>
          <p:nvPr/>
        </p:nvSpPr>
        <p:spPr>
          <a:xfrm>
            <a:off x="6784848" y="1801368"/>
            <a:ext cx="4693615" cy="1600200"/>
          </a:xfrm>
          <a:prstGeom prst="rect">
            <a:avLst/>
          </a:prstGeom>
          <a:noFill/>
          <a:ln/>
        </p:spPr>
        <p:txBody>
          <a:bodyPr wrap="square" lIns="0" tIns="0" rIns="0" bIns="0" rtlCol="0" anchor="t"/>
          <a:lstStyle/>
          <a:p>
            <a:pPr indent="0" marL="0">
              <a:spcAft>
                <a:spcPts val="600"/>
              </a:spcAft>
              <a:buNone/>
            </a:pPr>
            <a:r>
              <a:rPr lang="en-US" sz="1500" b="1" dirty="0">
                <a:solidFill>
                  <a:srgbClr val="0D6F64"/>
                </a:solidFill>
                <a:latin typeface="Malgun Gothic" pitchFamily="34" charset="0"/>
                <a:ea typeface="Malgun Gothic" pitchFamily="34" charset="-122"/>
                <a:cs typeface="Malgun Gothic" pitchFamily="34" charset="-120"/>
              </a:rPr>
              <a:t>MCP가 하는 일</a:t>
            </a:r>
            <a:endParaRPr lang="en-US" sz="1400" dirty="0"/>
          </a:p>
          <a:p>
            <a:pPr marL="342900" indent="-342900">
              <a:spcAft>
                <a:spcPts val="600"/>
              </a:spcAft>
              <a:buSzPct val="100000"/>
              <a:buChar char="•"/>
            </a:pPr>
            <a:r>
              <a:rPr lang="en-US" sz="1400" dirty="0">
                <a:solidFill>
                  <a:srgbClr val="1A2433"/>
                </a:solidFill>
                <a:latin typeface="Malgun Gothic" pitchFamily="34" charset="0"/>
                <a:ea typeface="Malgun Gothic" pitchFamily="34" charset="-122"/>
                <a:cs typeface="Malgun Gothic" pitchFamily="34" charset="-120"/>
              </a:rPr>
              <a:t>기존 조회 함수를 AI 클라이언트가 호출할 수 있게 연결</a:t>
            </a:r>
            <a:endParaRPr lang="en-US" sz="1400" dirty="0"/>
          </a:p>
          <a:p>
            <a:pPr marL="342900" indent="-342900">
              <a:spcAft>
                <a:spcPts val="600"/>
              </a:spcAft>
              <a:buSzPct val="100000"/>
              <a:buChar char="•"/>
            </a:pPr>
            <a:r>
              <a:rPr lang="en-US" sz="1400" dirty="0">
                <a:solidFill>
                  <a:srgbClr val="1A2433"/>
                </a:solidFill>
                <a:latin typeface="Malgun Gothic" pitchFamily="34" charset="0"/>
                <a:ea typeface="Malgun Gothic" pitchFamily="34" charset="-122"/>
                <a:cs typeface="Malgun Gothic" pitchFamily="34" charset="-120"/>
              </a:rPr>
              <a:t>판정 로직을 따로 만들지 않는 얇은 어댑터</a:t>
            </a:r>
            <a:endParaRPr lang="en-US" sz="1400" dirty="0"/>
          </a:p>
          <a:p>
            <a:pPr marL="342900" indent="-342900">
              <a:spcAft>
                <a:spcPts val="600"/>
              </a:spcAft>
              <a:buSzPct val="100000"/>
              <a:buChar char="•"/>
            </a:pPr>
            <a:r>
              <a:rPr lang="en-US" sz="1400" dirty="0">
                <a:solidFill>
                  <a:srgbClr val="1A2433"/>
                </a:solidFill>
                <a:latin typeface="Malgun Gothic" pitchFamily="34" charset="0"/>
                <a:ea typeface="Malgun Gothic" pitchFamily="34" charset="-122"/>
                <a:cs typeface="Malgun Gothic" pitchFamily="34" charset="-120"/>
              </a:rPr>
              <a:t>자사 AI는 MCP 없이 내부 API를 직접 써도 됩니다</a:t>
            </a:r>
            <a:endParaRPr lang="en-US" sz="1400" dirty="0"/>
          </a:p>
        </p:txBody>
      </p:sp>
      <p:sp>
        <p:nvSpPr>
          <p:cNvPr id="21" name="Shape 18"/>
          <p:cNvSpPr/>
          <p:nvPr/>
        </p:nvSpPr>
        <p:spPr>
          <a:xfrm>
            <a:off x="6583680" y="3611880"/>
            <a:ext cx="5059375" cy="1005840"/>
          </a:xfrm>
          <a:prstGeom prst="roundRect">
            <a:avLst>
              <a:gd name="adj" fmla="val 9091"/>
            </a:avLst>
          </a:prstGeom>
          <a:solidFill>
            <a:srgbClr val="FBE6E2"/>
          </a:solidFill>
          <a:ln w="12700">
            <a:solidFill>
              <a:srgbClr val="FBE6E2"/>
            </a:solidFill>
            <a:prstDash val="solid"/>
          </a:ln>
        </p:spPr>
      </p:sp>
      <p:sp>
        <p:nvSpPr>
          <p:cNvPr id="22" name="Text 19"/>
          <p:cNvSpPr txBox="1"/>
          <p:nvPr/>
        </p:nvSpPr>
        <p:spPr>
          <a:xfrm>
            <a:off x="6784848" y="3703320"/>
            <a:ext cx="4693615" cy="868680"/>
          </a:xfrm>
          <a:prstGeom prst="rect">
            <a:avLst/>
          </a:prstGeom>
          <a:noFill/>
          <a:ln/>
        </p:spPr>
        <p:txBody>
          <a:bodyPr wrap="square" lIns="0" tIns="0" rIns="0" bIns="0" rtlCol="0" anchor="t"/>
          <a:lstStyle/>
          <a:p>
            <a:pPr indent="0" marL="0">
              <a:lnSpc>
                <a:spcPct val="115000"/>
              </a:lnSpc>
              <a:buNone/>
            </a:pPr>
            <a:r>
              <a:rPr lang="en-US" sz="1500" b="1" dirty="0">
                <a:solidFill>
                  <a:srgbClr val="A8311A"/>
                </a:solidFill>
                <a:latin typeface="Malgun Gothic" pitchFamily="34" charset="0"/>
                <a:ea typeface="Malgun Gothic" pitchFamily="34" charset="-122"/>
                <a:cs typeface="Malgun Gothic" pitchFamily="34" charset="-120"/>
              </a:rPr>
              <a:t>MCP가 보장하지 못하는 것</a:t>
            </a:r>
            <a:endParaRPr lang="en-US" sz="1400" dirty="0"/>
          </a:p>
          <a:p>
            <a:pPr indent="0" marL="0">
              <a:lnSpc>
                <a:spcPct val="115000"/>
              </a:lnSpc>
              <a:buNone/>
            </a:pPr>
            <a:r>
              <a:rPr lang="en-US" sz="1400" dirty="0">
                <a:solidFill>
                  <a:srgbClr val="1A2433"/>
                </a:solidFill>
                <a:latin typeface="Malgun Gothic" pitchFamily="34" charset="0"/>
                <a:ea typeface="Malgun Gothic" pitchFamily="34" charset="-122"/>
                <a:cs typeface="Malgun Gothic" pitchFamily="34" charset="-120"/>
              </a:rPr>
              <a:t>외부 AI의 도구 호출 여부 · 요약·변형 · 브랜드 문구 표시</a:t>
            </a:r>
            <a:endParaRPr lang="en-US" sz="1400" dirty="0"/>
          </a:p>
        </p:txBody>
      </p:sp>
      <p:sp>
        <p:nvSpPr>
          <p:cNvPr id="23" name="Shape 20"/>
          <p:cNvSpPr/>
          <p:nvPr/>
        </p:nvSpPr>
        <p:spPr>
          <a:xfrm>
            <a:off x="6583680" y="4754880"/>
            <a:ext cx="5059375" cy="1143000"/>
          </a:xfrm>
          <a:prstGeom prst="roundRect">
            <a:avLst>
              <a:gd name="adj" fmla="val 8000"/>
            </a:avLst>
          </a:prstGeom>
          <a:solidFill>
            <a:srgbClr val="FFFFFF"/>
          </a:solidFill>
          <a:ln w="12700">
            <a:solidFill>
              <a:srgbClr val="D5DBE3"/>
            </a:solidFill>
            <a:prstDash val="solid"/>
          </a:ln>
        </p:spPr>
      </p:sp>
      <p:sp>
        <p:nvSpPr>
          <p:cNvPr id="24" name="Text 21"/>
          <p:cNvSpPr txBox="1"/>
          <p:nvPr/>
        </p:nvSpPr>
        <p:spPr>
          <a:xfrm>
            <a:off x="6784848" y="4846320"/>
            <a:ext cx="4693615" cy="987552"/>
          </a:xfrm>
          <a:prstGeom prst="rect">
            <a:avLst/>
          </a:prstGeom>
          <a:noFill/>
          <a:ln/>
        </p:spPr>
        <p:txBody>
          <a:bodyPr wrap="square" lIns="0" tIns="0" rIns="0" bIns="0" rtlCol="0" anchor="t"/>
          <a:lstStyle/>
          <a:p>
            <a:pPr indent="0" marL="0">
              <a:lnSpc>
                <a:spcPct val="115000"/>
              </a:lnSpc>
              <a:buNone/>
            </a:pPr>
            <a:r>
              <a:rPr lang="en-US" sz="1300" b="1" dirty="0">
                <a:solidFill>
                  <a:srgbClr val="0E1A2B"/>
                </a:solidFill>
                <a:latin typeface="Malgun Gothic" pitchFamily="34" charset="0"/>
                <a:ea typeface="Malgun Gothic" pitchFamily="34" charset="-122"/>
                <a:cs typeface="Malgun Gothic" pitchFamily="34" charset="-120"/>
              </a:rPr>
              <a:t>시연 범위: </a:t>
            </a:r>
            <a:pPr indent="0" marL="0">
              <a:lnSpc>
                <a:spcPct val="115000"/>
              </a:lnSpc>
              <a:buNone/>
            </a:pPr>
            <a:r>
              <a:rPr lang="en-US" sz="1300" dirty="0">
                <a:solidFill>
                  <a:srgbClr val="3A4A60"/>
                </a:solidFill>
                <a:latin typeface="Malgun Gothic" pitchFamily="34" charset="0"/>
                <a:ea typeface="Malgun Gothic" pitchFamily="34" charset="-122"/>
                <a:cs typeface="Malgun Gothic" pitchFamily="34" charset="-120"/>
              </a:rPr>
              <a:t>로컬 MCP 클라이언트 호출까지. 카카오 등 외부 플랫폼 실연동은 범위 밖입니다.</a:t>
            </a:r>
            <a:endParaRPr lang="en-US" sz="1300" dirty="0"/>
          </a:p>
          <a:p>
            <a:pPr indent="0" marL="0">
              <a:lnSpc>
                <a:spcPct val="115000"/>
              </a:lnSpc>
              <a:buNone/>
            </a:pPr>
            <a:r>
              <a:rPr lang="en-US" sz="1300" b="1" dirty="0">
                <a:solidFill>
                  <a:srgbClr val="0E1A2B"/>
                </a:solidFill>
                <a:latin typeface="Malgun Gothic" pitchFamily="34" charset="0"/>
                <a:ea typeface="Malgun Gothic" pitchFamily="34" charset="-122"/>
                <a:cs typeface="Malgun Gothic" pitchFamily="34" charset="-120"/>
              </a:rPr>
              <a:t>컷라인: </a:t>
            </a:r>
            <a:pPr indent="0" marL="0">
              <a:lnSpc>
                <a:spcPct val="115000"/>
              </a:lnSpc>
              <a:buNone/>
            </a:pPr>
            <a:r>
              <a:rPr lang="en-US" sz="1300" dirty="0">
                <a:solidFill>
                  <a:srgbClr val="3A4A60"/>
                </a:solidFill>
                <a:latin typeface="Malgun Gothic" pitchFamily="34" charset="0"/>
                <a:ea typeface="Malgun Gothic" pitchFamily="34" charset="-122"/>
                <a:cs typeface="Malgun Gothic" pitchFamily="34" charset="-120"/>
              </a:rPr>
              <a:t>3일차 오전까지 M8 미완료 시 get_card_benefits 1개만 구현</a:t>
            </a:r>
            <a:endParaRPr lang="en-US" sz="1300" dirty="0"/>
          </a:p>
        </p:txBody>
      </p:sp>
      <p:sp>
        <p:nvSpPr>
          <p:cNvPr id="25" name="Text 22"/>
          <p:cNvSpPr txBox="1"/>
          <p:nvPr/>
        </p:nvSpPr>
        <p:spPr>
          <a:xfrm>
            <a:off x="548640" y="6400800"/>
            <a:ext cx="10515600" cy="292608"/>
          </a:xfrm>
          <a:prstGeom prst="rect">
            <a:avLst/>
          </a:prstGeom>
          <a:noFill/>
          <a:ln/>
        </p:spPr>
        <p:txBody>
          <a:bodyPr wrap="square" lIns="0" tIns="0" rIns="0" bIns="0" rtlCol="0" anchor="ctr"/>
          <a:lstStyle/>
          <a:p>
            <a:pPr indent="0" marL="0">
              <a:buNone/>
            </a:pPr>
            <a:r>
              <a:rPr lang="en-US" sz="1000" dirty="0">
                <a:solidFill>
                  <a:srgbClr val="6B7686"/>
                </a:solidFill>
                <a:latin typeface="Malgun Gothic" pitchFamily="34" charset="0"/>
                <a:ea typeface="Malgun Gothic" pitchFamily="34" charset="-122"/>
                <a:cs typeface="Malgun Gothic" pitchFamily="34" charset="-120"/>
              </a:rPr>
              <a:t>업계 사례: 신한카드, 카카오 PlayMCP 기반 ‘카카오 툴즈’ 연동 발표(2026-09-13) — 연결 방식의 실사례일 뿐, 우리 구현과의 동등성 근거는 아닙니다</a:t>
            </a:r>
            <a:endParaRPr lang="en-US" sz="1000" dirty="0"/>
          </a:p>
        </p:txBody>
      </p:sp>
      <p:sp>
        <p:nvSpPr>
          <p:cNvPr id="25" name="Slide Number Placeholder 0"/>
          <p:cNvSpPr>
            <a:spLocks noGrp="1"/>
          </p:cNvSpPr>
          <p:nvPr>
            <p:ph type="sldNum" sz="quarter" idx="4294967295"/>
          </p:nvPr>
        </p:nvSpPr>
        <p:spPr>
          <a:xfrm>
            <a:off x="11274552" y="6437376"/>
            <a:ext cx="36576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Malgun Gothic"/>
                <a:ea typeface="Malgun Gothic"/>
                <a:cs typeface="Malgun Gothic"/>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548640" y="329184"/>
            <a:ext cx="7498080" cy="292608"/>
          </a:xfrm>
          <a:prstGeom prst="rect">
            <a:avLst/>
          </a:prstGeom>
          <a:noFill/>
          <a:ln/>
        </p:spPr>
        <p:txBody>
          <a:bodyPr wrap="square" lIns="0" tIns="0" rIns="0" bIns="0" rtlCol="0" anchor="ctr"/>
          <a:lstStyle/>
          <a:p>
            <a:pPr indent="0" marL="0">
              <a:buNone/>
            </a:pPr>
            <a:r>
              <a:rPr lang="en-US" sz="1200" b="1" dirty="0">
                <a:solidFill>
                  <a:srgbClr val="8F5208"/>
                </a:solidFill>
                <a:latin typeface="Malgun Gothic" pitchFamily="34" charset="0"/>
                <a:ea typeface="Malgun Gothic" pitchFamily="34" charset="-122"/>
                <a:cs typeface="Malgun Gothic" pitchFamily="34" charset="-120"/>
              </a:rPr>
              <a:t>11   카드사 관점의 가치</a:t>
            </a:r>
            <a:endParaRPr lang="en-US" sz="1200" dirty="0"/>
          </a:p>
        </p:txBody>
      </p:sp>
      <p:sp>
        <p:nvSpPr>
          <p:cNvPr id="3" name="Text 0"/>
          <p:cNvSpPr/>
          <p:nvPr>
            <p:ph idx="101"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2400" b="1" dirty="0">
                <a:solidFill>
                  <a:srgbClr val="0E1A2B"/>
                </a:solidFill>
                <a:latin typeface="Malgun Gothic" pitchFamily="34" charset="0"/>
                <a:ea typeface="Malgun Gothic" pitchFamily="34" charset="-122"/>
                <a:cs typeface="Malgun Gothic" pitchFamily="34" charset="-120"/>
              </a:rPr>
              <a:t>자사 AI와 외부 AI의 차이는 엔진이 아니라 ‘통제권’에 있습니다</a:t>
            </a:r>
            <a:endParaRPr lang="en-US" sz="2400" dirty="0"/>
          </a:p>
        </p:txBody>
      </p:sp>
      <p:sp>
        <p:nvSpPr>
          <p:cNvPr id="4" name="Text 2"/>
          <p:cNvSpPr txBox="1"/>
          <p:nvPr/>
        </p:nvSpPr>
        <p:spPr>
          <a:xfrm>
            <a:off x="10783519" y="329184"/>
            <a:ext cx="859536" cy="292608"/>
          </a:xfrm>
          <a:prstGeom prst="roundRect">
            <a:avLst>
              <a:gd name="adj" fmla="val 46875"/>
            </a:avLst>
          </a:prstGeom>
          <a:solidFill>
            <a:srgbClr val="EFE9F8"/>
          </a:solidFill>
          <a:ln>
            <a:solidFill>
              <a:srgbClr val="EFE9F8"/>
            </a:solidFill>
          </a:ln>
        </p:spPr>
        <p:txBody>
          <a:bodyPr wrap="square" lIns="0" tIns="0" rIns="0" bIns="0" rtlCol="0" anchor="ctr"/>
          <a:lstStyle/>
          <a:p>
            <a:pPr algn="ctr" indent="0" marL="0">
              <a:buNone/>
            </a:pPr>
            <a:r>
              <a:rPr lang="en-US" sz="1100" b="1" dirty="0">
                <a:solidFill>
                  <a:srgbClr val="6A4FB0"/>
                </a:solidFill>
                <a:latin typeface="Malgun Gothic" pitchFamily="34" charset="0"/>
                <a:ea typeface="Malgun Gothic" pitchFamily="34" charset="-122"/>
                <a:cs typeface="Malgun Gothic" pitchFamily="34" charset="-120"/>
              </a:rPr>
              <a:t>확장 제안</a:t>
            </a:r>
            <a:endParaRPr lang="en-US" sz="1100" dirty="0"/>
          </a:p>
        </p:txBody>
      </p:sp>
      <p:sp>
        <p:nvSpPr>
          <p:cNvPr id="5" name="Text 3"/>
          <p:cNvSpPr txBox="1"/>
          <p:nvPr/>
        </p:nvSpPr>
        <p:spPr>
          <a:xfrm>
            <a:off x="9969703" y="329184"/>
            <a:ext cx="722376" cy="292608"/>
          </a:xfrm>
          <a:prstGeom prst="roundRect">
            <a:avLst>
              <a:gd name="adj" fmla="val 46875"/>
            </a:avLst>
          </a:prstGeom>
          <a:solidFill>
            <a:srgbClr val="E8ECF2"/>
          </a:solidFill>
          <a:ln>
            <a:solidFill>
              <a:srgbClr val="E8ECF2"/>
            </a:solidFill>
          </a:ln>
        </p:spPr>
        <p:txBody>
          <a:bodyPr wrap="square" lIns="0" tIns="0" rIns="0" bIns="0" rtlCol="0" anchor="ctr"/>
          <a:lstStyle/>
          <a:p>
            <a:pPr algn="ctr" indent="0" marL="0">
              <a:buNone/>
            </a:pPr>
            <a:r>
              <a:rPr lang="en-US" sz="1100" b="1" dirty="0">
                <a:solidFill>
                  <a:srgbClr val="3A4A60"/>
                </a:solidFill>
                <a:latin typeface="Malgun Gothic" pitchFamily="34" charset="0"/>
                <a:ea typeface="Malgun Gothic" pitchFamily="34" charset="-122"/>
                <a:cs typeface="Malgun Gothic" pitchFamily="34" charset="-120"/>
              </a:rPr>
              <a:t>팀 가설</a:t>
            </a:r>
            <a:endParaRPr lang="en-US" sz="11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6629400" cy="914400"/>
        </p:xfrm>
        <a:graphic>
          <a:graphicData uri="http://schemas.openxmlformats.org/drawingml/2006/table">
            <a:tbl>
              <a:tblPr/>
              <a:tblGrid>
                <a:gridCol w="1874520"/>
                <a:gridCol w="2331720"/>
                <a:gridCol w="2423160"/>
              </a:tblGrid>
              <a:tr h="457200">
                <a:tc>
                  <a:txBody>
                    <a:bodyPr/>
                    <a:lstStyle/>
                    <a:p>
                      <a:pPr indent="0" marL="0">
                        <a:buNone/>
                      </a:pPr>
                      <a:r>
                        <a:rPr lang="en-US" sz="1300" b="1" dirty="0">
                          <a:solidFill>
                            <a:srgbClr val="FFFFFF"/>
                          </a:solidFill>
                          <a:latin typeface="Malgun Gothic" pitchFamily="34" charset="0"/>
                          <a:ea typeface="Malgun Gothic" pitchFamily="34" charset="-122"/>
                          <a:cs typeface="Malgun Gothic" pitchFamily="34" charset="-120"/>
                        </a:rPr>
                        <a:t>구분</a:t>
                      </a:r>
                      <a:endParaRPr lang="en-US" sz="1300" dirty="0">
                        <a:latin typeface="Malgun Gothic" charset="0"/>
                        <a:ea typeface="Malgun Gothic" charset="0"/>
                        <a:cs typeface="Malgun Gothic" charset="0"/>
                      </a:endParaRPr>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3A4A60"/>
                    </a:solidFill>
                  </a:tcPr>
                </a:tc>
                <a:tc>
                  <a:txBody>
                    <a:bodyPr/>
                    <a:lstStyle/>
                    <a:p>
                      <a:pPr indent="0" marL="0">
                        <a:buNone/>
                      </a:pPr>
                      <a:r>
                        <a:rPr lang="en-US" sz="1300" b="1" dirty="0">
                          <a:solidFill>
                            <a:srgbClr val="FFFFFF"/>
                          </a:solidFill>
                          <a:latin typeface="Malgun Gothic" pitchFamily="34" charset="0"/>
                          <a:ea typeface="Malgun Gothic" pitchFamily="34" charset="-122"/>
                          <a:cs typeface="Malgun Gothic" pitchFamily="34" charset="-120"/>
                        </a:rPr>
                        <a:t>카드사 자사 AI</a:t>
                      </a:r>
                      <a:endParaRPr lang="en-US" sz="1300" dirty="0">
                        <a:latin typeface="Malgun Gothic" charset="0"/>
                        <a:ea typeface="Malgun Gothic" charset="0"/>
                        <a:cs typeface="Malgun Gothic" charset="0"/>
                      </a:endParaRPr>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0E1A2B"/>
                    </a:solidFill>
                  </a:tcPr>
                </a:tc>
                <a:tc>
                  <a:txBody>
                    <a:bodyPr/>
                    <a:lstStyle/>
                    <a:p>
                      <a:pPr indent="0" marL="0">
                        <a:buNone/>
                      </a:pPr>
                      <a:r>
                        <a:rPr lang="en-US" sz="1300" b="1" dirty="0">
                          <a:solidFill>
                            <a:srgbClr val="FFFFFF"/>
                          </a:solidFill>
                          <a:latin typeface="Malgun Gothic" pitchFamily="34" charset="0"/>
                          <a:ea typeface="Malgun Gothic" pitchFamily="34" charset="-122"/>
                          <a:cs typeface="Malgun Gothic" pitchFamily="34" charset="-120"/>
                        </a:rPr>
                        <a:t>외부 AI (연동 허용 시)</a:t>
                      </a:r>
                      <a:endParaRPr lang="en-US" sz="1300" dirty="0">
                        <a:latin typeface="Malgun Gothic" charset="0"/>
                        <a:ea typeface="Malgun Gothic" charset="0"/>
                        <a:cs typeface="Malgun Gothic" charset="0"/>
                      </a:endParaRPr>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3A4A60"/>
                    </a:solidFill>
                  </a:tcPr>
                </a:tc>
              </a:tr>
              <a:tr h="457200">
                <a:tc>
                  <a:txBody>
                    <a:bodyPr/>
                    <a:lstStyle/>
                    <a:p>
                      <a:pPr indent="0" marL="0">
                        <a:buNone/>
                      </a:pPr>
                      <a:r>
                        <a:rPr lang="en-US" sz="1300" b="1" dirty="0">
                          <a:solidFill>
                            <a:srgbClr val="0E1A2B"/>
                          </a:solidFill>
                          <a:latin typeface="Malgun Gothic" pitchFamily="34" charset="0"/>
                          <a:ea typeface="Malgun Gothic" pitchFamily="34" charset="-122"/>
                          <a:cs typeface="Malgun Gothic" pitchFamily="34" charset="-120"/>
                        </a:rPr>
                        <a:t>조건·근거 조회</a:t>
                      </a:r>
                      <a:endParaRPr lang="en-US" sz="1300" dirty="0">
                        <a:latin typeface="Malgun Gothic" charset="0"/>
                        <a:ea typeface="Malgun Gothic" charset="0"/>
                        <a:cs typeface="Malgun Gothic" charset="0"/>
                      </a:endParaRPr>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gridSpan="2">
                  <a:txBody>
                    <a:bodyPr/>
                    <a:lstStyle/>
                    <a:p>
                      <a:pPr algn="ctr" indent="0" marL="0">
                        <a:buNone/>
                      </a:pPr>
                      <a:r>
                        <a:rPr lang="en-US" sz="1300" b="1" dirty="0">
                          <a:solidFill>
                            <a:srgbClr val="0D6F64"/>
                          </a:solidFill>
                          <a:latin typeface="Malgun Gothic" pitchFamily="34" charset="0"/>
                          <a:ea typeface="Malgun Gothic" pitchFamily="34" charset="-122"/>
                          <a:cs typeface="Malgun Gothic" pitchFamily="34" charset="-120"/>
                        </a:rPr>
                        <a:t>같은 엔진 → 같은 구조화 결과</a:t>
                      </a:r>
                      <a:endParaRPr lang="en-US" sz="1300" dirty="0">
                        <a:latin typeface="Malgun Gothic" charset="0"/>
                        <a:ea typeface="Malgun Gothic" charset="0"/>
                        <a:cs typeface="Malgun Gothic" charset="0"/>
                      </a:endParaRPr>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3F4F1"/>
                    </a:solidFill>
                  </a:tcPr>
                </a:tc>
                <a:tc hMerge="1">
                  <a:tcPr/>
                </a:tc>
              </a:tr>
              <a:tr h="457200">
                <a:tc>
                  <a:txBody>
                    <a:bodyPr/>
                    <a:lstStyle/>
                    <a:p>
                      <a:pPr indent="0" marL="0">
                        <a:buNone/>
                      </a:pPr>
                      <a:r>
                        <a:rPr lang="en-US" sz="1300" b="1" dirty="0">
                          <a:solidFill>
                            <a:srgbClr val="0E1A2B"/>
                          </a:solidFill>
                          <a:latin typeface="Malgun Gothic" pitchFamily="34" charset="0"/>
                          <a:ea typeface="Malgun Gothic" pitchFamily="34" charset="-122"/>
                          <a:cs typeface="Malgun Gothic" pitchFamily="34" charset="-120"/>
                        </a:rPr>
                        <a:t>고객 접점</a:t>
                      </a:r>
                      <a:endParaRPr lang="en-US" sz="1300" dirty="0">
                        <a:latin typeface="Malgun Gothic" charset="0"/>
                        <a:ea typeface="Malgun Gothic" charset="0"/>
                        <a:cs typeface="Malgun Gothic" charset="0"/>
                      </a:endParaRPr>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indent="0" marL="0">
                        <a:buNone/>
                      </a:pPr>
                      <a:r>
                        <a:rPr lang="en-US" sz="1300" dirty="0">
                          <a:solidFill>
                            <a:srgbClr val="1A2433"/>
                          </a:solidFill>
                          <a:latin typeface="Malgun Gothic" pitchFamily="34" charset="0"/>
                          <a:ea typeface="Malgun Gothic" pitchFamily="34" charset="-122"/>
                          <a:cs typeface="Malgun Gothic" pitchFamily="34" charset="-120"/>
                        </a:rPr>
                        <a:t>카드사</a:t>
                      </a:r>
                      <a:endParaRPr lang="en-US" sz="1300" dirty="0">
                        <a:latin typeface="Malgun Gothic" charset="0"/>
                        <a:ea typeface="Malgun Gothic" charset="0"/>
                        <a:cs typeface="Malgun Gothic" charset="0"/>
                      </a:endParaRPr>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300" dirty="0">
                          <a:solidFill>
                            <a:srgbClr val="1A2433"/>
                          </a:solidFill>
                          <a:latin typeface="Malgun Gothic" pitchFamily="34" charset="0"/>
                          <a:ea typeface="Malgun Gothic" pitchFamily="34" charset="-122"/>
                          <a:cs typeface="Malgun Gothic" pitchFamily="34" charset="-120"/>
                        </a:rPr>
                        <a:t>외부 플랫폼</a:t>
                      </a:r>
                      <a:endParaRPr lang="en-US" sz="1300" dirty="0">
                        <a:latin typeface="Malgun Gothic" charset="0"/>
                        <a:ea typeface="Malgun Gothic" charset="0"/>
                        <a:cs typeface="Malgun Gothic" charset="0"/>
                      </a:endParaRPr>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457200">
                <a:tc>
                  <a:txBody>
                    <a:bodyPr/>
                    <a:lstStyle/>
                    <a:p>
                      <a:pPr indent="0" marL="0">
                        <a:buNone/>
                      </a:pPr>
                      <a:r>
                        <a:rPr lang="en-US" sz="1300" b="1" dirty="0">
                          <a:solidFill>
                            <a:srgbClr val="0E1A2B"/>
                          </a:solidFill>
                          <a:latin typeface="Malgun Gothic" pitchFamily="34" charset="0"/>
                          <a:ea typeface="Malgun Gothic" pitchFamily="34" charset="-122"/>
                          <a:cs typeface="Malgun Gothic" pitchFamily="34" charset="-120"/>
                        </a:rPr>
                        <a:t>답변·화면 구성</a:t>
                      </a:r>
                      <a:endParaRPr lang="en-US" sz="1300" dirty="0">
                        <a:latin typeface="Malgun Gothic" charset="0"/>
                        <a:ea typeface="Malgun Gothic" charset="0"/>
                        <a:cs typeface="Malgun Gothic" charset="0"/>
                      </a:endParaRPr>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indent="0" marL="0">
                        <a:buNone/>
                      </a:pPr>
                      <a:r>
                        <a:rPr lang="en-US" sz="1300" dirty="0">
                          <a:solidFill>
                            <a:srgbClr val="1A2433"/>
                          </a:solidFill>
                          <a:latin typeface="Malgun Gothic" pitchFamily="34" charset="0"/>
                          <a:ea typeface="Malgun Gothic" pitchFamily="34" charset="-122"/>
                          <a:cs typeface="Malgun Gothic" pitchFamily="34" charset="-120"/>
                        </a:rPr>
                        <a:t>카드사가 설계</a:t>
                      </a:r>
                      <a:endParaRPr lang="en-US" sz="1300" dirty="0">
                        <a:latin typeface="Malgun Gothic" charset="0"/>
                        <a:ea typeface="Malgun Gothic" charset="0"/>
                        <a:cs typeface="Malgun Gothic" charset="0"/>
                      </a:endParaRPr>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300" dirty="0">
                          <a:solidFill>
                            <a:srgbClr val="1A2433"/>
                          </a:solidFill>
                          <a:latin typeface="Malgun Gothic" pitchFamily="34" charset="0"/>
                          <a:ea typeface="Malgun Gothic" pitchFamily="34" charset="-122"/>
                          <a:cs typeface="Malgun Gothic" pitchFamily="34" charset="-120"/>
                        </a:rPr>
                        <a:t>외부 AI가 결정</a:t>
                      </a:r>
                      <a:endParaRPr lang="en-US" sz="1300" dirty="0">
                        <a:latin typeface="Malgun Gothic" charset="0"/>
                        <a:ea typeface="Malgun Gothic" charset="0"/>
                        <a:cs typeface="Malgun Gothic" charset="0"/>
                      </a:endParaRPr>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457200">
                <a:tc>
                  <a:txBody>
                    <a:bodyPr/>
                    <a:lstStyle/>
                    <a:p>
                      <a:pPr indent="0" marL="0">
                        <a:buNone/>
                      </a:pPr>
                      <a:r>
                        <a:rPr lang="en-US" sz="1300" b="1" dirty="0">
                          <a:solidFill>
                            <a:srgbClr val="0E1A2B"/>
                          </a:solidFill>
                          <a:latin typeface="Malgun Gothic" pitchFamily="34" charset="0"/>
                          <a:ea typeface="Malgun Gothic" pitchFamily="34" charset="-122"/>
                          <a:cs typeface="Malgun Gothic" pitchFamily="34" charset="-120"/>
                        </a:rPr>
                        <a:t>브랜드·캠페인 표시</a:t>
                      </a:r>
                      <a:endParaRPr lang="en-US" sz="1300" dirty="0">
                        <a:latin typeface="Malgun Gothic" charset="0"/>
                        <a:ea typeface="Malgun Gothic" charset="0"/>
                        <a:cs typeface="Malgun Gothic" charset="0"/>
                      </a:endParaRPr>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indent="0" marL="0">
                        <a:buNone/>
                      </a:pPr>
                      <a:r>
                        <a:rPr lang="en-US" sz="1300" dirty="0">
                          <a:solidFill>
                            <a:srgbClr val="1A2433"/>
                          </a:solidFill>
                          <a:latin typeface="Malgun Gothic" pitchFamily="34" charset="0"/>
                          <a:ea typeface="Malgun Gothic" pitchFamily="34" charset="-122"/>
                          <a:cs typeface="Malgun Gothic" pitchFamily="34" charset="-120"/>
                        </a:rPr>
                        <a:t>승인 정책대로 관리</a:t>
                      </a:r>
                      <a:endParaRPr lang="en-US" sz="1300" dirty="0">
                        <a:latin typeface="Malgun Gothic" charset="0"/>
                        <a:ea typeface="Malgun Gothic" charset="0"/>
                        <a:cs typeface="Malgun Gothic" charset="0"/>
                      </a:endParaRPr>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300" dirty="0">
                          <a:solidFill>
                            <a:srgbClr val="1A2433"/>
                          </a:solidFill>
                          <a:latin typeface="Malgun Gothic" pitchFamily="34" charset="0"/>
                          <a:ea typeface="Malgun Gothic" pitchFamily="34" charset="-122"/>
                          <a:cs typeface="Malgun Gothic" pitchFamily="34" charset="-120"/>
                        </a:rPr>
                        <a:t>필드를 줘도 표시 보장 불가</a:t>
                      </a:r>
                      <a:endParaRPr lang="en-US" sz="1300" dirty="0">
                        <a:latin typeface="Malgun Gothic" charset="0"/>
                        <a:ea typeface="Malgun Gothic" charset="0"/>
                        <a:cs typeface="Malgun Gothic" charset="0"/>
                      </a:endParaRPr>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457200">
                <a:tc>
                  <a:txBody>
                    <a:bodyPr/>
                    <a:lstStyle/>
                    <a:p>
                      <a:pPr indent="0" marL="0">
                        <a:buNone/>
                      </a:pPr>
                      <a:r>
                        <a:rPr lang="en-US" sz="1300" b="1" dirty="0">
                          <a:solidFill>
                            <a:srgbClr val="0E1A2B"/>
                          </a:solidFill>
                          <a:latin typeface="Malgun Gothic" pitchFamily="34" charset="0"/>
                          <a:ea typeface="Malgun Gothic" pitchFamily="34" charset="-122"/>
                          <a:cs typeface="Malgun Gothic" pitchFamily="34" charset="-120"/>
                        </a:rPr>
                        <a:t>최신 조건 사용</a:t>
                      </a:r>
                      <a:endParaRPr lang="en-US" sz="1300" dirty="0">
                        <a:latin typeface="Malgun Gothic" charset="0"/>
                        <a:ea typeface="Malgun Gothic" charset="0"/>
                        <a:cs typeface="Malgun Gothic" charset="0"/>
                      </a:endParaRPr>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indent="0" marL="0">
                        <a:buNone/>
                      </a:pPr>
                      <a:r>
                        <a:rPr lang="en-US" sz="1300" dirty="0">
                          <a:solidFill>
                            <a:srgbClr val="1A2433"/>
                          </a:solidFill>
                          <a:latin typeface="Malgun Gothic" pitchFamily="34" charset="0"/>
                          <a:ea typeface="Malgun Gothic" pitchFamily="34" charset="-122"/>
                          <a:cs typeface="Malgun Gothic" pitchFamily="34" charset="-120"/>
                        </a:rPr>
                        <a:t>운영 절차로 통제</a:t>
                      </a:r>
                      <a:endParaRPr lang="en-US" sz="1300" dirty="0">
                        <a:latin typeface="Malgun Gothic" charset="0"/>
                        <a:ea typeface="Malgun Gothic" charset="0"/>
                        <a:cs typeface="Malgun Gothic" charset="0"/>
                      </a:endParaRPr>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300" dirty="0">
                          <a:solidFill>
                            <a:srgbClr val="1A2433"/>
                          </a:solidFill>
                          <a:latin typeface="Malgun Gothic" pitchFamily="34" charset="0"/>
                          <a:ea typeface="Malgun Gothic" pitchFamily="34" charset="-122"/>
                          <a:cs typeface="Malgun Gothic" pitchFamily="34" charset="-120"/>
                        </a:rPr>
                        <a:t>호출·캐시·요약에 따라 다름</a:t>
                      </a:r>
                      <a:endParaRPr lang="en-US" sz="1300" dirty="0">
                        <a:latin typeface="Malgun Gothic" charset="0"/>
                        <a:ea typeface="Malgun Gothic" charset="0"/>
                        <a:cs typeface="Malgun Gothic" charset="0"/>
                      </a:endParaRPr>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bl>
          </a:graphicData>
        </a:graphic>
      </p:graphicFrame>
      <p:sp>
        <p:nvSpPr>
          <p:cNvPr id="7" name="Shape 4"/>
          <p:cNvSpPr/>
          <p:nvPr/>
        </p:nvSpPr>
        <p:spPr>
          <a:xfrm>
            <a:off x="7406640" y="1691640"/>
            <a:ext cx="4233672" cy="2743200"/>
          </a:xfrm>
          <a:prstGeom prst="roundRect">
            <a:avLst>
              <a:gd name="adj" fmla="val 3333"/>
            </a:avLst>
          </a:prstGeom>
          <a:solidFill>
            <a:srgbClr val="EFE9F8"/>
          </a:solidFill>
          <a:ln w="12700">
            <a:solidFill>
              <a:srgbClr val="EFE9F8"/>
            </a:solidFill>
            <a:prstDash val="solid"/>
          </a:ln>
        </p:spPr>
      </p:sp>
      <p:sp>
        <p:nvSpPr>
          <p:cNvPr id="8" name="Text 5"/>
          <p:cNvSpPr txBox="1"/>
          <p:nvPr/>
        </p:nvSpPr>
        <p:spPr>
          <a:xfrm>
            <a:off x="7589520" y="1828800"/>
            <a:ext cx="3886200" cy="2514600"/>
          </a:xfrm>
          <a:prstGeom prst="rect">
            <a:avLst/>
          </a:prstGeom>
          <a:noFill/>
          <a:ln/>
        </p:spPr>
        <p:txBody>
          <a:bodyPr wrap="square" lIns="0" tIns="0" rIns="0" bIns="0" rtlCol="0" anchor="t"/>
          <a:lstStyle/>
          <a:p>
            <a:pPr indent="0" marL="0">
              <a:spcAft>
                <a:spcPts val="900"/>
              </a:spcAft>
              <a:buNone/>
            </a:pPr>
            <a:r>
              <a:rPr lang="en-US" sz="1500" b="1" dirty="0">
                <a:solidFill>
                  <a:srgbClr val="6A4FB0"/>
                </a:solidFill>
                <a:latin typeface="Malgun Gothic" pitchFamily="34" charset="0"/>
                <a:ea typeface="Malgun Gothic" pitchFamily="34" charset="-122"/>
                <a:cs typeface="Malgun Gothic" pitchFamily="34" charset="-120"/>
              </a:rPr>
              <a:t>확장 제안 · 마케팅 정책 계층</a:t>
            </a:r>
            <a:endParaRPr lang="en-US" sz="1400" dirty="0"/>
          </a:p>
          <a:p>
            <a:pPr marL="342900" indent="-342900">
              <a:spcAft>
                <a:spcPts val="900"/>
              </a:spcAft>
              <a:buSzPct val="100000"/>
              <a:buChar char="•"/>
            </a:pPr>
            <a:r>
              <a:rPr lang="en-US" sz="1400" dirty="0">
                <a:solidFill>
                  <a:srgbClr val="1A2433"/>
                </a:solidFill>
                <a:latin typeface="Malgun Gothic" pitchFamily="34" charset="0"/>
                <a:ea typeface="Malgun Gothic" pitchFamily="34" charset="-122"/>
                <a:cs typeface="Malgun Gothic" pitchFamily="34" charset="-120"/>
              </a:rPr>
              <a:t>카드사 승인 문구를 Copy 노드로 관리</a:t>
            </a:r>
            <a:endParaRPr lang="en-US" sz="1400" dirty="0"/>
          </a:p>
          <a:p>
            <a:pPr marL="342900" indent="-342900">
              <a:spcAft>
                <a:spcPts val="900"/>
              </a:spcAft>
              <a:buSzPct val="100000"/>
              <a:buChar char="•"/>
            </a:pPr>
            <a:r>
              <a:rPr lang="en-US" sz="1400" dirty="0">
                <a:solidFill>
                  <a:srgbClr val="1A2433"/>
                </a:solidFill>
                <a:latin typeface="Malgun Gothic" pitchFamily="34" charset="0"/>
                <a:ea typeface="Malgun Gothic" pitchFamily="34" charset="-122"/>
                <a:cs typeface="Malgun Gothic" pitchFamily="34" charset="-120"/>
              </a:rPr>
              <a:t>문구 속 주장(‘실적 무관’ 등)을 약관과 대조</a:t>
            </a:r>
            <a:endParaRPr lang="en-US" sz="1400" dirty="0"/>
          </a:p>
          <a:p>
            <a:pPr marL="342900" indent="-342900">
              <a:spcAft>
                <a:spcPts val="900"/>
              </a:spcAft>
              <a:buSzPct val="100000"/>
              <a:buChar char="•"/>
            </a:pPr>
            <a:r>
              <a:rPr lang="en-US" sz="1400" dirty="0">
                <a:solidFill>
                  <a:srgbClr val="1A2433"/>
                </a:solidFill>
                <a:latin typeface="Malgun Gothic" pitchFamily="34" charset="0"/>
                <a:ea typeface="Malgun Gothic" pitchFamily="34" charset="-122"/>
                <a:cs typeface="Malgun Gothic" pitchFamily="34" charset="-120"/>
              </a:rPr>
              <a:t>조건 변경 시 재심의할 문구 목록 산출</a:t>
            </a:r>
            <a:endParaRPr lang="en-US" sz="1400" dirty="0"/>
          </a:p>
          <a:p>
            <a:pPr marL="342900" indent="-342900">
              <a:spcAft>
                <a:spcPts val="900"/>
              </a:spcAft>
              <a:buSzPct val="100000"/>
              <a:buChar char="•"/>
            </a:pPr>
            <a:r>
              <a:rPr lang="en-US" sz="1400" dirty="0">
                <a:solidFill>
                  <a:srgbClr val="1A2433"/>
                </a:solidFill>
                <a:latin typeface="Malgun Gothic" pitchFamily="34" charset="0"/>
                <a:ea typeface="Malgun Gothic" pitchFamily="34" charset="-122"/>
                <a:cs typeface="Malgun Gothic" pitchFamily="34" charset="-120"/>
              </a:rPr>
              <a:t>질문·오답 피드백 → 검토 → 반영</a:t>
            </a:r>
            <a:endParaRPr lang="en-US" sz="1400" dirty="0"/>
          </a:p>
        </p:txBody>
      </p:sp>
      <p:sp>
        <p:nvSpPr>
          <p:cNvPr id="9" name="Text 6"/>
          <p:cNvSpPr txBox="1"/>
          <p:nvPr/>
        </p:nvSpPr>
        <p:spPr>
          <a:xfrm>
            <a:off x="548640" y="4617720"/>
            <a:ext cx="11094415" cy="713232"/>
          </a:xfrm>
          <a:prstGeom prst="roundRect">
            <a:avLst>
              <a:gd name="adj" fmla="val 10256"/>
            </a:avLst>
          </a:prstGeom>
          <a:solidFill>
            <a:srgbClr val="FBE6E2"/>
          </a:solidFill>
          <a:ln>
            <a:solidFill>
              <a:srgbClr val="FBE6E2"/>
            </a:solidFill>
          </a:ln>
        </p:spPr>
        <p:txBody>
          <a:bodyPr wrap="square" lIns="177800" tIns="177800" rIns="177800" bIns="177800" rtlCol="0" anchor="ctr"/>
          <a:lstStyle/>
          <a:p>
            <a:pPr algn="l" indent="0" marL="0">
              <a:buNone/>
            </a:pPr>
            <a:r>
              <a:rPr lang="en-US" sz="1400" b="1" dirty="0">
                <a:solidFill>
                  <a:srgbClr val="A8311A"/>
                </a:solidFill>
                <a:latin typeface="Malgun Gothic" pitchFamily="34" charset="0"/>
                <a:ea typeface="Malgun Gothic" pitchFamily="34" charset="-122"/>
                <a:cs typeface="Malgun Gothic" pitchFamily="34" charset="-120"/>
              </a:rPr>
              <a:t>객관성 원칙  </a:t>
            </a:r>
            <a:pPr algn="l" indent="0" marL="0">
              <a:buNone/>
            </a:pPr>
            <a:r>
              <a:rPr lang="en-US" sz="1400" dirty="0">
                <a:solidFill>
                  <a:srgbClr val="1A2433"/>
                </a:solidFill>
                <a:latin typeface="Malgun Gothic" pitchFamily="34" charset="0"/>
                <a:ea typeface="Malgun Gothic" pitchFamily="34" charset="-122"/>
                <a:cs typeface="Malgun Gothic" pitchFamily="34" charset="-120"/>
              </a:rPr>
              <a:t>판단 먼저, 문구는 나중에. 마케팅 데이터는 판단 입력이 아니며, 문구는 [광고]로 분리 표시하고, 켜고 끈 두 경우의 판단·순위가 같아야 합니다.</a:t>
            </a:r>
            <a:endParaRPr lang="en-US" sz="1400" dirty="0"/>
          </a:p>
        </p:txBody>
      </p:sp>
      <p:sp>
        <p:nvSpPr>
          <p:cNvPr id="10" name="Text 7"/>
          <p:cNvSpPr txBox="1"/>
          <p:nvPr/>
        </p:nvSpPr>
        <p:spPr>
          <a:xfrm>
            <a:off x="548640" y="5513832"/>
            <a:ext cx="3575304" cy="566928"/>
          </a:xfrm>
          <a:prstGeom prst="roundRect">
            <a:avLst>
              <a:gd name="adj" fmla="val 12903"/>
            </a:avLst>
          </a:prstGeom>
          <a:solidFill>
            <a:srgbClr val="0E1A2B"/>
          </a:solidFill>
          <a:ln>
            <a:solidFill>
              <a:srgbClr val="0E1A2B"/>
            </a:solidFill>
          </a:ln>
        </p:spPr>
        <p:txBody>
          <a:bodyPr wrap="square" lIns="76200" tIns="76200" rIns="76200" bIns="76200" rtlCol="0" anchor="ctr"/>
          <a:lstStyle/>
          <a:p>
            <a:pPr algn="ctr" indent="0" marL="0">
              <a:buNone/>
            </a:pPr>
            <a:r>
              <a:rPr lang="en-US" sz="1400" b="1" dirty="0">
                <a:solidFill>
                  <a:srgbClr val="E8A33D"/>
                </a:solidFill>
                <a:latin typeface="Malgun Gothic" pitchFamily="34" charset="0"/>
                <a:ea typeface="Malgun Gothic" pitchFamily="34" charset="-122"/>
                <a:cs typeface="Malgun Gothic" pitchFamily="34" charset="-120"/>
              </a:rPr>
              <a:t>정확성  </a:t>
            </a:r>
            <a:pPr algn="ctr" indent="0" marL="0">
              <a:buNone/>
            </a:pPr>
            <a:r>
              <a:rPr lang="en-US" sz="1400" dirty="0">
                <a:solidFill>
                  <a:srgbClr val="FFFFFF"/>
                </a:solidFill>
                <a:latin typeface="Malgun Gothic" pitchFamily="34" charset="0"/>
                <a:ea typeface="Malgun Gothic" pitchFamily="34" charset="-122"/>
                <a:cs typeface="Malgun Gothic" pitchFamily="34" charset="-120"/>
              </a:rPr>
              <a:t>적용 범위까지 구분한 근거</a:t>
            </a:r>
            <a:endParaRPr lang="en-US" sz="1400" dirty="0"/>
          </a:p>
        </p:txBody>
      </p:sp>
      <p:sp>
        <p:nvSpPr>
          <p:cNvPr id="11" name="Text 8"/>
          <p:cNvSpPr txBox="1"/>
          <p:nvPr/>
        </p:nvSpPr>
        <p:spPr>
          <a:xfrm>
            <a:off x="4306824" y="5513832"/>
            <a:ext cx="3575304" cy="566928"/>
          </a:xfrm>
          <a:prstGeom prst="roundRect">
            <a:avLst>
              <a:gd name="adj" fmla="val 12903"/>
            </a:avLst>
          </a:prstGeom>
          <a:solidFill>
            <a:srgbClr val="0E1A2B"/>
          </a:solidFill>
          <a:ln>
            <a:solidFill>
              <a:srgbClr val="0E1A2B"/>
            </a:solidFill>
          </a:ln>
        </p:spPr>
        <p:txBody>
          <a:bodyPr wrap="square" lIns="76200" tIns="76200" rIns="76200" bIns="76200" rtlCol="0" anchor="ctr"/>
          <a:lstStyle/>
          <a:p>
            <a:pPr algn="ctr" indent="0" marL="0">
              <a:buNone/>
            </a:pPr>
            <a:r>
              <a:rPr lang="en-US" sz="1400" b="1" dirty="0">
                <a:solidFill>
                  <a:srgbClr val="E8A33D"/>
                </a:solidFill>
                <a:latin typeface="Malgun Gothic" pitchFamily="34" charset="0"/>
                <a:ea typeface="Malgun Gothic" pitchFamily="34" charset="-122"/>
                <a:cs typeface="Malgun Gothic" pitchFamily="34" charset="-120"/>
              </a:rPr>
              <a:t>추적성  </a:t>
            </a:r>
            <a:pPr algn="ctr" indent="0" marL="0">
              <a:buNone/>
            </a:pPr>
            <a:r>
              <a:rPr lang="en-US" sz="1400" dirty="0">
                <a:solidFill>
                  <a:srgbClr val="FFFFFF"/>
                </a:solidFill>
                <a:latin typeface="Malgun Gothic" pitchFamily="34" charset="0"/>
                <a:ea typeface="Malgun Gothic" pitchFamily="34" charset="-122"/>
                <a:cs typeface="Malgun Gothic" pitchFamily="34" charset="-120"/>
              </a:rPr>
              <a:t>조건 변경 시 검토 목록</a:t>
            </a:r>
            <a:endParaRPr lang="en-US" sz="1400" dirty="0"/>
          </a:p>
        </p:txBody>
      </p:sp>
      <p:sp>
        <p:nvSpPr>
          <p:cNvPr id="12" name="Text 9"/>
          <p:cNvSpPr txBox="1"/>
          <p:nvPr/>
        </p:nvSpPr>
        <p:spPr>
          <a:xfrm>
            <a:off x="8065008" y="5513832"/>
            <a:ext cx="3575304" cy="566928"/>
          </a:xfrm>
          <a:prstGeom prst="roundRect">
            <a:avLst>
              <a:gd name="adj" fmla="val 12903"/>
            </a:avLst>
          </a:prstGeom>
          <a:solidFill>
            <a:srgbClr val="0E1A2B"/>
          </a:solidFill>
          <a:ln>
            <a:solidFill>
              <a:srgbClr val="0E1A2B"/>
            </a:solidFill>
          </a:ln>
        </p:spPr>
        <p:txBody>
          <a:bodyPr wrap="square" lIns="76200" tIns="76200" rIns="76200" bIns="76200" rtlCol="0" anchor="ctr"/>
          <a:lstStyle/>
          <a:p>
            <a:pPr algn="ctr" indent="0" marL="0">
              <a:buNone/>
            </a:pPr>
            <a:r>
              <a:rPr lang="en-US" sz="1400" b="1" dirty="0">
                <a:solidFill>
                  <a:srgbClr val="E8A33D"/>
                </a:solidFill>
                <a:latin typeface="Malgun Gothic" pitchFamily="34" charset="0"/>
                <a:ea typeface="Malgun Gothic" pitchFamily="34" charset="-122"/>
                <a:cs typeface="Malgun Gothic" pitchFamily="34" charset="-120"/>
              </a:rPr>
              <a:t>재사용성  </a:t>
            </a:r>
            <a:pPr algn="ctr" indent="0" marL="0">
              <a:buNone/>
            </a:pPr>
            <a:r>
              <a:rPr lang="en-US" sz="1400" dirty="0">
                <a:solidFill>
                  <a:srgbClr val="FFFFFF"/>
                </a:solidFill>
                <a:latin typeface="Malgun Gothic" pitchFamily="34" charset="0"/>
                <a:ea typeface="Malgun Gothic" pitchFamily="34" charset="-122"/>
                <a:cs typeface="Malgun Gothic" pitchFamily="34" charset="-120"/>
              </a:rPr>
              <a:t>여러 채널이 같은 엔진</a:t>
            </a:r>
            <a:endParaRPr lang="en-US" sz="1400" dirty="0"/>
          </a:p>
        </p:txBody>
      </p:sp>
      <p:sp>
        <p:nvSpPr>
          <p:cNvPr id="13" name="Text 10"/>
          <p:cNvSpPr txBox="1"/>
          <p:nvPr/>
        </p:nvSpPr>
        <p:spPr>
          <a:xfrm>
            <a:off x="548640" y="6400800"/>
            <a:ext cx="10515600" cy="292608"/>
          </a:xfrm>
          <a:prstGeom prst="rect">
            <a:avLst/>
          </a:prstGeom>
          <a:noFill/>
          <a:ln/>
        </p:spPr>
        <p:txBody>
          <a:bodyPr wrap="square" lIns="0" tIns="0" rIns="0" bIns="0" rtlCol="0" anchor="ctr"/>
          <a:lstStyle/>
          <a:p>
            <a:pPr indent="0" marL="0">
              <a:buNone/>
            </a:pPr>
            <a:r>
              <a:rPr lang="en-US" sz="1000" dirty="0">
                <a:solidFill>
                  <a:srgbClr val="6B7686"/>
                </a:solidFill>
                <a:latin typeface="Malgun Gothic" pitchFamily="34" charset="0"/>
                <a:ea typeface="Malgun Gothic" pitchFamily="34" charset="-122"/>
                <a:cs typeface="Malgun Gothic" pitchFamily="34" charset="-120"/>
              </a:rPr>
              <a:t>역할 비교: V2 §6-1 · 마케팅 계층: 최종_카드사_자체AI혜택서비스_사업적개발명분_20261029.md (팀 가설, 미구현) · 기대 효과는 실측 전</a:t>
            </a:r>
            <a:endParaRPr lang="en-US" sz="1000" dirty="0"/>
          </a:p>
        </p:txBody>
      </p:sp>
      <p:sp>
        <p:nvSpPr>
          <p:cNvPr id="25" name="Slide Number Placeholder 0"/>
          <p:cNvSpPr>
            <a:spLocks noGrp="1"/>
          </p:cNvSpPr>
          <p:nvPr>
            <p:ph type="sldNum" sz="quarter" idx="4294967295"/>
          </p:nvPr>
        </p:nvSpPr>
        <p:spPr>
          <a:xfrm>
            <a:off x="11274552" y="6437376"/>
            <a:ext cx="36576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Malgun Gothic"/>
                <a:ea typeface="Malgun Gothic"/>
                <a:cs typeface="Malgun Gothic"/>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640080" y="548640"/>
            <a:ext cx="2743200" cy="292608"/>
          </a:xfrm>
          <a:prstGeom prst="rect">
            <a:avLst/>
          </a:prstGeom>
          <a:noFill/>
          <a:ln/>
        </p:spPr>
        <p:txBody>
          <a:bodyPr wrap="square" lIns="0" tIns="0" rIns="0" bIns="0" rtlCol="0" anchor="t"/>
          <a:lstStyle/>
          <a:p>
            <a:pPr indent="0" marL="0">
              <a:buNone/>
            </a:pPr>
            <a:r>
              <a:rPr lang="en-US" sz="1300" b="1" dirty="0">
                <a:solidFill>
                  <a:srgbClr val="E8A33D"/>
                </a:solidFill>
                <a:latin typeface="Malgun Gothic" pitchFamily="34" charset="0"/>
                <a:ea typeface="Malgun Gothic" pitchFamily="34" charset="-122"/>
                <a:cs typeface="Malgun Gothic" pitchFamily="34" charset="-120"/>
              </a:rPr>
              <a:t>결론</a:t>
            </a:r>
            <a:endParaRPr lang="en-US" sz="1300" dirty="0"/>
          </a:p>
        </p:txBody>
      </p:sp>
      <p:sp>
        <p:nvSpPr>
          <p:cNvPr id="3" name="Text 1"/>
          <p:cNvSpPr txBox="1"/>
          <p:nvPr/>
        </p:nvSpPr>
        <p:spPr>
          <a:xfrm>
            <a:off x="640080" y="1005840"/>
            <a:ext cx="10972800" cy="1463040"/>
          </a:xfrm>
          <a:prstGeom prst="rect">
            <a:avLst/>
          </a:prstGeom>
          <a:noFill/>
          <a:ln/>
        </p:spPr>
        <p:txBody>
          <a:bodyPr wrap="square" lIns="0" tIns="0" rIns="0" bIns="0" rtlCol="0" anchor="t"/>
          <a:lstStyle/>
          <a:p>
            <a:pPr indent="0" marL="0">
              <a:lnSpc>
                <a:spcPct val="110000"/>
              </a:lnSpc>
              <a:buNone/>
            </a:pPr>
            <a:r>
              <a:rPr lang="en-US" sz="3400" b="1" dirty="0">
                <a:solidFill>
                  <a:srgbClr val="FFFFFF"/>
                </a:solidFill>
                <a:latin typeface="Malgun Gothic" pitchFamily="34" charset="0"/>
                <a:ea typeface="Malgun Gothic" pitchFamily="34" charset="-122"/>
                <a:cs typeface="Malgun Gothic" pitchFamily="34" charset="-120"/>
              </a:rPr>
              <a:t>카드 추천 화면 하나가 아니라,</a:t>
            </a:r>
            <a:endParaRPr lang="en-US" sz="3400" dirty="0"/>
          </a:p>
          <a:p>
            <a:pPr indent="0" marL="0">
              <a:lnSpc>
                <a:spcPct val="110000"/>
              </a:lnSpc>
              <a:buNone/>
            </a:pPr>
            <a:r>
              <a:rPr lang="en-US" sz="3400" b="1" dirty="0">
                <a:solidFill>
                  <a:srgbClr val="FFFFFF"/>
                </a:solidFill>
                <a:latin typeface="Malgun Gothic" pitchFamily="34" charset="0"/>
                <a:ea typeface="Malgun Gothic" pitchFamily="34" charset="-122"/>
                <a:cs typeface="Malgun Gothic" pitchFamily="34" charset="-120"/>
              </a:rPr>
              <a:t>여러 AI가 재사용할 카드 혜택 판단의 공통 기반.</a:t>
            </a:r>
            <a:endParaRPr lang="en-US" sz="3400" dirty="0"/>
          </a:p>
        </p:txBody>
      </p:sp>
      <p:sp>
        <p:nvSpPr>
          <p:cNvPr id="4" name="Text 2"/>
          <p:cNvSpPr txBox="1"/>
          <p:nvPr/>
        </p:nvSpPr>
        <p:spPr>
          <a:xfrm>
            <a:off x="640080" y="2606040"/>
            <a:ext cx="10972800" cy="365760"/>
          </a:xfrm>
          <a:prstGeom prst="rect">
            <a:avLst/>
          </a:prstGeom>
          <a:noFill/>
          <a:ln/>
        </p:spPr>
        <p:txBody>
          <a:bodyPr wrap="square" lIns="0" tIns="0" rIns="0" bIns="0" rtlCol="0" anchor="t"/>
          <a:lstStyle/>
          <a:p>
            <a:pPr indent="0" marL="0">
              <a:buNone/>
            </a:pPr>
            <a:r>
              <a:rPr lang="en-US" sz="1600" dirty="0">
                <a:solidFill>
                  <a:srgbClr val="A9B7C9"/>
                </a:solidFill>
                <a:latin typeface="Malgun Gothic" pitchFamily="34" charset="0"/>
                <a:ea typeface="Malgun Gothic" pitchFamily="34" charset="-122"/>
                <a:cs typeface="Malgun Gothic" pitchFamily="34" charset="-120"/>
              </a:rPr>
              <a:t>체크·신용 4종 대조 → 유사 혜택 중심 약 10종 확대 목표</a:t>
            </a:r>
            <a:endParaRPr lang="en-US" sz="1600" dirty="0"/>
          </a:p>
        </p:txBody>
      </p:sp>
      <p:sp>
        <p:nvSpPr>
          <p:cNvPr id="5" name="Shape 3"/>
          <p:cNvSpPr/>
          <p:nvPr/>
        </p:nvSpPr>
        <p:spPr>
          <a:xfrm>
            <a:off x="640080" y="3291840"/>
            <a:ext cx="3529584" cy="1600200"/>
          </a:xfrm>
          <a:prstGeom prst="roundRect">
            <a:avLst>
              <a:gd name="adj" fmla="val 5714"/>
            </a:avLst>
          </a:prstGeom>
          <a:solidFill>
            <a:srgbClr val="1F3350"/>
          </a:solidFill>
          <a:ln w="12700">
            <a:solidFill>
              <a:srgbClr val="1F3350"/>
            </a:solidFill>
            <a:prstDash val="solid"/>
          </a:ln>
        </p:spPr>
      </p:sp>
      <p:sp>
        <p:nvSpPr>
          <p:cNvPr id="6" name="Text 4"/>
          <p:cNvSpPr txBox="1"/>
          <p:nvPr/>
        </p:nvSpPr>
        <p:spPr>
          <a:xfrm>
            <a:off x="868680" y="3493008"/>
            <a:ext cx="438912" cy="438912"/>
          </a:xfrm>
          <a:prstGeom prst="ellipse">
            <a:avLst>
              <a:gd name="adj" fmla="val 16667"/>
            </a:avLst>
          </a:prstGeom>
          <a:solidFill>
            <a:srgbClr val="E8A33D"/>
          </a:solidFill>
          <a:ln>
            <a:solidFill>
              <a:srgbClr val="E8A33D"/>
            </a:solidFill>
          </a:ln>
        </p:spPr>
        <p:txBody>
          <a:bodyPr wrap="square" lIns="0" tIns="0" rIns="0" bIns="0" rtlCol="0" anchor="ctr"/>
          <a:lstStyle/>
          <a:p>
            <a:pPr algn="ctr" indent="0" marL="0">
              <a:buNone/>
            </a:pPr>
            <a:r>
              <a:rPr lang="en-US" sz="1500" b="1" dirty="0">
                <a:solidFill>
                  <a:srgbClr val="0E1A2B"/>
                </a:solidFill>
                <a:latin typeface="Malgun Gothic" pitchFamily="34" charset="0"/>
                <a:ea typeface="Malgun Gothic" pitchFamily="34" charset="-122"/>
                <a:cs typeface="Malgun Gothic" pitchFamily="34" charset="-120"/>
              </a:rPr>
              <a:t>1</a:t>
            </a:r>
            <a:endParaRPr lang="en-US" sz="1500" dirty="0"/>
          </a:p>
        </p:txBody>
      </p:sp>
      <p:sp>
        <p:nvSpPr>
          <p:cNvPr id="7" name="Text 5"/>
          <p:cNvSpPr txBox="1"/>
          <p:nvPr/>
        </p:nvSpPr>
        <p:spPr>
          <a:xfrm>
            <a:off x="1444752" y="3493008"/>
            <a:ext cx="2560320" cy="438912"/>
          </a:xfrm>
          <a:prstGeom prst="rect">
            <a:avLst/>
          </a:prstGeom>
          <a:noFill/>
          <a:ln/>
        </p:spPr>
        <p:txBody>
          <a:bodyPr wrap="square" lIns="0" tIns="0" rIns="0" bIns="0" rtlCol="0" anchor="ctr"/>
          <a:lstStyle/>
          <a:p>
            <a:pPr indent="0" marL="0">
              <a:buNone/>
            </a:pPr>
            <a:r>
              <a:rPr lang="en-US" sz="2000" b="1" dirty="0">
                <a:solidFill>
                  <a:srgbClr val="FFFFFF"/>
                </a:solidFill>
                <a:latin typeface="Malgun Gothic" pitchFamily="34" charset="0"/>
                <a:ea typeface="Malgun Gothic" pitchFamily="34" charset="-122"/>
                <a:cs typeface="Malgun Gothic" pitchFamily="34" charset="-120"/>
              </a:rPr>
              <a:t>근거</a:t>
            </a:r>
            <a:endParaRPr lang="en-US" sz="2000" dirty="0"/>
          </a:p>
        </p:txBody>
      </p:sp>
      <p:sp>
        <p:nvSpPr>
          <p:cNvPr id="8" name="Text 6"/>
          <p:cNvSpPr txBox="1"/>
          <p:nvPr/>
        </p:nvSpPr>
        <p:spPr>
          <a:xfrm>
            <a:off x="868680" y="4041648"/>
            <a:ext cx="3154680" cy="777240"/>
          </a:xfrm>
          <a:prstGeom prst="rect">
            <a:avLst/>
          </a:prstGeom>
          <a:noFill/>
          <a:ln/>
        </p:spPr>
        <p:txBody>
          <a:bodyPr wrap="square" lIns="0" tIns="0" rIns="0" bIns="0" rtlCol="0" anchor="t"/>
          <a:lstStyle/>
          <a:p>
            <a:pPr indent="0" marL="0">
              <a:lnSpc>
                <a:spcPct val="110000"/>
              </a:lnSpc>
              <a:buNone/>
            </a:pPr>
            <a:r>
              <a:rPr lang="en-US" sz="1400" dirty="0">
                <a:solidFill>
                  <a:srgbClr val="D5DEEA"/>
                </a:solidFill>
                <a:latin typeface="Malgun Gothic" pitchFamily="34" charset="0"/>
                <a:ea typeface="Malgun Gothic" pitchFamily="34" charset="-122"/>
                <a:cs typeface="Malgun Gothic" pitchFamily="34" charset="-120"/>
              </a:rPr>
              <a:t>답마다 원문 조항까지의 경로.</a:t>
            </a:r>
            <a:endParaRPr lang="en-US" sz="1400" dirty="0"/>
          </a:p>
          <a:p>
            <a:pPr indent="0" marL="0">
              <a:lnSpc>
                <a:spcPct val="110000"/>
              </a:lnSpc>
              <a:buNone/>
            </a:pPr>
            <a:r>
              <a:rPr lang="en-US" sz="1400" dirty="0">
                <a:solidFill>
                  <a:srgbClr val="D5DEEA"/>
                </a:solidFill>
                <a:latin typeface="Malgun Gothic" pitchFamily="34" charset="0"/>
                <a:ea typeface="Malgun Gothic" pitchFamily="34" charset="-122"/>
                <a:cs typeface="Malgun Gothic" pitchFamily="34" charset="-120"/>
              </a:rPr>
              <a:t>근거가 없으면 ‘판단 불가’.</a:t>
            </a:r>
            <a:endParaRPr lang="en-US" sz="1400" dirty="0"/>
          </a:p>
        </p:txBody>
      </p:sp>
      <p:sp>
        <p:nvSpPr>
          <p:cNvPr id="9" name="Shape 7"/>
          <p:cNvSpPr/>
          <p:nvPr/>
        </p:nvSpPr>
        <p:spPr>
          <a:xfrm>
            <a:off x="4352544" y="3291840"/>
            <a:ext cx="3529584" cy="1600200"/>
          </a:xfrm>
          <a:prstGeom prst="roundRect">
            <a:avLst>
              <a:gd name="adj" fmla="val 5714"/>
            </a:avLst>
          </a:prstGeom>
          <a:solidFill>
            <a:srgbClr val="1F3350"/>
          </a:solidFill>
          <a:ln w="12700">
            <a:solidFill>
              <a:srgbClr val="1F3350"/>
            </a:solidFill>
            <a:prstDash val="solid"/>
          </a:ln>
        </p:spPr>
      </p:sp>
      <p:sp>
        <p:nvSpPr>
          <p:cNvPr id="10" name="Text 8"/>
          <p:cNvSpPr txBox="1"/>
          <p:nvPr/>
        </p:nvSpPr>
        <p:spPr>
          <a:xfrm>
            <a:off x="4581144" y="3493008"/>
            <a:ext cx="438912" cy="438912"/>
          </a:xfrm>
          <a:prstGeom prst="ellipse">
            <a:avLst>
              <a:gd name="adj" fmla="val 16667"/>
            </a:avLst>
          </a:prstGeom>
          <a:solidFill>
            <a:srgbClr val="E8A33D"/>
          </a:solidFill>
          <a:ln>
            <a:solidFill>
              <a:srgbClr val="E8A33D"/>
            </a:solidFill>
          </a:ln>
        </p:spPr>
        <p:txBody>
          <a:bodyPr wrap="square" lIns="0" tIns="0" rIns="0" bIns="0" rtlCol="0" anchor="ctr"/>
          <a:lstStyle/>
          <a:p>
            <a:pPr algn="ctr" indent="0" marL="0">
              <a:buNone/>
            </a:pPr>
            <a:r>
              <a:rPr lang="en-US" sz="1500" b="1" dirty="0">
                <a:solidFill>
                  <a:srgbClr val="0E1A2B"/>
                </a:solidFill>
                <a:latin typeface="Malgun Gothic" pitchFamily="34" charset="0"/>
                <a:ea typeface="Malgun Gothic" pitchFamily="34" charset="-122"/>
                <a:cs typeface="Malgun Gothic" pitchFamily="34" charset="-120"/>
              </a:rPr>
              <a:t>2</a:t>
            </a:r>
            <a:endParaRPr lang="en-US" sz="1500" dirty="0"/>
          </a:p>
        </p:txBody>
      </p:sp>
      <p:sp>
        <p:nvSpPr>
          <p:cNvPr id="11" name="Text 9"/>
          <p:cNvSpPr txBox="1"/>
          <p:nvPr/>
        </p:nvSpPr>
        <p:spPr>
          <a:xfrm>
            <a:off x="5157216" y="3493008"/>
            <a:ext cx="2560320" cy="438912"/>
          </a:xfrm>
          <a:prstGeom prst="rect">
            <a:avLst/>
          </a:prstGeom>
          <a:noFill/>
          <a:ln/>
        </p:spPr>
        <p:txBody>
          <a:bodyPr wrap="square" lIns="0" tIns="0" rIns="0" bIns="0" rtlCol="0" anchor="ctr"/>
          <a:lstStyle/>
          <a:p>
            <a:pPr indent="0" marL="0">
              <a:buNone/>
            </a:pPr>
            <a:r>
              <a:rPr lang="en-US" sz="2000" b="1" dirty="0">
                <a:solidFill>
                  <a:srgbClr val="FFFFFF"/>
                </a:solidFill>
                <a:latin typeface="Malgun Gothic" pitchFamily="34" charset="0"/>
                <a:ea typeface="Malgun Gothic" pitchFamily="34" charset="-122"/>
                <a:cs typeface="Malgun Gothic" pitchFamily="34" charset="-120"/>
              </a:rPr>
              <a:t>변경</a:t>
            </a:r>
            <a:endParaRPr lang="en-US" sz="2000" dirty="0"/>
          </a:p>
        </p:txBody>
      </p:sp>
      <p:sp>
        <p:nvSpPr>
          <p:cNvPr id="12" name="Text 10"/>
          <p:cNvSpPr txBox="1"/>
          <p:nvPr/>
        </p:nvSpPr>
        <p:spPr>
          <a:xfrm>
            <a:off x="4581144" y="4041648"/>
            <a:ext cx="3154680" cy="777240"/>
          </a:xfrm>
          <a:prstGeom prst="rect">
            <a:avLst/>
          </a:prstGeom>
          <a:noFill/>
          <a:ln/>
        </p:spPr>
        <p:txBody>
          <a:bodyPr wrap="square" lIns="0" tIns="0" rIns="0" bIns="0" rtlCol="0" anchor="t"/>
          <a:lstStyle/>
          <a:p>
            <a:pPr indent="0" marL="0">
              <a:lnSpc>
                <a:spcPct val="110000"/>
              </a:lnSpc>
              <a:buNone/>
            </a:pPr>
            <a:r>
              <a:rPr lang="en-US" sz="1400" dirty="0">
                <a:solidFill>
                  <a:srgbClr val="D5DEEA"/>
                </a:solidFill>
                <a:latin typeface="Malgun Gothic" pitchFamily="34" charset="0"/>
                <a:ea typeface="Malgun Gothic" pitchFamily="34" charset="-122"/>
                <a:cs typeface="Malgun Gothic" pitchFamily="34" charset="-120"/>
              </a:rPr>
              <a:t>조건 하나가 바뀌면</a:t>
            </a:r>
            <a:endParaRPr lang="en-US" sz="1400" dirty="0"/>
          </a:p>
          <a:p>
            <a:pPr indent="0" marL="0">
              <a:lnSpc>
                <a:spcPct val="110000"/>
              </a:lnSpc>
              <a:buNone/>
            </a:pPr>
            <a:r>
              <a:rPr lang="en-US" sz="1400" dirty="0">
                <a:solidFill>
                  <a:srgbClr val="D5DEEA"/>
                </a:solidFill>
                <a:latin typeface="Malgun Gothic" pitchFamily="34" charset="0"/>
                <a:ea typeface="Malgun Gothic" pitchFamily="34" charset="-122"/>
                <a:cs typeface="Malgun Gothic" pitchFamily="34" charset="-120"/>
              </a:rPr>
              <a:t>다시 볼 혜택을 경로로 산출.</a:t>
            </a:r>
            <a:endParaRPr lang="en-US" sz="1400" dirty="0"/>
          </a:p>
        </p:txBody>
      </p:sp>
      <p:sp>
        <p:nvSpPr>
          <p:cNvPr id="13" name="Shape 11"/>
          <p:cNvSpPr/>
          <p:nvPr/>
        </p:nvSpPr>
        <p:spPr>
          <a:xfrm>
            <a:off x="8065008" y="3291840"/>
            <a:ext cx="3529584" cy="1600200"/>
          </a:xfrm>
          <a:prstGeom prst="roundRect">
            <a:avLst>
              <a:gd name="adj" fmla="val 5714"/>
            </a:avLst>
          </a:prstGeom>
          <a:solidFill>
            <a:srgbClr val="1F3350"/>
          </a:solidFill>
          <a:ln w="12700">
            <a:solidFill>
              <a:srgbClr val="1F3350"/>
            </a:solidFill>
            <a:prstDash val="solid"/>
          </a:ln>
        </p:spPr>
      </p:sp>
      <p:sp>
        <p:nvSpPr>
          <p:cNvPr id="14" name="Text 12"/>
          <p:cNvSpPr txBox="1"/>
          <p:nvPr/>
        </p:nvSpPr>
        <p:spPr>
          <a:xfrm>
            <a:off x="8293608" y="3493008"/>
            <a:ext cx="438912" cy="438912"/>
          </a:xfrm>
          <a:prstGeom prst="ellipse">
            <a:avLst>
              <a:gd name="adj" fmla="val 16667"/>
            </a:avLst>
          </a:prstGeom>
          <a:solidFill>
            <a:srgbClr val="E8A33D"/>
          </a:solidFill>
          <a:ln>
            <a:solidFill>
              <a:srgbClr val="E8A33D"/>
            </a:solidFill>
          </a:ln>
        </p:spPr>
        <p:txBody>
          <a:bodyPr wrap="square" lIns="0" tIns="0" rIns="0" bIns="0" rtlCol="0" anchor="ctr"/>
          <a:lstStyle/>
          <a:p>
            <a:pPr algn="ctr" indent="0" marL="0">
              <a:buNone/>
            </a:pPr>
            <a:r>
              <a:rPr lang="en-US" sz="1500" b="1" dirty="0">
                <a:solidFill>
                  <a:srgbClr val="0E1A2B"/>
                </a:solidFill>
                <a:latin typeface="Malgun Gothic" pitchFamily="34" charset="0"/>
                <a:ea typeface="Malgun Gothic" pitchFamily="34" charset="-122"/>
                <a:cs typeface="Malgun Gothic" pitchFamily="34" charset="-120"/>
              </a:rPr>
              <a:t>3</a:t>
            </a:r>
            <a:endParaRPr lang="en-US" sz="1500" dirty="0"/>
          </a:p>
        </p:txBody>
      </p:sp>
      <p:sp>
        <p:nvSpPr>
          <p:cNvPr id="15" name="Text 13"/>
          <p:cNvSpPr txBox="1"/>
          <p:nvPr/>
        </p:nvSpPr>
        <p:spPr>
          <a:xfrm>
            <a:off x="8869680" y="3493008"/>
            <a:ext cx="2560320" cy="438912"/>
          </a:xfrm>
          <a:prstGeom prst="rect">
            <a:avLst/>
          </a:prstGeom>
          <a:noFill/>
          <a:ln/>
        </p:spPr>
        <p:txBody>
          <a:bodyPr wrap="square" lIns="0" tIns="0" rIns="0" bIns="0" rtlCol="0" anchor="ctr"/>
          <a:lstStyle/>
          <a:p>
            <a:pPr indent="0" marL="0">
              <a:buNone/>
            </a:pPr>
            <a:r>
              <a:rPr lang="en-US" sz="2000" b="1" dirty="0">
                <a:solidFill>
                  <a:srgbClr val="FFFFFF"/>
                </a:solidFill>
                <a:latin typeface="Malgun Gothic" pitchFamily="34" charset="0"/>
                <a:ea typeface="Malgun Gothic" pitchFamily="34" charset="-122"/>
                <a:cs typeface="Malgun Gothic" pitchFamily="34" charset="-120"/>
              </a:rPr>
              <a:t>재사용</a:t>
            </a:r>
            <a:endParaRPr lang="en-US" sz="2000" dirty="0"/>
          </a:p>
        </p:txBody>
      </p:sp>
      <p:sp>
        <p:nvSpPr>
          <p:cNvPr id="16" name="Text 14"/>
          <p:cNvSpPr txBox="1"/>
          <p:nvPr/>
        </p:nvSpPr>
        <p:spPr>
          <a:xfrm>
            <a:off x="8293608" y="4041648"/>
            <a:ext cx="3154680" cy="777240"/>
          </a:xfrm>
          <a:prstGeom prst="rect">
            <a:avLst/>
          </a:prstGeom>
          <a:noFill/>
          <a:ln/>
        </p:spPr>
        <p:txBody>
          <a:bodyPr wrap="square" lIns="0" tIns="0" rIns="0" bIns="0" rtlCol="0" anchor="t"/>
          <a:lstStyle/>
          <a:p>
            <a:pPr indent="0" marL="0">
              <a:lnSpc>
                <a:spcPct val="110000"/>
              </a:lnSpc>
              <a:buNone/>
            </a:pPr>
            <a:r>
              <a:rPr lang="en-US" sz="1400" dirty="0">
                <a:solidFill>
                  <a:srgbClr val="D5DEEA"/>
                </a:solidFill>
                <a:latin typeface="Malgun Gothic" pitchFamily="34" charset="0"/>
                <a:ea typeface="Malgun Gothic" pitchFamily="34" charset="-122"/>
                <a:cs typeface="Malgun Gothic" pitchFamily="34" charset="-120"/>
              </a:rPr>
              <a:t>같은 조건 조회를 내부·자사·외부</a:t>
            </a:r>
            <a:endParaRPr lang="en-US" sz="1400" dirty="0"/>
          </a:p>
          <a:p>
            <a:pPr indent="0" marL="0">
              <a:lnSpc>
                <a:spcPct val="110000"/>
              </a:lnSpc>
              <a:buNone/>
            </a:pPr>
            <a:r>
              <a:rPr lang="en-US" sz="1400" dirty="0">
                <a:solidFill>
                  <a:srgbClr val="D5DEEA"/>
                </a:solidFill>
                <a:latin typeface="Malgun Gothic" pitchFamily="34" charset="0"/>
                <a:ea typeface="Malgun Gothic" pitchFamily="34" charset="-122"/>
                <a:cs typeface="Malgun Gothic" pitchFamily="34" charset="-120"/>
              </a:rPr>
              <a:t>AI에서 재사용하도록 설계.</a:t>
            </a:r>
            <a:endParaRPr lang="en-US" sz="1400" dirty="0"/>
          </a:p>
        </p:txBody>
      </p:sp>
      <p:sp>
        <p:nvSpPr>
          <p:cNvPr id="17" name="Text 15"/>
          <p:cNvSpPr txBox="1"/>
          <p:nvPr/>
        </p:nvSpPr>
        <p:spPr>
          <a:xfrm>
            <a:off x="640080" y="5212080"/>
            <a:ext cx="10972800" cy="457200"/>
          </a:xfrm>
          <a:prstGeom prst="rect">
            <a:avLst/>
          </a:prstGeom>
          <a:noFill/>
          <a:ln/>
        </p:spPr>
        <p:txBody>
          <a:bodyPr wrap="square" lIns="0" tIns="0" rIns="0" bIns="0" rtlCol="0" anchor="t"/>
          <a:lstStyle/>
          <a:p>
            <a:pPr indent="0" marL="0">
              <a:buNone/>
            </a:pPr>
            <a:r>
              <a:rPr lang="en-US" sz="2000" b="1" dirty="0">
                <a:solidFill>
                  <a:srgbClr val="E8A33D"/>
                </a:solidFill>
                <a:latin typeface="Malgun Gothic" pitchFamily="34" charset="0"/>
                <a:ea typeface="Malgun Gothic" pitchFamily="34" charset="-122"/>
                <a:cs typeface="Malgun Gothic" pitchFamily="34" charset="-120"/>
              </a:rPr>
              <a:t>약관이 바뀌면 어떤 혜택을 다시 봐야 하는지, 근거와 함께 설명하도록.</a:t>
            </a:r>
            <a:endParaRPr lang="en-US" sz="2000" dirty="0"/>
          </a:p>
        </p:txBody>
      </p:sp>
      <p:sp>
        <p:nvSpPr>
          <p:cNvPr id="18" name="Text 16"/>
          <p:cNvSpPr txBox="1"/>
          <p:nvPr/>
        </p:nvSpPr>
        <p:spPr>
          <a:xfrm>
            <a:off x="640080" y="5760720"/>
            <a:ext cx="10972800" cy="365760"/>
          </a:xfrm>
          <a:prstGeom prst="rect">
            <a:avLst/>
          </a:prstGeom>
          <a:noFill/>
          <a:ln/>
        </p:spPr>
        <p:txBody>
          <a:bodyPr wrap="square" lIns="0" tIns="0" rIns="0" bIns="0" rtlCol="0" anchor="t"/>
          <a:lstStyle/>
          <a:p>
            <a:pPr indent="0" marL="0">
              <a:buNone/>
            </a:pPr>
            <a:r>
              <a:rPr lang="en-US" sz="1500" dirty="0">
                <a:solidFill>
                  <a:srgbClr val="A9B7C9"/>
                </a:solidFill>
                <a:latin typeface="Malgun Gothic" pitchFamily="34" charset="0"/>
                <a:ea typeface="Malgun Gothic" pitchFamily="34" charset="-122"/>
                <a:cs typeface="Malgun Gothic" pitchFamily="34" charset="-120"/>
              </a:rPr>
              <a:t>정답을 말하는 AI보다, 놓치는 조건과 답할 수 없는 지점을 먼저 알려주는 AI.</a:t>
            </a:r>
            <a:endParaRPr lang="en-US" sz="1500" dirty="0"/>
          </a:p>
        </p:txBody>
      </p:sp>
      <p:sp>
        <p:nvSpPr>
          <p:cNvPr id="25" name="Slide Number Placeholder 0"/>
          <p:cNvSpPr>
            <a:spLocks noGrp="1"/>
          </p:cNvSpPr>
          <p:nvPr>
            <p:ph type="sldNum" sz="quarter" idx="4294967295"/>
          </p:nvPr>
        </p:nvSpPr>
        <p:spPr>
          <a:xfrm>
            <a:off x="11274552" y="6437376"/>
            <a:ext cx="36576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6F7F96"/>
                </a:solidFill>
                <a:latin typeface="Malgun Gothic"/>
                <a:ea typeface="Malgun Gothic"/>
                <a:cs typeface="Malgun Gothic"/>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548640" y="329184"/>
            <a:ext cx="7498080" cy="292608"/>
          </a:xfrm>
          <a:prstGeom prst="rect">
            <a:avLst/>
          </a:prstGeom>
          <a:noFill/>
          <a:ln/>
        </p:spPr>
        <p:txBody>
          <a:bodyPr wrap="square" lIns="0" tIns="0" rIns="0" bIns="0" rtlCol="0" anchor="ctr"/>
          <a:lstStyle/>
          <a:p>
            <a:pPr indent="0" marL="0">
              <a:buNone/>
            </a:pPr>
            <a:r>
              <a:rPr lang="en-US" sz="1200" b="1" dirty="0">
                <a:solidFill>
                  <a:srgbClr val="8F5208"/>
                </a:solidFill>
                <a:latin typeface="Malgun Gothic" pitchFamily="34" charset="0"/>
                <a:ea typeface="Malgun Gothic" pitchFamily="34" charset="-122"/>
                <a:cs typeface="Malgun Gothic" pitchFamily="34" charset="-120"/>
              </a:rPr>
              <a:t>부록 A   과제 수행 증빙</a:t>
            </a:r>
            <a:endParaRPr lang="en-US" sz="1200" dirty="0"/>
          </a:p>
        </p:txBody>
      </p:sp>
      <p:sp>
        <p:nvSpPr>
          <p:cNvPr id="3" name="Text 0"/>
          <p:cNvSpPr/>
          <p:nvPr>
            <p:ph idx="101"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2400" b="1" dirty="0">
                <a:solidFill>
                  <a:srgbClr val="0E1A2B"/>
                </a:solidFill>
                <a:latin typeface="Malgun Gothic" pitchFamily="34" charset="0"/>
                <a:ea typeface="Malgun Gothic" pitchFamily="34" charset="-122"/>
                <a:cs typeface="Malgun Gothic" pitchFamily="34" charset="-120"/>
              </a:rPr>
              <a:t>M0~M9는 발표의 어느 장면을 만드는가 — 현재 상태 포함</a:t>
            </a:r>
            <a:endParaRPr lang="en-US" sz="24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11094415" cy="914400"/>
        </p:xfrm>
        <a:graphic>
          <a:graphicData uri="http://schemas.openxmlformats.org/drawingml/2006/table">
            <a:tbl>
              <a:tblPr/>
              <a:tblGrid>
                <a:gridCol w="1920240"/>
                <a:gridCol w="3931920"/>
                <a:gridCol w="1188720"/>
                <a:gridCol w="4050792"/>
              </a:tblGrid>
              <a:tr h="393192">
                <a:tc>
                  <a:txBody>
                    <a:bodyPr/>
                    <a:lstStyle/>
                    <a:p>
                      <a:pPr indent="0" marL="0">
                        <a:buNone/>
                      </a:pPr>
                      <a:r>
                        <a:rPr lang="en-US" sz="1200" b="1" dirty="0">
                          <a:solidFill>
                            <a:srgbClr val="FFFFFF"/>
                          </a:solidFill>
                          <a:latin typeface="Malgun Gothic" pitchFamily="34" charset="0"/>
                          <a:ea typeface="Malgun Gothic" pitchFamily="34" charset="-122"/>
                          <a:cs typeface="Malgun Gothic" pitchFamily="34" charset="-120"/>
                        </a:rPr>
                        <a:t>과제</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0E1A2B"/>
                    </a:solidFill>
                  </a:tcPr>
                </a:tc>
                <a:tc>
                  <a:txBody>
                    <a:bodyPr/>
                    <a:lstStyle/>
                    <a:p>
                      <a:pPr indent="0" marL="0">
                        <a:buNone/>
                      </a:pPr>
                      <a:r>
                        <a:rPr lang="en-US" sz="1200" b="1" dirty="0">
                          <a:solidFill>
                            <a:srgbClr val="FFFFFF"/>
                          </a:solidFill>
                          <a:latin typeface="Malgun Gothic" pitchFamily="34" charset="0"/>
                          <a:ea typeface="Malgun Gothic" pitchFamily="34" charset="-122"/>
                          <a:cs typeface="Malgun Gothic" pitchFamily="34" charset="-120"/>
                        </a:rPr>
                        <a:t>카드 엔진에서 할 일</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0E1A2B"/>
                    </a:solidFill>
                  </a:tcPr>
                </a:tc>
                <a:tc>
                  <a:txBody>
                    <a:bodyPr/>
                    <a:lstStyle/>
                    <a:p>
                      <a:pPr indent="0" marL="0">
                        <a:buNone/>
                      </a:pPr>
                      <a:r>
                        <a:rPr lang="en-US" sz="1200" b="1" dirty="0">
                          <a:solidFill>
                            <a:srgbClr val="FFFFFF"/>
                          </a:solidFill>
                          <a:latin typeface="Malgun Gothic" pitchFamily="34" charset="0"/>
                          <a:ea typeface="Malgun Gothic" pitchFamily="34" charset="-122"/>
                          <a:cs typeface="Malgun Gothic" pitchFamily="34" charset="-120"/>
                        </a:rPr>
                        <a:t>관련 장(좌상단 번호)</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0E1A2B"/>
                    </a:solidFill>
                  </a:tcPr>
                </a:tc>
                <a:tc>
                  <a:txBody>
                    <a:bodyPr/>
                    <a:lstStyle/>
                    <a:p>
                      <a:pPr indent="0" marL="0">
                        <a:buNone/>
                      </a:pPr>
                      <a:r>
                        <a:rPr lang="en-US" sz="1200" b="1" dirty="0">
                          <a:solidFill>
                            <a:srgbClr val="FFFFFF"/>
                          </a:solidFill>
                          <a:latin typeface="Malgun Gothic" pitchFamily="34" charset="0"/>
                          <a:ea typeface="Malgun Gothic" pitchFamily="34" charset="-122"/>
                          <a:cs typeface="Malgun Gothic" pitchFamily="34" charset="-120"/>
                        </a:rPr>
                        <a:t>현재 상태 (2026-10-30)</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0E1A2B"/>
                    </a:solidFill>
                  </a:tcPr>
                </a:tc>
              </a:tr>
              <a:tr h="393192">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M0 주제·문서</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체크·신용 유사 혜택 약 10종 선정 목표; 3~4종부터 시연</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3, 8</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b="1" dirty="0">
                          <a:solidFill>
                            <a:srgbClr val="8F5208"/>
                          </a:solidFill>
                          <a:latin typeface="Malgun Gothic" pitchFamily="34" charset="0"/>
                          <a:ea typeface="Malgun Gothic" pitchFamily="34" charset="-122"/>
                          <a:cs typeface="Malgun Gothic" pitchFamily="34" charset="-120"/>
                        </a:rPr>
                        <a:t>4종 원문 대조 사례 확보; 약 10종 최종 선정·적재는 예정</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393192">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M1 전처리</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텍스트 추출·청크·원문 위치 ID</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4</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b="1" dirty="0">
                          <a:solidFill>
                            <a:srgbClr val="8F5208"/>
                          </a:solidFill>
                          <a:latin typeface="Malgun Gothic" pitchFamily="34" charset="0"/>
                          <a:ea typeface="Malgun Gothic" pitchFamily="34" charset="-122"/>
                          <a:cs typeface="Malgun Gothic" pitchFamily="34" charset="-120"/>
                        </a:rPr>
                        <a:t>추출 가능성 표본 검증 완료 / 파이프라인 미구현</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393192">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M2 온톨로지</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Card·Benefit·Condition·Merchant·Clause</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6, 부록 B</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b="1" dirty="0">
                          <a:solidFill>
                            <a:srgbClr val="8F5208"/>
                          </a:solidFill>
                          <a:latin typeface="Malgun Gothic" pitchFamily="34" charset="0"/>
                          <a:ea typeface="Malgun Gothic" pitchFamily="34" charset="-122"/>
                          <a:cs typeface="Malgun Gothic" pitchFamily="34" charset="-120"/>
                        </a:rPr>
                        <a:t>설계안 (과제 매핑표)</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393192">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M3·M4 LLM 추출</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근거 문장·clause_id 필수 JSON, 실패 처리</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4, 9</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b="1" dirty="0">
                          <a:solidFill>
                            <a:srgbClr val="A8311A"/>
                          </a:solidFill>
                          <a:latin typeface="Malgun Gothic" pitchFamily="34" charset="0"/>
                          <a:ea typeface="Malgun Gothic" pitchFamily="34" charset="-122"/>
                          <a:cs typeface="Malgun Gothic" pitchFamily="34" charset="-120"/>
                        </a:rPr>
                        <a:t>미구현</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393192">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M5 정규화</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정책 단위 병합, 오병합 점검</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4, 9</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b="1" dirty="0">
                          <a:solidFill>
                            <a:srgbClr val="A8311A"/>
                          </a:solidFill>
                          <a:latin typeface="Malgun Gothic" pitchFamily="34" charset="0"/>
                          <a:ea typeface="Malgun Gothic" pitchFamily="34" charset="-122"/>
                          <a:cs typeface="Malgun Gothic" pitchFamily="34" charset="-120"/>
                        </a:rPr>
                        <a:t>미구현 — 오병합 위험 사례 확인</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393192">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M6 Neo4j 적재</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MERGE 재적재, 근거 속성 보존</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6</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b="1" dirty="0">
                          <a:solidFill>
                            <a:srgbClr val="A8311A"/>
                          </a:solidFill>
                          <a:latin typeface="Malgun Gothic" pitchFamily="34" charset="0"/>
                          <a:ea typeface="Malgun Gothic" pitchFamily="34" charset="-122"/>
                          <a:cs typeface="Malgun Gothic" pitchFamily="34" charset="-120"/>
                        </a:rPr>
                        <a:t>미구현</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393192">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M7 Cypher</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혜택 조회 · 영향 추적 · 판단 경로</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7, 8</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b="1" dirty="0">
                          <a:solidFill>
                            <a:srgbClr val="A8311A"/>
                          </a:solidFill>
                          <a:latin typeface="Malgun Gothic" pitchFamily="34" charset="0"/>
                          <a:ea typeface="Malgun Gothic" pitchFamily="34" charset="-122"/>
                          <a:cs typeface="Malgun Gothic" pitchFamily="34" charset="-120"/>
                        </a:rPr>
                        <a:t>미구현 — 기대 결과는 원문으로 도출</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393192">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M8 검증</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원문–트리플–그래프 대조, 오류 6분류</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9</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b="1" dirty="0">
                          <a:solidFill>
                            <a:srgbClr val="A8311A"/>
                          </a:solidFill>
                          <a:latin typeface="Malgun Gothic" pitchFamily="34" charset="0"/>
                          <a:ea typeface="Malgun Gothic" pitchFamily="34" charset="-122"/>
                          <a:cs typeface="Malgun Gothic" pitchFamily="34" charset="-120"/>
                        </a:rPr>
                        <a:t>미구현 — 기준 정의</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393192">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M9 통합·MCP</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문서 → 그래프 → MCP 한 흐름</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10</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b="1" dirty="0">
                          <a:solidFill>
                            <a:srgbClr val="A8311A"/>
                          </a:solidFill>
                          <a:latin typeface="Malgun Gothic" pitchFamily="34" charset="0"/>
                          <a:ea typeface="Malgun Gothic" pitchFamily="34" charset="-122"/>
                          <a:cs typeface="Malgun Gothic" pitchFamily="34" charset="-120"/>
                        </a:rPr>
                        <a:t>미구현 — 도구 3안, 컷라인 설정</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393192">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구현 완료</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PostgreSQL 카드 등록·조회 CLI + 단위 테스트</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200" b="1" dirty="0">
                          <a:solidFill>
                            <a:srgbClr val="0D6F64"/>
                          </a:solidFill>
                          <a:latin typeface="Malgun Gothic" pitchFamily="34" charset="0"/>
                          <a:ea typeface="Malgun Gothic" pitchFamily="34" charset="-122"/>
                          <a:cs typeface="Malgun Gothic" pitchFamily="34" charset="-120"/>
                        </a:rPr>
                        <a:t>완료 (payment_card)</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bl>
          </a:graphicData>
        </a:graphic>
      </p:graphicFrame>
      <p:sp>
        <p:nvSpPr>
          <p:cNvPr id="5" name="Text 2"/>
          <p:cNvSpPr txBox="1"/>
          <p:nvPr/>
        </p:nvSpPr>
        <p:spPr>
          <a:xfrm>
            <a:off x="548640" y="6400800"/>
            <a:ext cx="10515600" cy="292608"/>
          </a:xfrm>
          <a:prstGeom prst="rect">
            <a:avLst/>
          </a:prstGeom>
          <a:noFill/>
          <a:ln/>
        </p:spPr>
        <p:txBody>
          <a:bodyPr wrap="square" lIns="0" tIns="0" rIns="0" bIns="0" rtlCol="0" anchor="ctr"/>
          <a:lstStyle/>
          <a:p>
            <a:pPr indent="0" marL="0">
              <a:buNone/>
            </a:pPr>
            <a:r>
              <a:rPr lang="en-US" sz="1000" dirty="0">
                <a:solidFill>
                  <a:srgbClr val="6B7686"/>
                </a:solidFill>
                <a:latin typeface="Malgun Gothic" pitchFamily="34" charset="0"/>
                <a:ea typeface="Malgun Gothic" pitchFamily="34" charset="-122"/>
                <a:cs typeface="Malgun Gothic" pitchFamily="34" charset="-120"/>
              </a:rPr>
              <a:t>출처: 과제_매핑표_10.29.md · README.md · architecture.md · sql/hana_card_db_design.md (DB 설계 초안, 미적용)</a:t>
            </a:r>
            <a:endParaRPr lang="en-US" sz="1000" dirty="0"/>
          </a:p>
        </p:txBody>
      </p:sp>
      <p:sp>
        <p:nvSpPr>
          <p:cNvPr id="25" name="Slide Number Placeholder 0"/>
          <p:cNvSpPr>
            <a:spLocks noGrp="1"/>
          </p:cNvSpPr>
          <p:nvPr>
            <p:ph type="sldNum" sz="quarter" idx="4294967295"/>
          </p:nvPr>
        </p:nvSpPr>
        <p:spPr>
          <a:xfrm>
            <a:off x="11274552" y="6437376"/>
            <a:ext cx="36576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Malgun Gothic"/>
                <a:ea typeface="Malgun Gothic"/>
                <a:cs typeface="Malgun Gothic"/>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body" hasCustomPrompt="1"/>
          </p:nvPr>
        </p:nvSpPr>
        <p:spPr>
          <a:xfrm>
            <a:off x="548640" y="329184"/>
            <a:ext cx="7498080" cy="292608"/>
          </a:xfrm>
          <a:prstGeom prst="rect">
            <a:avLst/>
          </a:prstGeom>
          <a:noFill/>
          <a:ln/>
        </p:spPr>
        <p:txBody>
          <a:bodyPr wrap="square" lIns="0" tIns="0" rIns="0" bIns="0" rtlCol="0" anchor="ctr"/>
          <a:lstStyle/>
          <a:p>
            <a:pPr indent="0" marL="0">
              <a:buNone/>
            </a:pPr>
            <a:r>
              <a:rPr lang="en-US" sz="1200" b="1" dirty="0">
                <a:solidFill>
                  <a:srgbClr val="8F5208"/>
                </a:solidFill>
                <a:latin typeface="Malgun Gothic" pitchFamily="34" charset="0"/>
                <a:ea typeface="Malgun Gothic" pitchFamily="34" charset="-122"/>
                <a:cs typeface="Malgun Gothic" pitchFamily="34" charset="-120"/>
              </a:rPr>
              <a:t>부록 B   그래프 설계안 (M2)</a:t>
            </a:r>
            <a:endParaRPr lang="en-US" sz="1200" dirty="0"/>
          </a:p>
        </p:txBody>
      </p:sp>
      <p:sp>
        <p:nvSpPr>
          <p:cNvPr id="3" name="Text 0"/>
          <p:cNvSpPr/>
          <p:nvPr>
            <p:ph idx="101"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2400" b="1" dirty="0">
                <a:solidFill>
                  <a:srgbClr val="0E1A2B"/>
                </a:solidFill>
                <a:latin typeface="Malgun Gothic" pitchFamily="34" charset="0"/>
                <a:ea typeface="Malgun Gothic" pitchFamily="34" charset="-122"/>
                <a:cs typeface="Malgun Gothic" pitchFamily="34" charset="-120"/>
              </a:rPr>
              <a:t>카드 → 혜택 → 조건 → 약관 조항, 모든 관계에 근거를 붙입니다</a:t>
            </a:r>
            <a:endParaRPr lang="en-US" sz="2400" dirty="0"/>
          </a:p>
        </p:txBody>
      </p:sp>
      <p:sp>
        <p:nvSpPr>
          <p:cNvPr id="4" name="Text 2"/>
          <p:cNvSpPr txBox="1"/>
          <p:nvPr/>
        </p:nvSpPr>
        <p:spPr>
          <a:xfrm>
            <a:off x="10920679" y="329184"/>
            <a:ext cx="722376" cy="292608"/>
          </a:xfrm>
          <a:prstGeom prst="roundRect">
            <a:avLst>
              <a:gd name="adj" fmla="val 46875"/>
            </a:avLst>
          </a:prstGeom>
          <a:solidFill>
            <a:srgbClr val="E8ECF2"/>
          </a:solidFill>
          <a:ln>
            <a:solidFill>
              <a:srgbClr val="E8ECF2"/>
            </a:solidFill>
          </a:ln>
        </p:spPr>
        <p:txBody>
          <a:bodyPr wrap="square" lIns="0" tIns="0" rIns="0" bIns="0" rtlCol="0" anchor="ctr"/>
          <a:lstStyle/>
          <a:p>
            <a:pPr algn="ctr" indent="0" marL="0">
              <a:buNone/>
            </a:pPr>
            <a:r>
              <a:rPr lang="en-US" sz="1100" b="1" dirty="0">
                <a:solidFill>
                  <a:srgbClr val="3A4A60"/>
                </a:solidFill>
                <a:latin typeface="Malgun Gothic" pitchFamily="34" charset="0"/>
                <a:ea typeface="Malgun Gothic" pitchFamily="34" charset="-122"/>
                <a:cs typeface="Malgun Gothic" pitchFamily="34" charset="-120"/>
              </a:rPr>
              <a:t>설계안</a:t>
            </a:r>
            <a:endParaRPr lang="en-US" sz="1100" dirty="0"/>
          </a:p>
        </p:txBody>
      </p:sp>
      <p:sp>
        <p:nvSpPr>
          <p:cNvPr id="5" name="Text 3"/>
          <p:cNvSpPr txBox="1"/>
          <p:nvPr/>
        </p:nvSpPr>
        <p:spPr>
          <a:xfrm>
            <a:off x="548640" y="2057400"/>
            <a:ext cx="1965960" cy="640080"/>
          </a:xfrm>
          <a:prstGeom prst="roundRect">
            <a:avLst>
              <a:gd name="adj" fmla="val 17143"/>
            </a:avLst>
          </a:prstGeom>
          <a:solidFill>
            <a:srgbClr val="0E1A2B"/>
          </a:solidFill>
          <a:ln>
            <a:solidFill>
              <a:srgbClr val="0E1A2B"/>
            </a:solidFill>
          </a:ln>
        </p:spPr>
        <p:txBody>
          <a:bodyPr wrap="square" lIns="38100" tIns="38100" rIns="38100" bIns="38100" rtlCol="0" anchor="ct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Card</a:t>
            </a:r>
            <a:endParaRPr lang="en-US" sz="1200" dirty="0"/>
          </a:p>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카드 상품</a:t>
            </a:r>
            <a:endParaRPr lang="en-US" sz="1200" dirty="0"/>
          </a:p>
        </p:txBody>
      </p:sp>
      <p:sp>
        <p:nvSpPr>
          <p:cNvPr id="6" name="Text 4"/>
          <p:cNvSpPr txBox="1"/>
          <p:nvPr/>
        </p:nvSpPr>
        <p:spPr>
          <a:xfrm>
            <a:off x="3429000" y="2057400"/>
            <a:ext cx="1965960" cy="640080"/>
          </a:xfrm>
          <a:prstGeom prst="roundRect">
            <a:avLst>
              <a:gd name="adj" fmla="val 17143"/>
            </a:avLst>
          </a:prstGeom>
          <a:solidFill>
            <a:srgbClr val="159A8C"/>
          </a:solidFill>
          <a:ln>
            <a:solidFill>
              <a:srgbClr val="159A8C"/>
            </a:solidFill>
          </a:ln>
        </p:spPr>
        <p:txBody>
          <a:bodyPr wrap="square" lIns="38100" tIns="38100" rIns="38100" bIns="38100" rtlCol="0" anchor="ct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Benefit</a:t>
            </a:r>
            <a:endParaRPr lang="en-US" sz="1200" dirty="0"/>
          </a:p>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혜택</a:t>
            </a:r>
            <a:endParaRPr lang="en-US" sz="1200" dirty="0"/>
          </a:p>
        </p:txBody>
      </p:sp>
      <p:sp>
        <p:nvSpPr>
          <p:cNvPr id="7" name="Text 5"/>
          <p:cNvSpPr txBox="1"/>
          <p:nvPr/>
        </p:nvSpPr>
        <p:spPr>
          <a:xfrm>
            <a:off x="6309360" y="2057400"/>
            <a:ext cx="1965960" cy="640080"/>
          </a:xfrm>
          <a:prstGeom prst="roundRect">
            <a:avLst>
              <a:gd name="adj" fmla="val 17143"/>
            </a:avLst>
          </a:prstGeom>
          <a:solidFill>
            <a:srgbClr val="E8A33D"/>
          </a:solidFill>
          <a:ln>
            <a:solidFill>
              <a:srgbClr val="E8A33D"/>
            </a:solidFill>
          </a:ln>
        </p:spPr>
        <p:txBody>
          <a:bodyPr wrap="square" lIns="38100" tIns="38100" rIns="38100" bIns="38100" rtlCol="0" anchor="ctr"/>
          <a:lstStyle/>
          <a:p>
            <a:pPr algn="ctr" indent="0" marL="0">
              <a:buNone/>
            </a:pPr>
            <a:r>
              <a:rPr lang="en-US" sz="1200" b="1" dirty="0">
                <a:solidFill>
                  <a:srgbClr val="0E1A2B"/>
                </a:solidFill>
                <a:latin typeface="Malgun Gothic" pitchFamily="34" charset="0"/>
                <a:ea typeface="Malgun Gothic" pitchFamily="34" charset="-122"/>
                <a:cs typeface="Malgun Gothic" pitchFamily="34" charset="-120"/>
              </a:rPr>
              <a:t>Condition</a:t>
            </a:r>
            <a:endParaRPr lang="en-US" sz="1200" dirty="0"/>
          </a:p>
          <a:p>
            <a:pPr algn="ctr" indent="0" marL="0">
              <a:buNone/>
            </a:pPr>
            <a:r>
              <a:rPr lang="en-US" sz="1200" b="1" dirty="0">
                <a:solidFill>
                  <a:srgbClr val="0E1A2B"/>
                </a:solidFill>
                <a:latin typeface="Malgun Gothic" pitchFamily="34" charset="0"/>
                <a:ea typeface="Malgun Gothic" pitchFamily="34" charset="-122"/>
                <a:cs typeface="Malgun Gothic" pitchFamily="34" charset="-120"/>
              </a:rPr>
              <a:t>전월실적·한도</a:t>
            </a:r>
            <a:endParaRPr lang="en-US" sz="1200" dirty="0"/>
          </a:p>
        </p:txBody>
      </p:sp>
      <p:sp>
        <p:nvSpPr>
          <p:cNvPr id="8" name="Text 6"/>
          <p:cNvSpPr txBox="1"/>
          <p:nvPr/>
        </p:nvSpPr>
        <p:spPr>
          <a:xfrm>
            <a:off x="9189720" y="2057400"/>
            <a:ext cx="2450592" cy="640080"/>
          </a:xfrm>
          <a:prstGeom prst="roundRect">
            <a:avLst>
              <a:gd name="adj" fmla="val 17143"/>
            </a:avLst>
          </a:prstGeom>
          <a:solidFill>
            <a:srgbClr val="D9472B"/>
          </a:solidFill>
          <a:ln>
            <a:solidFill>
              <a:srgbClr val="D9472B"/>
            </a:solidFill>
          </a:ln>
        </p:spPr>
        <p:txBody>
          <a:bodyPr wrap="square" lIns="38100" tIns="38100" rIns="38100" bIns="38100" rtlCol="0" anchor="ct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Condition</a:t>
            </a:r>
            <a:endParaRPr lang="en-US" sz="1200" dirty="0"/>
          </a:p>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제외 항목</a:t>
            </a:r>
            <a:endParaRPr lang="en-US" sz="1200" dirty="0"/>
          </a:p>
        </p:txBody>
      </p:sp>
      <p:sp>
        <p:nvSpPr>
          <p:cNvPr id="9" name="Shape 7"/>
          <p:cNvSpPr/>
          <p:nvPr/>
        </p:nvSpPr>
        <p:spPr>
          <a:xfrm>
            <a:off x="2542032" y="2377440"/>
            <a:ext cx="859536" cy="0"/>
          </a:xfrm>
          <a:prstGeom prst="line">
            <a:avLst/>
          </a:prstGeom>
          <a:noFill/>
          <a:ln w="19050">
            <a:solidFill>
              <a:srgbClr val="3A4A60"/>
            </a:solidFill>
            <a:prstDash val="solid"/>
            <a:tailEnd type="triangle"/>
          </a:ln>
        </p:spPr>
      </p:sp>
      <p:sp>
        <p:nvSpPr>
          <p:cNvPr id="10" name="Text 8"/>
          <p:cNvSpPr txBox="1"/>
          <p:nvPr/>
        </p:nvSpPr>
        <p:spPr>
          <a:xfrm>
            <a:off x="2331720" y="1764792"/>
            <a:ext cx="1463040" cy="237744"/>
          </a:xfrm>
          <a:prstGeom prst="rect">
            <a:avLst/>
          </a:prstGeom>
          <a:noFill/>
          <a:ln/>
        </p:spPr>
        <p:txBody>
          <a:bodyPr wrap="square" lIns="0" tIns="0" rIns="0" bIns="0" rtlCol="0" anchor="t"/>
          <a:lstStyle/>
          <a:p>
            <a:pPr algn="ctr" indent="0" marL="0">
              <a:buNone/>
            </a:pPr>
            <a:r>
              <a:rPr lang="en-US" sz="1000" b="1" dirty="0">
                <a:solidFill>
                  <a:srgbClr val="3A4A60"/>
                </a:solidFill>
                <a:latin typeface="Courier New" pitchFamily="34" charset="0"/>
                <a:ea typeface="Courier New" pitchFamily="34" charset="-122"/>
                <a:cs typeface="Courier New" pitchFamily="34" charset="-120"/>
              </a:rPr>
              <a:t>HAS_BENEFIT</a:t>
            </a:r>
            <a:endParaRPr lang="en-US" sz="1000" dirty="0"/>
          </a:p>
        </p:txBody>
      </p:sp>
      <p:sp>
        <p:nvSpPr>
          <p:cNvPr id="11" name="Shape 9"/>
          <p:cNvSpPr/>
          <p:nvPr/>
        </p:nvSpPr>
        <p:spPr>
          <a:xfrm>
            <a:off x="5422392" y="2377440"/>
            <a:ext cx="859536" cy="0"/>
          </a:xfrm>
          <a:prstGeom prst="line">
            <a:avLst/>
          </a:prstGeom>
          <a:noFill/>
          <a:ln w="19050">
            <a:solidFill>
              <a:srgbClr val="3A4A60"/>
            </a:solidFill>
            <a:prstDash val="solid"/>
            <a:tailEnd type="triangle"/>
          </a:ln>
        </p:spPr>
      </p:sp>
      <p:sp>
        <p:nvSpPr>
          <p:cNvPr id="12" name="Text 10"/>
          <p:cNvSpPr txBox="1"/>
          <p:nvPr/>
        </p:nvSpPr>
        <p:spPr>
          <a:xfrm>
            <a:off x="5212080" y="1764792"/>
            <a:ext cx="1463040" cy="237744"/>
          </a:xfrm>
          <a:prstGeom prst="rect">
            <a:avLst/>
          </a:prstGeom>
          <a:noFill/>
          <a:ln/>
        </p:spPr>
        <p:txBody>
          <a:bodyPr wrap="square" lIns="0" tIns="0" rIns="0" bIns="0" rtlCol="0" anchor="t"/>
          <a:lstStyle/>
          <a:p>
            <a:pPr algn="ctr" indent="0" marL="0">
              <a:buNone/>
            </a:pPr>
            <a:r>
              <a:rPr lang="en-US" sz="1000" b="1" dirty="0">
                <a:solidFill>
                  <a:srgbClr val="3A4A60"/>
                </a:solidFill>
                <a:latin typeface="Courier New" pitchFamily="34" charset="0"/>
                <a:ea typeface="Courier New" pitchFamily="34" charset="-122"/>
                <a:cs typeface="Courier New" pitchFamily="34" charset="-120"/>
              </a:rPr>
              <a:t>REQUIRES</a:t>
            </a:r>
            <a:endParaRPr lang="en-US" sz="1000" dirty="0"/>
          </a:p>
        </p:txBody>
      </p:sp>
      <p:sp>
        <p:nvSpPr>
          <p:cNvPr id="13" name="Shape 11"/>
          <p:cNvSpPr/>
          <p:nvPr/>
        </p:nvSpPr>
        <p:spPr>
          <a:xfrm>
            <a:off x="8302752" y="2377440"/>
            <a:ext cx="859536" cy="0"/>
          </a:xfrm>
          <a:prstGeom prst="line">
            <a:avLst/>
          </a:prstGeom>
          <a:noFill/>
          <a:ln w="19050">
            <a:solidFill>
              <a:srgbClr val="3A4A60"/>
            </a:solidFill>
            <a:prstDash val="solid"/>
            <a:tailEnd type="triangle"/>
          </a:ln>
        </p:spPr>
      </p:sp>
      <p:sp>
        <p:nvSpPr>
          <p:cNvPr id="14" name="Text 12"/>
          <p:cNvSpPr txBox="1"/>
          <p:nvPr/>
        </p:nvSpPr>
        <p:spPr>
          <a:xfrm>
            <a:off x="8092440" y="1764792"/>
            <a:ext cx="1463040" cy="237744"/>
          </a:xfrm>
          <a:prstGeom prst="rect">
            <a:avLst/>
          </a:prstGeom>
          <a:noFill/>
          <a:ln/>
        </p:spPr>
        <p:txBody>
          <a:bodyPr wrap="square" lIns="0" tIns="0" rIns="0" bIns="0" rtlCol="0" anchor="t"/>
          <a:lstStyle/>
          <a:p>
            <a:pPr algn="ctr" indent="0" marL="0">
              <a:buNone/>
            </a:pPr>
            <a:r>
              <a:rPr lang="en-US" sz="1000" b="1" dirty="0">
                <a:solidFill>
                  <a:srgbClr val="3A4A60"/>
                </a:solidFill>
                <a:latin typeface="Courier New" pitchFamily="34" charset="0"/>
                <a:ea typeface="Courier New" pitchFamily="34" charset="-122"/>
                <a:cs typeface="Courier New" pitchFamily="34" charset="-120"/>
              </a:rPr>
              <a:t>EXCLUDES {scope}</a:t>
            </a:r>
            <a:endParaRPr lang="en-US" sz="1000" dirty="0"/>
          </a:p>
        </p:txBody>
      </p:sp>
      <p:sp>
        <p:nvSpPr>
          <p:cNvPr id="15" name="Text 13"/>
          <p:cNvSpPr txBox="1"/>
          <p:nvPr/>
        </p:nvSpPr>
        <p:spPr>
          <a:xfrm>
            <a:off x="548640" y="3520440"/>
            <a:ext cx="1965960" cy="640080"/>
          </a:xfrm>
          <a:prstGeom prst="roundRect">
            <a:avLst>
              <a:gd name="adj" fmla="val 17143"/>
            </a:avLst>
          </a:prstGeom>
          <a:solidFill>
            <a:srgbClr val="EFE9F8"/>
          </a:solidFill>
          <a:ln w="15875">
            <a:solidFill>
              <a:srgbClr val="6A4FB0"/>
            </a:solidFill>
            <a:prstDash val="dash"/>
          </a:ln>
        </p:spPr>
        <p:txBody>
          <a:bodyPr wrap="square" lIns="38100" tIns="38100" rIns="38100" bIns="38100" rtlCol="0" anchor="ctr"/>
          <a:lstStyle/>
          <a:p>
            <a:pPr algn="ctr" indent="0" marL="0">
              <a:buNone/>
            </a:pPr>
            <a:r>
              <a:rPr lang="en-US" sz="1200" b="1" dirty="0">
                <a:solidFill>
                  <a:srgbClr val="6A4FB0"/>
                </a:solidFill>
                <a:latin typeface="Malgun Gothic" pitchFamily="34" charset="0"/>
                <a:ea typeface="Malgun Gothic" pitchFamily="34" charset="-122"/>
                <a:cs typeface="Malgun Gothic" pitchFamily="34" charset="-120"/>
              </a:rPr>
              <a:t>Copy</a:t>
            </a:r>
            <a:endParaRPr lang="en-US" sz="1200" dirty="0"/>
          </a:p>
          <a:p>
            <a:pPr algn="ctr" indent="0" marL="0">
              <a:buNone/>
            </a:pPr>
            <a:r>
              <a:rPr lang="en-US" sz="1200" b="1" dirty="0">
                <a:solidFill>
                  <a:srgbClr val="6A4FB0"/>
                </a:solidFill>
                <a:latin typeface="Malgun Gothic" pitchFamily="34" charset="0"/>
                <a:ea typeface="Malgun Gothic" pitchFamily="34" charset="-122"/>
                <a:cs typeface="Malgun Gothic" pitchFamily="34" charset="-120"/>
              </a:rPr>
              <a:t>승인 문구 (확장 제안)</a:t>
            </a:r>
            <a:endParaRPr lang="en-US" sz="1200" dirty="0"/>
          </a:p>
        </p:txBody>
      </p:sp>
      <p:sp>
        <p:nvSpPr>
          <p:cNvPr id="16" name="Text 14"/>
          <p:cNvSpPr txBox="1"/>
          <p:nvPr/>
        </p:nvSpPr>
        <p:spPr>
          <a:xfrm>
            <a:off x="3429000" y="3520440"/>
            <a:ext cx="1965960" cy="640080"/>
          </a:xfrm>
          <a:prstGeom prst="roundRect">
            <a:avLst>
              <a:gd name="adj" fmla="val 17143"/>
            </a:avLst>
          </a:prstGeom>
          <a:solidFill>
            <a:srgbClr val="E8A33D"/>
          </a:solidFill>
          <a:ln>
            <a:solidFill>
              <a:srgbClr val="E8A33D"/>
            </a:solidFill>
          </a:ln>
        </p:spPr>
        <p:txBody>
          <a:bodyPr wrap="square" lIns="38100" tIns="38100" rIns="38100" bIns="38100" rtlCol="0" anchor="ctr"/>
          <a:lstStyle/>
          <a:p>
            <a:pPr algn="ctr" indent="0" marL="0">
              <a:buNone/>
            </a:pPr>
            <a:r>
              <a:rPr lang="en-US" sz="1200" b="1" dirty="0">
                <a:solidFill>
                  <a:srgbClr val="0E1A2B"/>
                </a:solidFill>
                <a:latin typeface="Malgun Gothic" pitchFamily="34" charset="0"/>
                <a:ea typeface="Malgun Gothic" pitchFamily="34" charset="-122"/>
                <a:cs typeface="Malgun Gothic" pitchFamily="34" charset="-120"/>
              </a:rPr>
              <a:t>Condition</a:t>
            </a:r>
            <a:endParaRPr lang="en-US" sz="1200" dirty="0"/>
          </a:p>
          <a:p>
            <a:pPr algn="ctr" indent="0" marL="0">
              <a:buNone/>
            </a:pPr>
            <a:r>
              <a:rPr lang="en-US" sz="1200" b="1" dirty="0">
                <a:solidFill>
                  <a:srgbClr val="0E1A2B"/>
                </a:solidFill>
                <a:latin typeface="Malgun Gothic" pitchFamily="34" charset="0"/>
                <a:ea typeface="Malgun Gothic" pitchFamily="34" charset="-122"/>
                <a:cs typeface="Malgun Gothic" pitchFamily="34" charset="-120"/>
              </a:rPr>
              <a:t>월 한도</a:t>
            </a:r>
            <a:endParaRPr lang="en-US" sz="1200" dirty="0"/>
          </a:p>
        </p:txBody>
      </p:sp>
      <p:sp>
        <p:nvSpPr>
          <p:cNvPr id="17" name="Text 15"/>
          <p:cNvSpPr txBox="1"/>
          <p:nvPr/>
        </p:nvSpPr>
        <p:spPr>
          <a:xfrm>
            <a:off x="6309360" y="3520440"/>
            <a:ext cx="1965960" cy="640080"/>
          </a:xfrm>
          <a:prstGeom prst="roundRect">
            <a:avLst>
              <a:gd name="adj" fmla="val 17143"/>
            </a:avLst>
          </a:prstGeom>
          <a:solidFill>
            <a:srgbClr val="6A4FB0"/>
          </a:solidFill>
          <a:ln>
            <a:solidFill>
              <a:srgbClr val="6A4FB0"/>
            </a:solidFill>
          </a:ln>
        </p:spPr>
        <p:txBody>
          <a:bodyPr wrap="square" lIns="38100" tIns="38100" rIns="38100" bIns="38100" rtlCol="0" anchor="ct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Clause</a:t>
            </a:r>
            <a:endParaRPr lang="en-US" sz="1200" dirty="0"/>
          </a:p>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약관 조항</a:t>
            </a:r>
            <a:endParaRPr lang="en-US" sz="1200" dirty="0"/>
          </a:p>
        </p:txBody>
      </p:sp>
      <p:sp>
        <p:nvSpPr>
          <p:cNvPr id="18" name="Text 16"/>
          <p:cNvSpPr txBox="1"/>
          <p:nvPr/>
        </p:nvSpPr>
        <p:spPr>
          <a:xfrm>
            <a:off x="9189720" y="3520440"/>
            <a:ext cx="2450592" cy="640080"/>
          </a:xfrm>
          <a:prstGeom prst="roundRect">
            <a:avLst>
              <a:gd name="adj" fmla="val 17143"/>
            </a:avLst>
          </a:prstGeom>
          <a:solidFill>
            <a:srgbClr val="E8ECF2"/>
          </a:solidFill>
          <a:ln>
            <a:solidFill>
              <a:srgbClr val="E8ECF2"/>
            </a:solidFill>
          </a:ln>
        </p:spPr>
        <p:txBody>
          <a:bodyPr wrap="square" lIns="38100" tIns="38100" rIns="38100" bIns="38100" rtlCol="0" anchor="ctr"/>
          <a:lstStyle/>
          <a:p>
            <a:pPr algn="ctr" indent="0" marL="0">
              <a:buNone/>
            </a:pPr>
            <a:r>
              <a:rPr lang="en-US" sz="1200" b="1" dirty="0">
                <a:solidFill>
                  <a:srgbClr val="3A4A60"/>
                </a:solidFill>
                <a:latin typeface="Malgun Gothic" pitchFamily="34" charset="0"/>
                <a:ea typeface="Malgun Gothic" pitchFamily="34" charset="-122"/>
                <a:cs typeface="Malgun Gothic" pitchFamily="34" charset="-120"/>
              </a:rPr>
              <a:t>Merchant</a:t>
            </a:r>
            <a:endParaRPr lang="en-US" sz="1200" dirty="0"/>
          </a:p>
          <a:p>
            <a:pPr algn="ctr" indent="0" marL="0">
              <a:buNone/>
            </a:pPr>
            <a:r>
              <a:rPr lang="en-US" sz="1200" b="1" dirty="0">
                <a:solidFill>
                  <a:srgbClr val="3A4A60"/>
                </a:solidFill>
                <a:latin typeface="Malgun Gothic" pitchFamily="34" charset="0"/>
                <a:ea typeface="Malgun Gothic" pitchFamily="34" charset="-122"/>
                <a:cs typeface="Malgun Gothic" pitchFamily="34" charset="-120"/>
              </a:rPr>
              <a:t>가맹점·업종</a:t>
            </a:r>
            <a:endParaRPr lang="en-US" sz="1200" dirty="0"/>
          </a:p>
        </p:txBody>
      </p:sp>
      <p:sp>
        <p:nvSpPr>
          <p:cNvPr id="19" name="Shape 17"/>
          <p:cNvSpPr/>
          <p:nvPr/>
        </p:nvSpPr>
        <p:spPr>
          <a:xfrm>
            <a:off x="4411980" y="2724912"/>
            <a:ext cx="0" cy="768096"/>
          </a:xfrm>
          <a:prstGeom prst="line">
            <a:avLst/>
          </a:prstGeom>
          <a:noFill/>
          <a:ln w="19050">
            <a:solidFill>
              <a:srgbClr val="3A4A60"/>
            </a:solidFill>
            <a:prstDash val="solid"/>
            <a:tailEnd type="triangle"/>
          </a:ln>
        </p:spPr>
      </p:sp>
      <p:sp>
        <p:nvSpPr>
          <p:cNvPr id="20" name="Text 18"/>
          <p:cNvSpPr txBox="1"/>
          <p:nvPr/>
        </p:nvSpPr>
        <p:spPr>
          <a:xfrm>
            <a:off x="4485132" y="2880360"/>
            <a:ext cx="1188720" cy="237744"/>
          </a:xfrm>
          <a:prstGeom prst="rect">
            <a:avLst/>
          </a:prstGeom>
          <a:noFill/>
          <a:ln/>
        </p:spPr>
        <p:txBody>
          <a:bodyPr wrap="square" lIns="0" tIns="0" rIns="0" bIns="0" rtlCol="0" anchor="t"/>
          <a:lstStyle/>
          <a:p>
            <a:pPr indent="0" marL="0">
              <a:buNone/>
            </a:pPr>
            <a:r>
              <a:rPr lang="en-US" sz="1000" b="1" dirty="0">
                <a:solidFill>
                  <a:srgbClr val="3A4A60"/>
                </a:solidFill>
                <a:latin typeface="Courier New" pitchFamily="34" charset="0"/>
                <a:ea typeface="Courier New" pitchFamily="34" charset="-122"/>
                <a:cs typeface="Courier New" pitchFamily="34" charset="-120"/>
              </a:rPr>
              <a:t>LIMITED_BY</a:t>
            </a:r>
            <a:endParaRPr lang="en-US" sz="1000" dirty="0"/>
          </a:p>
        </p:txBody>
      </p:sp>
      <p:sp>
        <p:nvSpPr>
          <p:cNvPr id="21" name="Shape 19"/>
          <p:cNvSpPr/>
          <p:nvPr/>
        </p:nvSpPr>
        <p:spPr>
          <a:xfrm>
            <a:off x="7292340" y="2724912"/>
            <a:ext cx="0" cy="768096"/>
          </a:xfrm>
          <a:prstGeom prst="line">
            <a:avLst/>
          </a:prstGeom>
          <a:noFill/>
          <a:ln w="19050">
            <a:solidFill>
              <a:srgbClr val="3A4A60"/>
            </a:solidFill>
            <a:prstDash val="solid"/>
            <a:tailEnd type="triangle"/>
          </a:ln>
        </p:spPr>
      </p:sp>
      <p:sp>
        <p:nvSpPr>
          <p:cNvPr id="22" name="Text 20"/>
          <p:cNvSpPr txBox="1"/>
          <p:nvPr/>
        </p:nvSpPr>
        <p:spPr>
          <a:xfrm>
            <a:off x="7365492" y="2880360"/>
            <a:ext cx="1280160" cy="237744"/>
          </a:xfrm>
          <a:prstGeom prst="rect">
            <a:avLst/>
          </a:prstGeom>
          <a:noFill/>
          <a:ln/>
        </p:spPr>
        <p:txBody>
          <a:bodyPr wrap="square" lIns="0" tIns="0" rIns="0" bIns="0" rtlCol="0" anchor="t"/>
          <a:lstStyle/>
          <a:p>
            <a:pPr indent="0" marL="0">
              <a:buNone/>
            </a:pPr>
            <a:r>
              <a:rPr lang="en-US" sz="1000" b="1" dirty="0">
                <a:solidFill>
                  <a:srgbClr val="3A4A60"/>
                </a:solidFill>
                <a:latin typeface="Courier New" pitchFamily="34" charset="0"/>
                <a:ea typeface="Courier New" pitchFamily="34" charset="-122"/>
                <a:cs typeface="Courier New" pitchFamily="34" charset="-120"/>
              </a:rPr>
              <a:t>SOURCED_FROM</a:t>
            </a:r>
            <a:endParaRPr lang="en-US" sz="1000" dirty="0"/>
          </a:p>
        </p:txBody>
      </p:sp>
      <p:sp>
        <p:nvSpPr>
          <p:cNvPr id="23" name="Shape 21"/>
          <p:cNvSpPr/>
          <p:nvPr/>
        </p:nvSpPr>
        <p:spPr>
          <a:xfrm flipV="1">
            <a:off x="2514600" y="2697480"/>
            <a:ext cx="914400" cy="822960"/>
          </a:xfrm>
          <a:prstGeom prst="line">
            <a:avLst/>
          </a:prstGeom>
          <a:noFill/>
          <a:ln w="19050">
            <a:solidFill>
              <a:srgbClr val="6A4FB0"/>
            </a:solidFill>
            <a:prstDash val="solid"/>
            <a:tailEnd type="triangle"/>
          </a:ln>
        </p:spPr>
      </p:sp>
      <p:sp>
        <p:nvSpPr>
          <p:cNvPr id="24" name="Text 22"/>
          <p:cNvSpPr txBox="1"/>
          <p:nvPr/>
        </p:nvSpPr>
        <p:spPr>
          <a:xfrm>
            <a:off x="2926080" y="3136392"/>
            <a:ext cx="822960" cy="237744"/>
          </a:xfrm>
          <a:prstGeom prst="rect">
            <a:avLst/>
          </a:prstGeom>
          <a:noFill/>
          <a:ln/>
        </p:spPr>
        <p:txBody>
          <a:bodyPr wrap="square" lIns="0" tIns="0" rIns="0" bIns="0" rtlCol="0" anchor="t"/>
          <a:lstStyle/>
          <a:p>
            <a:pPr indent="0" marL="0">
              <a:buNone/>
            </a:pPr>
            <a:r>
              <a:rPr lang="en-US" sz="1000" b="1" dirty="0">
                <a:solidFill>
                  <a:srgbClr val="6A4FB0"/>
                </a:solidFill>
                <a:latin typeface="Courier New" pitchFamily="34" charset="0"/>
                <a:ea typeface="Courier New" pitchFamily="34" charset="-122"/>
                <a:cs typeface="Courier New" pitchFamily="34" charset="-120"/>
              </a:rPr>
              <a:t>CLAIMS</a:t>
            </a:r>
            <a:endParaRPr lang="en-US" sz="1000" dirty="0"/>
          </a:p>
        </p:txBody>
      </p:sp>
      <p:sp>
        <p:nvSpPr>
          <p:cNvPr id="25" name="Text 23"/>
          <p:cNvSpPr txBox="1"/>
          <p:nvPr/>
        </p:nvSpPr>
        <p:spPr>
          <a:xfrm>
            <a:off x="9189720" y="4206240"/>
            <a:ext cx="2450592" cy="237744"/>
          </a:xfrm>
          <a:prstGeom prst="rect">
            <a:avLst/>
          </a:prstGeom>
          <a:noFill/>
          <a:ln/>
        </p:spPr>
        <p:txBody>
          <a:bodyPr wrap="square" lIns="0" tIns="0" rIns="0" bIns="0" rtlCol="0" anchor="t"/>
          <a:lstStyle/>
          <a:p>
            <a:pPr algn="ctr" indent="0" marL="0">
              <a:buNone/>
            </a:pPr>
            <a:r>
              <a:rPr lang="en-US" sz="1000" dirty="0">
                <a:solidFill>
                  <a:srgbClr val="3A4A60"/>
                </a:solidFill>
                <a:latin typeface="Courier New" pitchFamily="34" charset="0"/>
                <a:ea typeface="Courier New" pitchFamily="34" charset="-122"/>
                <a:cs typeface="Courier New" pitchFamily="34" charset="-120"/>
              </a:rPr>
              <a:t>APPLIES_TO ← Benefit</a:t>
            </a:r>
            <a:endParaRPr lang="en-US" sz="1000" dirty="0"/>
          </a:p>
        </p:txBody>
      </p:sp>
      <p:sp>
        <p:nvSpPr>
          <p:cNvPr id="26" name="Text 24"/>
          <p:cNvSpPr txBox="1"/>
          <p:nvPr/>
        </p:nvSpPr>
        <p:spPr>
          <a:xfrm>
            <a:off x="548640" y="4526280"/>
            <a:ext cx="11094415" cy="320040"/>
          </a:xfrm>
          <a:prstGeom prst="rect">
            <a:avLst/>
          </a:prstGeom>
          <a:noFill/>
          <a:ln/>
        </p:spPr>
        <p:txBody>
          <a:bodyPr wrap="square" lIns="0" tIns="0" rIns="0" bIns="0" rtlCol="0" anchor="t"/>
          <a:lstStyle/>
          <a:p>
            <a:pPr indent="0" marL="0">
              <a:buNone/>
            </a:pPr>
            <a:r>
              <a:rPr lang="en-US" sz="1300" b="1" dirty="0">
                <a:solidFill>
                  <a:srgbClr val="0E1A2B"/>
                </a:solidFill>
                <a:latin typeface="Malgun Gothic" pitchFamily="34" charset="0"/>
                <a:ea typeface="Malgun Gothic" pitchFamily="34" charset="-122"/>
                <a:cs typeface="Malgun Gothic" pitchFamily="34" charset="-120"/>
              </a:rPr>
              <a:t>모든 관계 속성: document_id · chunk_id · evidence(원문 문장).  근거 없는 관계는 만들지 않고, 카드 간 같은 정책만 하나의 노드로 공유합니다.</a:t>
            </a:r>
            <a:endParaRPr lang="en-US" sz="1300" dirty="0"/>
          </a:p>
        </p:txBody>
      </p:sp>
      <p:sp>
        <p:nvSpPr>
          <p:cNvPr id="27" name="Text 25"/>
          <p:cNvSpPr txBox="1"/>
          <p:nvPr/>
        </p:nvSpPr>
        <p:spPr>
          <a:xfrm>
            <a:off x="548640" y="4983480"/>
            <a:ext cx="11094415" cy="1234440"/>
          </a:xfrm>
          <a:prstGeom prst="roundRect">
            <a:avLst>
              <a:gd name="adj" fmla="val 5926"/>
            </a:avLst>
          </a:prstGeom>
          <a:solidFill>
            <a:srgbClr val="0E1A2B"/>
          </a:solidFill>
          <a:ln>
            <a:solidFill>
              <a:srgbClr val="0E1A2B"/>
            </a:solidFill>
          </a:ln>
        </p:spPr>
        <p:txBody>
          <a:bodyPr wrap="square" lIns="127000" tIns="127000" rIns="127000" bIns="127000" rtlCol="0" anchor="t"/>
          <a:lstStyle/>
          <a:p>
            <a:pPr algn="l" indent="0" marL="0">
              <a:buNone/>
            </a:pPr>
            <a:r>
              <a:rPr lang="en-US" sz="1000" dirty="0">
                <a:solidFill>
                  <a:srgbClr val="E6ECF4"/>
                </a:solidFill>
                <a:latin typeface="Courier New" pitchFamily="34" charset="0"/>
                <a:ea typeface="Courier New" pitchFamily="34" charset="-122"/>
                <a:cs typeface="Courier New" pitchFamily="34" charset="-120"/>
              </a:rPr>
              <a:t>// 시연 ② 영향 추적 (예시 Cypher, 미실행)</a:t>
            </a:r>
            <a:endParaRPr lang="en-US" sz="1000" dirty="0"/>
          </a:p>
          <a:p>
            <a:pPr algn="l" indent="0" marL="0">
              <a:buNone/>
            </a:pPr>
            <a:r>
              <a:rPr lang="en-US" sz="1000" dirty="0">
                <a:solidFill>
                  <a:srgbClr val="E6ECF4"/>
                </a:solidFill>
                <a:latin typeface="Courier New" pitchFamily="34" charset="0"/>
                <a:ea typeface="Courier New" pitchFamily="34" charset="-122"/>
                <a:cs typeface="Courier New" pitchFamily="34" charset="-120"/>
              </a:rPr>
              <a:t>MATCH (x:Condition {name:'상품권·기프트카드 구매'})&lt;-[:EXCLUDES {scope:'실적'}]-(r:Condition)&lt;-[:REQUIRES]-(b:Benefit)&lt;-[:HAS_BENEFIT]-(c:Card)</a:t>
            </a:r>
            <a:endParaRPr lang="en-US" sz="1000" dirty="0"/>
          </a:p>
          <a:p>
            <a:pPr algn="l" indent="0" marL="0">
              <a:buNone/>
            </a:pPr>
            <a:r>
              <a:rPr lang="en-US" sz="1000" dirty="0">
                <a:solidFill>
                  <a:srgbClr val="E6ECF4"/>
                </a:solidFill>
                <a:latin typeface="Courier New" pitchFamily="34" charset="0"/>
                <a:ea typeface="Courier New" pitchFamily="34" charset="-122"/>
                <a:cs typeface="Courier New" pitchFamily="34" charset="-120"/>
              </a:rPr>
              <a:t>OPTIONAL MATCH (r)-[:SOURCED_FROM]-&gt;(cl:Clause)</a:t>
            </a:r>
            <a:endParaRPr lang="en-US" sz="1000" dirty="0"/>
          </a:p>
          <a:p>
            <a:pPr algn="l" indent="0" marL="0">
              <a:buNone/>
            </a:pPr>
            <a:r>
              <a:rPr lang="en-US" sz="1000" dirty="0">
                <a:solidFill>
                  <a:srgbClr val="E6ECF4"/>
                </a:solidFill>
                <a:latin typeface="Courier New" pitchFamily="34" charset="0"/>
                <a:ea typeface="Courier New" pitchFamily="34" charset="-122"/>
                <a:cs typeface="Courier New" pitchFamily="34" charset="-120"/>
              </a:rPr>
              <a:t>RETURN c.name AS card, b.name AS benefit, r.threshold AS spend, cl.id AS clause</a:t>
            </a:r>
            <a:endParaRPr lang="en-US" sz="1000" dirty="0"/>
          </a:p>
        </p:txBody>
      </p:sp>
      <p:sp>
        <p:nvSpPr>
          <p:cNvPr id="28" name="Text 26"/>
          <p:cNvSpPr txBox="1"/>
          <p:nvPr/>
        </p:nvSpPr>
        <p:spPr>
          <a:xfrm>
            <a:off x="548640" y="6400800"/>
            <a:ext cx="10515600" cy="292608"/>
          </a:xfrm>
          <a:prstGeom prst="rect">
            <a:avLst/>
          </a:prstGeom>
          <a:noFill/>
          <a:ln/>
        </p:spPr>
        <p:txBody>
          <a:bodyPr wrap="square" lIns="0" tIns="0" rIns="0" bIns="0" rtlCol="0" anchor="ctr"/>
          <a:lstStyle/>
          <a:p>
            <a:pPr indent="0" marL="0">
              <a:buNone/>
            </a:pPr>
            <a:r>
              <a:rPr lang="en-US" sz="1000" dirty="0">
                <a:solidFill>
                  <a:srgbClr val="6B7686"/>
                </a:solidFill>
                <a:latin typeface="Malgun Gothic" pitchFamily="34" charset="0"/>
                <a:ea typeface="Malgun Gothic" pitchFamily="34" charset="-122"/>
                <a:cs typeface="Malgun Gothic" pitchFamily="34" charset="-120"/>
              </a:rPr>
              <a:t>노드·관계는 과제_매핑표_10.29.md M2 안 · Copy 노드는 V2 §6 제안 · 쿼리는 설계 예시이며 실행 결과 아님</a:t>
            </a:r>
            <a:endParaRPr lang="en-US" sz="1000" dirty="0"/>
          </a:p>
        </p:txBody>
      </p:sp>
      <p:sp>
        <p:nvSpPr>
          <p:cNvPr id="25" name="Slide Number Placeholder 0"/>
          <p:cNvSpPr>
            <a:spLocks noGrp="1"/>
          </p:cNvSpPr>
          <p:nvPr>
            <p:ph type="sldNum" sz="quarter" idx="4294967295"/>
          </p:nvPr>
        </p:nvSpPr>
        <p:spPr>
          <a:xfrm>
            <a:off x="11274552" y="6437376"/>
            <a:ext cx="36576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Malgun Gothic"/>
                <a:ea typeface="Malgun Gothic"/>
                <a:cs typeface="Malgun Gothic"/>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body" hasCustomPrompt="1"/>
          </p:nvPr>
        </p:nvSpPr>
        <p:spPr>
          <a:xfrm>
            <a:off x="548640" y="329184"/>
            <a:ext cx="7498080" cy="292608"/>
          </a:xfrm>
          <a:prstGeom prst="rect">
            <a:avLst/>
          </a:prstGeom>
          <a:noFill/>
          <a:ln/>
        </p:spPr>
        <p:txBody>
          <a:bodyPr wrap="square" lIns="0" tIns="0" rIns="0" bIns="0" rtlCol="0" anchor="ctr"/>
          <a:lstStyle/>
          <a:p>
            <a:pPr indent="0" marL="0">
              <a:buNone/>
            </a:pPr>
            <a:r>
              <a:rPr lang="en-US" sz="1200" b="1" dirty="0">
                <a:solidFill>
                  <a:srgbClr val="8F5208"/>
                </a:solidFill>
                <a:latin typeface="Malgun Gothic" pitchFamily="34" charset="0"/>
                <a:ea typeface="Malgun Gothic" pitchFamily="34" charset="-122"/>
                <a:cs typeface="Malgun Gothic" pitchFamily="34" charset="-120"/>
              </a:rPr>
              <a:t>부록 C   비교 실험 설계</a:t>
            </a:r>
            <a:endParaRPr lang="en-US" sz="1200" dirty="0"/>
          </a:p>
        </p:txBody>
      </p:sp>
      <p:sp>
        <p:nvSpPr>
          <p:cNvPr id="3" name="Text 0"/>
          <p:cNvSpPr/>
          <p:nvPr>
            <p:ph idx="101"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2400" b="1" dirty="0">
                <a:solidFill>
                  <a:srgbClr val="0E1A2B"/>
                </a:solidFill>
                <a:latin typeface="Malgun Gothic" pitchFamily="34" charset="0"/>
                <a:ea typeface="Malgun Gothic" pitchFamily="34" charset="-122"/>
                <a:cs typeface="Malgun Gothic" pitchFamily="34" charset="-120"/>
              </a:rPr>
              <a:t>주장 대신 실험으로 — 결과 칸은 실행한 뒤에만 채웁니다</a:t>
            </a:r>
            <a:endParaRPr lang="en-US" sz="2400" dirty="0"/>
          </a:p>
        </p:txBody>
      </p:sp>
      <p:sp>
        <p:nvSpPr>
          <p:cNvPr id="4" name="Text 2"/>
          <p:cNvSpPr txBox="1"/>
          <p:nvPr/>
        </p:nvSpPr>
        <p:spPr>
          <a:xfrm>
            <a:off x="10920679" y="329184"/>
            <a:ext cx="722376" cy="292608"/>
          </a:xfrm>
          <a:prstGeom prst="roundRect">
            <a:avLst>
              <a:gd name="adj" fmla="val 46875"/>
            </a:avLst>
          </a:prstGeom>
          <a:solidFill>
            <a:srgbClr val="FBE6E2"/>
          </a:solidFill>
          <a:ln>
            <a:solidFill>
              <a:srgbClr val="FBE6E2"/>
            </a:solidFill>
          </a:ln>
        </p:spPr>
        <p:txBody>
          <a:bodyPr wrap="square" lIns="0" tIns="0" rIns="0" bIns="0" rtlCol="0" anchor="ctr"/>
          <a:lstStyle/>
          <a:p>
            <a:pPr algn="ctr" indent="0" marL="0">
              <a:buNone/>
            </a:pPr>
            <a:r>
              <a:rPr lang="en-US" sz="1100" b="1" dirty="0">
                <a:solidFill>
                  <a:srgbClr val="A8311A"/>
                </a:solidFill>
                <a:latin typeface="Malgun Gothic" pitchFamily="34" charset="0"/>
                <a:ea typeface="Malgun Gothic" pitchFamily="34" charset="-122"/>
                <a:cs typeface="Malgun Gothic" pitchFamily="34" charset="-120"/>
              </a:rPr>
              <a:t>미실행</a:t>
            </a:r>
            <a:endParaRPr lang="en-US" sz="1100" dirty="0"/>
          </a:p>
        </p:txBody>
      </p:sp>
      <p:sp>
        <p:nvSpPr>
          <p:cNvPr id="5" name="Text 3"/>
          <p:cNvSpPr txBox="1"/>
          <p:nvPr/>
        </p:nvSpPr>
        <p:spPr>
          <a:xfrm>
            <a:off x="548640" y="1664208"/>
            <a:ext cx="5486400" cy="548640"/>
          </a:xfrm>
          <a:prstGeom prst="rect">
            <a:avLst/>
          </a:prstGeom>
          <a:noFill/>
          <a:ln/>
        </p:spPr>
        <p:txBody>
          <a:bodyPr wrap="square" lIns="0" tIns="0" rIns="0" bIns="0" rtlCol="0" anchor="t"/>
          <a:lstStyle/>
          <a:p>
            <a:pPr indent="0" marL="0">
              <a:buNone/>
            </a:pPr>
            <a:r>
              <a:rPr lang="en-US" sz="1400" b="1" dirty="0">
                <a:solidFill>
                  <a:srgbClr val="0E1A2B"/>
                </a:solidFill>
                <a:latin typeface="Malgun Gothic" pitchFamily="34" charset="0"/>
                <a:ea typeface="Malgun Gothic" pitchFamily="34" charset="-122"/>
                <a:cs typeface="Malgun Gothic" pitchFamily="34" charset="-120"/>
              </a:rPr>
              <a:t>골든 질문 15~20개 · 정답 기준은 원문 조항</a:t>
            </a:r>
            <a:endParaRPr lang="en-US" sz="1400" dirty="0"/>
          </a:p>
        </p:txBody>
      </p:sp>
      <p:sp>
        <p:nvSpPr>
          <p:cNvPr id="6" name="Text 4"/>
          <p:cNvSpPr txBox="1"/>
          <p:nvPr/>
        </p:nvSpPr>
        <p:spPr>
          <a:xfrm>
            <a:off x="548640" y="2331720"/>
            <a:ext cx="1325880" cy="530352"/>
          </a:xfrm>
          <a:prstGeom prst="roundRect">
            <a:avLst>
              <a:gd name="adj" fmla="val 10345"/>
            </a:avLst>
          </a:prstGeom>
          <a:solidFill>
            <a:srgbClr val="FDF0DC"/>
          </a:solidFill>
          <a:ln>
            <a:solidFill>
              <a:srgbClr val="FDF0DC"/>
            </a:solidFill>
          </a:ln>
        </p:spPr>
        <p:txBody>
          <a:bodyPr wrap="square" lIns="38100" tIns="38100" rIns="38100" bIns="38100" rtlCol="0" anchor="ctr"/>
          <a:lstStyle/>
          <a:p>
            <a:pPr algn="ctr" indent="0" marL="0">
              <a:buNone/>
            </a:pPr>
            <a:r>
              <a:rPr lang="en-US" sz="1200" b="1" dirty="0">
                <a:solidFill>
                  <a:srgbClr val="8F5208"/>
                </a:solidFill>
                <a:latin typeface="Malgun Gothic" pitchFamily="34" charset="0"/>
                <a:ea typeface="Malgun Gothic" pitchFamily="34" charset="-122"/>
                <a:cs typeface="Malgun Gothic" pitchFamily="34" charset="-120"/>
              </a:rPr>
              <a:t>변경 영향</a:t>
            </a:r>
            <a:endParaRPr lang="en-US" sz="1200" dirty="0"/>
          </a:p>
        </p:txBody>
      </p:sp>
      <p:sp>
        <p:nvSpPr>
          <p:cNvPr id="7" name="Text 5"/>
          <p:cNvSpPr txBox="1"/>
          <p:nvPr/>
        </p:nvSpPr>
        <p:spPr>
          <a:xfrm>
            <a:off x="2011680" y="2331720"/>
            <a:ext cx="4023360" cy="530352"/>
          </a:xfrm>
          <a:prstGeom prst="rect">
            <a:avLst/>
          </a:prstGeom>
          <a:noFill/>
          <a:ln/>
        </p:spPr>
        <p:txBody>
          <a:bodyPr wrap="square" lIns="0" tIns="0" rIns="0" bIns="0" rtlCol="0" anchor="ctr"/>
          <a:lstStyle/>
          <a:p>
            <a:pPr indent="0" marL="0">
              <a:buNone/>
            </a:pPr>
            <a:r>
              <a:rPr lang="en-US" sz="1300" dirty="0">
                <a:solidFill>
                  <a:srgbClr val="1A2433"/>
                </a:solidFill>
                <a:latin typeface="Malgun Gothic" pitchFamily="34" charset="0"/>
                <a:ea typeface="Malgun Gothic" pitchFamily="34" charset="-122"/>
                <a:cs typeface="Malgun Gothic" pitchFamily="34" charset="-120"/>
              </a:rPr>
              <a:t>상품권을 실적에 포함하면 영향받는 카드·혜택·조항은?</a:t>
            </a:r>
            <a:endParaRPr lang="en-US" sz="1300" dirty="0"/>
          </a:p>
        </p:txBody>
      </p:sp>
      <p:sp>
        <p:nvSpPr>
          <p:cNvPr id="8" name="Text 6"/>
          <p:cNvSpPr txBox="1"/>
          <p:nvPr/>
        </p:nvSpPr>
        <p:spPr>
          <a:xfrm>
            <a:off x="548640" y="2990088"/>
            <a:ext cx="1325880" cy="530352"/>
          </a:xfrm>
          <a:prstGeom prst="roundRect">
            <a:avLst>
              <a:gd name="adj" fmla="val 10345"/>
            </a:avLst>
          </a:prstGeom>
          <a:solidFill>
            <a:srgbClr val="FDF0DC"/>
          </a:solidFill>
          <a:ln>
            <a:solidFill>
              <a:srgbClr val="FDF0DC"/>
            </a:solidFill>
          </a:ln>
        </p:spPr>
        <p:txBody>
          <a:bodyPr wrap="square" lIns="38100" tIns="38100" rIns="38100" bIns="38100" rtlCol="0" anchor="ctr"/>
          <a:lstStyle/>
          <a:p>
            <a:pPr algn="ctr" indent="0" marL="0">
              <a:buNone/>
            </a:pPr>
            <a:r>
              <a:rPr lang="en-US" sz="1200" b="1" dirty="0">
                <a:solidFill>
                  <a:srgbClr val="8F5208"/>
                </a:solidFill>
                <a:latin typeface="Malgun Gothic" pitchFamily="34" charset="0"/>
                <a:ea typeface="Malgun Gothic" pitchFamily="34" charset="-122"/>
                <a:cs typeface="Malgun Gothic" pitchFamily="34" charset="-120"/>
              </a:rPr>
              <a:t>공유 구조</a:t>
            </a:r>
            <a:endParaRPr lang="en-US" sz="1200" dirty="0"/>
          </a:p>
        </p:txBody>
      </p:sp>
      <p:sp>
        <p:nvSpPr>
          <p:cNvPr id="9" name="Text 7"/>
          <p:cNvSpPr txBox="1"/>
          <p:nvPr/>
        </p:nvSpPr>
        <p:spPr>
          <a:xfrm>
            <a:off x="2011680" y="2990088"/>
            <a:ext cx="4023360" cy="530352"/>
          </a:xfrm>
          <a:prstGeom prst="rect">
            <a:avLst/>
          </a:prstGeom>
          <a:noFill/>
          <a:ln/>
        </p:spPr>
        <p:txBody>
          <a:bodyPr wrap="square" lIns="0" tIns="0" rIns="0" bIns="0" rtlCol="0" anchor="ctr"/>
          <a:lstStyle/>
          <a:p>
            <a:pPr indent="0" marL="0">
              <a:buNone/>
            </a:pPr>
            <a:r>
              <a:rPr lang="en-US" sz="1300" dirty="0">
                <a:solidFill>
                  <a:srgbClr val="1A2433"/>
                </a:solidFill>
                <a:latin typeface="Malgun Gothic" pitchFamily="34" charset="0"/>
                <a:ea typeface="Malgun Gothic" pitchFamily="34" charset="-122"/>
                <a:cs typeface="Malgun Gothic" pitchFamily="34" charset="-120"/>
              </a:rPr>
              <a:t>체크·신용카드의 유사 혜택은 조건이 어떻게 다른가?</a:t>
            </a:r>
            <a:endParaRPr lang="en-US" sz="1300" dirty="0"/>
          </a:p>
        </p:txBody>
      </p:sp>
      <p:sp>
        <p:nvSpPr>
          <p:cNvPr id="10" name="Text 8"/>
          <p:cNvSpPr txBox="1"/>
          <p:nvPr/>
        </p:nvSpPr>
        <p:spPr>
          <a:xfrm>
            <a:off x="548640" y="3648456"/>
            <a:ext cx="1325880" cy="530352"/>
          </a:xfrm>
          <a:prstGeom prst="roundRect">
            <a:avLst>
              <a:gd name="adj" fmla="val 10345"/>
            </a:avLst>
          </a:prstGeom>
          <a:solidFill>
            <a:srgbClr val="FDF0DC"/>
          </a:solidFill>
          <a:ln>
            <a:solidFill>
              <a:srgbClr val="FDF0DC"/>
            </a:solidFill>
          </a:ln>
        </p:spPr>
        <p:txBody>
          <a:bodyPr wrap="square" lIns="38100" tIns="38100" rIns="38100" bIns="38100" rtlCol="0" anchor="ctr"/>
          <a:lstStyle/>
          <a:p>
            <a:pPr algn="ctr" indent="0" marL="0">
              <a:buNone/>
            </a:pPr>
            <a:r>
              <a:rPr lang="en-US" sz="1200" b="1" dirty="0">
                <a:solidFill>
                  <a:srgbClr val="8F5208"/>
                </a:solidFill>
                <a:latin typeface="Malgun Gothic" pitchFamily="34" charset="0"/>
                <a:ea typeface="Malgun Gothic" pitchFamily="34" charset="-122"/>
                <a:cs typeface="Malgun Gothic" pitchFamily="34" charset="-120"/>
              </a:rPr>
              <a:t>적용 범위</a:t>
            </a:r>
            <a:endParaRPr lang="en-US" sz="1200" dirty="0"/>
          </a:p>
        </p:txBody>
      </p:sp>
      <p:sp>
        <p:nvSpPr>
          <p:cNvPr id="11" name="Text 9"/>
          <p:cNvSpPr txBox="1"/>
          <p:nvPr/>
        </p:nvSpPr>
        <p:spPr>
          <a:xfrm>
            <a:off x="2011680" y="3648456"/>
            <a:ext cx="4023360" cy="530352"/>
          </a:xfrm>
          <a:prstGeom prst="rect">
            <a:avLst/>
          </a:prstGeom>
          <a:noFill/>
          <a:ln/>
        </p:spPr>
        <p:txBody>
          <a:bodyPr wrap="square" lIns="0" tIns="0" rIns="0" bIns="0" rtlCol="0" anchor="ctr"/>
          <a:lstStyle/>
          <a:p>
            <a:pPr indent="0" marL="0">
              <a:buNone/>
            </a:pPr>
            <a:r>
              <a:rPr lang="en-US" sz="1300" dirty="0">
                <a:solidFill>
                  <a:srgbClr val="1A2433"/>
                </a:solidFill>
                <a:latin typeface="Malgun Gothic" pitchFamily="34" charset="0"/>
                <a:ea typeface="Malgun Gothic" pitchFamily="34" charset="-122"/>
                <a:cs typeface="Malgun Gothic" pitchFamily="34" charset="-120"/>
              </a:rPr>
              <a:t>같은 항목이 할인·적립 제외로 쓰인 상품은?</a:t>
            </a:r>
            <a:endParaRPr lang="en-US" sz="1300" dirty="0"/>
          </a:p>
        </p:txBody>
      </p:sp>
      <p:sp>
        <p:nvSpPr>
          <p:cNvPr id="12" name="Text 10"/>
          <p:cNvSpPr txBox="1"/>
          <p:nvPr/>
        </p:nvSpPr>
        <p:spPr>
          <a:xfrm>
            <a:off x="548640" y="4306824"/>
            <a:ext cx="1325880" cy="530352"/>
          </a:xfrm>
          <a:prstGeom prst="roundRect">
            <a:avLst>
              <a:gd name="adj" fmla="val 10345"/>
            </a:avLst>
          </a:prstGeom>
          <a:solidFill>
            <a:srgbClr val="FDF0DC"/>
          </a:solidFill>
          <a:ln>
            <a:solidFill>
              <a:srgbClr val="FDF0DC"/>
            </a:solidFill>
          </a:ln>
        </p:spPr>
        <p:txBody>
          <a:bodyPr wrap="square" lIns="38100" tIns="38100" rIns="38100" bIns="38100" rtlCol="0" anchor="ctr"/>
          <a:lstStyle/>
          <a:p>
            <a:pPr algn="ctr" indent="0" marL="0">
              <a:buNone/>
            </a:pPr>
            <a:r>
              <a:rPr lang="en-US" sz="1200" b="1" dirty="0">
                <a:solidFill>
                  <a:srgbClr val="8F5208"/>
                </a:solidFill>
                <a:latin typeface="Malgun Gothic" pitchFamily="34" charset="0"/>
                <a:ea typeface="Malgun Gothic" pitchFamily="34" charset="-122"/>
                <a:cs typeface="Malgun Gothic" pitchFamily="34" charset="-120"/>
              </a:rPr>
              <a:t>3상태 판정</a:t>
            </a:r>
            <a:endParaRPr lang="en-US" sz="1200" dirty="0"/>
          </a:p>
        </p:txBody>
      </p:sp>
      <p:sp>
        <p:nvSpPr>
          <p:cNvPr id="13" name="Text 11"/>
          <p:cNvSpPr txBox="1"/>
          <p:nvPr/>
        </p:nvSpPr>
        <p:spPr>
          <a:xfrm>
            <a:off x="2011680" y="4306824"/>
            <a:ext cx="4023360" cy="530352"/>
          </a:xfrm>
          <a:prstGeom prst="rect">
            <a:avLst/>
          </a:prstGeom>
          <a:noFill/>
          <a:ln/>
        </p:spPr>
        <p:txBody>
          <a:bodyPr wrap="square" lIns="0" tIns="0" rIns="0" bIns="0" rtlCol="0" anchor="ctr"/>
          <a:lstStyle/>
          <a:p>
            <a:pPr indent="0" marL="0">
              <a:buNone/>
            </a:pPr>
            <a:r>
              <a:rPr lang="en-US" sz="1300" dirty="0">
                <a:solidFill>
                  <a:srgbClr val="1A2433"/>
                </a:solidFill>
                <a:latin typeface="Malgun Gothic" pitchFamily="34" charset="0"/>
                <a:ea typeface="Malgun Gothic" pitchFamily="34" charset="-122"/>
                <a:cs typeface="Malgun Gothic" pitchFamily="34" charset="-120"/>
              </a:rPr>
              <a:t>적용 / 미적용 / 판단 불가 사유가 맞는가?</a:t>
            </a:r>
            <a:endParaRPr lang="en-US" sz="1300" dirty="0"/>
          </a:p>
        </p:txBody>
      </p:sp>
      <p:sp>
        <p:nvSpPr>
          <p:cNvPr id="14" name="Text 12"/>
          <p:cNvSpPr txBox="1"/>
          <p:nvPr/>
        </p:nvSpPr>
        <p:spPr>
          <a:xfrm>
            <a:off x="548640" y="5029200"/>
            <a:ext cx="5486400" cy="1097280"/>
          </a:xfrm>
          <a:prstGeom prst="rect">
            <a:avLst/>
          </a:prstGeom>
          <a:noFill/>
          <a:ln/>
        </p:spPr>
        <p:txBody>
          <a:bodyPr wrap="square" lIns="0" tIns="0" rIns="0" bIns="0" rtlCol="0" anchor="t"/>
          <a:lstStyle/>
          <a:p>
            <a:pPr indent="0" marL="0">
              <a:lnSpc>
                <a:spcPct val="115000"/>
              </a:lnSpc>
              <a:buNone/>
            </a:pPr>
            <a:r>
              <a:rPr lang="en-US" sz="1200" dirty="0">
                <a:solidFill>
                  <a:srgbClr val="3A4A60"/>
                </a:solidFill>
                <a:latin typeface="Malgun Gothic" pitchFamily="34" charset="0"/>
                <a:ea typeface="Malgun Gothic" pitchFamily="34" charset="-122"/>
                <a:cs typeface="Malgun Gothic" pitchFamily="34" charset="-120"/>
              </a:rPr>
              <a:t>비교: ① 벡터 RAG ② PostgreSQL + 조건 + LLM ③ GraphRAG</a:t>
            </a:r>
            <a:endParaRPr lang="en-US" sz="1200" dirty="0"/>
          </a:p>
          <a:p>
            <a:pPr indent="0" marL="0">
              <a:lnSpc>
                <a:spcPct val="115000"/>
              </a:lnSpc>
              <a:buNone/>
            </a:pPr>
            <a:r>
              <a:rPr lang="en-US" sz="1200" dirty="0">
                <a:solidFill>
                  <a:srgbClr val="3A4A60"/>
                </a:solidFill>
                <a:latin typeface="Malgun Gothic" pitchFamily="34" charset="0"/>
                <a:ea typeface="Malgun Gothic" pitchFamily="34" charset="-122"/>
                <a:cs typeface="Malgun Gothic" pitchFamily="34" charset="-120"/>
              </a:rPr>
              <a:t>작성자·표본 수·계산법을 기록하고 불리한 항목도 공개합니다.</a:t>
            </a:r>
            <a:endParaRPr lang="en-US" sz="1200" dirty="0"/>
          </a:p>
          <a:p>
            <a:pPr indent="0" marL="0">
              <a:lnSpc>
                <a:spcPct val="115000"/>
              </a:lnSpc>
              <a:buNone/>
            </a:pPr>
            <a:r>
              <a:rPr lang="en-US" sz="1200" dirty="0">
                <a:solidFill>
                  <a:srgbClr val="3A4A60"/>
                </a:solidFill>
                <a:latin typeface="Malgun Gothic" pitchFamily="34" charset="0"/>
                <a:ea typeface="Malgun Gothic" pitchFamily="34" charset="-122"/>
                <a:cs typeface="Malgun Gothic" pitchFamily="34" charset="-120"/>
              </a:rPr>
              <a:t>선택 과제(S1) — 필수 M0~M9 완료 후 수행합니다.</a:t>
            </a:r>
            <a:endParaRPr lang="en-US" sz="12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6355080" y="1691640"/>
          <a:ext cx="5285232" cy="914400"/>
        </p:xfrm>
        <a:graphic>
          <a:graphicData uri="http://schemas.openxmlformats.org/drawingml/2006/table">
            <a:tbl>
              <a:tblPr/>
              <a:tblGrid>
                <a:gridCol w="1993392"/>
                <a:gridCol w="1097280"/>
                <a:gridCol w="1097280"/>
                <a:gridCol w="1097280"/>
              </a:tblGrid>
              <a:tr h="457200">
                <a:tc>
                  <a:txBody>
                    <a:bodyP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지표</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3A4A60"/>
                    </a:solidFill>
                  </a:tcPr>
                </a:tc>
                <a:tc>
                  <a:txBody>
                    <a:bodyP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벡터 RAG</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3A4A60"/>
                    </a:solidFill>
                  </a:tcPr>
                </a:tc>
                <a:tc>
                  <a:txBody>
                    <a:bodyP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SQL + LLM</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3A4A60"/>
                    </a:solidFill>
                  </a:tcPr>
                </a:tc>
                <a:tc>
                  <a:txBody>
                    <a:bodyP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GraphRAG</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0E1A2B"/>
                    </a:solidFill>
                  </a:tcPr>
                </a:tc>
              </a:tr>
              <a:tr h="457200">
                <a:tc>
                  <a:txBody>
                    <a:bodyPr/>
                    <a:lstStyle/>
                    <a:p>
                      <a:pPr indent="0" marL="0">
                        <a:buNone/>
                      </a:pPr>
                      <a:r>
                        <a:rPr lang="en-US" sz="1200" b="1" dirty="0">
                          <a:solidFill>
                            <a:srgbClr val="0E1A2B"/>
                          </a:solidFill>
                          <a:latin typeface="Malgun Gothic" pitchFamily="34" charset="0"/>
                          <a:ea typeface="Malgun Gothic" pitchFamily="34" charset="-122"/>
                          <a:cs typeface="Malgun Gothic" pitchFamily="34" charset="-120"/>
                        </a:rPr>
                        <a:t>조건 누락률</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ctr" indent="0" marL="0">
                        <a:buNone/>
                      </a:pPr>
                      <a:r>
                        <a:rPr lang="en-US" sz="1200" dirty="0">
                          <a:solidFill>
                            <a:srgbClr val="A0AAB8"/>
                          </a:solidFill>
                          <a:latin typeface="Malgun Gothic" pitchFamily="34" charset="0"/>
                          <a:ea typeface="Malgun Gothic" pitchFamily="34" charset="-122"/>
                          <a:cs typeface="Malgun Gothic" pitchFamily="34" charset="-120"/>
                        </a:rPr>
                        <a:t>—</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algn="ctr" indent="0" marL="0">
                        <a:buNone/>
                      </a:pPr>
                      <a:r>
                        <a:rPr lang="en-US" sz="1200" dirty="0">
                          <a:solidFill>
                            <a:srgbClr val="A0AAB8"/>
                          </a:solidFill>
                          <a:latin typeface="Malgun Gothic" pitchFamily="34" charset="0"/>
                          <a:ea typeface="Malgun Gothic" pitchFamily="34" charset="-122"/>
                          <a:cs typeface="Malgun Gothic" pitchFamily="34" charset="-120"/>
                        </a:rPr>
                        <a:t>—</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algn="ctr" indent="0" marL="0">
                        <a:buNone/>
                      </a:pPr>
                      <a:r>
                        <a:rPr lang="en-US" sz="1200" dirty="0">
                          <a:solidFill>
                            <a:srgbClr val="A0AAB8"/>
                          </a:solidFill>
                          <a:latin typeface="Malgun Gothic" pitchFamily="34" charset="0"/>
                          <a:ea typeface="Malgun Gothic" pitchFamily="34" charset="-122"/>
                          <a:cs typeface="Malgun Gothic" pitchFamily="34" charset="-120"/>
                        </a:rPr>
                        <a:t>—</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r>
              <a:tr h="457200">
                <a:tc>
                  <a:txBody>
                    <a:bodyPr/>
                    <a:lstStyle/>
                    <a:p>
                      <a:pPr indent="0" marL="0">
                        <a:buNone/>
                      </a:pPr>
                      <a:r>
                        <a:rPr lang="en-US" sz="1200" b="1" dirty="0">
                          <a:solidFill>
                            <a:srgbClr val="0E1A2B"/>
                          </a:solidFill>
                          <a:latin typeface="Malgun Gothic" pitchFamily="34" charset="0"/>
                          <a:ea typeface="Malgun Gothic" pitchFamily="34" charset="-122"/>
                          <a:cs typeface="Malgun Gothic" pitchFamily="34" charset="-120"/>
                        </a:rPr>
                        <a:t>근거 조항 정확도</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ctr" indent="0" marL="0">
                        <a:buNone/>
                      </a:pPr>
                      <a:r>
                        <a:rPr lang="en-US" sz="1200" dirty="0">
                          <a:solidFill>
                            <a:srgbClr val="A0AAB8"/>
                          </a:solidFill>
                          <a:latin typeface="Malgun Gothic" pitchFamily="34" charset="0"/>
                          <a:ea typeface="Malgun Gothic" pitchFamily="34" charset="-122"/>
                          <a:cs typeface="Malgun Gothic" pitchFamily="34" charset="-120"/>
                        </a:rPr>
                        <a:t>—</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algn="ctr" indent="0" marL="0">
                        <a:buNone/>
                      </a:pPr>
                      <a:r>
                        <a:rPr lang="en-US" sz="1200" dirty="0">
                          <a:solidFill>
                            <a:srgbClr val="A0AAB8"/>
                          </a:solidFill>
                          <a:latin typeface="Malgun Gothic" pitchFamily="34" charset="0"/>
                          <a:ea typeface="Malgun Gothic" pitchFamily="34" charset="-122"/>
                          <a:cs typeface="Malgun Gothic" pitchFamily="34" charset="-120"/>
                        </a:rPr>
                        <a:t>—</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algn="ctr" indent="0" marL="0">
                        <a:buNone/>
                      </a:pPr>
                      <a:r>
                        <a:rPr lang="en-US" sz="1200" dirty="0">
                          <a:solidFill>
                            <a:srgbClr val="A0AAB8"/>
                          </a:solidFill>
                          <a:latin typeface="Malgun Gothic" pitchFamily="34" charset="0"/>
                          <a:ea typeface="Malgun Gothic" pitchFamily="34" charset="-122"/>
                          <a:cs typeface="Malgun Gothic" pitchFamily="34" charset="-120"/>
                        </a:rPr>
                        <a:t>—</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r>
              <a:tr h="457200">
                <a:tc>
                  <a:txBody>
                    <a:bodyPr/>
                    <a:lstStyle/>
                    <a:p>
                      <a:pPr indent="0" marL="0">
                        <a:buNone/>
                      </a:pPr>
                      <a:r>
                        <a:rPr lang="en-US" sz="1200" b="1" dirty="0">
                          <a:solidFill>
                            <a:srgbClr val="0E1A2B"/>
                          </a:solidFill>
                          <a:latin typeface="Malgun Gothic" pitchFamily="34" charset="0"/>
                          <a:ea typeface="Malgun Gothic" pitchFamily="34" charset="-122"/>
                          <a:cs typeface="Malgun Gothic" pitchFamily="34" charset="-120"/>
                        </a:rPr>
                        <a:t>잘못된 단정 비율</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ctr" indent="0" marL="0">
                        <a:buNone/>
                      </a:pPr>
                      <a:r>
                        <a:rPr lang="en-US" sz="1200" dirty="0">
                          <a:solidFill>
                            <a:srgbClr val="A0AAB8"/>
                          </a:solidFill>
                          <a:latin typeface="Malgun Gothic" pitchFamily="34" charset="0"/>
                          <a:ea typeface="Malgun Gothic" pitchFamily="34" charset="-122"/>
                          <a:cs typeface="Malgun Gothic" pitchFamily="34" charset="-120"/>
                        </a:rPr>
                        <a:t>—</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algn="ctr" indent="0" marL="0">
                        <a:buNone/>
                      </a:pPr>
                      <a:r>
                        <a:rPr lang="en-US" sz="1200" dirty="0">
                          <a:solidFill>
                            <a:srgbClr val="A0AAB8"/>
                          </a:solidFill>
                          <a:latin typeface="Malgun Gothic" pitchFamily="34" charset="0"/>
                          <a:ea typeface="Malgun Gothic" pitchFamily="34" charset="-122"/>
                          <a:cs typeface="Malgun Gothic" pitchFamily="34" charset="-120"/>
                        </a:rPr>
                        <a:t>—</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algn="ctr" indent="0" marL="0">
                        <a:buNone/>
                      </a:pPr>
                      <a:r>
                        <a:rPr lang="en-US" sz="1200" dirty="0">
                          <a:solidFill>
                            <a:srgbClr val="A0AAB8"/>
                          </a:solidFill>
                          <a:latin typeface="Malgun Gothic" pitchFamily="34" charset="0"/>
                          <a:ea typeface="Malgun Gothic" pitchFamily="34" charset="-122"/>
                          <a:cs typeface="Malgun Gothic" pitchFamily="34" charset="-120"/>
                        </a:rPr>
                        <a:t>—</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r>
              <a:tr h="457200">
                <a:tc>
                  <a:txBody>
                    <a:bodyPr/>
                    <a:lstStyle/>
                    <a:p>
                      <a:pPr indent="0" marL="0">
                        <a:buNone/>
                      </a:pPr>
                      <a:r>
                        <a:rPr lang="en-US" sz="1200" b="1" dirty="0">
                          <a:solidFill>
                            <a:srgbClr val="0E1A2B"/>
                          </a:solidFill>
                          <a:latin typeface="Malgun Gothic" pitchFamily="34" charset="0"/>
                          <a:ea typeface="Malgun Gothic" pitchFamily="34" charset="-122"/>
                          <a:cs typeface="Malgun Gothic" pitchFamily="34" charset="-120"/>
                        </a:rPr>
                        <a:t>영향 탐색 정밀도</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ctr" indent="0" marL="0">
                        <a:buNone/>
                      </a:pPr>
                      <a:r>
                        <a:rPr lang="en-US" sz="1200" dirty="0">
                          <a:solidFill>
                            <a:srgbClr val="A0AAB8"/>
                          </a:solidFill>
                          <a:latin typeface="Malgun Gothic" pitchFamily="34" charset="0"/>
                          <a:ea typeface="Malgun Gothic" pitchFamily="34" charset="-122"/>
                          <a:cs typeface="Malgun Gothic" pitchFamily="34" charset="-120"/>
                        </a:rPr>
                        <a:t>—</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algn="ctr" indent="0" marL="0">
                        <a:buNone/>
                      </a:pPr>
                      <a:r>
                        <a:rPr lang="en-US" sz="1200" dirty="0">
                          <a:solidFill>
                            <a:srgbClr val="A0AAB8"/>
                          </a:solidFill>
                          <a:latin typeface="Malgun Gothic" pitchFamily="34" charset="0"/>
                          <a:ea typeface="Malgun Gothic" pitchFamily="34" charset="-122"/>
                          <a:cs typeface="Malgun Gothic" pitchFamily="34" charset="-120"/>
                        </a:rPr>
                        <a:t>—</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algn="ctr" indent="0" marL="0">
                        <a:buNone/>
                      </a:pPr>
                      <a:r>
                        <a:rPr lang="en-US" sz="1200" dirty="0">
                          <a:solidFill>
                            <a:srgbClr val="A0AAB8"/>
                          </a:solidFill>
                          <a:latin typeface="Malgun Gothic" pitchFamily="34" charset="0"/>
                          <a:ea typeface="Malgun Gothic" pitchFamily="34" charset="-122"/>
                          <a:cs typeface="Malgun Gothic" pitchFamily="34" charset="-120"/>
                        </a:rPr>
                        <a:t>—</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r>
              <a:tr h="457200">
                <a:tc>
                  <a:txBody>
                    <a:bodyPr/>
                    <a:lstStyle/>
                    <a:p>
                      <a:pPr indent="0" marL="0">
                        <a:buNone/>
                      </a:pPr>
                      <a:r>
                        <a:rPr lang="en-US" sz="1200" b="1" dirty="0">
                          <a:solidFill>
                            <a:srgbClr val="0E1A2B"/>
                          </a:solidFill>
                          <a:latin typeface="Malgun Gothic" pitchFamily="34" charset="0"/>
                          <a:ea typeface="Malgun Gothic" pitchFamily="34" charset="-122"/>
                          <a:cs typeface="Malgun Gothic" pitchFamily="34" charset="-120"/>
                        </a:rPr>
                        <a:t>영향 탐색 재현율</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ctr" indent="0" marL="0">
                        <a:buNone/>
                      </a:pPr>
                      <a:r>
                        <a:rPr lang="en-US" sz="1200" dirty="0">
                          <a:solidFill>
                            <a:srgbClr val="A0AAB8"/>
                          </a:solidFill>
                          <a:latin typeface="Malgun Gothic" pitchFamily="34" charset="0"/>
                          <a:ea typeface="Malgun Gothic" pitchFamily="34" charset="-122"/>
                          <a:cs typeface="Malgun Gothic" pitchFamily="34" charset="-120"/>
                        </a:rPr>
                        <a:t>—</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algn="ctr" indent="0" marL="0">
                        <a:buNone/>
                      </a:pPr>
                      <a:r>
                        <a:rPr lang="en-US" sz="1200" dirty="0">
                          <a:solidFill>
                            <a:srgbClr val="A0AAB8"/>
                          </a:solidFill>
                          <a:latin typeface="Malgun Gothic" pitchFamily="34" charset="0"/>
                          <a:ea typeface="Malgun Gothic" pitchFamily="34" charset="-122"/>
                          <a:cs typeface="Malgun Gothic" pitchFamily="34" charset="-120"/>
                        </a:rPr>
                        <a:t>—</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algn="ctr" indent="0" marL="0">
                        <a:buNone/>
                      </a:pPr>
                      <a:r>
                        <a:rPr lang="en-US" sz="1200" dirty="0">
                          <a:solidFill>
                            <a:srgbClr val="A0AAB8"/>
                          </a:solidFill>
                          <a:latin typeface="Malgun Gothic" pitchFamily="34" charset="0"/>
                          <a:ea typeface="Malgun Gothic" pitchFamily="34" charset="-122"/>
                          <a:cs typeface="Malgun Gothic" pitchFamily="34" charset="-120"/>
                        </a:rPr>
                        <a:t>—</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r>
              <a:tr h="457200">
                <a:tc>
                  <a:txBody>
                    <a:bodyPr/>
                    <a:lstStyle/>
                    <a:p>
                      <a:pPr indent="0" marL="0">
                        <a:buNone/>
                      </a:pPr>
                      <a:r>
                        <a:rPr lang="en-US" sz="1200" b="1" dirty="0">
                          <a:solidFill>
                            <a:srgbClr val="0E1A2B"/>
                          </a:solidFill>
                          <a:latin typeface="Malgun Gothic" pitchFamily="34" charset="0"/>
                          <a:ea typeface="Malgun Gothic" pitchFamily="34" charset="-122"/>
                          <a:cs typeface="Malgun Gothic" pitchFamily="34" charset="-120"/>
                        </a:rPr>
                        <a:t>근거 경로 일치율</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ctr" indent="0" marL="0">
                        <a:buNone/>
                      </a:pPr>
                      <a:r>
                        <a:rPr lang="en-US" sz="1200" dirty="0">
                          <a:solidFill>
                            <a:srgbClr val="A0AAB8"/>
                          </a:solidFill>
                          <a:latin typeface="Malgun Gothic" pitchFamily="34" charset="0"/>
                          <a:ea typeface="Malgun Gothic" pitchFamily="34" charset="-122"/>
                          <a:cs typeface="Malgun Gothic" pitchFamily="34" charset="-120"/>
                        </a:rPr>
                        <a:t>—</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algn="ctr" indent="0" marL="0">
                        <a:buNone/>
                      </a:pPr>
                      <a:r>
                        <a:rPr lang="en-US" sz="1200" dirty="0">
                          <a:solidFill>
                            <a:srgbClr val="A0AAB8"/>
                          </a:solidFill>
                          <a:latin typeface="Malgun Gothic" pitchFamily="34" charset="0"/>
                          <a:ea typeface="Malgun Gothic" pitchFamily="34" charset="-122"/>
                          <a:cs typeface="Malgun Gothic" pitchFamily="34" charset="-120"/>
                        </a:rPr>
                        <a:t>—</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algn="ctr" indent="0" marL="0">
                        <a:buNone/>
                      </a:pPr>
                      <a:r>
                        <a:rPr lang="en-US" sz="1200" dirty="0">
                          <a:solidFill>
                            <a:srgbClr val="A0AAB8"/>
                          </a:solidFill>
                          <a:latin typeface="Malgun Gothic" pitchFamily="34" charset="0"/>
                          <a:ea typeface="Malgun Gothic" pitchFamily="34" charset="-122"/>
                          <a:cs typeface="Malgun Gothic" pitchFamily="34" charset="-120"/>
                        </a:rPr>
                        <a:t>—</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r>
              <a:tr h="457200">
                <a:tc>
                  <a:txBody>
                    <a:bodyPr/>
                    <a:lstStyle/>
                    <a:p>
                      <a:pPr indent="0" marL="0">
                        <a:buNone/>
                      </a:pPr>
                      <a:r>
                        <a:rPr lang="en-US" sz="1200" b="1" dirty="0">
                          <a:solidFill>
                            <a:srgbClr val="0E1A2B"/>
                          </a:solidFill>
                          <a:latin typeface="Malgun Gothic" pitchFamily="34" charset="0"/>
                          <a:ea typeface="Malgun Gothic" pitchFamily="34" charset="-122"/>
                          <a:cs typeface="Malgun Gothic" pitchFamily="34" charset="-120"/>
                        </a:rPr>
                        <a:t>판단 불가 적정성</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algn="ctr" indent="0" marL="0">
                        <a:buNone/>
                      </a:pPr>
                      <a:r>
                        <a:rPr lang="en-US" sz="1200" dirty="0">
                          <a:solidFill>
                            <a:srgbClr val="A0AAB8"/>
                          </a:solidFill>
                          <a:latin typeface="Malgun Gothic" pitchFamily="34" charset="0"/>
                          <a:ea typeface="Malgun Gothic" pitchFamily="34" charset="-122"/>
                          <a:cs typeface="Malgun Gothic" pitchFamily="34" charset="-120"/>
                        </a:rPr>
                        <a:t>—</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algn="ctr" indent="0" marL="0">
                        <a:buNone/>
                      </a:pPr>
                      <a:r>
                        <a:rPr lang="en-US" sz="1200" dirty="0">
                          <a:solidFill>
                            <a:srgbClr val="A0AAB8"/>
                          </a:solidFill>
                          <a:latin typeface="Malgun Gothic" pitchFamily="34" charset="0"/>
                          <a:ea typeface="Malgun Gothic" pitchFamily="34" charset="-122"/>
                          <a:cs typeface="Malgun Gothic" pitchFamily="34" charset="-120"/>
                        </a:rPr>
                        <a:t>—</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algn="ctr" indent="0" marL="0">
                        <a:buNone/>
                      </a:pPr>
                      <a:r>
                        <a:rPr lang="en-US" sz="1200" dirty="0">
                          <a:solidFill>
                            <a:srgbClr val="A0AAB8"/>
                          </a:solidFill>
                          <a:latin typeface="Malgun Gothic" pitchFamily="34" charset="0"/>
                          <a:ea typeface="Malgun Gothic" pitchFamily="34" charset="-122"/>
                          <a:cs typeface="Malgun Gothic" pitchFamily="34" charset="-120"/>
                        </a:rPr>
                        <a:t>—</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r>
            </a:tbl>
          </a:graphicData>
        </a:graphic>
      </p:graphicFrame>
      <p:sp>
        <p:nvSpPr>
          <p:cNvPr id="16" name="Text 13"/>
          <p:cNvSpPr txBox="1"/>
          <p:nvPr/>
        </p:nvSpPr>
        <p:spPr>
          <a:xfrm>
            <a:off x="6355080" y="5440680"/>
            <a:ext cx="5285232" cy="274320"/>
          </a:xfrm>
          <a:prstGeom prst="rect">
            <a:avLst/>
          </a:prstGeom>
          <a:noFill/>
          <a:ln/>
        </p:spPr>
        <p:txBody>
          <a:bodyPr wrap="square" lIns="0" tIns="0" rIns="0" bIns="0" rtlCol="0" anchor="t"/>
          <a:lstStyle/>
          <a:p>
            <a:pPr indent="0" marL="0">
              <a:buNone/>
            </a:pPr>
            <a:r>
              <a:rPr lang="en-US" sz="1100" dirty="0">
                <a:solidFill>
                  <a:srgbClr val="5B6778"/>
                </a:solidFill>
                <a:latin typeface="Malgun Gothic" pitchFamily="34" charset="0"/>
                <a:ea typeface="Malgun Gothic" pitchFamily="34" charset="-122"/>
                <a:cs typeface="Malgun Gothic" pitchFamily="34" charset="-120"/>
              </a:rPr>
              <a:t>— : 미실행. 수치는 실험 후 교체합니다.</a:t>
            </a:r>
            <a:endParaRPr lang="en-US" sz="1100" dirty="0"/>
          </a:p>
        </p:txBody>
      </p:sp>
      <p:sp>
        <p:nvSpPr>
          <p:cNvPr id="17" name="Text 14"/>
          <p:cNvSpPr txBox="1"/>
          <p:nvPr/>
        </p:nvSpPr>
        <p:spPr>
          <a:xfrm>
            <a:off x="548640" y="6400800"/>
            <a:ext cx="10515600" cy="292608"/>
          </a:xfrm>
          <a:prstGeom prst="rect">
            <a:avLst/>
          </a:prstGeom>
          <a:noFill/>
          <a:ln/>
        </p:spPr>
        <p:txBody>
          <a:bodyPr wrap="square" lIns="0" tIns="0" rIns="0" bIns="0" rtlCol="0" anchor="ctr"/>
          <a:lstStyle/>
          <a:p>
            <a:pPr indent="0" marL="0">
              <a:buNone/>
            </a:pPr>
            <a:r>
              <a:rPr lang="en-US" sz="1000" dirty="0">
                <a:solidFill>
                  <a:srgbClr val="6B7686"/>
                </a:solidFill>
                <a:latin typeface="Malgun Gothic" pitchFamily="34" charset="0"/>
                <a:ea typeface="Malgun Gothic" pitchFamily="34" charset="-122"/>
                <a:cs typeface="Malgun Gothic" pitchFamily="34" charset="-120"/>
              </a:rPr>
              <a:t>설계 근거: 카드사_자체AI판단엔진_개발명분_공식근거조사_20261028.md §5 · V2 §3·§4 · 과제_매핑표_10.29.md (M8, S1)</a:t>
            </a:r>
            <a:endParaRPr lang="en-US" sz="1000" dirty="0"/>
          </a:p>
        </p:txBody>
      </p:sp>
      <p:sp>
        <p:nvSpPr>
          <p:cNvPr id="25" name="Slide Number Placeholder 0"/>
          <p:cNvSpPr>
            <a:spLocks noGrp="1"/>
          </p:cNvSpPr>
          <p:nvPr>
            <p:ph type="sldNum" sz="quarter" idx="4294967295"/>
          </p:nvPr>
        </p:nvSpPr>
        <p:spPr>
          <a:xfrm>
            <a:off x="11274552" y="6437376"/>
            <a:ext cx="36576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Malgun Gothic"/>
                <a:ea typeface="Malgun Gothic"/>
                <a:cs typeface="Malgun Gothic"/>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body" hasCustomPrompt="1"/>
          </p:nvPr>
        </p:nvSpPr>
        <p:spPr>
          <a:xfrm>
            <a:off x="548640" y="329184"/>
            <a:ext cx="7498080" cy="292608"/>
          </a:xfrm>
          <a:prstGeom prst="rect">
            <a:avLst/>
          </a:prstGeom>
          <a:noFill/>
          <a:ln/>
        </p:spPr>
        <p:txBody>
          <a:bodyPr wrap="square" lIns="0" tIns="0" rIns="0" bIns="0" rtlCol="0" anchor="ctr"/>
          <a:lstStyle/>
          <a:p>
            <a:pPr indent="0" marL="0">
              <a:buNone/>
            </a:pPr>
            <a:r>
              <a:rPr lang="en-US" sz="1200" b="1" dirty="0">
                <a:solidFill>
                  <a:srgbClr val="8F5208"/>
                </a:solidFill>
                <a:latin typeface="Malgun Gothic" pitchFamily="34" charset="0"/>
                <a:ea typeface="Malgun Gothic" pitchFamily="34" charset="-122"/>
                <a:cs typeface="Malgun Gothic" pitchFamily="34" charset="-120"/>
              </a:rPr>
              <a:t>부록 D   예상 질문</a:t>
            </a:r>
            <a:endParaRPr lang="en-US" sz="1200" dirty="0"/>
          </a:p>
        </p:txBody>
      </p:sp>
      <p:sp>
        <p:nvSpPr>
          <p:cNvPr id="3" name="Text 0"/>
          <p:cNvSpPr/>
          <p:nvPr>
            <p:ph idx="101"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2400" b="1" dirty="0">
                <a:solidFill>
                  <a:srgbClr val="0E1A2B"/>
                </a:solidFill>
                <a:latin typeface="Malgun Gothic" pitchFamily="34" charset="0"/>
                <a:ea typeface="Malgun Gothic" pitchFamily="34" charset="-122"/>
                <a:cs typeface="Malgun Gothic" pitchFamily="34" charset="-120"/>
              </a:rPr>
              <a:t>받을 질문을 먼저 정리했습니다</a:t>
            </a:r>
            <a:endParaRPr lang="en-US" sz="24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11094415" cy="914400"/>
        </p:xfrm>
        <a:graphic>
          <a:graphicData uri="http://schemas.openxmlformats.org/drawingml/2006/table">
            <a:tbl>
              <a:tblPr/>
              <a:tblGrid>
                <a:gridCol w="3840480"/>
                <a:gridCol w="7251192"/>
              </a:tblGrid>
              <a:tr h="384048">
                <a:tc>
                  <a:txBody>
                    <a:bodyPr/>
                    <a:lstStyle/>
                    <a:p>
                      <a:pPr indent="0" marL="0">
                        <a:buNone/>
                      </a:pPr>
                      <a:r>
                        <a:rPr lang="en-US" sz="1200" b="1" dirty="0">
                          <a:solidFill>
                            <a:srgbClr val="FFFFFF"/>
                          </a:solidFill>
                          <a:latin typeface="Malgun Gothic" pitchFamily="34" charset="0"/>
                          <a:ea typeface="Malgun Gothic" pitchFamily="34" charset="-122"/>
                          <a:cs typeface="Malgun Gothic" pitchFamily="34" charset="-120"/>
                        </a:rPr>
                        <a:t>질문</a:t>
                      </a:r>
                      <a:endParaRPr lang="en-US" sz="1200" dirty="0">
                        <a:latin typeface="Malgun Gothic" charset="0"/>
                        <a:ea typeface="Malgun Gothic" charset="0"/>
                        <a:cs typeface="Malgun Gothic" charset="0"/>
                      </a:endParaRPr>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0E1A2B"/>
                    </a:solidFill>
                  </a:tcPr>
                </a:tc>
                <a:tc>
                  <a:txBody>
                    <a:bodyPr/>
                    <a:lstStyle/>
                    <a:p>
                      <a:pPr indent="0" marL="0">
                        <a:buNone/>
                      </a:pPr>
                      <a:r>
                        <a:rPr lang="en-US" sz="1200" b="1" dirty="0">
                          <a:solidFill>
                            <a:srgbClr val="FFFFFF"/>
                          </a:solidFill>
                          <a:latin typeface="Malgun Gothic" pitchFamily="34" charset="0"/>
                          <a:ea typeface="Malgun Gothic" pitchFamily="34" charset="-122"/>
                          <a:cs typeface="Malgun Gothic" pitchFamily="34" charset="-120"/>
                        </a:rPr>
                        <a:t>답변 요지</a:t>
                      </a:r>
                      <a:endParaRPr lang="en-US" sz="1200" dirty="0">
                        <a:latin typeface="Malgun Gothic" charset="0"/>
                        <a:ea typeface="Malgun Gothic" charset="0"/>
                        <a:cs typeface="Malgun Gothic" charset="0"/>
                      </a:endParaRPr>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0E1A2B"/>
                    </a:solidFill>
                  </a:tcPr>
                </a:tc>
              </a:tr>
              <a:tr h="548640">
                <a:tc>
                  <a:txBody>
                    <a:bodyPr/>
                    <a:lstStyle/>
                    <a:p>
                      <a:pPr indent="0" marL="0">
                        <a:buNone/>
                      </a:pPr>
                      <a:r>
                        <a:rPr lang="en-US" sz="1200" b="1" dirty="0">
                          <a:solidFill>
                            <a:srgbClr val="0E1A2B"/>
                          </a:solidFill>
                          <a:latin typeface="Malgun Gothic" pitchFamily="34" charset="0"/>
                          <a:ea typeface="Malgun Gothic" pitchFamily="34" charset="-122"/>
                          <a:cs typeface="Malgun Gothic" pitchFamily="34" charset="-120"/>
                        </a:rPr>
                        <a:t>카드사의 정본은 PDF가 아니라 내부 상품 DB 아닌가요?</a:t>
                      </a:r>
                      <a:endParaRPr lang="en-US" sz="1200" dirty="0">
                        <a:latin typeface="Malgun Gothic" charset="0"/>
                        <a:ea typeface="Malgun Gothic" charset="0"/>
                        <a:cs typeface="Malgun Gothic" charset="0"/>
                      </a:endParaRPr>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PDF는 고객에게 고지된 계약 문구입니다. 내부 DB와 고지 문서의 불일치를 점검하는 보완 용도로 제안합니다 (내부 시스템 구조는 미확인).</a:t>
                      </a:r>
                      <a:endParaRPr lang="en-US" sz="1200" dirty="0">
                        <a:latin typeface="Malgun Gothic" charset="0"/>
                        <a:ea typeface="Malgun Gothic" charset="0"/>
                        <a:cs typeface="Malgun Gothic" charset="0"/>
                      </a:endParaRPr>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548640">
                <a:tc>
                  <a:txBody>
                    <a:bodyPr/>
                    <a:lstStyle/>
                    <a:p>
                      <a:pPr indent="0" marL="0">
                        <a:buNone/>
                      </a:pPr>
                      <a:r>
                        <a:rPr lang="en-US" sz="1200" b="1" dirty="0">
                          <a:solidFill>
                            <a:srgbClr val="0E1A2B"/>
                          </a:solidFill>
                          <a:latin typeface="Malgun Gothic" pitchFamily="34" charset="0"/>
                          <a:ea typeface="Malgun Gothic" pitchFamily="34" charset="-122"/>
                          <a:cs typeface="Malgun Gothic" pitchFamily="34" charset="-120"/>
                        </a:rPr>
                        <a:t>카드를 약 10종으로 늘려도 SQL로 되지 않나요?</a:t>
                      </a:r>
                      <a:endParaRPr lang="en-US" sz="1200" dirty="0">
                        <a:latin typeface="Malgun Gothic" charset="0"/>
                        <a:ea typeface="Malgun Gothic" charset="0"/>
                        <a:cs typeface="Malgun Gothic" charset="0"/>
                      </a:endParaRPr>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됩니다. GraphRAG만 가능한 기능은 아닙니다. 유사 혜택·제외 범위를 SQL과 Cypher로 비교해 모델링과 경로 추적의 차이를 검증하겠습니다.</a:t>
                      </a:r>
                      <a:endParaRPr lang="en-US" sz="1200" dirty="0">
                        <a:latin typeface="Malgun Gothic" charset="0"/>
                        <a:ea typeface="Malgun Gothic" charset="0"/>
                        <a:cs typeface="Malgun Gothic" charset="0"/>
                      </a:endParaRPr>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548640">
                <a:tc>
                  <a:txBody>
                    <a:bodyPr/>
                    <a:lstStyle/>
                    <a:p>
                      <a:pPr indent="0" marL="0">
                        <a:buNone/>
                      </a:pPr>
                      <a:r>
                        <a:rPr lang="en-US" sz="1200" b="1" dirty="0">
                          <a:solidFill>
                            <a:srgbClr val="0E1A2B"/>
                          </a:solidFill>
                          <a:latin typeface="Malgun Gothic" pitchFamily="34" charset="0"/>
                          <a:ea typeface="Malgun Gothic" pitchFamily="34" charset="-122"/>
                          <a:cs typeface="Malgun Gothic" pitchFamily="34" charset="-120"/>
                        </a:rPr>
                        <a:t>신한이 이미 비슷한 걸 만들지 않나요?</a:t>
                      </a:r>
                      <a:endParaRPr lang="en-US" sz="1200" dirty="0">
                        <a:latin typeface="Malgun Gothic" charset="0"/>
                        <a:ea typeface="Malgun Gothic" charset="0"/>
                        <a:cs typeface="Malgun Gothic" charset="0"/>
                      </a:endParaRPr>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차별점이 아니라 업계가 인정한 문제라는 근거로 인용했습니다. 신한 엔진의 방식(GraphRAG 여부)은 공개되지 않았습니다.</a:t>
                      </a:r>
                      <a:endParaRPr lang="en-US" sz="1200" dirty="0">
                        <a:latin typeface="Malgun Gothic" charset="0"/>
                        <a:ea typeface="Malgun Gothic" charset="0"/>
                        <a:cs typeface="Malgun Gothic" charset="0"/>
                      </a:endParaRPr>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457200">
                <a:tc>
                  <a:txBody>
                    <a:bodyPr/>
                    <a:lstStyle/>
                    <a:p>
                      <a:pPr indent="0" marL="0">
                        <a:buNone/>
                      </a:pPr>
                      <a:r>
                        <a:rPr lang="en-US" sz="1200" b="1" dirty="0">
                          <a:solidFill>
                            <a:srgbClr val="0E1A2B"/>
                          </a:solidFill>
                          <a:latin typeface="Malgun Gothic" pitchFamily="34" charset="0"/>
                          <a:ea typeface="Malgun Gothic" pitchFamily="34" charset="-122"/>
                          <a:cs typeface="Malgun Gothic" pitchFamily="34" charset="-120"/>
                        </a:rPr>
                        <a:t>표 추출이 자동인가요?</a:t>
                      </a:r>
                      <a:endParaRPr lang="en-US" sz="1200" dirty="0">
                        <a:latin typeface="Malgun Gothic" charset="0"/>
                        <a:ea typeface="Malgun Gothic" charset="0"/>
                        <a:cs typeface="Malgun Gothic" charset="0"/>
                      </a:endParaRPr>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기본 표 추출은 대부분 실패했습니다. 수작업 보정과 사람 검토가 들어간다는 점을 공개합니다.</a:t>
                      </a:r>
                      <a:endParaRPr lang="en-US" sz="1200" dirty="0">
                        <a:latin typeface="Malgun Gothic" charset="0"/>
                        <a:ea typeface="Malgun Gothic" charset="0"/>
                        <a:cs typeface="Malgun Gothic" charset="0"/>
                      </a:endParaRPr>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457200">
                <a:tc>
                  <a:txBody>
                    <a:bodyPr/>
                    <a:lstStyle/>
                    <a:p>
                      <a:pPr indent="0" marL="0">
                        <a:buNone/>
                      </a:pPr>
                      <a:r>
                        <a:rPr lang="en-US" sz="1200" b="1" dirty="0">
                          <a:solidFill>
                            <a:srgbClr val="0E1A2B"/>
                          </a:solidFill>
                          <a:latin typeface="Malgun Gothic" pitchFamily="34" charset="0"/>
                          <a:ea typeface="Malgun Gothic" pitchFamily="34" charset="-122"/>
                          <a:cs typeface="Malgun Gothic" pitchFamily="34" charset="-120"/>
                        </a:rPr>
                        <a:t>MCP가 있으면 외부 AI의 답을 통제하나요?</a:t>
                      </a:r>
                      <a:endParaRPr lang="en-US" sz="1200" dirty="0">
                        <a:latin typeface="Malgun Gothic" charset="0"/>
                        <a:ea typeface="Malgun Gothic" charset="0"/>
                        <a:cs typeface="Malgun Gothic" charset="0"/>
                      </a:endParaRPr>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아닙니다. 구조화된 조건·근거를 공급할 뿐, 호출 여부·요약·문구 노출은 외부 AI가 결정합니다.</a:t>
                      </a:r>
                      <a:endParaRPr lang="en-US" sz="1200" dirty="0">
                        <a:latin typeface="Malgun Gothic" charset="0"/>
                        <a:ea typeface="Malgun Gothic" charset="0"/>
                        <a:cs typeface="Malgun Gothic" charset="0"/>
                      </a:endParaRPr>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548640">
                <a:tc>
                  <a:txBody>
                    <a:bodyPr/>
                    <a:lstStyle/>
                    <a:p>
                      <a:pPr indent="0" marL="0">
                        <a:buNone/>
                      </a:pPr>
                      <a:r>
                        <a:rPr lang="en-US" sz="1200" b="1" dirty="0">
                          <a:solidFill>
                            <a:srgbClr val="0E1A2B"/>
                          </a:solidFill>
                          <a:latin typeface="Malgun Gothic" pitchFamily="34" charset="0"/>
                          <a:ea typeface="Malgun Gothic" pitchFamily="34" charset="-122"/>
                          <a:cs typeface="Malgun Gothic" pitchFamily="34" charset="-120"/>
                        </a:rPr>
                        <a:t>고객에게 추천하면 규제 문제는요?</a:t>
                      </a:r>
                      <a:endParaRPr lang="en-US" sz="1200" dirty="0">
                        <a:latin typeface="Malgun Gothic" charset="0"/>
                        <a:ea typeface="Malgun Gothic" charset="0"/>
                        <a:cs typeface="Malgun Gothic" charset="0"/>
                      </a:endParaRPr>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이번 범위는 내부 검토 도구입니다. 고객 대면 추천·광고는 금융소비자보호법상 권유·광고 규율 검토가 필요합니다 (준법 확인 필요).</a:t>
                      </a:r>
                      <a:endParaRPr lang="en-US" sz="1200" dirty="0">
                        <a:latin typeface="Malgun Gothic" charset="0"/>
                        <a:ea typeface="Malgun Gothic" charset="0"/>
                        <a:cs typeface="Malgun Gothic" charset="0"/>
                      </a:endParaRPr>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457200">
                <a:tc>
                  <a:txBody>
                    <a:bodyPr/>
                    <a:lstStyle/>
                    <a:p>
                      <a:pPr indent="0" marL="0">
                        <a:buNone/>
                      </a:pPr>
                      <a:r>
                        <a:rPr lang="en-US" sz="1200" b="1" dirty="0">
                          <a:solidFill>
                            <a:srgbClr val="0E1A2B"/>
                          </a:solidFill>
                          <a:latin typeface="Malgun Gothic" pitchFamily="34" charset="0"/>
                          <a:ea typeface="Malgun Gothic" pitchFamily="34" charset="-122"/>
                          <a:cs typeface="Malgun Gothic" pitchFamily="34" charset="-120"/>
                        </a:rPr>
                        <a:t>문서가 최신인가요?</a:t>
                      </a:r>
                      <a:endParaRPr lang="en-US" sz="1200" dirty="0">
                        <a:latin typeface="Malgun Gothic" charset="0"/>
                        <a:ea typeface="Malgun Gothic" charset="0"/>
                        <a:cs typeface="Malgun Gothic" charset="0"/>
                      </a:endParaRPr>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indent="0" marL="0">
                        <a:buNone/>
                      </a:pPr>
                      <a:r>
                        <a:rPr lang="en-US" sz="1200" dirty="0">
                          <a:solidFill>
                            <a:srgbClr val="1A2433"/>
                          </a:solidFill>
                          <a:latin typeface="Malgun Gothic" pitchFamily="34" charset="0"/>
                          <a:ea typeface="Malgun Gothic" pitchFamily="34" charset="-122"/>
                          <a:cs typeface="Malgun Gothic" pitchFamily="34" charset="-120"/>
                        </a:rPr>
                        <a:t>시행일·현재 유효 여부·재배포 조건은 미확인입니다. 문서 버전과 SHA-256 해시를 함께 기록합니다.</a:t>
                      </a:r>
                      <a:endParaRPr lang="en-US" sz="1200" dirty="0">
                        <a:latin typeface="Malgun Gothic" charset="0"/>
                        <a:ea typeface="Malgun Gothic" charset="0"/>
                        <a:cs typeface="Malgun Gothic" charset="0"/>
                      </a:endParaRPr>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bl>
          </a:graphicData>
        </a:graphic>
      </p:graphicFrame>
      <p:sp>
        <p:nvSpPr>
          <p:cNvPr id="5" name="Text 2"/>
          <p:cNvSpPr txBox="1"/>
          <p:nvPr/>
        </p:nvSpPr>
        <p:spPr>
          <a:xfrm>
            <a:off x="548640" y="6400800"/>
            <a:ext cx="10515600" cy="292608"/>
          </a:xfrm>
          <a:prstGeom prst="rect">
            <a:avLst/>
          </a:prstGeom>
          <a:noFill/>
          <a:ln/>
        </p:spPr>
        <p:txBody>
          <a:bodyPr wrap="square" lIns="0" tIns="0" rIns="0" bIns="0" rtlCol="0" anchor="ctr"/>
          <a:lstStyle/>
          <a:p>
            <a:pPr indent="0" marL="0">
              <a:buNone/>
            </a:pPr>
            <a:r>
              <a:rPr lang="en-US" sz="1000" dirty="0">
                <a:solidFill>
                  <a:srgbClr val="6B7686"/>
                </a:solidFill>
                <a:latin typeface="Malgun Gothic" pitchFamily="34" charset="0"/>
                <a:ea typeface="Malgun Gothic" pitchFamily="34" charset="-122"/>
                <a:cs typeface="Malgun Gothic" pitchFamily="34" charset="-120"/>
              </a:rPr>
              <a:t>출처: ppt_story_key_points_v2_draft.md §8 (예상 반론과 답변)</a:t>
            </a:r>
            <a:endParaRPr lang="en-US" sz="1000" dirty="0"/>
          </a:p>
        </p:txBody>
      </p:sp>
      <p:sp>
        <p:nvSpPr>
          <p:cNvPr id="25" name="Slide Number Placeholder 0"/>
          <p:cNvSpPr>
            <a:spLocks noGrp="1"/>
          </p:cNvSpPr>
          <p:nvPr>
            <p:ph type="sldNum" sz="quarter" idx="4294967295"/>
          </p:nvPr>
        </p:nvSpPr>
        <p:spPr>
          <a:xfrm>
            <a:off x="11274552" y="6437376"/>
            <a:ext cx="36576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Malgun Gothic"/>
                <a:ea typeface="Malgun Gothic"/>
                <a:cs typeface="Malgun Gothic"/>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body" hasCustomPrompt="1"/>
          </p:nvPr>
        </p:nvSpPr>
        <p:spPr>
          <a:xfrm>
            <a:off x="548640" y="329184"/>
            <a:ext cx="7498080" cy="292608"/>
          </a:xfrm>
          <a:prstGeom prst="rect">
            <a:avLst/>
          </a:prstGeom>
          <a:noFill/>
          <a:ln/>
        </p:spPr>
        <p:txBody>
          <a:bodyPr wrap="square" lIns="0" tIns="0" rIns="0" bIns="0" rtlCol="0" anchor="ctr"/>
          <a:lstStyle/>
          <a:p>
            <a:pPr indent="0" marL="0">
              <a:buNone/>
            </a:pPr>
            <a:r>
              <a:rPr lang="en-US" sz="1200" b="1" dirty="0">
                <a:solidFill>
                  <a:srgbClr val="8F5208"/>
                </a:solidFill>
                <a:latin typeface="Malgun Gothic" pitchFamily="34" charset="0"/>
                <a:ea typeface="Malgun Gothic" pitchFamily="34" charset="-122"/>
                <a:cs typeface="Malgun Gothic" pitchFamily="34" charset="-120"/>
              </a:rPr>
              <a:t>부록 E   출처와 검증 상태</a:t>
            </a:r>
            <a:endParaRPr lang="en-US" sz="1200" dirty="0"/>
          </a:p>
        </p:txBody>
      </p:sp>
      <p:sp>
        <p:nvSpPr>
          <p:cNvPr id="3" name="Text 0"/>
          <p:cNvSpPr/>
          <p:nvPr>
            <p:ph idx="101"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2400" b="1" dirty="0">
                <a:solidFill>
                  <a:srgbClr val="0E1A2B"/>
                </a:solidFill>
                <a:latin typeface="Malgun Gothic" pitchFamily="34" charset="0"/>
                <a:ea typeface="Malgun Gothic" pitchFamily="34" charset="-122"/>
                <a:cs typeface="Malgun Gothic" pitchFamily="34" charset="-120"/>
              </a:rPr>
              <a:t>무엇을 확인했고, 무엇을 정정했는가</a:t>
            </a:r>
            <a:endParaRPr lang="en-US" sz="24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11094415" cy="914400"/>
        </p:xfrm>
        <a:graphic>
          <a:graphicData uri="http://schemas.openxmlformats.org/drawingml/2006/table">
            <a:tbl>
              <a:tblPr/>
              <a:tblGrid>
                <a:gridCol w="4754880"/>
                <a:gridCol w="4416552"/>
                <a:gridCol w="1920240"/>
              </a:tblGrid>
              <a:tr h="457200">
                <a:tc>
                  <a:txBody>
                    <a:bodyPr/>
                    <a:lstStyle/>
                    <a:p>
                      <a:pPr indent="0" marL="0">
                        <a:buNone/>
                      </a:pPr>
                      <a:r>
                        <a:rPr lang="en-US" sz="1100" b="1" dirty="0">
                          <a:solidFill>
                            <a:srgbClr val="FFFFFF"/>
                          </a:solidFill>
                          <a:latin typeface="Malgun Gothic" pitchFamily="34" charset="0"/>
                          <a:ea typeface="Malgun Gothic" pitchFamily="34" charset="-122"/>
                          <a:cs typeface="Malgun Gothic" pitchFamily="34" charset="-120"/>
                        </a:rPr>
                        <a:t>자료</a:t>
                      </a:r>
                      <a:endParaRPr lang="en-US" sz="11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0E1A2B"/>
                    </a:solidFill>
                  </a:tcPr>
                </a:tc>
                <a:tc>
                  <a:txBody>
                    <a:bodyPr/>
                    <a:lstStyle/>
                    <a:p>
                      <a:pPr indent="0" marL="0">
                        <a:buNone/>
                      </a:pPr>
                      <a:r>
                        <a:rPr lang="en-US" sz="1100" b="1" dirty="0">
                          <a:solidFill>
                            <a:srgbClr val="FFFFFF"/>
                          </a:solidFill>
                          <a:latin typeface="Malgun Gothic" pitchFamily="34" charset="0"/>
                          <a:ea typeface="Malgun Gothic" pitchFamily="34" charset="-122"/>
                          <a:cs typeface="Malgun Gothic" pitchFamily="34" charset="-120"/>
                        </a:rPr>
                        <a:t>사용한 내용</a:t>
                      </a:r>
                      <a:endParaRPr lang="en-US" sz="11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0E1A2B"/>
                    </a:solidFill>
                  </a:tcPr>
                </a:tc>
                <a:tc>
                  <a:txBody>
                    <a:bodyPr/>
                    <a:lstStyle/>
                    <a:p>
                      <a:pPr indent="0" marL="0">
                        <a:buNone/>
                      </a:pPr>
                      <a:r>
                        <a:rPr lang="en-US" sz="1100" b="1" dirty="0">
                          <a:solidFill>
                            <a:srgbClr val="FFFFFF"/>
                          </a:solidFill>
                          <a:latin typeface="Malgun Gothic" pitchFamily="34" charset="0"/>
                          <a:ea typeface="Malgun Gothic" pitchFamily="34" charset="-122"/>
                          <a:cs typeface="Malgun Gothic" pitchFamily="34" charset="-120"/>
                        </a:rPr>
                        <a:t>상태</a:t>
                      </a:r>
                      <a:endParaRPr lang="en-US" sz="11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0E1A2B"/>
                    </a:solidFill>
                  </a:tcPr>
                </a:tc>
              </a:tr>
              <a:tr h="457200">
                <a:tc>
                  <a:txBody>
                    <a:bodyPr/>
                    <a:lstStyle/>
                    <a:p>
                      <a:pPr indent="0" marL="0">
                        <a:buNone/>
                      </a:pPr>
                      <a:r>
                        <a:rPr lang="en-US" sz="1100" dirty="0">
                          <a:solidFill>
                            <a:srgbClr val="1A2433"/>
                          </a:solidFill>
                          <a:latin typeface="Malgun Gothic" pitchFamily="34" charset="0"/>
                          <a:ea typeface="Malgun Gothic" pitchFamily="34" charset="-122"/>
                          <a:cs typeface="Malgun Gothic" pitchFamily="34" charset="-120"/>
                        </a:rPr>
                        <a:t>신한금융그룹 보도자료 (2026-09-09) shinhangroup.com/kr/archive/press/detail/966</a:t>
                      </a:r>
                      <a:endParaRPr lang="en-US" sz="11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100" dirty="0">
                          <a:solidFill>
                            <a:srgbClr val="1A2433"/>
                          </a:solidFill>
                          <a:latin typeface="Malgun Gothic" pitchFamily="34" charset="0"/>
                          <a:ea typeface="Malgun Gothic" pitchFamily="34" charset="-122"/>
                          <a:cs typeface="Malgun Gothic" pitchFamily="34" charset="-120"/>
                        </a:rPr>
                        <a:t>조건 판단 AI 엔진 공동 개발, 기존 AI 문제 4가지</a:t>
                      </a:r>
                      <a:endParaRPr lang="en-US" sz="11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100" b="1" dirty="0">
                          <a:solidFill>
                            <a:srgbClr val="0D6F64"/>
                          </a:solidFill>
                          <a:latin typeface="Malgun Gothic" pitchFamily="34" charset="0"/>
                          <a:ea typeface="Malgun Gothic" pitchFamily="34" charset="-122"/>
                          <a:cs typeface="Malgun Gothic" pitchFamily="34" charset="-120"/>
                        </a:rPr>
                        <a:t>공식 확인 2026-10-30</a:t>
                      </a:r>
                      <a:endParaRPr lang="en-US" sz="11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457200">
                <a:tc>
                  <a:txBody>
                    <a:bodyPr/>
                    <a:lstStyle/>
                    <a:p>
                      <a:pPr indent="0" marL="0">
                        <a:buNone/>
                      </a:pPr>
                      <a:r>
                        <a:rPr lang="en-US" sz="1100" dirty="0">
                          <a:solidFill>
                            <a:srgbClr val="1A2433"/>
                          </a:solidFill>
                          <a:latin typeface="Malgun Gothic" pitchFamily="34" charset="0"/>
                          <a:ea typeface="Malgun Gothic" pitchFamily="34" charset="-122"/>
                          <a:cs typeface="Malgun Gothic" pitchFamily="34" charset="-120"/>
                        </a:rPr>
                        <a:t>신한카드 보도자료 (2026-09-13) press1.newswire.co.kr/newsRead.php?no=1042468</a:t>
                      </a:r>
                      <a:endParaRPr lang="en-US" sz="11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100" dirty="0">
                          <a:solidFill>
                            <a:srgbClr val="1A2433"/>
                          </a:solidFill>
                          <a:latin typeface="Malgun Gothic" pitchFamily="34" charset="0"/>
                          <a:ea typeface="Malgun Gothic" pitchFamily="34" charset="-122"/>
                          <a:cs typeface="Malgun Gothic" pitchFamily="34" charset="-120"/>
                        </a:rPr>
                        <a:t>ChatGPT for Kakao, PlayMCP 기반 카카오 툴즈 연동</a:t>
                      </a:r>
                      <a:endParaRPr lang="en-US" sz="11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100" b="1" dirty="0">
                          <a:solidFill>
                            <a:srgbClr val="0D6F64"/>
                          </a:solidFill>
                          <a:latin typeface="Malgun Gothic" pitchFamily="34" charset="0"/>
                          <a:ea typeface="Malgun Gothic" pitchFamily="34" charset="-122"/>
                          <a:cs typeface="Malgun Gothic" pitchFamily="34" charset="-120"/>
                        </a:rPr>
                        <a:t>공식 확인 2026-10-30</a:t>
                      </a:r>
                      <a:endParaRPr lang="en-US" sz="11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457200">
                <a:tc>
                  <a:txBody>
                    <a:bodyPr/>
                    <a:lstStyle/>
                    <a:p>
                      <a:pPr indent="0" marL="0">
                        <a:buNone/>
                      </a:pPr>
                      <a:r>
                        <a:rPr lang="en-US" sz="1100" dirty="0">
                          <a:solidFill>
                            <a:srgbClr val="1A2433"/>
                          </a:solidFill>
                          <a:latin typeface="Malgun Gothic" pitchFamily="34" charset="0"/>
                          <a:ea typeface="Malgun Gothic" pitchFamily="34" charset="-122"/>
                          <a:cs typeface="Malgun Gothic" pitchFamily="34" charset="-120"/>
                        </a:rPr>
                        <a:t>하나카드 상품설명서 STYLE·PLAY·BT·에너지 더블 (m.hanacard.co.kr/leaflet/…)</a:t>
                      </a:r>
                      <a:endParaRPr lang="en-US" sz="11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100" dirty="0">
                          <a:solidFill>
                            <a:srgbClr val="1A2433"/>
                          </a:solidFill>
                          <a:latin typeface="Malgun Gothic" pitchFamily="34" charset="0"/>
                          <a:ea typeface="Malgun Gothic" pitchFamily="34" charset="-122"/>
                          <a:cs typeface="Malgun Gothic" pitchFamily="34" charset="-120"/>
                        </a:rPr>
                        <a:t>상품권 제외 범위, 혜택별 실적 조건 (SHA-256이 기존 검증 문서와 일치)</a:t>
                      </a:r>
                      <a:endParaRPr lang="en-US" sz="11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100" b="1" dirty="0">
                          <a:solidFill>
                            <a:srgbClr val="0D6F64"/>
                          </a:solidFill>
                          <a:latin typeface="Malgun Gothic" pitchFamily="34" charset="0"/>
                          <a:ea typeface="Malgun Gothic" pitchFamily="34" charset="-122"/>
                          <a:cs typeface="Malgun Gothic" pitchFamily="34" charset="-120"/>
                        </a:rPr>
                        <a:t>원문 확인 2026-10-30</a:t>
                      </a:r>
                      <a:endParaRPr lang="en-US" sz="11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457200">
                <a:tc>
                  <a:txBody>
                    <a:bodyPr/>
                    <a:lstStyle/>
                    <a:p>
                      <a:pPr indent="0" marL="0">
                        <a:buNone/>
                      </a:pPr>
                      <a:r>
                        <a:rPr lang="en-US" sz="1100" dirty="0">
                          <a:solidFill>
                            <a:srgbClr val="1A2433"/>
                          </a:solidFill>
                          <a:latin typeface="Malgun Gothic" pitchFamily="34" charset="0"/>
                          <a:ea typeface="Malgun Gothic" pitchFamily="34" charset="-122"/>
                          <a:cs typeface="Malgun Gothic" pitchFamily="34" charset="-120"/>
                        </a:rPr>
                        <a:t>card_pdf_structuring_validation.md</a:t>
                      </a:r>
                      <a:endParaRPr lang="en-US" sz="11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100" dirty="0">
                          <a:solidFill>
                            <a:srgbClr val="1A2433"/>
                          </a:solidFill>
                          <a:latin typeface="Malgun Gothic" pitchFamily="34" charset="0"/>
                          <a:ea typeface="Malgun Gothic" pitchFamily="34" charset="-122"/>
                          <a:cs typeface="Malgun Gothic" pitchFamily="34" charset="-120"/>
                        </a:rPr>
                        <a:t>표 추출 실패 사례 (STYLE·PLAY 0개, BT 셀 병합)</a:t>
                      </a:r>
                      <a:endParaRPr lang="en-US" sz="11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100" b="1" dirty="0">
                          <a:solidFill>
                            <a:srgbClr val="0D6F64"/>
                          </a:solidFill>
                          <a:latin typeface="Malgun Gothic" pitchFamily="34" charset="0"/>
                          <a:ea typeface="Malgun Gothic" pitchFamily="34" charset="-122"/>
                          <a:cs typeface="Malgun Gothic" pitchFamily="34" charset="-120"/>
                        </a:rPr>
                        <a:t>팀 검증 기록</a:t>
                      </a:r>
                      <a:endParaRPr lang="en-US" sz="11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457200">
                <a:tc>
                  <a:txBody>
                    <a:bodyPr/>
                    <a:lstStyle/>
                    <a:p>
                      <a:pPr indent="0" marL="0">
                        <a:buNone/>
                      </a:pPr>
                      <a:r>
                        <a:rPr lang="en-US" sz="1100" dirty="0">
                          <a:solidFill>
                            <a:srgbClr val="1A2433"/>
                          </a:solidFill>
                          <a:latin typeface="Malgun Gothic" pitchFamily="34" charset="0"/>
                          <a:ea typeface="Malgun Gothic" pitchFamily="34" charset="-122"/>
                          <a:cs typeface="Malgun Gothic" pitchFamily="34" charset="-120"/>
                        </a:rPr>
                        <a:t>card_scope_comparison_claude.md · _gpt_review.md</a:t>
                      </a:r>
                      <a:endParaRPr lang="en-US" sz="11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100" dirty="0">
                          <a:solidFill>
                            <a:srgbClr val="1A2433"/>
                          </a:solidFill>
                          <a:latin typeface="Malgun Gothic" pitchFamily="34" charset="0"/>
                          <a:ea typeface="Malgun Gothic" pitchFamily="34" charset="-122"/>
                          <a:cs typeface="Malgun Gothic" pitchFamily="34" charset="-120"/>
                        </a:rPr>
                        <a:t>공통 문구·scope 차이, PG 재분류 문장 비교</a:t>
                      </a:r>
                      <a:endParaRPr lang="en-US" sz="11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100" b="1" dirty="0">
                          <a:solidFill>
                            <a:srgbClr val="0D6F64"/>
                          </a:solidFill>
                          <a:latin typeface="Malgun Gothic" pitchFamily="34" charset="0"/>
                          <a:ea typeface="Malgun Gothic" pitchFamily="34" charset="-122"/>
                          <a:cs typeface="Malgun Gothic" pitchFamily="34" charset="-120"/>
                        </a:rPr>
                        <a:t>팀 조사 기록</a:t>
                      </a:r>
                      <a:endParaRPr lang="en-US" sz="11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r h="457200">
                <a:tc>
                  <a:txBody>
                    <a:bodyPr/>
                    <a:lstStyle/>
                    <a:p>
                      <a:pPr indent="0" marL="0">
                        <a:buNone/>
                      </a:pPr>
                      <a:r>
                        <a:rPr lang="en-US" sz="1100" dirty="0">
                          <a:solidFill>
                            <a:srgbClr val="1A2433"/>
                          </a:solidFill>
                          <a:latin typeface="Malgun Gothic" pitchFamily="34" charset="0"/>
                          <a:ea typeface="Malgun Gothic" pitchFamily="34" charset="-122"/>
                          <a:cs typeface="Malgun Gothic" pitchFamily="34" charset="-120"/>
                        </a:rPr>
                        <a:t>ppt_story_key_points.md (V1) · _v2_draft.md (V2) · 과제_매핑표_10.29.md</a:t>
                      </a:r>
                      <a:endParaRPr lang="en-US" sz="11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100" dirty="0">
                          <a:solidFill>
                            <a:srgbClr val="1A2433"/>
                          </a:solidFill>
                          <a:latin typeface="Malgun Gothic" pitchFamily="34" charset="0"/>
                          <a:ea typeface="Malgun Gothic" pitchFamily="34" charset="-122"/>
                          <a:cs typeface="Malgun Gothic" pitchFamily="34" charset="-120"/>
                        </a:rPr>
                        <a:t>스토리 방향, 시연 3개, MCP 범위, 컷라인</a:t>
                      </a:r>
                      <a:endParaRPr lang="en-US" sz="11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indent="0" marL="0">
                        <a:buNone/>
                      </a:pPr>
                      <a:r>
                        <a:rPr lang="en-US" sz="1100" b="1" dirty="0">
                          <a:solidFill>
                            <a:srgbClr val="0D6F64"/>
                          </a:solidFill>
                          <a:latin typeface="Malgun Gothic" pitchFamily="34" charset="0"/>
                          <a:ea typeface="Malgun Gothic" pitchFamily="34" charset="-122"/>
                          <a:cs typeface="Malgun Gothic" pitchFamily="34" charset="-120"/>
                        </a:rPr>
                        <a:t>팀 문서</a:t>
                      </a:r>
                      <a:endParaRPr lang="en-US" sz="11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r>
            </a:tbl>
          </a:graphicData>
        </a:graphic>
      </p:graphicFrame>
      <p:sp>
        <p:nvSpPr>
          <p:cNvPr id="5" name="Shape 2"/>
          <p:cNvSpPr/>
          <p:nvPr/>
        </p:nvSpPr>
        <p:spPr>
          <a:xfrm>
            <a:off x="548640" y="5029200"/>
            <a:ext cx="11094415" cy="1188720"/>
          </a:xfrm>
          <a:prstGeom prst="roundRect">
            <a:avLst>
              <a:gd name="adj" fmla="val 7692"/>
            </a:avLst>
          </a:prstGeom>
          <a:solidFill>
            <a:srgbClr val="FDF0DC"/>
          </a:solidFill>
          <a:ln w="12700">
            <a:solidFill>
              <a:srgbClr val="FDF0DC"/>
            </a:solidFill>
            <a:prstDash val="solid"/>
          </a:ln>
        </p:spPr>
      </p:sp>
      <p:sp>
        <p:nvSpPr>
          <p:cNvPr id="6" name="Text 3"/>
          <p:cNvSpPr txBox="1"/>
          <p:nvPr/>
        </p:nvSpPr>
        <p:spPr>
          <a:xfrm>
            <a:off x="731520" y="5102352"/>
            <a:ext cx="10728655" cy="1078992"/>
          </a:xfrm>
          <a:prstGeom prst="rect">
            <a:avLst/>
          </a:prstGeom>
          <a:noFill/>
          <a:ln/>
        </p:spPr>
        <p:txBody>
          <a:bodyPr wrap="square" lIns="0" tIns="0" rIns="0" bIns="0" rtlCol="0" anchor="t"/>
          <a:lstStyle/>
          <a:p>
            <a:pPr indent="0" marL="0">
              <a:spcAft>
                <a:spcPts val="200"/>
              </a:spcAft>
              <a:buNone/>
            </a:pPr>
            <a:r>
              <a:rPr lang="en-US" sz="1400" b="1" dirty="0">
                <a:solidFill>
                  <a:srgbClr val="8F5208"/>
                </a:solidFill>
                <a:latin typeface="Malgun Gothic" pitchFamily="34" charset="0"/>
                <a:ea typeface="Malgun Gothic" pitchFamily="34" charset="-122"/>
                <a:cs typeface="Malgun Gothic" pitchFamily="34" charset="-120"/>
              </a:rPr>
              <a:t>이번 원문 대조로 정정한 사항</a:t>
            </a:r>
            <a:endParaRPr lang="en-US" sz="1200" dirty="0"/>
          </a:p>
          <a:p>
            <a:pPr marL="342900" indent="-342900">
              <a:spcAft>
                <a:spcPts val="200"/>
              </a:spcAft>
              <a:buSzPct val="100000"/>
              <a:buChar char="•"/>
            </a:pPr>
            <a:r>
              <a:rPr lang="en-US" sz="1200" dirty="0">
                <a:solidFill>
                  <a:srgbClr val="1A2433"/>
                </a:solidFill>
                <a:latin typeface="Malgun Gothic" pitchFamily="34" charset="0"/>
                <a:ea typeface="Malgun Gothic" pitchFamily="34" charset="-122"/>
                <a:cs typeface="Malgun Gothic" pitchFamily="34" charset="-120"/>
              </a:rPr>
              <a:t>BT BIG TICKET의 지난달 실적은 원문 표에 ‘없음’입니다. 50만원 조건은 인천공항 라운지에 해당합니다 (card_scope_comparison_claude.md의 ‘BIG TICKET 50만원’ 기재와 다름).</a:t>
            </a:r>
            <a:endParaRPr lang="en-US" sz="1200" dirty="0"/>
          </a:p>
          <a:p>
            <a:pPr marL="342900" indent="-342900">
              <a:spcAft>
                <a:spcPts val="200"/>
              </a:spcAft>
              <a:buSzPct val="100000"/>
              <a:buChar char="•"/>
            </a:pPr>
            <a:r>
              <a:rPr lang="en-US" sz="1200" dirty="0">
                <a:solidFill>
                  <a:srgbClr val="1A2433"/>
                </a:solidFill>
                <a:latin typeface="Malgun Gothic" pitchFamily="34" charset="0"/>
                <a:ea typeface="Malgun Gothic" pitchFamily="34" charset="-122"/>
                <a:cs typeface="Malgun Gothic" pitchFamily="34" charset="-120"/>
              </a:rPr>
              <a:t>에너지 더블은 일상생활 청구할인(40만원)뿐 아니라 에너지 공과금 청구할인(40/80만원)도 지난달 실적 조건이 있어 영향 목록에 포함했습니다 (V2 §4 목록에 추가).</a:t>
            </a:r>
            <a:endParaRPr lang="en-US" sz="1200" dirty="0"/>
          </a:p>
        </p:txBody>
      </p:sp>
      <p:sp>
        <p:nvSpPr>
          <p:cNvPr id="7" name="Text 4"/>
          <p:cNvSpPr txBox="1"/>
          <p:nvPr/>
        </p:nvSpPr>
        <p:spPr>
          <a:xfrm>
            <a:off x="548640" y="6400800"/>
            <a:ext cx="10515600" cy="292608"/>
          </a:xfrm>
          <a:prstGeom prst="rect">
            <a:avLst/>
          </a:prstGeom>
          <a:noFill/>
          <a:ln/>
        </p:spPr>
        <p:txBody>
          <a:bodyPr wrap="square" lIns="0" tIns="0" rIns="0" bIns="0" rtlCol="0" anchor="ctr"/>
          <a:lstStyle/>
          <a:p>
            <a:pPr indent="0" marL="0">
              <a:buNone/>
            </a:pPr>
            <a:r>
              <a:rPr lang="en-US" sz="1000" dirty="0">
                <a:solidFill>
                  <a:srgbClr val="6B7686"/>
                </a:solidFill>
                <a:latin typeface="Malgun Gothic" pitchFamily="34" charset="0"/>
                <a:ea typeface="Malgun Gothic" pitchFamily="34" charset="-122"/>
                <a:cs typeface="Malgun Gothic" pitchFamily="34" charset="-120"/>
              </a:rPr>
              <a:t>원문 PDF는 저장소에 추가하지 않았습니다 (재배포 조건 미확인).</a:t>
            </a:r>
            <a:endParaRPr lang="en-US" sz="1000" dirty="0"/>
          </a:p>
        </p:txBody>
      </p:sp>
      <p:sp>
        <p:nvSpPr>
          <p:cNvPr id="25" name="Slide Number Placeholder 0"/>
          <p:cNvSpPr>
            <a:spLocks noGrp="1"/>
          </p:cNvSpPr>
          <p:nvPr>
            <p:ph type="sldNum" sz="quarter" idx="4294967295"/>
          </p:nvPr>
        </p:nvSpPr>
        <p:spPr>
          <a:xfrm>
            <a:off x="11274552" y="6437376"/>
            <a:ext cx="36576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Malgun Gothic"/>
                <a:ea typeface="Malgun Gothic"/>
                <a:cs typeface="Malgun Gothic"/>
              </a:defRPr>
            </a:lvl1pPr>
          </a:lstStyle>
          <a:p>
            <a:pPr algn="r"/>
            <a:fld id="{F7021451-1387-4CA6-816F-3879F97B5CBC}" type="slidenum">
              <a:rPr b="0" lang="en-US"/>
              <a:t>18</a:t>
            </a:fld>
            <a:endParaRPr lang="en-US"/>
          </a:p>
        </p:txBody>
      </p:sp>
    </p:spTree>
  </p:cSld>
  <p:clrMapOvr>
    <a:masterClrMapping/>
  </p:clrMapOvr>
</p:sld>
</file>

<file path=ppt/theme/theme1.xml><?xml version="1.0" encoding="utf-8"?>
<a:theme xmlns:a="http://schemas.openxmlformats.org/drawingml/2006/main" name="CardEngine">
  <a:themeElements>
    <a:clrScheme name="CardEngine">
      <a:dk1>
        <a:srgbClr val="1A2433"/>
      </a:dk1>
      <a:lt1>
        <a:srgbClr val="FFFFFF"/>
      </a:lt1>
      <a:dk2>
        <a:srgbClr val="0E1A2B"/>
      </a:dk2>
      <a:lt2>
        <a:srgbClr val="F3F5F8"/>
      </a:lt2>
      <a:accent1>
        <a:srgbClr val="E8A33D"/>
      </a:accent1>
      <a:accent2>
        <a:srgbClr val="159A8C"/>
      </a:accent2>
      <a:accent3>
        <a:srgbClr val="D9472B"/>
      </a:accent3>
      <a:accent4>
        <a:srgbClr val="6A4FB0"/>
      </a:accent4>
      <a:accent5>
        <a:srgbClr val="3A4A60"/>
      </a:accent5>
      <a:accent6>
        <a:srgbClr val="1F3350"/>
      </a:accent6>
      <a:hlink>
        <a:srgbClr val="0D6F64"/>
      </a:hlink>
      <a:folHlink>
        <a:srgbClr val="6A4FB0"/>
      </a:folHlink>
    </a:clrScheme>
    <a:fontScheme name="CardEngine">
      <a:majorFont>
        <a:latin typeface="Malgun Gothic"/>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algun Gothic"/>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카드 혜택 공통 판단 엔진 — 하나카드 상품설명서 기반 GraphRAG</dc:title>
  <dc:subject>PptxGenJS Presentation</dc:subject>
  <dc:creator>mle-02-p2-team3</dc:creator>
  <cp:lastModifiedBy>mle-02-p2-team3</cp:lastModifiedBy>
  <cp:revision>1</cp:revision>
  <dcterms:created xsi:type="dcterms:W3CDTF">2026-10-29T22:06:16Z</dcterms:created>
  <dcterms:modified xsi:type="dcterms:W3CDTF">2026-10-29T22:06:16Z</dcterms:modified>
</cp:coreProperties>
</file>