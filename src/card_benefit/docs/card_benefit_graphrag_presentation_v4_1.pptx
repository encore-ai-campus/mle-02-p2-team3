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a994e7db-128f-4021-9143-b9e771e8d119}">
          <p14:sldIdLst>
            <p14:sldId id="256"/>
            <p14:sldId id="257"/>
            <p14:sldId id="258"/>
            <p14:sldId id="259"/>
          </p14:sldIdLst>
        </p14:section>
        <p14:section name="왜 어려운가" id="{0cd03ce5-7993-a569-9a5c-a360c90d1202}">
          <p14:sldIdLst>
            <p14:sldId id="260"/>
            <p14:sldId id="261"/>
            <p14:sldId id="262"/>
          </p14:sldIdLst>
        </p14:section>
        <p14:section name="왜 GraphRAG인가" id="{b1f9b76b-c611-7912-bdf2-3dd2115fe635}">
          <p14:sldIdLst>
            <p14:sldId id="263"/>
          </p14:sldIdLst>
        </p14:section>
        <p14:section name="제안 구조와 시연" id="{b196fced-03e8-ac6a-65d1-b67abc64290d}">
          <p14:sldIdLst>
            <p14:sldId id="264"/>
            <p14:sldId id="265"/>
            <p14:sldId id="266"/>
            <p14:sldId id="267"/>
            <p14:sldId id="268"/>
            <p14:sldId id="269"/>
          </p14:sldIdLst>
        </p14:section>
        <p14:section name="가치와 결론" id="{3608a1f0-1dce-6eeb-aca4-19d263b2f9d4}">
          <p14:sldIdLst>
            <p14:sldId id="270"/>
            <p14:sldId id="271"/>
          </p14:sldIdLst>
        </p14:section>
        <p14:section name="부록" id="{1563de90-ba64-d26c-4dc3-b5dbf63aebad}">
          <p14:sldIdLst>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고객이 AI에게 묻습니다. ONE PICK STYLE 카드로 지난달 상품권 8만원, 버스비 2만원을 썼는데 이번 달 대중교통 캐시백을 받느냐고요. AI는 10만원을 채웠으니 5% 캐시백을 받는다고 답합니다. 그럴듯하지만, 상품설명서 원문에서 상품권 구매는 전월실적 산정에서 제외됩니다. 인정되는 실적은 많아야 2만원이고, 원칙적으로 혜택 대상이 아닙니다. 단, 카드 사용 등록 직후 다음 달 말일까지는 실적과 관계없이 제공하는 예외가 있습니다. 이 대화는 가상입니다. 그런데 이런 답이 실제로 나갔다면, 카드사는 AI가 어떤 조건을 적용했는지, 상품권을 실적으로 봤는지, 어느 조항을 근거로 삼았는지 확인할 수 있을까요? 이 질문은 자사 앱에만 해당하지 않습니다. 고객이 외부 AI에게 물어도 같은 판단 근거가 나가야 하고, 그 연결 방법이 뒤에서 볼 공통 엔진과 MCP입니다. 다만 오늘 발표의 중심은 먼저 판단 근거를 검증할 수 있느냐입니다.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프로젝트의 최초 목적은 하나입니다. AI가 카드 혜택을 판단했다면, 카드사 담당자가 그 판단의 과정과 근거를 확인할 수 있어야 한다는 것입니다. 담당자가 확인해야 할 것을 여섯 가지로 정리했습니다. 어떤 카드와 혜택을 골랐는지, 어떤 실적·할인·제외 조건을 적용했는지, 그 조건이 카드 전체인지 특정 혜택에만 걸리는지, 어느 약관 조항을 근거로 했는지. 이 네 가지가 판단 근거 검증, 저희의 핵심입니다. 여기서 두 가지가 자연스럽게 따라 나옵니다. 틀렸다면 어느 단계에서 틀렸는지, 그리고 조건이 바뀌면 무엇을 다시 봐야 하는지입니다. 마지막으로 이렇게 검증된 판단을 여러 AI 채널이 재사용하는 것이 세 번째 확장입니다. 원문을 찾아 보여주는 것만으로는 부족합니다. 혜택별 조건과 판단 결과가 연결돼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업계도 같은 문제를 말하고 있습니다. 신한카드는 2026년 9월 9일 복잡한 금융상품 조건을 판단하는 AI 엔진 공동 개발을 발표했고, 나흘 뒤에는 ChatGPT for Kakao에 카드 추천과 혜택 조회를 연결했습니다. 신한이 직접 꼽은 기존 생성형 AI의 문제는 환각, 답변 비일관성, 복합 조건 누락, 정책·규정 미반영입니다. 외부 AI 채널은 넓어지는데, 그 답이 어떤 조건과 근거로 나왔는지 확인하는 일은 여전히 카드사의 몫입니다. 이 사례는 저희 기술이 검증됐다는 근거가 아니라 문제가 실재한다는 근거로 인용합니다. 두 시스템이 내부적으로 연결됐는지, GraphRAG를 쓰는지는 공개되지 않았습니다. 한 가지 기억해 두실 점은, 신한이 외부 AI에 카드사 기능을 연결한 방식이 MCP라는 것입니다. 저희 구조에서 MCP가 어떤 역할을 하는지는 14쪽에서 이어서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하나의 카드 상품 조건이 상품·준법 검토, 상담원, 자사 앱 AI, 외부 AI로 흘러갑니다. 채널마다 사본과 해석을 따로 가지면 네 가지 문제가 생깁니다. 조건이 빠지거나 출처가 없는 답, 틀린 답이 어느 단계에서 생겼는지 모르는 문제, 바뀐 조건이 일부 채널에만 반영되는 문제, 채널마다 판단 로직을 다시 만드는 비용입니다. 그래서 필요한 것을 근거 검증, 오류 추적, 변경 영향, 재사용으로 정리했습니다. 첫 번째가 핵심이고 나머지 셋은 그 위에서 확장됩니다. 이 네 단어가 이후 발표의 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왜 틀리기 쉬운지 실제 약관으로 보겠습니다. 원문 대조를 마친 하나카드 4종, 체크카드 STYLE·PLAY와 신용카드 BT·에너지 더블에는 모두 상품권 제외 문구가 있습니다. 그런데 같은 상품권이 전월실적 산정 제외로도, 할인 제외로도 쓰입니다. 1장의 오답은 바로 이 둘 중 하나만 연결했을 때 나옵니다. 또 실적 조건은 카드 전체가 아니라 혜택마다 걸립니다. BT의 BIG TICKET은 원문 표에 지난달 실적이 ‘없음’이고, 인천공항 라운지만 50만원입니다. 카드 단위로 조건을 묶으면 조건을 잘못 넓히게 됩니다. 이것이 담당자가 확인해야 할 세 번째 질문, 적용 범위입니다.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어려움은 원문 자체입니다. PDF에서 글자와 숫자는 거의 다 나옵니다. 그런데 BT의 BIG TICKET 표는 할인율 4개가 한 셀로 뭉치고 구간 열이 사라집니다. STYLE과 PLAY는 기본 표 탐지가 0개였습니다. ONE PICK, STYLE, PLAY에 모두 월 5천원이 있어 숫자만으로는 어느 혜택의 한도인지 알 수 없습니다. 그리고 PG·간편결제 재분류 문장은 카드사마다 거의 같지만 결론은 정반대입니다. 그래서 원문 위치 보존, 근거 문장 필수, 정책 단위 정규화, 원문 대조 검증이 필요합니다. 이 단계들이 뒤에서 볼 오류 추적의 단계이기도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 범위를 분명히 하겠습니다. 지금까지 상품설명서 원문을 직접 대조한 카드는 4종입니다. 체크카드 ONE PICK STYLE과 PLAY, 신용카드 BT와 에너지 더블입니다. 목표는 체크·신용 약 10종입니다. 나머지 약 6종은 무작위로 고르지 않고, 혜택은 비슷하지만 조건이 다른 카드를 고를 계획입니다. 같은 질문에 서로 다른 판단이 나와야 하는 조합이어야 판단 근거 검증이 의미가 있기 때문입니다. 비교 축은 여기 여덟 가지입니다. 아직 선정 전이라 추가 카드 이름은 쓰지 않았습니다. 오늘 발표의 수치와 시연은 모두 4종 원문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심사위원께서 가장 먼저 물으실 질문을 먼저 꺼내겠습니다. SQL이나 일반 RAG로도 되지 않나요? 됩니다. 단순 혜택 검색은 세 방식 모두 가능하고 차이가 작습니다. 비용은 GraphRAG가 가장 높습니다. 차이가 예상되는 곳은 저희 목적과 맞닿은 부분입니다. 판단에 쓰인 카드, 혜택, 조건, 조항의 경로를 결과 자체로 남길 수 있는지, 조건이 바뀌었을 때 영향을 경로로 따라갈 수 있는지, 그리고 틀렸을 때 어느 관계가 잘못 붙었는지 근거 속성으로 특정할 수 있는지입니다. 표의 기호는 실험 결과가 아니라 예상입니다. 정확도나 성능이 더 낫다고 주장하지 않고, 같은 질문으로 세 방식을 비교해 확인하겠습니다.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제안하는 구조입니다. 왼쪽에서 하나카드 상품설명서를 원문 위치를 보존해 나누고, LLM이 근거 문장과 함께 관계를 추출하고, 정책 단위로 정규화한 뒤 원문과 대조해 검증합니다. 그 결과가 Neo4j의 카드-혜택-조건-조항 그래프이고, 판단은 엔진의 Cypher 쿼리가 합니다. V4에서 추가한 것은 엔진 안의 판단 실행 기록입니다. 어떤 질의로 어떤 경로를 따라 어떤 판정을 냈는지, 어떤 데이터 버전이었는지를 남깁니다. 오른쪽의 내부 API와 MCP 서버는 연결 계층일 뿐, 판단 로직을 갖지 않습니다. 그래서 채널이 달라도 같은 근거가 나가고, 카드사 쪽에는 무엇을 공급했는지 기록이 남습니다. 다만 외부 AI가 도구를 호출할지, 어떻게 요약할지는 카드사가 보장할 수 없습니다. 이 구조는 설계안입니다.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중요한 구분을 하나 하겠습니다. 원문 근거와 AI의 판단 과정은 다릅니다. 왼쪽 A는 PDF 안에 있는 것입니다. 문서 ID, 페이지, 조항, 원문 문장, 그리고 거기서 뽑은 조건과 적용 범위입니다. 오른쪽 B는 PDF에 없습니다. 고객 질문 하나가 들어올 때마다 실행하면서 남겨야 하는 기록입니다. 질문을 어떻게 해석했는지, 어떤 카드와 조건을 찾았는지, 어떤 그래프 관계를 썼는지, 어떤 제외 규칙을 적용해 어떤 판정을 냈는지, 그리고 최종 답변이 그 근거와 일치하는지입니다. 둘을 evidence id와 trace id로 연결해야, 틀린 답이 나왔을 때 어디서 틀렸는지 찾을 수 있습니다. 한 가지 분명히 할 것은, 그래프 경로를 보여주는 것이 LLM의 내부 사고 과정을 설명하는 것은 아니라는 점입니다. 저희가 검증하는 것은 기록할 수 있는 경로와 규칙, 근거입니다. 쿼리 로그 포매터는 구현돼 있고, trace 저장 구조는 설계 단계입니다. 그리고 외부 AI를 거친 질문이라면, 고객의 질문 원문과 최종 답변은 플랫폼이 기록을 넘겨줄 때만 남길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핵심 시연입니다. 질문은 ONE PICK STYLE로 대중교통 혜택을 받으려면 전월실적이 얼마나 필요한가입니다. 엔진은 질문을 해석하고, 조건을 조회하고, 관계 경로를 따라 원문 근거까지 간 뒤 판단 결과를 냅니다. 그래프를 보시면 STYLE 카드에서 ONE MORE 대중교통 혜택, 버스·지하철 5% 캐시백 월 최대 1천원으로 가고, 이 혜택이 요구하는 조건이 지난달 국내외 일시불 10만원입니다. 이 조건은 상품권, 공과금 등을 실적에서 제외합니다. 혜택 자체에서는 시외버스, 고속버스, 철도가 제외됩니다. 그리고 최초 사용 등록일부터 다음 달 말일까지는 실적과 관계없이 제공하는 예외가 있습니다. ONE PICK·STYLE 영역은 실적 조건이 없어서 이 경로 밖에 있습니다. 이 모든 노드는 STYLE 상품설명서 1쪽의 다섯 군데 조항을 가리킵니다. 오른쪽 결과 카드는 조건, 범위, 제외, 예외를 함께 보여주고, 지난달 실적이나 등록일 정보 없이 이번 달 받느냐고 물으면 추측하지 않고 필요한 정보를 요청합니다. 판정 값은 원문으로 확인했고, 화면은 구현 후 시연할 예상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핵심 시연은 오답 원인 추적입니다. 먼저 분명히 하면, 이것은 가상 오류 시나리오이고 실제 실행 로그를 재현한 것이 아닙니다. 1장의 질문을 다시 가져왔습니다. AI는 10만원을 채웠다고 답했는데, 원인은 상품권을 혜택 제외에만 연결하고 실적 제외에는 연결하지 않은 데 있습니다. 실제 약관에서 상품권은 둘 다에 해당합니다. 판단 실행 기록과 단계별 산출물을 원문과 대조하면 다섯 단계 중 어디서 틀렸는지 찾을 수 있습니다. PDF 추출 단계에는 원문 문장이 있었고, 조건과 적용 범위를 추출하는 두 번째 단계에서 scope가 빠졌습니다. 이 오류가 정규화와 검색으로 그대로 전파된 것입니다. 다섯 번째처럼 근거는 맞게 찾았는데 LLM이 답변에서 무시하는 다른 유형도 있습니다. 원인을 찾으면 관계를 보정하고, 다시 적재하고, 같은 질문으로 재검증합니다. 이번에는 미적용, 단 등록일 예외는 확인이 필요하다는 판정이 나와야 합니다. 목표는 전부 맞히는 것이 아니라 틀린 지점을 찾을 수 있는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핵심 시연은 조건 변경 영향입니다. 상품권 구매를 전월실적에 포함하도록 조항이 바뀐다고 가정합니다. 단순히 ‘상품권’을 검색하면 4종의 모든 상품권 문구가 다 나옵니다. 그래프는 카드에서 혜택, 혜택이 요구하는 실적 조건, 그 조건이 제외하는 항목까지 경로를 따라갑니다. 그래서 실적 조건에 연결된 7개 혜택만 검토 후보로 나오고, BIG TICKET 할인 제외처럼 같은 단어지만 범위가 다른 조항은 따로 표시됩니다. 시연 ①에서 판단 근거로 쓰던 바로 그 관계가 변경 영향 분석에도 그대로 쓰입니다. 이 목록은 4종 원문을 손으로 검토해 도출한 기대 결과이고, 같은 결과를 Cypher와 MCP로 재현하는 것이 시연 목표입니다. 그리고 이것은 자동 정책 변경이나 법적 효력 판단이 아니라 사람이 확인할 검토 후보입니다.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1장에서 고객이 외부 AI에게 물어도 같은 근거가 나가야 한다고 말씀드렸고, 3장에서 신한카드가 MCP로 외부 AI에 연결한 사례를 봤습니다. 저희 구조에서 MCP는 판단을 하지 않습니다. 이미 검증한 조회 함수를 다른 AI 클라이언트가 호출할 수 있게 연결할 뿐입니다. 반환값에는 근거 조항과 trace id를 함께 담도록 설계했습니다. 그러면 카드사는 어떤 요청에 어떤 조건과 근거를 공급했는지는 항상 기록할 수 있습니다. 하지만 외부 AI가 그것을 받아 고객에게 최종적으로 뭐라고 답했는지는 다릅니다. 플랫폼이 응답 기록을 제공할 때만 근거와 대조할 수 있고, 그렇지 않으면 저희가 검증할 수 있는 범위는 공급한 내용까지입니다. 시연은 같은 질문을 Neo4j Browser의 Cypher와 로컬 MCP 클라이언트로 각각 실행해 구조화된 결과와 근거가 같은지 확인하는 것입니다. 외부 AI가 그 결과를 어떻게 요약하는지는 따로 평가해야 하고, 카카오 같은 외부 플랫폼 연동은 범위 밖입니다. 일정이 밀리면 도구는 get_card_benefits 하나만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카드사 입장에서 이 기반이 왜 필요한지, 담당자가 실제로 겪는 상황으로 말씀드리겠습니다. 첫째, 고객이 AI가 된다고 했다며 문의할 때입니다. 판단 실행 기록과 근거 경로가 있으면 AI가 어떤 조건을 적용했고 어디서 틀렸는지 확인할 수 있습니다. 외부 AI를 통한 문의라면, 플랫폼에서 응답 기록을 받을 수 있는 경우에 한해 최종 답변까지 대조할 수 있습니다. 둘째, 약관이나 상품 조건이 바뀔 때 다시 볼 카드와 혜택, 판단 결과를 검토 후보로 받을 수 있습니다. 셋째, 새 AI 채널을 붙일 때 판단 로직을 다시 만들지 않고 같은 엔진을 호출합니다. 넷째, 고객에게 고지된 원문과 AI 안내가 일치하는지 점검할 수 있습니다. 오른쪽의 마케팅·피드백 계층은 보조적인 확장 제안입니다. 다만 원칙이 있습니다. 광고 데이터는 판단에 들어가지 않고, 마케팅 출력은 GraphRAG의 차별성이 아닙니다. 이 효과들은 아직 측정하지 않은 팀 가설입니다.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질문으로 돌아가겠습니다. AI가 고객에게 카드 혜택을 잘못 안내했다면, 카드사는 그 이유를 설명할 수 있을까요. 저희의 답은 이것입니다. AI가 카드 혜택을 판단했다면, 카드사는 그 판단에 사용된 조건과 공식 약관 근거를 확인할 수 있어야 합니다. 그것이 핵심인 근거 검증이고, 여기서 오류 추적, 변경 영향, 재사용이 차례로 확장됩니다. 판단 근거를 검증하고, 오류 원인을 추적하며, 변경 영향을 확인할 수 있는 공통 GraphRAG 엔진을 여러 AI 채널에서 재사용하는 것. 현재는 하나카드 4종의 원문 대조와 설계까지이고, 체크·신용 약 10종과 엔진·MCP 구현이 다음 단계입니다.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M0부터 M9까지가 발표의 어느 장면을 만드는지와 현재 상태입니다. 구현 완료는 PostgreSQL 카드 등록·조회 CLI와 쿼리 로그 포매터이고, 판단 실행 기록의 저장 구조와 그래프 엔진, MCP는 아직 미구현입니다.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 설계안입니다. 카드, 혜택, 조건, 제외 항목, 조항을 노드로 두고, 모든 관계에 문서 ID, 청크 ID, 원문 문장을 속성으로 붙입니다. 판단 실행 기록은 JudgmentRun 노드로 두고, 판단에 쓰인 경로상의 혜택·조건·조항을 USED 관계로 연결하는 안입니다. 아직 구현 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6장의 비교는 예상이므로 실험으로 확인합니다. 골든 질문 15~20개를 원문 조항 기준으로 만들고 세 방식에 같은 질문을 던집니다. V4에서는 시연 ①의 근거 경로 질문과, 오답이 났을 때 원인 단계를 맞게 짚었는지 보는 오류 원인 단계 식별률을 지표에 추가했습니다. 결과 칸은 실험 후에만 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②의 오류 추적을 뒷받침하는 검증 기준입니다. 원문 청크, 트리플, 정규화 개체, 그래프 사이를 원문과 대조하고 오류를 6가지로 분류합니다. 오른쪽은 원문 조사에서 이미 확인한 함정이며, 실제 LLM 오답은 추출 후 교체합니다.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자사 AI와 외부 AI는 같은 엔진을 쓰면 같은 근거를 받습니다. 차이는 통제권입니다. 특히 최종 답변이 근거와 일치하는지 사후 점검할 수 있는 곳은 카드사가 통제하는 채널이고, 외부 AI에는 근거와 trace id를 함께 공급해 추적 단서를 남기는 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질문입니다. V4에서 추가한 두 질문이 가장 중요합니다. 저희는 LLM 내부 사고 과정을 설명한다고 주장하지 않고, 기록 가능한 경로·규칙·근거와 최종 답변의 일치를 검증합니다. 그리고 원문 검색만으로는 조건이 어느 혜택에 어떤 범위로 적용됐는지가 남지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출처와 검증 상태입니다. 이번 V4에서 V3 표지의 대중교통 5% 할인을 원문대로 5% 캐시백, 월 1천원 한도로 정정했습니다. STYLE 문서는 2026년 4월 29일 판을 기준으로 했고, 일부 조사 문서가 인용한 다른 판과의 차이는 대조하지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rtlCol="0"/>
          <a:lstStyle>
            <a:lvl1pPr indent="0" marL="0">
              <a:buNone/>
              <a:defRPr lang="en-US" sz="1200" b="1" dirty="0">
                <a:solidFill>
                  <a:srgbClr val="8F5208"/>
                </a:solidFill>
                <a:latin typeface="Malgun Gothic" pitchFamily="34" charset="0"/>
                <a:ea typeface="Malgun Gothic" pitchFamily="34" charset="-122"/>
                <a:cs typeface="Malgun Gothic"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rtlCol="0"/>
          <a:lstStyle>
            <a:lvl1pPr algn="l" indent="0" marL="0">
              <a:buNone/>
              <a:defRPr lang="en-US" sz="2400" b="1" dirty="0">
                <a:solidFill>
                  <a:srgbClr val="0E1A2B"/>
                </a:solidFill>
                <a:latin typeface="Malgun Gothic" pitchFamily="34" charset="0"/>
                <a:ea typeface="Malgun Gothic" pitchFamily="34" charset="-122"/>
                <a:cs typeface="Malgun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02920"/>
            <a:ext cx="8229600" cy="320040"/>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하나카드 상품설명서 기반 GraphRAG  ·  AI 판단 근거 검증 엔진</a:t>
            </a:r>
            <a:endParaRPr lang="en-US" sz="1300" dirty="0"/>
          </a:p>
        </p:txBody>
      </p:sp>
      <p:sp>
        <p:nvSpPr>
          <p:cNvPr id="3" name="Text 1"/>
          <p:cNvSpPr txBox="1"/>
          <p:nvPr/>
        </p:nvSpPr>
        <p:spPr>
          <a:xfrm>
            <a:off x="640080" y="1234440"/>
            <a:ext cx="6766560" cy="137160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Malgun Gothic" pitchFamily="34" charset="0"/>
                <a:ea typeface="Malgun Gothic" pitchFamily="34" charset="-122"/>
                <a:cs typeface="Malgun Gothic" pitchFamily="34" charset="-120"/>
              </a:rPr>
              <a:t>AI가 고객에게 카드 혜택을</a:t>
            </a:r>
            <a:endParaRPr lang="en-US" sz="3400" dirty="0"/>
          </a:p>
          <a:p>
            <a:pPr indent="0" marL="0">
              <a:lnSpc>
                <a:spcPct val="105000"/>
              </a:lnSpc>
              <a:buNone/>
            </a:pPr>
            <a:r>
              <a:rPr lang="en-US" sz="3400" b="1" dirty="0">
                <a:solidFill>
                  <a:srgbClr val="FFFFFF"/>
                </a:solidFill>
                <a:latin typeface="Malgun Gothic" pitchFamily="34" charset="0"/>
                <a:ea typeface="Malgun Gothic" pitchFamily="34" charset="-122"/>
                <a:cs typeface="Malgun Gothic" pitchFamily="34" charset="-120"/>
              </a:rPr>
              <a:t>잘못 안내했다면,</a:t>
            </a:r>
            <a:endParaRPr lang="en-US" sz="3400" dirty="0"/>
          </a:p>
        </p:txBody>
      </p:sp>
      <p:sp>
        <p:nvSpPr>
          <p:cNvPr id="4" name="Text 2"/>
          <p:cNvSpPr txBox="1"/>
          <p:nvPr/>
        </p:nvSpPr>
        <p:spPr>
          <a:xfrm>
            <a:off x="640080" y="2697480"/>
            <a:ext cx="6766560" cy="1280160"/>
          </a:xfrm>
          <a:prstGeom prst="rect">
            <a:avLst/>
          </a:prstGeom>
          <a:noFill/>
          <a:ln/>
        </p:spPr>
        <p:txBody>
          <a:bodyPr wrap="square" lIns="0" tIns="0" rIns="0" bIns="0" rtlCol="0" anchor="t"/>
          <a:lstStyle/>
          <a:p>
            <a:pPr indent="0" marL="0">
              <a:lnSpc>
                <a:spcPct val="105000"/>
              </a:lnSpc>
              <a:buNone/>
            </a:pPr>
            <a:r>
              <a:rPr lang="en-US" sz="3000" b="1" dirty="0">
                <a:solidFill>
                  <a:srgbClr val="E8A33D"/>
                </a:solidFill>
                <a:latin typeface="Malgun Gothic" pitchFamily="34" charset="0"/>
                <a:ea typeface="Malgun Gothic" pitchFamily="34" charset="-122"/>
                <a:cs typeface="Malgun Gothic" pitchFamily="34" charset="-120"/>
              </a:rPr>
              <a:t>카드사는 그 이유를</a:t>
            </a:r>
            <a:endParaRPr lang="en-US" sz="3000" dirty="0"/>
          </a:p>
          <a:p>
            <a:pPr indent="0" marL="0">
              <a:lnSpc>
                <a:spcPct val="105000"/>
              </a:lnSpc>
              <a:buNone/>
            </a:pPr>
            <a:r>
              <a:rPr lang="en-US" sz="3000" b="1" dirty="0">
                <a:solidFill>
                  <a:srgbClr val="E8A33D"/>
                </a:solidFill>
                <a:latin typeface="Malgun Gothic" pitchFamily="34" charset="0"/>
                <a:ea typeface="Malgun Gothic" pitchFamily="34" charset="-122"/>
                <a:cs typeface="Malgun Gothic" pitchFamily="34" charset="-120"/>
              </a:rPr>
              <a:t>설명할 수 있을까요?</a:t>
            </a:r>
            <a:endParaRPr lang="en-US" sz="3000" dirty="0"/>
          </a:p>
        </p:txBody>
      </p:sp>
      <p:sp>
        <p:nvSpPr>
          <p:cNvPr id="5" name="Text 3"/>
          <p:cNvSpPr txBox="1"/>
          <p:nvPr/>
        </p:nvSpPr>
        <p:spPr>
          <a:xfrm>
            <a:off x="640080" y="4251960"/>
            <a:ext cx="6675120" cy="822960"/>
          </a:xfrm>
          <a:prstGeom prst="rect">
            <a:avLst/>
          </a:prstGeom>
          <a:noFill/>
          <a:ln/>
        </p:spPr>
        <p:txBody>
          <a:bodyPr wrap="square" lIns="0" tIns="0" rIns="0" bIns="0" rtlCol="0" anchor="t"/>
          <a:lstStyle/>
          <a:p>
            <a:pPr indent="0" marL="0">
              <a:lnSpc>
                <a:spcPct val="115000"/>
              </a:lnSpc>
              <a:buNone/>
            </a:pPr>
            <a:r>
              <a:rPr lang="en-US" sz="1500" dirty="0">
                <a:solidFill>
                  <a:srgbClr val="D5DEEA"/>
                </a:solidFill>
                <a:latin typeface="Malgun Gothic" pitchFamily="34" charset="0"/>
                <a:ea typeface="Malgun Gothic" pitchFamily="34" charset="-122"/>
                <a:cs typeface="Malgun Gothic" pitchFamily="34" charset="-120"/>
              </a:rPr>
              <a:t>그럴듯한 답과 정확한 답은 다릅니다.</a:t>
            </a:r>
            <a:endParaRPr lang="en-US" sz="1500" dirty="0"/>
          </a:p>
          <a:p>
            <a:pPr indent="0" marL="0">
              <a:lnSpc>
                <a:spcPct val="115000"/>
              </a:lnSpc>
              <a:buNone/>
            </a:pPr>
            <a:r>
              <a:rPr lang="en-US" sz="1500" dirty="0">
                <a:solidFill>
                  <a:srgbClr val="D5DEEA"/>
                </a:solidFill>
                <a:latin typeface="Malgun Gothic" pitchFamily="34" charset="0"/>
                <a:ea typeface="Malgun Gothic" pitchFamily="34" charset="-122"/>
                <a:cs typeface="Malgun Gothic" pitchFamily="34" charset="-120"/>
              </a:rPr>
              <a:t>이 발표는 AI 판단에 쓰인 조건과 근거를 카드사가 확인하는 방법에 대한 제안입니다.</a:t>
            </a:r>
            <a:endParaRPr lang="en-US" sz="1500" dirty="0"/>
          </a:p>
        </p:txBody>
      </p:sp>
      <p:sp>
        <p:nvSpPr>
          <p:cNvPr id="6" name="Text 4"/>
          <p:cNvSpPr txBox="1"/>
          <p:nvPr/>
        </p:nvSpPr>
        <p:spPr>
          <a:xfrm>
            <a:off x="640080" y="5257800"/>
            <a:ext cx="6766560" cy="566928"/>
          </a:xfrm>
          <a:prstGeom prst="rect">
            <a:avLst/>
          </a:prstGeom>
          <a:noFill/>
          <a:ln/>
        </p:spPr>
        <p:txBody>
          <a:bodyPr wrap="square" lIns="0" tIns="0" rIns="0" bIns="0" rtlCol="0" anchor="t"/>
          <a:lstStyle/>
          <a:p>
            <a:pPr indent="0" marL="0">
              <a:lnSpc>
                <a:spcPct val="115000"/>
              </a:lnSpc>
              <a:buNone/>
            </a:pPr>
            <a:r>
              <a:rPr lang="en-US" sz="1300" dirty="0">
                <a:solidFill>
                  <a:srgbClr val="A9B7C9"/>
                </a:solidFill>
                <a:latin typeface="Malgun Gothic" pitchFamily="34" charset="0"/>
                <a:ea typeface="Malgun Gothic" pitchFamily="34" charset="-122"/>
                <a:cs typeface="Malgun Gothic" pitchFamily="34" charset="-120"/>
              </a:rPr>
              <a:t>고객이 외부 AI에게 물어도 같은 판단 근거가 나가야 합니다.</a:t>
            </a:r>
            <a:endParaRPr lang="en-US" sz="1300" dirty="0"/>
          </a:p>
          <a:p>
            <a:pPr indent="0" marL="0">
              <a:lnSpc>
                <a:spcPct val="115000"/>
              </a:lnSpc>
              <a:buNone/>
            </a:pPr>
            <a:r>
              <a:rPr lang="en-US" sz="1300" b="1" dirty="0">
                <a:solidFill>
                  <a:srgbClr val="E8A33D"/>
                </a:solidFill>
                <a:latin typeface="Malgun Gothic" pitchFamily="34" charset="0"/>
                <a:ea typeface="Malgun Gothic" pitchFamily="34" charset="-122"/>
                <a:cs typeface="Malgun Gothic" pitchFamily="34" charset="-120"/>
              </a:rPr>
              <a:t>→ 검증한 판단을 여러 AI에 연결하는 방법: 공통 엔진 + MCP (14쪽)</a:t>
            </a:r>
            <a:endParaRPr lang="en-US" sz="1300" dirty="0"/>
          </a:p>
        </p:txBody>
      </p:sp>
      <p:sp>
        <p:nvSpPr>
          <p:cNvPr id="7" name="Text 5"/>
          <p:cNvSpPr txBox="1"/>
          <p:nvPr/>
        </p:nvSpPr>
        <p:spPr>
          <a:xfrm>
            <a:off x="640080" y="6172200"/>
            <a:ext cx="5486400" cy="274320"/>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mle-02-p2-team3  ·  2026.10  ·  2차 팀 프로젝트</a:t>
            </a:r>
            <a:endParaRPr lang="en-US" sz="1100" dirty="0"/>
          </a:p>
        </p:txBody>
      </p:sp>
      <p:sp>
        <p:nvSpPr>
          <p:cNvPr id="8" name="Text 6"/>
          <p:cNvSpPr txBox="1"/>
          <p:nvPr/>
        </p:nvSpPr>
        <p:spPr>
          <a:xfrm>
            <a:off x="7726680" y="1097280"/>
            <a:ext cx="3913632" cy="256032"/>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고객 → AI   (가상 대화)</a:t>
            </a:r>
            <a:endParaRPr lang="en-US" sz="1100" dirty="0"/>
          </a:p>
        </p:txBody>
      </p:sp>
      <p:sp>
        <p:nvSpPr>
          <p:cNvPr id="9" name="Text 7"/>
          <p:cNvSpPr txBox="1"/>
          <p:nvPr/>
        </p:nvSpPr>
        <p:spPr>
          <a:xfrm>
            <a:off x="7726680" y="1389888"/>
            <a:ext cx="3913632" cy="960120"/>
          </a:xfrm>
          <a:prstGeom prst="roundRect">
            <a:avLst>
              <a:gd name="adj" fmla="val 13333"/>
            </a:avLst>
          </a:prstGeom>
          <a:solidFill>
            <a:srgbClr val="FFFFFF"/>
          </a:solidFill>
          <a:ln>
            <a:solidFill>
              <a:srgbClr val="FFFFFF"/>
            </a:solidFill>
          </a:ln>
        </p:spPr>
        <p:txBody>
          <a:bodyPr wrap="square" lIns="114300" tIns="114300" rIns="114300" bIns="114300" rtlCol="0" anchor="ctr"/>
          <a:lstStyle/>
          <a:p>
            <a:pPr algn="l" indent="0" marL="0">
              <a:buNone/>
            </a:pPr>
            <a:r>
              <a:rPr lang="en-US" sz="1300" dirty="0">
                <a:solidFill>
                  <a:srgbClr val="0E1A2B"/>
                </a:solidFill>
                <a:latin typeface="Malgun Gothic" pitchFamily="34" charset="0"/>
                <a:ea typeface="Malgun Gothic" pitchFamily="34" charset="-122"/>
                <a:cs typeface="Malgun Gothic" pitchFamily="34" charset="-120"/>
              </a:rPr>
              <a:t>ONE PICK STYLE로 지난달 상품권 8만원, 버스비 2만원 썼어요. 이번 달 대중교통 캐시백 받나요?</a:t>
            </a:r>
            <a:endParaRPr lang="en-US" sz="1300" dirty="0"/>
          </a:p>
        </p:txBody>
      </p:sp>
      <p:sp>
        <p:nvSpPr>
          <p:cNvPr id="10" name="Text 8"/>
          <p:cNvSpPr txBox="1"/>
          <p:nvPr/>
        </p:nvSpPr>
        <p:spPr>
          <a:xfrm>
            <a:off x="7726680" y="2468880"/>
            <a:ext cx="3913632" cy="777240"/>
          </a:xfrm>
          <a:prstGeom prst="roundRect">
            <a:avLst>
              <a:gd name="adj" fmla="val 16471"/>
            </a:avLst>
          </a:prstGeom>
          <a:solidFill>
            <a:srgbClr val="1F3350"/>
          </a:solidFill>
          <a:ln>
            <a:solidFill>
              <a:srgbClr val="1F3350"/>
            </a:solidFill>
          </a:ln>
        </p:spPr>
        <p:txBody>
          <a:bodyPr wrap="square" lIns="114300" tIns="114300" rIns="114300" bIns="114300" rtlCol="0" anchor="ctr"/>
          <a:lstStyle/>
          <a:p>
            <a:pPr algn="l" indent="0" marL="0">
              <a:buNone/>
            </a:pPr>
            <a:r>
              <a:rPr lang="en-US" sz="1300" dirty="0">
                <a:solidFill>
                  <a:srgbClr val="FFFFFF"/>
                </a:solidFill>
                <a:latin typeface="Malgun Gothic" pitchFamily="34" charset="0"/>
                <a:ea typeface="Malgun Gothic" pitchFamily="34" charset="-122"/>
                <a:cs typeface="Malgun Gothic" pitchFamily="34" charset="-120"/>
              </a:rPr>
              <a:t>네, 지난달 10만원을 채우셨으니 대중교통 5% 캐시백을 받으실 수 있어요.</a:t>
            </a:r>
            <a:endParaRPr lang="en-US" sz="1300" dirty="0"/>
          </a:p>
        </p:txBody>
      </p:sp>
      <p:sp>
        <p:nvSpPr>
          <p:cNvPr id="11" name="Text 9"/>
          <p:cNvSpPr txBox="1"/>
          <p:nvPr/>
        </p:nvSpPr>
        <p:spPr>
          <a:xfrm>
            <a:off x="7726680" y="3364992"/>
            <a:ext cx="3913632" cy="1005840"/>
          </a:xfrm>
          <a:prstGeom prst="roundRect">
            <a:avLst>
              <a:gd name="adj" fmla="val 9091"/>
            </a:avLst>
          </a:prstGeom>
          <a:solidFill>
            <a:srgbClr val="D9472B"/>
          </a:solidFill>
          <a:ln>
            <a:solidFill>
              <a:srgbClr val="D9472B"/>
            </a:solidFill>
          </a:ln>
        </p:spPr>
        <p:txBody>
          <a:bodyPr wrap="square" lIns="114300" tIns="114300" rIns="114300" bIns="11430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원문 기준: 상품권은 실적 제외</a:t>
            </a:r>
            <a:endParaRPr lang="en-US" sz="1200" dirty="0"/>
          </a:p>
          <a:p>
            <a:pPr algn="l" indent="0" marL="0">
              <a:buNone/>
            </a:pPr>
            <a:r>
              <a:rPr lang="en-US" sz="1200" b="1" dirty="0">
                <a:solidFill>
                  <a:srgbClr val="FFFFFF"/>
                </a:solidFill>
                <a:latin typeface="Malgun Gothic" pitchFamily="34" charset="0"/>
                <a:ea typeface="Malgun Gothic" pitchFamily="34" charset="-122"/>
                <a:cs typeface="Malgun Gothic" pitchFamily="34" charset="-120"/>
              </a:rPr>
              <a:t>→ 인정 실적 최대 2만원 → 원칙상 미적용</a:t>
            </a:r>
            <a:endParaRPr lang="en-US" sz="1200" dirty="0"/>
          </a:p>
          <a:p>
            <a:pPr algn="l" indent="0" marL="0">
              <a:buNone/>
            </a:pPr>
            <a:r>
              <a:rPr lang="en-US" sz="1100" dirty="0">
                <a:solidFill>
                  <a:srgbClr val="FFFFFF"/>
                </a:solidFill>
                <a:latin typeface="Malgun Gothic" pitchFamily="34" charset="0"/>
                <a:ea typeface="Malgun Gothic" pitchFamily="34" charset="-122"/>
                <a:cs typeface="Malgun Gothic" pitchFamily="34" charset="-120"/>
              </a:rPr>
              <a:t>예외: 최초 사용 등록일~다음 달 말일은 실적 무관</a:t>
            </a:r>
            <a:endParaRPr lang="en-US" sz="1200" dirty="0"/>
          </a:p>
        </p:txBody>
      </p:sp>
      <p:sp>
        <p:nvSpPr>
          <p:cNvPr id="12" name="Text 10"/>
          <p:cNvSpPr txBox="1"/>
          <p:nvPr/>
        </p:nvSpPr>
        <p:spPr>
          <a:xfrm>
            <a:off x="7726680" y="4526280"/>
            <a:ext cx="3913632" cy="256032"/>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담당자가 확인해야 할 것</a:t>
            </a:r>
            <a:endParaRPr lang="en-US" sz="1100" dirty="0"/>
          </a:p>
        </p:txBody>
      </p:sp>
      <p:sp>
        <p:nvSpPr>
          <p:cNvPr id="13" name="Text 11"/>
          <p:cNvSpPr txBox="1"/>
          <p:nvPr/>
        </p:nvSpPr>
        <p:spPr>
          <a:xfrm>
            <a:off x="7726680" y="4818888"/>
            <a:ext cx="3913632" cy="347472"/>
          </a:xfrm>
          <a:prstGeom prst="roundRect">
            <a:avLst>
              <a:gd name="adj" fmla="val 26316"/>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AI는 어떤 조건을 적용했나?</a:t>
            </a:r>
            <a:endParaRPr lang="en-US" sz="1200" dirty="0"/>
          </a:p>
        </p:txBody>
      </p:sp>
      <p:sp>
        <p:nvSpPr>
          <p:cNvPr id="14" name="Text 12"/>
          <p:cNvSpPr txBox="1"/>
          <p:nvPr/>
        </p:nvSpPr>
        <p:spPr>
          <a:xfrm>
            <a:off x="7726680" y="5239512"/>
            <a:ext cx="3913632" cy="347472"/>
          </a:xfrm>
          <a:prstGeom prst="roundRect">
            <a:avLst>
              <a:gd name="adj" fmla="val 26316"/>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상품권은 실적에 들어가나?</a:t>
            </a:r>
            <a:endParaRPr lang="en-US" sz="1200" dirty="0"/>
          </a:p>
        </p:txBody>
      </p:sp>
      <p:sp>
        <p:nvSpPr>
          <p:cNvPr id="15" name="Text 13"/>
          <p:cNvSpPr txBox="1"/>
          <p:nvPr/>
        </p:nvSpPr>
        <p:spPr>
          <a:xfrm>
            <a:off x="7726680" y="5660136"/>
            <a:ext cx="3913632" cy="347472"/>
          </a:xfrm>
          <a:prstGeom prst="roundRect">
            <a:avLst>
              <a:gd name="adj" fmla="val 26316"/>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근거 조항은 어디인가?</a:t>
            </a:r>
            <a:endParaRPr lang="en-US" sz="1200" dirty="0"/>
          </a:p>
        </p:txBody>
      </p:sp>
      <p:sp>
        <p:nvSpPr>
          <p:cNvPr id="16" name="Text 14"/>
          <p:cNvSpPr txBox="1"/>
          <p:nvPr/>
        </p:nvSpPr>
        <p:spPr>
          <a:xfrm>
            <a:off x="7726680" y="6144768"/>
            <a:ext cx="3913632" cy="274320"/>
          </a:xfrm>
          <a:prstGeom prst="rect">
            <a:avLst/>
          </a:prstGeom>
          <a:noFill/>
          <a:ln/>
        </p:spPr>
        <p:txBody>
          <a:bodyPr wrap="square" lIns="0" tIns="0" rIns="0" bIns="0" rtlCol="0" anchor="t"/>
          <a:lstStyle/>
          <a:p>
            <a:pPr indent="0" marL="0">
              <a:buNone/>
            </a:pPr>
            <a:r>
              <a:rPr lang="en-US" sz="1000" dirty="0">
                <a:solidFill>
                  <a:srgbClr val="7F8FA6"/>
                </a:solidFill>
                <a:latin typeface="Malgun Gothic" pitchFamily="34" charset="0"/>
                <a:ea typeface="Malgun Gothic" pitchFamily="34" charset="-122"/>
                <a:cs typeface="Malgun Gothic" pitchFamily="34" charset="-120"/>
              </a:rPr>
              <a:t>가상 대화 · 정답 근거: ONE PICK STYLE 상품설명서(15650_20260429) 1쪽</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프로젝트의 출발점</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AI가 ‘적용 가능’이라고 답했습니다. 담당자는 무엇을 확인할 수 있어야 할까요?</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프로젝트 목적</a:t>
            </a:r>
            <a:endParaRPr lang="en-US" sz="1100" dirty="0"/>
          </a:p>
        </p:txBody>
      </p:sp>
      <p:sp>
        <p:nvSpPr>
          <p:cNvPr id="5" name="Shape 3"/>
          <p:cNvSpPr/>
          <p:nvPr/>
        </p:nvSpPr>
        <p:spPr>
          <a:xfrm>
            <a:off x="548640" y="1691640"/>
            <a:ext cx="3545738" cy="1298448"/>
          </a:xfrm>
          <a:prstGeom prst="roundRect">
            <a:avLst>
              <a:gd name="adj" fmla="val 7042"/>
            </a:avLst>
          </a:prstGeom>
          <a:solidFill>
            <a:srgbClr val="FFFFFF"/>
          </a:solidFill>
          <a:ln w="15875">
            <a:solidFill>
              <a:srgbClr val="159A8C"/>
            </a:solidFill>
            <a:prstDash val="solid"/>
          </a:ln>
        </p:spPr>
      </p:sp>
      <p:sp>
        <p:nvSpPr>
          <p:cNvPr id="6" name="Text 4"/>
          <p:cNvSpPr txBox="1"/>
          <p:nvPr/>
        </p:nvSpPr>
        <p:spPr>
          <a:xfrm>
            <a:off x="731520" y="1856232"/>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7" name="Text 5"/>
          <p:cNvSpPr txBox="1"/>
          <p:nvPr/>
        </p:nvSpPr>
        <p:spPr>
          <a:xfrm>
            <a:off x="1261872" y="1892808"/>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8" name="Text 6"/>
          <p:cNvSpPr txBox="1"/>
          <p:nvPr/>
        </p:nvSpPr>
        <p:spPr>
          <a:xfrm>
            <a:off x="731520" y="2350008"/>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AI가 어떤 카드와 혜택을 선택했는가</a:t>
            </a:r>
            <a:endParaRPr lang="en-US" sz="1500" dirty="0"/>
          </a:p>
        </p:txBody>
      </p:sp>
      <p:sp>
        <p:nvSpPr>
          <p:cNvPr id="9" name="Shape 7"/>
          <p:cNvSpPr/>
          <p:nvPr/>
        </p:nvSpPr>
        <p:spPr>
          <a:xfrm>
            <a:off x="4322978" y="1691640"/>
            <a:ext cx="3545738" cy="1298448"/>
          </a:xfrm>
          <a:prstGeom prst="roundRect">
            <a:avLst>
              <a:gd name="adj" fmla="val 7042"/>
            </a:avLst>
          </a:prstGeom>
          <a:solidFill>
            <a:srgbClr val="FFFFFF"/>
          </a:solidFill>
          <a:ln w="15875">
            <a:solidFill>
              <a:srgbClr val="159A8C"/>
            </a:solidFill>
            <a:prstDash val="solid"/>
          </a:ln>
        </p:spPr>
      </p:sp>
      <p:sp>
        <p:nvSpPr>
          <p:cNvPr id="10" name="Text 8"/>
          <p:cNvSpPr txBox="1"/>
          <p:nvPr/>
        </p:nvSpPr>
        <p:spPr>
          <a:xfrm>
            <a:off x="4505858" y="1856232"/>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1" name="Text 9"/>
          <p:cNvSpPr txBox="1"/>
          <p:nvPr/>
        </p:nvSpPr>
        <p:spPr>
          <a:xfrm>
            <a:off x="5036210" y="1892808"/>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12" name="Text 10"/>
          <p:cNvSpPr txBox="1"/>
          <p:nvPr/>
        </p:nvSpPr>
        <p:spPr>
          <a:xfrm>
            <a:off x="4505858" y="2350008"/>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어떤 전월실적·할인·적립·제외 조건을 적용했는가</a:t>
            </a:r>
            <a:endParaRPr lang="en-US" sz="1500" dirty="0"/>
          </a:p>
        </p:txBody>
      </p:sp>
      <p:sp>
        <p:nvSpPr>
          <p:cNvPr id="13" name="Shape 11"/>
          <p:cNvSpPr/>
          <p:nvPr/>
        </p:nvSpPr>
        <p:spPr>
          <a:xfrm>
            <a:off x="8097317" y="1691640"/>
            <a:ext cx="3545738" cy="1298448"/>
          </a:xfrm>
          <a:prstGeom prst="roundRect">
            <a:avLst>
              <a:gd name="adj" fmla="val 7042"/>
            </a:avLst>
          </a:prstGeom>
          <a:solidFill>
            <a:srgbClr val="FFFFFF"/>
          </a:solidFill>
          <a:ln w="15875">
            <a:solidFill>
              <a:srgbClr val="159A8C"/>
            </a:solidFill>
            <a:prstDash val="solid"/>
          </a:ln>
        </p:spPr>
      </p:sp>
      <p:sp>
        <p:nvSpPr>
          <p:cNvPr id="14" name="Text 12"/>
          <p:cNvSpPr txBox="1"/>
          <p:nvPr/>
        </p:nvSpPr>
        <p:spPr>
          <a:xfrm>
            <a:off x="8280197" y="1856232"/>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5" name="Text 13"/>
          <p:cNvSpPr txBox="1"/>
          <p:nvPr/>
        </p:nvSpPr>
        <p:spPr>
          <a:xfrm>
            <a:off x="8810549" y="1892808"/>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16" name="Text 14"/>
          <p:cNvSpPr txBox="1"/>
          <p:nvPr/>
        </p:nvSpPr>
        <p:spPr>
          <a:xfrm>
            <a:off x="8280197" y="2350008"/>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그 조건은 카드 전체에 걸리는가, 특정 혜택에만 걸리는가</a:t>
            </a:r>
            <a:endParaRPr lang="en-US" sz="1500" dirty="0"/>
          </a:p>
        </p:txBody>
      </p:sp>
      <p:sp>
        <p:nvSpPr>
          <p:cNvPr id="17" name="Shape 15"/>
          <p:cNvSpPr/>
          <p:nvPr/>
        </p:nvSpPr>
        <p:spPr>
          <a:xfrm>
            <a:off x="548640" y="3172968"/>
            <a:ext cx="3545738" cy="1298448"/>
          </a:xfrm>
          <a:prstGeom prst="roundRect">
            <a:avLst>
              <a:gd name="adj" fmla="val 7042"/>
            </a:avLst>
          </a:prstGeom>
          <a:solidFill>
            <a:srgbClr val="FFFFFF"/>
          </a:solidFill>
          <a:ln w="15875">
            <a:solidFill>
              <a:srgbClr val="159A8C"/>
            </a:solidFill>
            <a:prstDash val="solid"/>
          </a:ln>
        </p:spPr>
      </p:sp>
      <p:sp>
        <p:nvSpPr>
          <p:cNvPr id="18" name="Text 16"/>
          <p:cNvSpPr txBox="1"/>
          <p:nvPr/>
        </p:nvSpPr>
        <p:spPr>
          <a:xfrm>
            <a:off x="731520" y="3337560"/>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19" name="Text 17"/>
          <p:cNvSpPr txBox="1"/>
          <p:nvPr/>
        </p:nvSpPr>
        <p:spPr>
          <a:xfrm>
            <a:off x="1261872" y="3374136"/>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20" name="Text 18"/>
          <p:cNvSpPr txBox="1"/>
          <p:nvPr/>
        </p:nvSpPr>
        <p:spPr>
          <a:xfrm>
            <a:off x="731520" y="3831336"/>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어떤 공식 상품설명서 조항을 근거로 판단했는가</a:t>
            </a:r>
            <a:endParaRPr lang="en-US" sz="1500" dirty="0"/>
          </a:p>
        </p:txBody>
      </p:sp>
      <p:sp>
        <p:nvSpPr>
          <p:cNvPr id="21" name="Shape 19"/>
          <p:cNvSpPr/>
          <p:nvPr/>
        </p:nvSpPr>
        <p:spPr>
          <a:xfrm>
            <a:off x="4322978" y="3172968"/>
            <a:ext cx="3545738" cy="1298448"/>
          </a:xfrm>
          <a:prstGeom prst="roundRect">
            <a:avLst>
              <a:gd name="adj" fmla="val 7042"/>
            </a:avLst>
          </a:prstGeom>
          <a:solidFill>
            <a:srgbClr val="F3F5F8"/>
          </a:solidFill>
          <a:ln w="15875">
            <a:solidFill>
              <a:srgbClr val="F3F5F8"/>
            </a:solidFill>
            <a:prstDash val="solid"/>
          </a:ln>
        </p:spPr>
      </p:sp>
      <p:sp>
        <p:nvSpPr>
          <p:cNvPr id="22" name="Text 20"/>
          <p:cNvSpPr txBox="1"/>
          <p:nvPr/>
        </p:nvSpPr>
        <p:spPr>
          <a:xfrm>
            <a:off x="4505858" y="3337560"/>
            <a:ext cx="402336" cy="402336"/>
          </a:xfrm>
          <a:prstGeom prst="ellipse">
            <a:avLst>
              <a:gd name="adj" fmla="val 18182"/>
            </a:avLst>
          </a:prstGeom>
          <a:solidFill>
            <a:srgbClr val="D9472B"/>
          </a:solidFill>
          <a:ln>
            <a:solidFill>
              <a:srgbClr val="D9472B"/>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23" name="Text 21"/>
          <p:cNvSpPr txBox="1"/>
          <p:nvPr/>
        </p:nvSpPr>
        <p:spPr>
          <a:xfrm>
            <a:off x="5036210" y="3374136"/>
            <a:ext cx="2103120" cy="310896"/>
          </a:xfrm>
          <a:prstGeom prst="roundRect">
            <a:avLst>
              <a:gd name="adj" fmla="val 17647"/>
            </a:avLst>
          </a:prstGeom>
          <a:solidFill>
            <a:srgbClr val="FBE6E2"/>
          </a:solidFill>
          <a:ln>
            <a:solidFill>
              <a:srgbClr val="FBE6E2"/>
            </a:solidFill>
          </a:ln>
        </p:spPr>
        <p:txBody>
          <a:bodyPr wrap="square" lIns="38100" tIns="38100" rIns="38100" bIns="3810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오류 원인 추적 · 확장①</a:t>
            </a:r>
            <a:endParaRPr lang="en-US" sz="1100" dirty="0"/>
          </a:p>
        </p:txBody>
      </p:sp>
      <p:sp>
        <p:nvSpPr>
          <p:cNvPr id="24" name="Text 22"/>
          <p:cNvSpPr txBox="1"/>
          <p:nvPr/>
        </p:nvSpPr>
        <p:spPr>
          <a:xfrm>
            <a:off x="4505858" y="3831336"/>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잘못된 답변이라면 어느 단계에서 오류가 생겼는가</a:t>
            </a:r>
            <a:endParaRPr lang="en-US" sz="1500" dirty="0"/>
          </a:p>
        </p:txBody>
      </p:sp>
      <p:sp>
        <p:nvSpPr>
          <p:cNvPr id="25" name="Shape 23"/>
          <p:cNvSpPr/>
          <p:nvPr/>
        </p:nvSpPr>
        <p:spPr>
          <a:xfrm>
            <a:off x="8097317" y="3172968"/>
            <a:ext cx="3545738" cy="1298448"/>
          </a:xfrm>
          <a:prstGeom prst="roundRect">
            <a:avLst>
              <a:gd name="adj" fmla="val 7042"/>
            </a:avLst>
          </a:prstGeom>
          <a:solidFill>
            <a:srgbClr val="F3F5F8"/>
          </a:solidFill>
          <a:ln w="15875">
            <a:solidFill>
              <a:srgbClr val="F3F5F8"/>
            </a:solidFill>
            <a:prstDash val="solid"/>
          </a:ln>
        </p:spPr>
      </p:sp>
      <p:sp>
        <p:nvSpPr>
          <p:cNvPr id="26" name="Text 24"/>
          <p:cNvSpPr txBox="1"/>
          <p:nvPr/>
        </p:nvSpPr>
        <p:spPr>
          <a:xfrm>
            <a:off x="8280197" y="3337560"/>
            <a:ext cx="402336" cy="402336"/>
          </a:xfrm>
          <a:prstGeom prst="ellipse">
            <a:avLst>
              <a:gd name="adj" fmla="val 18182"/>
            </a:avLst>
          </a:prstGeom>
          <a:solidFill>
            <a:srgbClr val="E8A33D"/>
          </a:solidFill>
          <a:ln>
            <a:solidFill>
              <a:srgbClr val="E8A33D"/>
            </a:solidFill>
          </a:ln>
        </p:spPr>
        <p:txBody>
          <a:bodyPr wrap="square" lIns="0" tIns="0" rIns="0" bIns="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6</a:t>
            </a:r>
            <a:endParaRPr lang="en-US" sz="1400" dirty="0"/>
          </a:p>
        </p:txBody>
      </p:sp>
      <p:sp>
        <p:nvSpPr>
          <p:cNvPr id="27" name="Text 25"/>
          <p:cNvSpPr txBox="1"/>
          <p:nvPr/>
        </p:nvSpPr>
        <p:spPr>
          <a:xfrm>
            <a:off x="8810549" y="3374136"/>
            <a:ext cx="2103120"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변경 영향 · 확장②</a:t>
            </a:r>
            <a:endParaRPr lang="en-US" sz="1100" dirty="0"/>
          </a:p>
        </p:txBody>
      </p:sp>
      <p:sp>
        <p:nvSpPr>
          <p:cNvPr id="28" name="Text 26"/>
          <p:cNvSpPr txBox="1"/>
          <p:nvPr/>
        </p:nvSpPr>
        <p:spPr>
          <a:xfrm>
            <a:off x="8280197" y="3831336"/>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조건이 바뀌면 어떤 카드·혜택·판단을 다시 검토해야 하는가</a:t>
            </a:r>
            <a:endParaRPr lang="en-US" sz="1500" dirty="0"/>
          </a:p>
        </p:txBody>
      </p:sp>
      <p:sp>
        <p:nvSpPr>
          <p:cNvPr id="29" name="Text 27"/>
          <p:cNvSpPr txBox="1"/>
          <p:nvPr/>
        </p:nvSpPr>
        <p:spPr>
          <a:xfrm>
            <a:off x="548640" y="4681728"/>
            <a:ext cx="11094415" cy="457200"/>
          </a:xfrm>
          <a:prstGeom prst="roundRect">
            <a:avLst>
              <a:gd name="adj" fmla="val 16000"/>
            </a:avLst>
          </a:prstGeom>
          <a:solidFill>
            <a:srgbClr val="EFE9F8"/>
          </a:solidFill>
          <a:ln>
            <a:solidFill>
              <a:srgbClr val="EFE9F8"/>
            </a:solidFill>
          </a:ln>
        </p:spPr>
        <p:txBody>
          <a:bodyPr wrap="square" lIns="177800" tIns="177800" rIns="177800" bIns="177800" rtlCol="0" anchor="ctr"/>
          <a:lstStyle/>
          <a:p>
            <a:pPr algn="l" indent="0" marL="0">
              <a:buNone/>
            </a:pPr>
            <a:r>
              <a:rPr lang="en-US" sz="1400" b="1" dirty="0">
                <a:solidFill>
                  <a:srgbClr val="6A4FB0"/>
                </a:solidFill>
                <a:latin typeface="Malgun Gothic" pitchFamily="34" charset="0"/>
                <a:ea typeface="Malgun Gothic" pitchFamily="34" charset="-122"/>
                <a:cs typeface="Malgun Gothic" pitchFamily="34" charset="-120"/>
              </a:rPr>
              <a:t>+ 확장③  </a:t>
            </a:r>
            <a:pPr algn="l" indent="0" marL="0">
              <a:buNone/>
            </a:pPr>
            <a:r>
              <a:rPr lang="en-US" sz="1400" dirty="0">
                <a:solidFill>
                  <a:srgbClr val="1A2433"/>
                </a:solidFill>
                <a:latin typeface="Malgun Gothic" pitchFamily="34" charset="0"/>
                <a:ea typeface="Malgun Gothic" pitchFamily="34" charset="-122"/>
                <a:cs typeface="Malgun Gothic" pitchFamily="34" charset="-120"/>
              </a:rPr>
              <a:t>이렇게 검증된 판단을 여러 AI 채널(내부 검토·자사 앱·외부 AI)에서 재사용 — 공통 엔진·MCP</a:t>
            </a:r>
            <a:endParaRPr lang="en-US" sz="1400" dirty="0"/>
          </a:p>
        </p:txBody>
      </p:sp>
      <p:sp>
        <p:nvSpPr>
          <p:cNvPr id="30" name="Text 28"/>
          <p:cNvSpPr txBox="1"/>
          <p:nvPr/>
        </p:nvSpPr>
        <p:spPr>
          <a:xfrm>
            <a:off x="548640" y="5303520"/>
            <a:ext cx="11094415" cy="731520"/>
          </a:xfrm>
          <a:prstGeom prst="roundRect">
            <a:avLst>
              <a:gd name="adj" fmla="val 10000"/>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E8A33D"/>
                </a:solidFill>
                <a:latin typeface="Malgun Gothic" pitchFamily="34" charset="0"/>
                <a:ea typeface="Malgun Gothic" pitchFamily="34" charset="-122"/>
                <a:cs typeface="Malgun Gothic" pitchFamily="34" charset="-120"/>
              </a:rPr>
              <a:t>그럴듯함 ≠ 정확함.  </a:t>
            </a:r>
            <a:pPr algn="l" indent="0" marL="0">
              <a:buNone/>
            </a:pPr>
            <a:r>
              <a:rPr lang="en-US" sz="1600" dirty="0">
                <a:solidFill>
                  <a:srgbClr val="FFFFFF"/>
                </a:solidFill>
                <a:latin typeface="Malgun Gothic" pitchFamily="34" charset="0"/>
                <a:ea typeface="Malgun Gothic" pitchFamily="34" charset="-122"/>
                <a:cs typeface="Malgun Gothic" pitchFamily="34" charset="-120"/>
              </a:rPr>
              <a:t>원문을 찾아 보여주는 것만으로는 부족합니다. 핵심은 </a:t>
            </a:r>
            <a:pPr algn="l" indent="0" marL="0">
              <a:buNone/>
            </a:pPr>
            <a:r>
              <a:rPr lang="en-US" sz="1600" b="1" dirty="0">
                <a:solidFill>
                  <a:srgbClr val="E8A33D"/>
                </a:solidFill>
                <a:latin typeface="Malgun Gothic" pitchFamily="34" charset="0"/>
                <a:ea typeface="Malgun Gothic" pitchFamily="34" charset="-122"/>
                <a:cs typeface="Malgun Gothic" pitchFamily="34" charset="-120"/>
              </a:rPr>
              <a:t>혜택별 조건과 판단 결과의 연결</a:t>
            </a:r>
            <a:pPr algn="l" indent="0" marL="0">
              <a:buNone/>
            </a:pPr>
            <a:r>
              <a:rPr lang="en-US" sz="1600" dirty="0">
                <a:solidFill>
                  <a:srgbClr val="FFFFFF"/>
                </a:solidFill>
                <a:latin typeface="Malgun Gothic" pitchFamily="34" charset="0"/>
                <a:ea typeface="Malgun Gothic" pitchFamily="34" charset="-122"/>
                <a:cs typeface="Malgun Gothic" pitchFamily="34" charset="-120"/>
              </a:rPr>
              <a:t>을 남기는 것입니다.</a:t>
            </a:r>
            <a:endParaRPr lang="en-US" sz="1600" dirty="0"/>
          </a:p>
        </p:txBody>
      </p:sp>
      <p:sp>
        <p:nvSpPr>
          <p:cNvPr id="31" name="Text 2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최초 기획 의도: “AI가 카드 혜택을 판단하고 안내할 때, 카드사 담당자가 그 판단의 과정과 근거를 확인할 수 있어야 한다.”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01   업계의 신호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업계도 같은 문제를 말합니다 — AI 접점 확장과 조건 판단 엔진 개발</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공식 확인</a:t>
            </a:r>
            <a:endParaRPr lang="en-US" sz="1100" dirty="0"/>
          </a:p>
        </p:txBody>
      </p:sp>
      <p:sp>
        <p:nvSpPr>
          <p:cNvPr id="5" name="Shape 3"/>
          <p:cNvSpPr/>
          <p:nvPr/>
        </p:nvSpPr>
        <p:spPr>
          <a:xfrm>
            <a:off x="548640" y="1691640"/>
            <a:ext cx="5440680" cy="3291840"/>
          </a:xfrm>
          <a:prstGeom prst="roundRect">
            <a:avLst>
              <a:gd name="adj" fmla="val 2778"/>
            </a:avLst>
          </a:prstGeom>
          <a:solidFill>
            <a:srgbClr val="F3F5F8"/>
          </a:solidFill>
          <a:ln w="9525">
            <a:solidFill>
              <a:srgbClr val="F3F5F8"/>
            </a:solidFill>
            <a:prstDash val="solid"/>
          </a:ln>
        </p:spPr>
      </p:sp>
      <p:sp>
        <p:nvSpPr>
          <p:cNvPr id="6" name="Text 4"/>
          <p:cNvSpPr txBox="1"/>
          <p:nvPr/>
        </p:nvSpPr>
        <p:spPr>
          <a:xfrm>
            <a:off x="777240"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복합 금융상품 조건을 판단하는 AI 엔진 공동 개발 착수 (커넥셔너리)</a:t>
            </a:r>
            <a:endParaRPr lang="en-US" sz="1700" dirty="0"/>
          </a:p>
        </p:txBody>
      </p:sp>
      <p:sp>
        <p:nvSpPr>
          <p:cNvPr id="8" name="Text 6"/>
          <p:cNvSpPr txBox="1"/>
          <p:nvPr/>
        </p:nvSpPr>
        <p:spPr>
          <a:xfrm>
            <a:off x="777240"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회사가 밝힌 기존 생성형 AI의 문제</a:t>
            </a:r>
            <a:endParaRPr lang="en-US" sz="1200" dirty="0"/>
          </a:p>
        </p:txBody>
      </p:sp>
      <p:sp>
        <p:nvSpPr>
          <p:cNvPr id="9" name="Text 7"/>
          <p:cNvSpPr txBox="1"/>
          <p:nvPr/>
        </p:nvSpPr>
        <p:spPr>
          <a:xfrm>
            <a:off x="777240"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환각(정보 왜곡)</a:t>
            </a:r>
            <a:endParaRPr lang="en-US" sz="1300" dirty="0"/>
          </a:p>
        </p:txBody>
      </p:sp>
      <p:sp>
        <p:nvSpPr>
          <p:cNvPr id="10" name="Text 8"/>
          <p:cNvSpPr txBox="1"/>
          <p:nvPr/>
        </p:nvSpPr>
        <p:spPr>
          <a:xfrm>
            <a:off x="3319272"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답변 비일관성</a:t>
            </a:r>
            <a:endParaRPr lang="en-US" sz="1300" dirty="0"/>
          </a:p>
        </p:txBody>
      </p:sp>
      <p:sp>
        <p:nvSpPr>
          <p:cNvPr id="11" name="Text 9"/>
          <p:cNvSpPr txBox="1"/>
          <p:nvPr/>
        </p:nvSpPr>
        <p:spPr>
          <a:xfrm>
            <a:off x="777240"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2" name="Text 10"/>
          <p:cNvSpPr txBox="1"/>
          <p:nvPr/>
        </p:nvSpPr>
        <p:spPr>
          <a:xfrm>
            <a:off x="3319272"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3" name="Text 11"/>
          <p:cNvSpPr txBox="1"/>
          <p:nvPr/>
        </p:nvSpPr>
        <p:spPr>
          <a:xfrm>
            <a:off x="777240" y="4114800"/>
            <a:ext cx="5029200" cy="731520"/>
          </a:xfrm>
          <a:prstGeom prst="rect">
            <a:avLst/>
          </a:prstGeom>
          <a:noFill/>
          <a:ln/>
        </p:spPr>
        <p:txBody>
          <a:bodyPr wrap="square" lIns="0" tIns="0" rIns="0" bIns="0" rtlCol="0" anchor="t"/>
          <a:lstStyle/>
          <a:p>
            <a:pPr indent="0" marL="0">
              <a:buNone/>
            </a:pPr>
            <a:r>
              <a:rPr lang="en-US" sz="1300" i="1" dirty="0">
                <a:solidFill>
                  <a:srgbClr val="3A4A60"/>
                </a:solidFill>
                <a:latin typeface="Malgun Gothic" pitchFamily="34" charset="0"/>
                <a:ea typeface="Malgun Gothic" pitchFamily="34" charset="-122"/>
                <a:cs typeface="Malgun Gothic" pitchFamily="34" charset="-120"/>
              </a:rPr>
              <a:t>“조건 자체를 구조화해 탐색 가능한 형태로 정의하면 … 조건 수정만으로 실시간 반영될 수 있다”</a:t>
            </a:r>
            <a:endParaRPr lang="en-US" sz="1300" dirty="0"/>
          </a:p>
        </p:txBody>
      </p:sp>
      <p:sp>
        <p:nvSpPr>
          <p:cNvPr id="14" name="Shape 12"/>
          <p:cNvSpPr/>
          <p:nvPr/>
        </p:nvSpPr>
        <p:spPr>
          <a:xfrm>
            <a:off x="6199632" y="1691640"/>
            <a:ext cx="5440680" cy="3291840"/>
          </a:xfrm>
          <a:prstGeom prst="roundRect">
            <a:avLst>
              <a:gd name="adj" fmla="val 2778"/>
            </a:avLst>
          </a:prstGeom>
          <a:solidFill>
            <a:srgbClr val="F3F5F8"/>
          </a:solidFill>
          <a:ln w="9525">
            <a:solidFill>
              <a:srgbClr val="F3F5F8"/>
            </a:solidFill>
            <a:prstDash val="solid"/>
          </a:ln>
        </p:spPr>
      </p:sp>
      <p:sp>
        <p:nvSpPr>
          <p:cNvPr id="15" name="Text 13"/>
          <p:cNvSpPr txBox="1"/>
          <p:nvPr/>
        </p:nvSpPr>
        <p:spPr>
          <a:xfrm>
            <a:off x="6428232"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6" name="Text 14"/>
          <p:cNvSpPr txBox="1"/>
          <p:nvPr/>
        </p:nvSpPr>
        <p:spPr>
          <a:xfrm>
            <a:off x="6428232"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카드사 최초 ‘ChatGPT for Kakao’ 연계 대화형 금융 서비스</a:t>
            </a:r>
            <a:endParaRPr lang="en-US" sz="1700" dirty="0"/>
          </a:p>
        </p:txBody>
      </p:sp>
      <p:sp>
        <p:nvSpPr>
          <p:cNvPr id="17" name="Text 15"/>
          <p:cNvSpPr txBox="1"/>
          <p:nvPr/>
        </p:nvSpPr>
        <p:spPr>
          <a:xfrm>
            <a:off x="6428232"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200" dirty="0"/>
          </a:p>
        </p:txBody>
      </p:sp>
      <p:sp>
        <p:nvSpPr>
          <p:cNvPr id="18" name="Text 16"/>
          <p:cNvSpPr txBox="1"/>
          <p:nvPr/>
        </p:nvSpPr>
        <p:spPr>
          <a:xfrm>
            <a:off x="6428232"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19" name="Text 17"/>
          <p:cNvSpPr txBox="1"/>
          <p:nvPr/>
        </p:nvSpPr>
        <p:spPr>
          <a:xfrm>
            <a:off x="8970264"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0" name="Text 18"/>
          <p:cNvSpPr txBox="1"/>
          <p:nvPr/>
        </p:nvSpPr>
        <p:spPr>
          <a:xfrm>
            <a:off x="6428232"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1" name="Text 19"/>
          <p:cNvSpPr txBox="1"/>
          <p:nvPr/>
        </p:nvSpPr>
        <p:spPr>
          <a:xfrm>
            <a:off x="8970264"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소비 인사이트</a:t>
            </a:r>
            <a:endParaRPr lang="en-US" sz="1300" dirty="0"/>
          </a:p>
        </p:txBody>
      </p:sp>
      <p:sp>
        <p:nvSpPr>
          <p:cNvPr id="22" name="Text 20"/>
          <p:cNvSpPr txBox="1"/>
          <p:nvPr/>
        </p:nvSpPr>
        <p:spPr>
          <a:xfrm>
            <a:off x="6428232" y="4114800"/>
            <a:ext cx="5029200" cy="731520"/>
          </a:xfrm>
          <a:prstGeom prst="rect">
            <a:avLst/>
          </a:prstGeom>
          <a:noFill/>
          <a:ln/>
        </p:spPr>
        <p:txBody>
          <a:bodyPr wrap="square" lIns="0" tIns="0" rIns="0" bIns="0" rtlCol="0" anchor="t"/>
          <a:lstStyle/>
          <a:p>
            <a:pPr indent="0" marL="0">
              <a:buNone/>
            </a:pPr>
            <a:r>
              <a:rPr lang="en-US" sz="1300" dirty="0">
                <a:solidFill>
                  <a:srgbClr val="3A4A60"/>
                </a:solidFill>
                <a:latin typeface="Malgun Gothic" pitchFamily="34" charset="0"/>
                <a:ea typeface="Malgun Gothic" pitchFamily="34" charset="-122"/>
                <a:cs typeface="Malgun Gothic" pitchFamily="34" charset="-120"/>
              </a:rPr>
              <a:t>카카오 ‘PlayMCP’ 기반 ‘카카오 툴즈’에 신한카드 툴을 연동 — 외부 AI가 카드사 도구를 호출하는 구조</a:t>
            </a:r>
            <a:endParaRPr lang="en-US" sz="1300" dirty="0"/>
          </a:p>
        </p:txBody>
      </p:sp>
      <p:sp>
        <p:nvSpPr>
          <p:cNvPr id="23" name="Text 21"/>
          <p:cNvSpPr txBox="1"/>
          <p:nvPr/>
        </p:nvSpPr>
        <p:spPr>
          <a:xfrm>
            <a:off x="548640" y="5166360"/>
            <a:ext cx="11094415" cy="749808"/>
          </a:xfrm>
          <a:prstGeom prst="roundRect">
            <a:avLst>
              <a:gd name="adj" fmla="val 9756"/>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외부 AI 채널은 MCP 같은 도구 연결로 넓어지고, 그 답의 판단 근거를 확인하는 일은 카드사의 과제로 남습니다.</a:t>
            </a:r>
            <a:endParaRPr lang="en-US" sz="1500" dirty="0"/>
          </a:p>
        </p:txBody>
      </p:sp>
      <p:sp>
        <p:nvSpPr>
          <p:cNvPr id="24" name="Text 22"/>
          <p:cNvSpPr txBox="1"/>
          <p:nvPr/>
        </p:nvSpPr>
        <p:spPr>
          <a:xfrm>
            <a:off x="548640" y="6007608"/>
            <a:ext cx="11094415" cy="292608"/>
          </a:xfrm>
          <a:prstGeom prst="rect">
            <a:avLst/>
          </a:prstGeom>
          <a:noFill/>
          <a:ln/>
        </p:spPr>
        <p:txBody>
          <a:bodyPr wrap="square" lIns="0" tIns="0" rIns="0" bIns="0" rtlCol="0" anchor="t"/>
          <a:lstStyle/>
          <a:p>
            <a:pPr indent="0" marL="0">
              <a:buNone/>
            </a:pPr>
            <a:r>
              <a:rPr lang="en-US" sz="1100" dirty="0">
                <a:solidFill>
                  <a:srgbClr val="A8311A"/>
                </a:solidFill>
                <a:latin typeface="Malgun Gothic" pitchFamily="34" charset="0"/>
                <a:ea typeface="Malgun Gothic" pitchFamily="34" charset="-122"/>
                <a:cs typeface="Malgun Gothic" pitchFamily="34" charset="-120"/>
              </a:rPr>
              <a:t>두 시스템의 내부 연계 여부, GraphRAG 사용 여부는 공개 자료에 없습니다. 우리 기술의 검증 근거가 아니라 ‘실재하는 문제’의 근거로 인용합니다.</a:t>
            </a:r>
            <a:endParaRPr lang="en-US" sz="11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02   문제 정의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채널이 다양해질수록, 판단 근거는 어디서 검증해야 할까요?</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sp>
        <p:nvSpPr>
          <p:cNvPr id="5" name="Text 3"/>
          <p:cNvSpPr txBox="1"/>
          <p:nvPr/>
        </p:nvSpPr>
        <p:spPr>
          <a:xfrm>
            <a:off x="548640" y="2514600"/>
            <a:ext cx="1691640" cy="1417320"/>
          </a:xfrm>
          <a:prstGeom prst="roundRect">
            <a:avLst>
              <a:gd name="adj" fmla="val 5161"/>
            </a:avLst>
          </a:prstGeom>
          <a:solidFill>
            <a:srgbClr val="0E1A2B"/>
          </a:solidFill>
          <a:ln>
            <a:solidFill>
              <a:srgbClr val="0E1A2B"/>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상품설명서</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약관</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(공식 원문)</a:t>
            </a:r>
            <a:endParaRPr lang="en-US" sz="1500" dirty="0"/>
          </a:p>
        </p:txBody>
      </p:sp>
      <p:sp>
        <p:nvSpPr>
          <p:cNvPr id="6" name="Shape 4"/>
          <p:cNvSpPr/>
          <p:nvPr/>
        </p:nvSpPr>
        <p:spPr>
          <a:xfrm>
            <a:off x="2240280" y="3223260"/>
            <a:ext cx="411480" cy="0"/>
          </a:xfrm>
          <a:prstGeom prst="line">
            <a:avLst/>
          </a:prstGeom>
          <a:noFill/>
          <a:ln w="19050">
            <a:solidFill>
              <a:srgbClr val="8A94A3"/>
            </a:solidFill>
            <a:prstDash val="solid"/>
          </a:ln>
        </p:spPr>
      </p:sp>
      <p:sp>
        <p:nvSpPr>
          <p:cNvPr id="7" name="Shape 5"/>
          <p:cNvSpPr/>
          <p:nvPr/>
        </p:nvSpPr>
        <p:spPr>
          <a:xfrm>
            <a:off x="2651760" y="2112264"/>
            <a:ext cx="0" cy="2468880"/>
          </a:xfrm>
          <a:prstGeom prst="line">
            <a:avLst/>
          </a:prstGeom>
          <a:noFill/>
          <a:ln w="19050">
            <a:solidFill>
              <a:srgbClr val="8A94A3"/>
            </a:solidFill>
            <a:prstDash val="solid"/>
          </a:ln>
        </p:spPr>
      </p:sp>
      <p:sp>
        <p:nvSpPr>
          <p:cNvPr id="8" name="Shape 6"/>
          <p:cNvSpPr/>
          <p:nvPr/>
        </p:nvSpPr>
        <p:spPr>
          <a:xfrm>
            <a:off x="2651760" y="2112264"/>
            <a:ext cx="347472" cy="0"/>
          </a:xfrm>
          <a:prstGeom prst="line">
            <a:avLst/>
          </a:prstGeom>
          <a:noFill/>
          <a:ln w="19050">
            <a:solidFill>
              <a:srgbClr val="8A94A3"/>
            </a:solidFill>
            <a:prstDash val="solid"/>
            <a:tailEnd type="triangle"/>
          </a:ln>
        </p:spPr>
      </p:sp>
      <p:sp>
        <p:nvSpPr>
          <p:cNvPr id="9" name="Text 7"/>
          <p:cNvSpPr txBox="1"/>
          <p:nvPr/>
        </p:nvSpPr>
        <p:spPr>
          <a:xfrm>
            <a:off x="3017520" y="178308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상품·준법 검토</a:t>
            </a:r>
            <a:endParaRPr lang="en-US" sz="1500" dirty="0"/>
          </a:p>
        </p:txBody>
      </p:sp>
      <p:sp>
        <p:nvSpPr>
          <p:cNvPr id="10" name="Shape 8"/>
          <p:cNvSpPr/>
          <p:nvPr/>
        </p:nvSpPr>
        <p:spPr>
          <a:xfrm>
            <a:off x="2651760" y="2935224"/>
            <a:ext cx="347472" cy="0"/>
          </a:xfrm>
          <a:prstGeom prst="line">
            <a:avLst/>
          </a:prstGeom>
          <a:noFill/>
          <a:ln w="19050">
            <a:solidFill>
              <a:srgbClr val="8A94A3"/>
            </a:solidFill>
            <a:prstDash val="solid"/>
            <a:tailEnd type="triangle"/>
          </a:ln>
        </p:spPr>
      </p:sp>
      <p:sp>
        <p:nvSpPr>
          <p:cNvPr id="11" name="Text 9"/>
          <p:cNvSpPr txBox="1"/>
          <p:nvPr/>
        </p:nvSpPr>
        <p:spPr>
          <a:xfrm>
            <a:off x="3017520" y="260604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상담원 지원</a:t>
            </a:r>
            <a:endParaRPr lang="en-US" sz="1500" dirty="0"/>
          </a:p>
        </p:txBody>
      </p:sp>
      <p:sp>
        <p:nvSpPr>
          <p:cNvPr id="12" name="Shape 10"/>
          <p:cNvSpPr/>
          <p:nvPr/>
        </p:nvSpPr>
        <p:spPr>
          <a:xfrm>
            <a:off x="2651760" y="3758184"/>
            <a:ext cx="347472" cy="0"/>
          </a:xfrm>
          <a:prstGeom prst="line">
            <a:avLst/>
          </a:prstGeom>
          <a:noFill/>
          <a:ln w="19050">
            <a:solidFill>
              <a:srgbClr val="8A94A3"/>
            </a:solidFill>
            <a:prstDash val="solid"/>
            <a:tailEnd type="triangle"/>
          </a:ln>
        </p:spPr>
      </p:sp>
      <p:sp>
        <p:nvSpPr>
          <p:cNvPr id="13" name="Text 11"/>
          <p:cNvSpPr txBox="1"/>
          <p:nvPr/>
        </p:nvSpPr>
        <p:spPr>
          <a:xfrm>
            <a:off x="3017520" y="342900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자사 앱 AI 상담</a:t>
            </a:r>
            <a:endParaRPr lang="en-US" sz="1500" dirty="0"/>
          </a:p>
        </p:txBody>
      </p:sp>
      <p:sp>
        <p:nvSpPr>
          <p:cNvPr id="14" name="Shape 12"/>
          <p:cNvSpPr/>
          <p:nvPr/>
        </p:nvSpPr>
        <p:spPr>
          <a:xfrm>
            <a:off x="2651760" y="4581144"/>
            <a:ext cx="347472" cy="0"/>
          </a:xfrm>
          <a:prstGeom prst="line">
            <a:avLst/>
          </a:prstGeom>
          <a:noFill/>
          <a:ln w="19050">
            <a:solidFill>
              <a:srgbClr val="8A94A3"/>
            </a:solidFill>
            <a:prstDash val="solid"/>
            <a:tailEnd type="triangle"/>
          </a:ln>
        </p:spPr>
      </p:sp>
      <p:sp>
        <p:nvSpPr>
          <p:cNvPr id="15" name="Text 13"/>
          <p:cNvSpPr txBox="1"/>
          <p:nvPr/>
        </p:nvSpPr>
        <p:spPr>
          <a:xfrm>
            <a:off x="3017520" y="425196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외부 AI 서비스</a:t>
            </a:r>
            <a:endParaRPr lang="en-US" sz="1500" dirty="0"/>
          </a:p>
        </p:txBody>
      </p:sp>
      <p:sp>
        <p:nvSpPr>
          <p:cNvPr id="16" name="Text 14"/>
          <p:cNvSpPr txBox="1"/>
          <p:nvPr/>
        </p:nvSpPr>
        <p:spPr>
          <a:xfrm>
            <a:off x="5897880" y="1783080"/>
            <a:ext cx="1234440" cy="3127248"/>
          </a:xfrm>
          <a:prstGeom prst="roundRect">
            <a:avLst>
              <a:gd name="adj" fmla="val 5926"/>
            </a:avLst>
          </a:prstGeom>
          <a:solidFill>
            <a:srgbClr val="FBE6E2"/>
          </a:solidFill>
          <a:ln>
            <a:solidFill>
              <a:srgbClr val="FBE6E2"/>
            </a:solidFill>
          </a:ln>
        </p:spPr>
        <p:txBody>
          <a:bodyPr wrap="square" lIns="76200" tIns="76200" rIns="76200" bIns="76200" rtlCol="0" anchor="ctr"/>
          <a:lstStyle/>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채널마다</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사본,</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해석</a:t>
            </a:r>
            <a:endParaRPr lang="en-US" sz="1500" dirty="0"/>
          </a:p>
        </p:txBody>
      </p:sp>
      <p:sp>
        <p:nvSpPr>
          <p:cNvPr id="17" name="Text 15"/>
          <p:cNvSpPr txBox="1"/>
          <p:nvPr/>
        </p:nvSpPr>
        <p:spPr>
          <a:xfrm>
            <a:off x="7498080" y="1783080"/>
            <a:ext cx="4142232" cy="320040"/>
          </a:xfrm>
          <a:prstGeom prst="rect">
            <a:avLst/>
          </a:prstGeom>
          <a:noFill/>
          <a:ln/>
        </p:spPr>
        <p:txBody>
          <a:bodyPr wrap="square" lIns="0" tIns="0" rIns="0" bIns="0" rtlCol="0" anchor="t"/>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흩어지면 생기는 위험 → 그래서 필요한 것</a:t>
            </a:r>
            <a:endParaRPr lang="en-US" sz="1500" dirty="0"/>
          </a:p>
        </p:txBody>
      </p:sp>
      <p:sp>
        <p:nvSpPr>
          <p:cNvPr id="18" name="Text 16"/>
          <p:cNvSpPr txBox="1"/>
          <p:nvPr/>
        </p:nvSpPr>
        <p:spPr>
          <a:xfrm>
            <a:off x="7498080" y="2240280"/>
            <a:ext cx="420624" cy="420624"/>
          </a:xfrm>
          <a:prstGeom prst="ellipse">
            <a:avLst>
              <a:gd name="adj" fmla="val 17391"/>
            </a:avLst>
          </a:prstGeom>
          <a:solidFill>
            <a:srgbClr val="159A8C"/>
          </a:solidFill>
          <a:ln>
            <a:solidFill>
              <a:srgbClr val="159A8C"/>
            </a:solid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19" name="Text 17"/>
          <p:cNvSpPr txBox="1"/>
          <p:nvPr/>
        </p:nvSpPr>
        <p:spPr>
          <a:xfrm>
            <a:off x="8046720" y="2194560"/>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근거 검증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조건이 빠진 답, 출처 없는 답</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답마다 적용 조건·원문 조항 확인</a:t>
            </a:r>
            <a:endParaRPr lang="en-US" sz="1400" dirty="0"/>
          </a:p>
        </p:txBody>
      </p:sp>
      <p:sp>
        <p:nvSpPr>
          <p:cNvPr id="20" name="Text 18"/>
          <p:cNvSpPr txBox="1"/>
          <p:nvPr/>
        </p:nvSpPr>
        <p:spPr>
          <a:xfrm>
            <a:off x="7498080" y="2990088"/>
            <a:ext cx="420624" cy="420624"/>
          </a:xfrm>
          <a:prstGeom prst="ellipse">
            <a:avLst>
              <a:gd name="adj" fmla="val 17391"/>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2</a:t>
            </a:r>
            <a:endParaRPr lang="en-US" sz="1500" dirty="0"/>
          </a:p>
        </p:txBody>
      </p:sp>
      <p:sp>
        <p:nvSpPr>
          <p:cNvPr id="21" name="Text 19"/>
          <p:cNvSpPr txBox="1"/>
          <p:nvPr/>
        </p:nvSpPr>
        <p:spPr>
          <a:xfrm>
            <a:off x="8046720" y="2944368"/>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오류 추적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틀린 답의 발생 단계를 모름</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단계별 기록으로 원인 위치 확인</a:t>
            </a:r>
            <a:endParaRPr lang="en-US" sz="1400" dirty="0"/>
          </a:p>
        </p:txBody>
      </p:sp>
      <p:sp>
        <p:nvSpPr>
          <p:cNvPr id="22" name="Text 20"/>
          <p:cNvSpPr txBox="1"/>
          <p:nvPr/>
        </p:nvSpPr>
        <p:spPr>
          <a:xfrm>
            <a:off x="7498080" y="3739896"/>
            <a:ext cx="420624" cy="420624"/>
          </a:xfrm>
          <a:prstGeom prst="ellipse">
            <a:avLst>
              <a:gd name="adj" fmla="val 17391"/>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3</a:t>
            </a:r>
            <a:endParaRPr lang="en-US" sz="1500" dirty="0"/>
          </a:p>
        </p:txBody>
      </p:sp>
      <p:sp>
        <p:nvSpPr>
          <p:cNvPr id="23" name="Text 21"/>
          <p:cNvSpPr txBox="1"/>
          <p:nvPr/>
        </p:nvSpPr>
        <p:spPr>
          <a:xfrm>
            <a:off x="8046720" y="3694176"/>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변경 영향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바뀐 조건이 일부 채널에만 반영</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다시 검토할 혜택·판단 목록</a:t>
            </a:r>
            <a:endParaRPr lang="en-US" sz="1400" dirty="0"/>
          </a:p>
        </p:txBody>
      </p:sp>
      <p:sp>
        <p:nvSpPr>
          <p:cNvPr id="24" name="Text 22"/>
          <p:cNvSpPr txBox="1"/>
          <p:nvPr/>
        </p:nvSpPr>
        <p:spPr>
          <a:xfrm>
            <a:off x="7498080" y="4489704"/>
            <a:ext cx="420624" cy="420624"/>
          </a:xfrm>
          <a:prstGeom prst="ellipse">
            <a:avLst>
              <a:gd name="adj" fmla="val 17391"/>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4</a:t>
            </a:r>
            <a:endParaRPr lang="en-US" sz="1500" dirty="0"/>
          </a:p>
        </p:txBody>
      </p:sp>
      <p:sp>
        <p:nvSpPr>
          <p:cNvPr id="25" name="Text 23"/>
          <p:cNvSpPr txBox="1"/>
          <p:nvPr/>
        </p:nvSpPr>
        <p:spPr>
          <a:xfrm>
            <a:off x="8046720" y="4443984"/>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재사용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채널마다 판단 로직을 다시 구현</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검증한 판단을 여러 채널이 호출</a:t>
            </a:r>
            <a:endParaRPr lang="en-US" sz="1400" dirty="0"/>
          </a:p>
        </p:txBody>
      </p:sp>
      <p:sp>
        <p:nvSpPr>
          <p:cNvPr id="26" name="Text 24"/>
          <p:cNvSpPr txBox="1"/>
          <p:nvPr/>
        </p:nvSpPr>
        <p:spPr>
          <a:xfrm>
            <a:off x="548640" y="5257800"/>
            <a:ext cx="11094415" cy="685800"/>
          </a:xfrm>
          <a:prstGeom prst="roundRect">
            <a:avLst>
              <a:gd name="adj" fmla="val 10667"/>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0E1A2B"/>
                </a:solidFill>
                <a:latin typeface="Malgun Gothic" pitchFamily="34" charset="0"/>
                <a:ea typeface="Malgun Gothic" pitchFamily="34" charset="-122"/>
                <a:cs typeface="Malgun Gothic" pitchFamily="34" charset="-120"/>
              </a:rPr>
              <a:t>이 발표의 질문: AI 판단의 근거를 한곳에서 검증하고, 여러 AI 채널에 같은 근거를 공급할 수 있는가?</a:t>
            </a:r>
            <a:endParaRPr lang="en-US" sz="16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위험 유형은 신한카드 2026-09-09 발표의 문제 정의(환각·비일관성·조건 누락·규정 미반영)를 채널·검증 관점으로 재구성한 팀 해석입니다.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03   실제 약관에서 본 어려움 ①</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AI가 틀리기 쉬운 지점: 같은 ‘상품권 제외’도 걸리는 곳이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548640" y="1645920"/>
            <a:ext cx="11094415" cy="566928"/>
          </a:xfrm>
          <a:prstGeom prst="roundRect">
            <a:avLst>
              <a:gd name="adj" fmla="val 12903"/>
            </a:avLst>
          </a:prstGeom>
          <a:solidFill>
            <a:srgbClr val="FDF0DC"/>
          </a:solidFill>
          <a:ln>
            <a:solidFill>
              <a:srgbClr val="FDF0DC"/>
            </a:solidFill>
          </a:ln>
        </p:spPr>
        <p:txBody>
          <a:bodyPr wrap="square" lIns="177800" tIns="177800" rIns="177800" bIns="177800" rtlCol="0" anchor="ctr"/>
          <a:lstStyle/>
          <a:p>
            <a:pPr algn="l" indent="0" marL="0">
              <a:buNone/>
            </a:pPr>
            <a:r>
              <a:rPr lang="en-US" sz="1700" b="1" dirty="0">
                <a:solidFill>
                  <a:srgbClr val="8F5208"/>
                </a:solidFill>
                <a:latin typeface="Malgun Gothic" pitchFamily="34" charset="0"/>
                <a:ea typeface="Malgun Gothic" pitchFamily="34" charset="-122"/>
                <a:cs typeface="Malgun Gothic" pitchFamily="34" charset="-120"/>
              </a:rPr>
              <a:t>Q.  상품권 구매는 실적에서 빠지는가, 할인에서 빠지는가 — AI는 이 둘을 구분해서 답하고 있을까요?</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914400"/>
        </p:xfrm>
        <a:graphic>
          <a:graphicData uri="http://schemas.openxmlformats.org/drawingml/2006/table">
            <a:tbl>
              <a:tblPr/>
              <a:tblGrid>
                <a:gridCol w="2057400"/>
                <a:gridCol w="1463040"/>
                <a:gridCol w="1600200"/>
                <a:gridCol w="3566160"/>
                <a:gridCol w="2404872"/>
              </a:tblGrid>
              <a:tr h="411480">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하나카드 상품</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산정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혜택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걸린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없는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STYLE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STYLE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PLAY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PLAY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BT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BIG TICKET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인천공항 라운지 (50만원)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BIG TICKET 청구할인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더블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대형마트 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공과금 청구할인 (40/80만원)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일상생활 청구할인 (40만원)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Shape 4"/>
          <p:cNvSpPr/>
          <p:nvPr/>
        </p:nvSpPr>
        <p:spPr>
          <a:xfrm>
            <a:off x="548640" y="5193792"/>
            <a:ext cx="5440680" cy="1078992"/>
          </a:xfrm>
          <a:prstGeom prst="roundRect">
            <a:avLst>
              <a:gd name="adj" fmla="val 8475"/>
            </a:avLst>
          </a:prstGeom>
          <a:solidFill>
            <a:srgbClr val="F3F5F8"/>
          </a:solidFill>
          <a:ln w="9525">
            <a:solidFill>
              <a:srgbClr val="F3F5F8"/>
            </a:solidFill>
            <a:prstDash val="solid"/>
          </a:ln>
        </p:spPr>
      </p:sp>
      <p:sp>
        <p:nvSpPr>
          <p:cNvPr id="8" name="Text 5"/>
          <p:cNvSpPr txBox="1"/>
          <p:nvPr/>
        </p:nvSpPr>
        <p:spPr>
          <a:xfrm>
            <a:off x="731520"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① 실적 제외 ≠ 혜택 제외</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상품권은 ‘실적에 잡히지 않는 금액’이기도 하고 ‘할인되지 않는 결제’이기도 합니다. 한쪽만 연결하면 1장 같은 오답이 나옵니다.</a:t>
            </a:r>
            <a:endParaRPr lang="en-US" sz="1400" dirty="0"/>
          </a:p>
        </p:txBody>
      </p:sp>
      <p:sp>
        <p:nvSpPr>
          <p:cNvPr id="9" name="Shape 6"/>
          <p:cNvSpPr/>
          <p:nvPr/>
        </p:nvSpPr>
        <p:spPr>
          <a:xfrm>
            <a:off x="6199632" y="5193792"/>
            <a:ext cx="5440680" cy="1078992"/>
          </a:xfrm>
          <a:prstGeom prst="roundRect">
            <a:avLst>
              <a:gd name="adj" fmla="val 8475"/>
            </a:avLst>
          </a:prstGeom>
          <a:solidFill>
            <a:srgbClr val="F3F5F8"/>
          </a:solidFill>
          <a:ln w="9525">
            <a:solidFill>
              <a:srgbClr val="F3F5F8"/>
            </a:solidFill>
            <a:prstDash val="solid"/>
          </a:ln>
        </p:spPr>
      </p:sp>
      <p:sp>
        <p:nvSpPr>
          <p:cNvPr id="10" name="Text 7"/>
          <p:cNvSpPr txBox="1"/>
          <p:nvPr/>
        </p:nvSpPr>
        <p:spPr>
          <a:xfrm>
            <a:off x="6382512"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② 조건은 카드가 아니라 혜택에 걸립니다</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BT의 BIG TICKET은 지난달 실적 조건이 ‘없음’, 라운지는 50만원. 카드 단위로 묶으면 조건을 잘못 넓힙니다.</a:t>
            </a:r>
            <a:endParaRPr lang="en-US" sz="1400" dirty="0"/>
          </a:p>
        </p:txBody>
      </p:sp>
      <p:sp>
        <p:nvSpPr>
          <p:cNvPr id="11" name="Text 8"/>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하나카드 상품설명서 ONE PICK STYLE(15650_20260429)·PLAY(15651_20260429)·BT(14324_20260310)·에너지 더블(14422_20251224) 1쪽,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04   실제 약관에서 본 어려움 ②</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PDF는 숫자는 남기고, 조건 사이의 관계는 잃어버립니다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Shape 3"/>
          <p:cNvSpPr/>
          <p:nvPr/>
        </p:nvSpPr>
        <p:spPr>
          <a:xfrm>
            <a:off x="548640" y="1691640"/>
            <a:ext cx="3502152" cy="3063240"/>
          </a:xfrm>
          <a:prstGeom prst="roundRect">
            <a:avLst>
              <a:gd name="adj" fmla="val 2985"/>
            </a:avLst>
          </a:prstGeom>
          <a:solidFill>
            <a:srgbClr val="F3F5F8"/>
          </a:solidFill>
          <a:ln w="9525">
            <a:solidFill>
              <a:srgbClr val="F3F5F8"/>
            </a:solidFill>
            <a:prstDash val="solid"/>
          </a:ln>
        </p:spPr>
      </p:sp>
      <p:sp>
        <p:nvSpPr>
          <p:cNvPr id="6" name="Text 4"/>
          <p:cNvSpPr txBox="1"/>
          <p:nvPr/>
        </p:nvSpPr>
        <p:spPr>
          <a:xfrm>
            <a:off x="74980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표가 표로 읽히지 않습니다</a:t>
            </a:r>
            <a:endParaRPr lang="en-US" sz="1600" dirty="0"/>
          </a:p>
        </p:txBody>
      </p:sp>
      <p:sp>
        <p:nvSpPr>
          <p:cNvPr id="7" name="Shape 5"/>
          <p:cNvSpPr/>
          <p:nvPr/>
        </p:nvSpPr>
        <p:spPr>
          <a:xfrm>
            <a:off x="4343400" y="1691640"/>
            <a:ext cx="3502152" cy="3063240"/>
          </a:xfrm>
          <a:prstGeom prst="roundRect">
            <a:avLst>
              <a:gd name="adj" fmla="val 2985"/>
            </a:avLst>
          </a:prstGeom>
          <a:solidFill>
            <a:srgbClr val="F3F5F8"/>
          </a:solidFill>
          <a:ln w="9525">
            <a:solidFill>
              <a:srgbClr val="F3F5F8"/>
            </a:solidFill>
            <a:prstDash val="solid"/>
          </a:ln>
        </p:spPr>
      </p:sp>
      <p:sp>
        <p:nvSpPr>
          <p:cNvPr id="8" name="Text 6"/>
          <p:cNvSpPr txBox="1"/>
          <p:nvPr/>
        </p:nvSpPr>
        <p:spPr>
          <a:xfrm>
            <a:off x="454456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숫자, 다른 혜택</a:t>
            </a:r>
            <a:endParaRPr lang="en-US" sz="1600" dirty="0"/>
          </a:p>
        </p:txBody>
      </p:sp>
      <p:sp>
        <p:nvSpPr>
          <p:cNvPr id="9" name="Shape 7"/>
          <p:cNvSpPr/>
          <p:nvPr/>
        </p:nvSpPr>
        <p:spPr>
          <a:xfrm>
            <a:off x="8138160" y="1691640"/>
            <a:ext cx="3502152" cy="3063240"/>
          </a:xfrm>
          <a:prstGeom prst="roundRect">
            <a:avLst>
              <a:gd name="adj" fmla="val 2985"/>
            </a:avLst>
          </a:prstGeom>
          <a:solidFill>
            <a:srgbClr val="F3F5F8"/>
          </a:solidFill>
          <a:ln w="9525">
            <a:solidFill>
              <a:srgbClr val="F3F5F8"/>
            </a:solidFill>
            <a:prstDash val="solid"/>
          </a:ln>
        </p:spPr>
      </p:sp>
      <p:sp>
        <p:nvSpPr>
          <p:cNvPr id="10" name="Text 8"/>
          <p:cNvSpPr txBox="1"/>
          <p:nvPr/>
        </p:nvSpPr>
        <p:spPr>
          <a:xfrm>
            <a:off x="833932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문장, 다른 결론</a:t>
            </a:r>
            <a:endParaRPr lang="en-US" sz="1600" dirty="0"/>
          </a:p>
        </p:txBody>
      </p:sp>
      <p:sp>
        <p:nvSpPr>
          <p:cNvPr id="11" name="Text 9"/>
          <p:cNvSpPr txBox="1"/>
          <p:nvPr/>
        </p:nvSpPr>
        <p:spPr>
          <a:xfrm>
            <a:off x="82296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1.5%</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1.2%</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1.0%</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0.5%</a:t>
            </a:r>
            <a:endParaRPr lang="en-US" sz="1200" dirty="0"/>
          </a:p>
        </p:txBody>
      </p:sp>
      <p:sp>
        <p:nvSpPr>
          <p:cNvPr id="12" name="Text 10"/>
          <p:cNvSpPr txBox="1"/>
          <p:nvPr/>
        </p:nvSpPr>
        <p:spPr>
          <a:xfrm>
            <a:off x="192024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300만원</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한도 없음</a:t>
            </a:r>
            <a:endParaRPr lang="en-US" sz="1200" dirty="0"/>
          </a:p>
        </p:txBody>
      </p:sp>
      <p:sp>
        <p:nvSpPr>
          <p:cNvPr id="13" name="Text 11"/>
          <p:cNvSpPr txBox="1"/>
          <p:nvPr/>
        </p:nvSpPr>
        <p:spPr>
          <a:xfrm>
            <a:off x="3127248" y="2331720"/>
            <a:ext cx="685800" cy="1097280"/>
          </a:xfrm>
          <a:prstGeom prst="roundRect">
            <a:avLst>
              <a:gd name="adj" fmla="val 10667"/>
            </a:avLst>
          </a:prstGeom>
          <a:solidFill>
            <a:srgbClr val="FBE6E2"/>
          </a:solidFill>
          <a:ln>
            <a:solidFill>
              <a:srgbClr val="FBE6E2"/>
            </a:solidFill>
          </a:ln>
        </p:spPr>
        <p:txBody>
          <a:bodyPr wrap="square" lIns="25400" tIns="25400" rIns="25400" bIns="2540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구간</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기준</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열</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소실</a:t>
            </a:r>
            <a:endParaRPr lang="en-US" sz="1100" dirty="0"/>
          </a:p>
        </p:txBody>
      </p:sp>
      <p:sp>
        <p:nvSpPr>
          <p:cNvPr id="14" name="Text 12"/>
          <p:cNvSpPr txBox="1"/>
          <p:nvPr/>
        </p:nvSpPr>
        <p:spPr>
          <a:xfrm>
            <a:off x="74980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 BIG TICKET 표: 할인율 4개가 한 셀로 추출되고 이용금액 구간 열이 빠집니다. STYLE·PLAY는 기본 표 탐지 0개.</a:t>
            </a:r>
            <a:endParaRPr lang="en-US" sz="1300" dirty="0"/>
          </a:p>
        </p:txBody>
      </p:sp>
      <p:sp>
        <p:nvSpPr>
          <p:cNvPr id="15" name="Text 13"/>
          <p:cNvSpPr txBox="1"/>
          <p:nvPr/>
        </p:nvSpPr>
        <p:spPr>
          <a:xfrm>
            <a:off x="4617720" y="2331720"/>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ONE PICK  월 5천원</a:t>
            </a:r>
            <a:endParaRPr lang="en-US" sz="1200" dirty="0"/>
          </a:p>
        </p:txBody>
      </p:sp>
      <p:sp>
        <p:nvSpPr>
          <p:cNvPr id="16" name="Text 14"/>
          <p:cNvSpPr txBox="1"/>
          <p:nvPr/>
        </p:nvSpPr>
        <p:spPr>
          <a:xfrm>
            <a:off x="4617720" y="2715768"/>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STYLE  월 5천원</a:t>
            </a:r>
            <a:endParaRPr lang="en-US" sz="1200" dirty="0"/>
          </a:p>
        </p:txBody>
      </p:sp>
      <p:sp>
        <p:nvSpPr>
          <p:cNvPr id="17" name="Text 15"/>
          <p:cNvSpPr txBox="1"/>
          <p:nvPr/>
        </p:nvSpPr>
        <p:spPr>
          <a:xfrm>
            <a:off x="4617720" y="3099816"/>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PLAY  월 5천원</a:t>
            </a:r>
            <a:endParaRPr lang="en-US" sz="1200" dirty="0"/>
          </a:p>
        </p:txBody>
      </p:sp>
      <p:sp>
        <p:nvSpPr>
          <p:cNvPr id="18" name="Text 16"/>
          <p:cNvSpPr txBox="1"/>
          <p:nvPr/>
        </p:nvSpPr>
        <p:spPr>
          <a:xfrm>
            <a:off x="454456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‘5천원’ 검색은 세 혜택을 모두 찾지만, 어느 혜택의 한도인지는 표 구조가 있어야 확정됩니다.</a:t>
            </a:r>
            <a:endParaRPr lang="en-US" sz="1300" dirty="0"/>
          </a:p>
        </p:txBody>
      </p:sp>
      <p:sp>
        <p:nvSpPr>
          <p:cNvPr id="19" name="Text 17"/>
          <p:cNvSpPr txBox="1"/>
          <p:nvPr/>
        </p:nvSpPr>
        <p:spPr>
          <a:xfrm>
            <a:off x="8339328" y="2286000"/>
            <a:ext cx="3099816" cy="274320"/>
          </a:xfrm>
          <a:prstGeom prst="rect">
            <a:avLst/>
          </a:prstGeom>
          <a:noFill/>
          <a:ln/>
        </p:spPr>
        <p:txBody>
          <a:bodyPr wrap="square" lIns="0" tIns="0" rIns="0" bIns="0" rtlCol="0" anchor="t"/>
          <a:lstStyle/>
          <a:p>
            <a:pPr indent="0" marL="0">
              <a:buNone/>
            </a:pPr>
            <a:r>
              <a:rPr lang="en-US" sz="1200" i="1" dirty="0">
                <a:solidFill>
                  <a:srgbClr val="5B6778"/>
                </a:solidFill>
                <a:latin typeface="Malgun Gothic" pitchFamily="34" charset="0"/>
                <a:ea typeface="Malgun Gothic" pitchFamily="34" charset="-122"/>
                <a:cs typeface="Malgun Gothic" pitchFamily="34" charset="-120"/>
              </a:rPr>
              <a:t>“PG·간편결제 가맹점으로 분류되는 경우 …”</a:t>
            </a:r>
            <a:endParaRPr lang="en-US" sz="1200" dirty="0"/>
          </a:p>
        </p:txBody>
      </p:sp>
      <p:sp>
        <p:nvSpPr>
          <p:cNvPr id="20" name="Text 18"/>
          <p:cNvSpPr txBox="1"/>
          <p:nvPr/>
        </p:nvSpPr>
        <p:spPr>
          <a:xfrm>
            <a:off x="8412480" y="2606040"/>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하나 ONE PICK</a:t>
            </a:r>
            <a:endParaRPr lang="en-US" sz="1200" dirty="0"/>
          </a:p>
        </p:txBody>
      </p:sp>
      <p:sp>
        <p:nvSpPr>
          <p:cNvPr id="21" name="Text 19"/>
          <p:cNvSpPr txBox="1"/>
          <p:nvPr/>
        </p:nvSpPr>
        <p:spPr>
          <a:xfrm>
            <a:off x="9921240" y="2606040"/>
            <a:ext cx="1463040" cy="283464"/>
          </a:xfrm>
          <a:prstGeom prst="roundRect">
            <a:avLst>
              <a:gd name="adj" fmla="val 19355"/>
            </a:avLst>
          </a:prstGeom>
          <a:solidFill>
            <a:srgbClr val="E3F4F1"/>
          </a:solidFill>
          <a:ln>
            <a:solidFill>
              <a:srgbClr val="E3F4F1"/>
            </a:solidFill>
          </a:ln>
        </p:spPr>
        <p:txBody>
          <a:bodyPr wrap="square" lIns="38100" tIns="38100" rIns="38100" bIns="38100" rtlCol="0" anchor="ctr"/>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혜택 제공</a:t>
            </a:r>
            <a:endParaRPr lang="en-US" sz="1200" dirty="0"/>
          </a:p>
        </p:txBody>
      </p:sp>
      <p:sp>
        <p:nvSpPr>
          <p:cNvPr id="22" name="Text 20"/>
          <p:cNvSpPr txBox="1"/>
          <p:nvPr/>
        </p:nvSpPr>
        <p:spPr>
          <a:xfrm>
            <a:off x="8412480" y="2944368"/>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Youth Club</a:t>
            </a:r>
            <a:endParaRPr lang="en-US" sz="1200" dirty="0"/>
          </a:p>
        </p:txBody>
      </p:sp>
      <p:sp>
        <p:nvSpPr>
          <p:cNvPr id="23" name="Text 21"/>
          <p:cNvSpPr txBox="1"/>
          <p:nvPr/>
        </p:nvSpPr>
        <p:spPr>
          <a:xfrm>
            <a:off x="9921240" y="2944368"/>
            <a:ext cx="1463040" cy="283464"/>
          </a:xfrm>
          <a:prstGeom prst="roundRect">
            <a:avLst>
              <a:gd name="adj" fmla="val 19355"/>
            </a:avLst>
          </a:prstGeom>
          <a:solidFill>
            <a:srgbClr val="FBE6E2"/>
          </a:solidFill>
          <a:ln>
            <a:solidFill>
              <a:srgbClr val="FBE6E2"/>
            </a:solidFill>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제외</a:t>
            </a:r>
            <a:endParaRPr lang="en-US" sz="1200" dirty="0"/>
          </a:p>
        </p:txBody>
      </p:sp>
      <p:sp>
        <p:nvSpPr>
          <p:cNvPr id="24" name="Text 22"/>
          <p:cNvSpPr txBox="1"/>
          <p:nvPr/>
        </p:nvSpPr>
        <p:spPr>
          <a:xfrm>
            <a:off x="8412480" y="3282696"/>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첵첵</a:t>
            </a:r>
            <a:endParaRPr lang="en-US" sz="1200" dirty="0"/>
          </a:p>
        </p:txBody>
      </p:sp>
      <p:sp>
        <p:nvSpPr>
          <p:cNvPr id="25" name="Text 23"/>
          <p:cNvSpPr txBox="1"/>
          <p:nvPr/>
        </p:nvSpPr>
        <p:spPr>
          <a:xfrm>
            <a:off x="9921240" y="3282696"/>
            <a:ext cx="1463040" cy="283464"/>
          </a:xfrm>
          <a:prstGeom prst="roundRect">
            <a:avLst>
              <a:gd name="adj" fmla="val 1935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제외될 수 있음</a:t>
            </a:r>
            <a:endParaRPr lang="en-US" sz="1200" dirty="0"/>
          </a:p>
        </p:txBody>
      </p:sp>
      <p:sp>
        <p:nvSpPr>
          <p:cNvPr id="26" name="Text 24"/>
          <p:cNvSpPr txBox="1"/>
          <p:nvPr/>
        </p:nvSpPr>
        <p:spPr>
          <a:xfrm>
            <a:off x="833932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문구가 같다고 같은 규칙으로 합치면 틀린 답이 됩니다. (타사는 비교용, 프로젝트 범위는 하나카드)</a:t>
            </a:r>
            <a:endParaRPr lang="en-US" sz="1300" dirty="0"/>
          </a:p>
        </p:txBody>
      </p:sp>
      <p:sp>
        <p:nvSpPr>
          <p:cNvPr id="27" name="Text 25"/>
          <p:cNvSpPr txBox="1"/>
          <p:nvPr/>
        </p:nvSpPr>
        <p:spPr>
          <a:xfrm>
            <a:off x="548640" y="4983480"/>
            <a:ext cx="11094415" cy="658368"/>
          </a:xfrm>
          <a:prstGeom prst="roundRect">
            <a:avLst>
              <a:gd name="adj" fmla="val 11111"/>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FFFFFF"/>
                </a:solidFill>
                <a:latin typeface="Malgun Gothic" pitchFamily="34" charset="0"/>
                <a:ea typeface="Malgun Gothic" pitchFamily="34" charset="-122"/>
                <a:cs typeface="Malgun Gothic" pitchFamily="34" charset="-120"/>
              </a:rPr>
              <a:t>필요한 것:  원문 위치 보존(M1) · 근거 문장 필수 추출(M3·M4) · 정책 단위 정규화(M5) · 원문 대조 검증(M8)</a:t>
            </a:r>
            <a:endParaRPr lang="en-US" sz="14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card_pdf_structuring_validation.md (PyMuPDF 1.28.2·pdfplumber 0.11.10 기본 옵션 표본 검증) · card_scope_comparison_claude.md §5-3</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05   분석 범위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현재 4종 원문 대조, 목표는 체크·신용 약 10종입니다</a:t>
            </a:r>
            <a:endParaRPr lang="en-US" sz="2400" dirty="0"/>
          </a:p>
        </p:txBody>
      </p:sp>
      <p:sp>
        <p:nvSpPr>
          <p:cNvPr id="4" name="Text 2"/>
          <p:cNvSpPr txBox="1"/>
          <p:nvPr/>
        </p:nvSpPr>
        <p:spPr>
          <a:xfrm>
            <a:off x="11057839" y="329184"/>
            <a:ext cx="58521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목표</a:t>
            </a:r>
            <a:endParaRPr lang="en-US" sz="1100" dirty="0"/>
          </a:p>
        </p:txBody>
      </p:sp>
      <p:sp>
        <p:nvSpPr>
          <p:cNvPr id="5" name="Text 3"/>
          <p:cNvSpPr txBox="1"/>
          <p:nvPr/>
        </p:nvSpPr>
        <p:spPr>
          <a:xfrm>
            <a:off x="1010686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4937760" cy="292608"/>
          </a:xfrm>
          <a:prstGeom prst="rect">
            <a:avLst/>
          </a:prstGeom>
          <a:noFill/>
          <a:ln/>
        </p:spPr>
        <p:txBody>
          <a:bodyPr wrap="square" lIns="0" tIns="0" rIns="0" bIns="0" rtlCol="0" anchor="t"/>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완료 — 상품설명서 원문 대조 4종</a:t>
            </a:r>
            <a:endParaRPr lang="en-US" sz="1400" dirty="0"/>
          </a:p>
        </p:txBody>
      </p:sp>
      <p:sp>
        <p:nvSpPr>
          <p:cNvPr id="7" name="Shape 5"/>
          <p:cNvSpPr/>
          <p:nvPr/>
        </p:nvSpPr>
        <p:spPr>
          <a:xfrm>
            <a:off x="548640" y="2084832"/>
            <a:ext cx="2377440" cy="841248"/>
          </a:xfrm>
          <a:prstGeom prst="roundRect">
            <a:avLst>
              <a:gd name="adj" fmla="val 10870"/>
            </a:avLst>
          </a:prstGeom>
          <a:solidFill>
            <a:srgbClr val="E3F4F1"/>
          </a:solidFill>
          <a:ln w="12700">
            <a:solidFill>
              <a:srgbClr val="159A8C"/>
            </a:solidFill>
            <a:prstDash val="solid"/>
          </a:ln>
        </p:spPr>
      </p:sp>
      <p:sp>
        <p:nvSpPr>
          <p:cNvPr id="8" name="Text 6"/>
          <p:cNvSpPr txBox="1"/>
          <p:nvPr/>
        </p:nvSpPr>
        <p:spPr>
          <a:xfrm>
            <a:off x="685800" y="2212848"/>
            <a:ext cx="566928" cy="274320"/>
          </a:xfrm>
          <a:prstGeom prst="roundRect">
            <a:avLst>
              <a:gd name="adj" fmla="val 20000"/>
            </a:avLst>
          </a:prstGeom>
          <a:solidFill>
            <a:srgbClr val="159A8C"/>
          </a:solidFill>
          <a:ln>
            <a:solidFill>
              <a:srgbClr val="159A8C"/>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체크</a:t>
            </a:r>
            <a:endParaRPr lang="en-US" sz="1100" dirty="0"/>
          </a:p>
        </p:txBody>
      </p:sp>
      <p:sp>
        <p:nvSpPr>
          <p:cNvPr id="9" name="Text 7"/>
          <p:cNvSpPr txBox="1"/>
          <p:nvPr/>
        </p:nvSpPr>
        <p:spPr>
          <a:xfrm>
            <a:off x="1325880" y="219456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ONE PICK STYLE</a:t>
            </a:r>
            <a:endParaRPr lang="en-US" sz="1300" dirty="0"/>
          </a:p>
        </p:txBody>
      </p:sp>
      <p:sp>
        <p:nvSpPr>
          <p:cNvPr id="10" name="Text 8"/>
          <p:cNvSpPr txBox="1"/>
          <p:nvPr/>
        </p:nvSpPr>
        <p:spPr>
          <a:xfrm>
            <a:off x="685800" y="258775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15650_20260429</a:t>
            </a:r>
            <a:endParaRPr lang="en-US" sz="1100" dirty="0"/>
          </a:p>
        </p:txBody>
      </p:sp>
      <p:sp>
        <p:nvSpPr>
          <p:cNvPr id="11" name="Shape 9"/>
          <p:cNvSpPr/>
          <p:nvPr/>
        </p:nvSpPr>
        <p:spPr>
          <a:xfrm>
            <a:off x="3063240" y="2084832"/>
            <a:ext cx="2377440" cy="841248"/>
          </a:xfrm>
          <a:prstGeom prst="roundRect">
            <a:avLst>
              <a:gd name="adj" fmla="val 10870"/>
            </a:avLst>
          </a:prstGeom>
          <a:solidFill>
            <a:srgbClr val="E3F4F1"/>
          </a:solidFill>
          <a:ln w="12700">
            <a:solidFill>
              <a:srgbClr val="159A8C"/>
            </a:solidFill>
            <a:prstDash val="solid"/>
          </a:ln>
        </p:spPr>
      </p:sp>
      <p:sp>
        <p:nvSpPr>
          <p:cNvPr id="12" name="Text 10"/>
          <p:cNvSpPr txBox="1"/>
          <p:nvPr/>
        </p:nvSpPr>
        <p:spPr>
          <a:xfrm>
            <a:off x="3200400" y="2212848"/>
            <a:ext cx="566928" cy="274320"/>
          </a:xfrm>
          <a:prstGeom prst="roundRect">
            <a:avLst>
              <a:gd name="adj" fmla="val 20000"/>
            </a:avLst>
          </a:prstGeom>
          <a:solidFill>
            <a:srgbClr val="159A8C"/>
          </a:solidFill>
          <a:ln>
            <a:solidFill>
              <a:srgbClr val="159A8C"/>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체크</a:t>
            </a:r>
            <a:endParaRPr lang="en-US" sz="1100" dirty="0"/>
          </a:p>
        </p:txBody>
      </p:sp>
      <p:sp>
        <p:nvSpPr>
          <p:cNvPr id="13" name="Text 11"/>
          <p:cNvSpPr txBox="1"/>
          <p:nvPr/>
        </p:nvSpPr>
        <p:spPr>
          <a:xfrm>
            <a:off x="3840480" y="219456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ONE PICK PLAY</a:t>
            </a:r>
            <a:endParaRPr lang="en-US" sz="1300" dirty="0"/>
          </a:p>
        </p:txBody>
      </p:sp>
      <p:sp>
        <p:nvSpPr>
          <p:cNvPr id="14" name="Text 12"/>
          <p:cNvSpPr txBox="1"/>
          <p:nvPr/>
        </p:nvSpPr>
        <p:spPr>
          <a:xfrm>
            <a:off x="3200400" y="258775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15651_20260429</a:t>
            </a:r>
            <a:endParaRPr lang="en-US" sz="1100" dirty="0"/>
          </a:p>
        </p:txBody>
      </p:sp>
      <p:sp>
        <p:nvSpPr>
          <p:cNvPr id="15" name="Shape 13"/>
          <p:cNvSpPr/>
          <p:nvPr/>
        </p:nvSpPr>
        <p:spPr>
          <a:xfrm>
            <a:off x="548640" y="3044952"/>
            <a:ext cx="2377440" cy="841248"/>
          </a:xfrm>
          <a:prstGeom prst="roundRect">
            <a:avLst>
              <a:gd name="adj" fmla="val 10870"/>
            </a:avLst>
          </a:prstGeom>
          <a:solidFill>
            <a:srgbClr val="E3F4F1"/>
          </a:solidFill>
          <a:ln w="12700">
            <a:solidFill>
              <a:srgbClr val="159A8C"/>
            </a:solidFill>
            <a:prstDash val="solid"/>
          </a:ln>
        </p:spPr>
      </p:sp>
      <p:sp>
        <p:nvSpPr>
          <p:cNvPr id="16" name="Text 14"/>
          <p:cNvSpPr txBox="1"/>
          <p:nvPr/>
        </p:nvSpPr>
        <p:spPr>
          <a:xfrm>
            <a:off x="685800" y="3172968"/>
            <a:ext cx="566928" cy="274320"/>
          </a:xfrm>
          <a:prstGeom prst="roundRect">
            <a:avLst>
              <a:gd name="adj" fmla="val 20000"/>
            </a:avLst>
          </a:prstGeom>
          <a:solidFill>
            <a:srgbClr val="0E1A2B"/>
          </a:solidFill>
          <a:ln>
            <a:solidFill>
              <a:srgbClr val="0E1A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신용</a:t>
            </a:r>
            <a:endParaRPr lang="en-US" sz="1100" dirty="0"/>
          </a:p>
        </p:txBody>
      </p:sp>
      <p:sp>
        <p:nvSpPr>
          <p:cNvPr id="17" name="Text 15"/>
          <p:cNvSpPr txBox="1"/>
          <p:nvPr/>
        </p:nvSpPr>
        <p:spPr>
          <a:xfrm>
            <a:off x="1325880" y="315468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BT</a:t>
            </a:r>
            <a:endParaRPr lang="en-US" sz="1300" dirty="0"/>
          </a:p>
        </p:txBody>
      </p:sp>
      <p:sp>
        <p:nvSpPr>
          <p:cNvPr id="18" name="Text 16"/>
          <p:cNvSpPr txBox="1"/>
          <p:nvPr/>
        </p:nvSpPr>
        <p:spPr>
          <a:xfrm>
            <a:off x="685800" y="354787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14324_20260310</a:t>
            </a:r>
            <a:endParaRPr lang="en-US" sz="1100" dirty="0"/>
          </a:p>
        </p:txBody>
      </p:sp>
      <p:sp>
        <p:nvSpPr>
          <p:cNvPr id="19" name="Shape 17"/>
          <p:cNvSpPr/>
          <p:nvPr/>
        </p:nvSpPr>
        <p:spPr>
          <a:xfrm>
            <a:off x="3063240" y="3044952"/>
            <a:ext cx="2377440" cy="841248"/>
          </a:xfrm>
          <a:prstGeom prst="roundRect">
            <a:avLst>
              <a:gd name="adj" fmla="val 10870"/>
            </a:avLst>
          </a:prstGeom>
          <a:solidFill>
            <a:srgbClr val="E3F4F1"/>
          </a:solidFill>
          <a:ln w="12700">
            <a:solidFill>
              <a:srgbClr val="159A8C"/>
            </a:solidFill>
            <a:prstDash val="solid"/>
          </a:ln>
        </p:spPr>
      </p:sp>
      <p:sp>
        <p:nvSpPr>
          <p:cNvPr id="20" name="Text 18"/>
          <p:cNvSpPr txBox="1"/>
          <p:nvPr/>
        </p:nvSpPr>
        <p:spPr>
          <a:xfrm>
            <a:off x="3200400" y="3172968"/>
            <a:ext cx="566928" cy="274320"/>
          </a:xfrm>
          <a:prstGeom prst="roundRect">
            <a:avLst>
              <a:gd name="adj" fmla="val 20000"/>
            </a:avLst>
          </a:prstGeom>
          <a:solidFill>
            <a:srgbClr val="0E1A2B"/>
          </a:solidFill>
          <a:ln>
            <a:solidFill>
              <a:srgbClr val="0E1A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신용</a:t>
            </a:r>
            <a:endParaRPr lang="en-US" sz="1100" dirty="0"/>
          </a:p>
        </p:txBody>
      </p:sp>
      <p:sp>
        <p:nvSpPr>
          <p:cNvPr id="21" name="Text 19"/>
          <p:cNvSpPr txBox="1"/>
          <p:nvPr/>
        </p:nvSpPr>
        <p:spPr>
          <a:xfrm>
            <a:off x="3840480" y="315468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a:t>
            </a:r>
            <a:endParaRPr lang="en-US" sz="1300" dirty="0"/>
          </a:p>
        </p:txBody>
      </p:sp>
      <p:sp>
        <p:nvSpPr>
          <p:cNvPr id="22" name="Text 20"/>
          <p:cNvSpPr txBox="1"/>
          <p:nvPr/>
        </p:nvSpPr>
        <p:spPr>
          <a:xfrm>
            <a:off x="3200400" y="354787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14422_20251224</a:t>
            </a:r>
            <a:endParaRPr lang="en-US" sz="1100" dirty="0"/>
          </a:p>
        </p:txBody>
      </p:sp>
      <p:sp>
        <p:nvSpPr>
          <p:cNvPr id="23" name="Text 21"/>
          <p:cNvSpPr txBox="1"/>
          <p:nvPr/>
        </p:nvSpPr>
        <p:spPr>
          <a:xfrm>
            <a:off x="548640" y="4069080"/>
            <a:ext cx="4892040" cy="960120"/>
          </a:xfrm>
          <a:prstGeom prst="roundRect">
            <a:avLst>
              <a:gd name="adj" fmla="val 7619"/>
            </a:avLst>
          </a:prstGeom>
          <a:solidFill>
            <a:srgbClr val="FFFFFF"/>
          </a:solidFill>
          <a:ln w="15875">
            <a:solidFill>
              <a:srgbClr val="A0AAB8"/>
            </a:solidFill>
            <a:prstDash val="dash"/>
          </a:ln>
        </p:spPr>
        <p:txBody>
          <a:bodyPr wrap="square" lIns="152400" tIns="152400" rIns="152400" bIns="152400" rtlCol="0" anchor="ctr"/>
          <a:lstStyle/>
          <a:p>
            <a:pPr algn="l" indent="0" marL="0">
              <a:buNone/>
            </a:pPr>
            <a:r>
              <a:rPr lang="en-US" sz="1400" b="1" dirty="0">
                <a:solidFill>
                  <a:srgbClr val="3A4A60"/>
                </a:solidFill>
                <a:latin typeface="Malgun Gothic" pitchFamily="34" charset="0"/>
                <a:ea typeface="Malgun Gothic" pitchFamily="34" charset="-122"/>
                <a:cs typeface="Malgun Gothic" pitchFamily="34" charset="-120"/>
              </a:rPr>
              <a:t>추가 약 6종 — 미정</a:t>
            </a:r>
            <a:endParaRPr lang="en-US" sz="1300" dirty="0"/>
          </a:p>
          <a:p>
            <a:pPr algn="l" indent="0" marL="0">
              <a:buNone/>
            </a:pPr>
            <a:r>
              <a:rPr lang="en-US" sz="1200" dirty="0">
                <a:solidFill>
                  <a:srgbClr val="5B6778"/>
                </a:solidFill>
                <a:latin typeface="Malgun Gothic" pitchFamily="34" charset="0"/>
                <a:ea typeface="Malgun Gothic" pitchFamily="34" charset="-122"/>
                <a:cs typeface="Malgun Gothic" pitchFamily="34" charset="-120"/>
              </a:rPr>
              <a:t>공식 상품설명서 확인 후 아래 기준으로 선정합니다. 선정 전이므로 카드 이름을 쓰지 않습니다.</a:t>
            </a:r>
            <a:endParaRPr lang="en-US" sz="1300" dirty="0"/>
          </a:p>
        </p:txBody>
      </p:sp>
      <p:sp>
        <p:nvSpPr>
          <p:cNvPr id="24" name="Shape 22"/>
          <p:cNvSpPr/>
          <p:nvPr/>
        </p:nvSpPr>
        <p:spPr>
          <a:xfrm>
            <a:off x="5760720" y="1691640"/>
            <a:ext cx="5882335" cy="960120"/>
          </a:xfrm>
          <a:prstGeom prst="roundRect">
            <a:avLst>
              <a:gd name="adj" fmla="val 9524"/>
            </a:avLst>
          </a:prstGeom>
          <a:solidFill>
            <a:srgbClr val="FDF0DC"/>
          </a:solidFill>
          <a:ln w="12700">
            <a:solidFill>
              <a:srgbClr val="FDF0DC"/>
            </a:solidFill>
            <a:prstDash val="solid"/>
          </a:ln>
        </p:spPr>
      </p:sp>
      <p:sp>
        <p:nvSpPr>
          <p:cNvPr id="25" name="Text 23"/>
          <p:cNvSpPr txBox="1"/>
          <p:nvPr/>
        </p:nvSpPr>
        <p:spPr>
          <a:xfrm>
            <a:off x="5943600" y="1783080"/>
            <a:ext cx="5516575" cy="822960"/>
          </a:xfrm>
          <a:prstGeom prst="rect">
            <a:avLst/>
          </a:prstGeom>
          <a:noFill/>
          <a:ln/>
        </p:spPr>
        <p:txBody>
          <a:bodyPr wrap="square" lIns="0" tIns="0" rIns="0" bIns="0" rtlCol="0" anchor="t"/>
          <a:lstStyle/>
          <a:p>
            <a:pPr indent="0" marL="0">
              <a:lnSpc>
                <a:spcPct val="110000"/>
              </a:lnSpc>
              <a:buNone/>
            </a:pPr>
            <a:r>
              <a:rPr lang="en-US" sz="1400" b="1" dirty="0">
                <a:solidFill>
                  <a:srgbClr val="8F5208"/>
                </a:solidFill>
                <a:latin typeface="Malgun Gothic" pitchFamily="34" charset="0"/>
                <a:ea typeface="Malgun Gothic" pitchFamily="34" charset="-122"/>
                <a:cs typeface="Malgun Gothic" pitchFamily="34" charset="-120"/>
              </a:rPr>
              <a:t>선정 기준</a:t>
            </a:r>
            <a:endParaRPr lang="en-US" sz="1400" dirty="0"/>
          </a:p>
          <a:p>
            <a:pPr indent="0" marL="0">
              <a:lnSpc>
                <a:spcPct val="110000"/>
              </a:lnSpc>
              <a:buNone/>
            </a:pPr>
            <a:r>
              <a:rPr lang="en-US" sz="1300" dirty="0">
                <a:solidFill>
                  <a:srgbClr val="1A2433"/>
                </a:solidFill>
                <a:latin typeface="Malgun Gothic" pitchFamily="34" charset="0"/>
                <a:ea typeface="Malgun Gothic" pitchFamily="34" charset="-122"/>
                <a:cs typeface="Malgun Gothic" pitchFamily="34" charset="-120"/>
              </a:rPr>
              <a:t>무작위가 아니라, 유사한 혜택은 있지만 조건은 다른 체크·신용카드 — 같은 질문에 다른 판단이 나와야 하는 조합</a:t>
            </a:r>
            <a:endParaRPr lang="en-US" sz="1400" dirty="0"/>
          </a:p>
        </p:txBody>
      </p:sp>
      <p:sp>
        <p:nvSpPr>
          <p:cNvPr id="26" name="Text 24"/>
          <p:cNvSpPr txBox="1"/>
          <p:nvPr/>
        </p:nvSpPr>
        <p:spPr>
          <a:xfrm>
            <a:off x="5760720" y="2834640"/>
            <a:ext cx="5882335"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비교 축 8개</a:t>
            </a:r>
            <a:endParaRPr lang="en-US" sz="1400" dirty="0"/>
          </a:p>
        </p:txBody>
      </p:sp>
      <p:sp>
        <p:nvSpPr>
          <p:cNvPr id="27" name="Text 25"/>
          <p:cNvSpPr txBox="1"/>
          <p:nvPr/>
        </p:nvSpPr>
        <p:spPr>
          <a:xfrm>
            <a:off x="5760720" y="32004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1  공통·유사 혜택</a:t>
            </a:r>
            <a:endParaRPr lang="en-US" sz="1300" dirty="0"/>
          </a:p>
        </p:txBody>
      </p:sp>
      <p:sp>
        <p:nvSpPr>
          <p:cNvPr id="28" name="Text 26"/>
          <p:cNvSpPr txBox="1"/>
          <p:nvPr/>
        </p:nvSpPr>
        <p:spPr>
          <a:xfrm>
            <a:off x="8770468" y="32004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2  체크·신용 조건 차이</a:t>
            </a:r>
            <a:endParaRPr lang="en-US" sz="1300" dirty="0"/>
          </a:p>
        </p:txBody>
      </p:sp>
      <p:sp>
        <p:nvSpPr>
          <p:cNvPr id="29" name="Text 27"/>
          <p:cNvSpPr txBox="1"/>
          <p:nvPr/>
        </p:nvSpPr>
        <p:spPr>
          <a:xfrm>
            <a:off x="5760720" y="36576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3  전월실적</a:t>
            </a:r>
            <a:endParaRPr lang="en-US" sz="1300" dirty="0"/>
          </a:p>
        </p:txBody>
      </p:sp>
      <p:sp>
        <p:nvSpPr>
          <p:cNvPr id="30" name="Text 28"/>
          <p:cNvSpPr txBox="1"/>
          <p:nvPr/>
        </p:nvSpPr>
        <p:spPr>
          <a:xfrm>
            <a:off x="8770468" y="36576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4  실적 제외</a:t>
            </a:r>
            <a:endParaRPr lang="en-US" sz="1300" dirty="0"/>
          </a:p>
        </p:txBody>
      </p:sp>
      <p:sp>
        <p:nvSpPr>
          <p:cNvPr id="31" name="Text 29"/>
          <p:cNvSpPr txBox="1"/>
          <p:nvPr/>
        </p:nvSpPr>
        <p:spPr>
          <a:xfrm>
            <a:off x="5760720" y="41148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5  할인·적립 제외</a:t>
            </a:r>
            <a:endParaRPr lang="en-US" sz="1300" dirty="0"/>
          </a:p>
        </p:txBody>
      </p:sp>
      <p:sp>
        <p:nvSpPr>
          <p:cNvPr id="32" name="Text 30"/>
          <p:cNvSpPr txBox="1"/>
          <p:nvPr/>
        </p:nvSpPr>
        <p:spPr>
          <a:xfrm>
            <a:off x="8770468" y="41148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6  월 한도</a:t>
            </a:r>
            <a:endParaRPr lang="en-US" sz="1300" dirty="0"/>
          </a:p>
        </p:txBody>
      </p:sp>
      <p:sp>
        <p:nvSpPr>
          <p:cNvPr id="33" name="Text 31"/>
          <p:cNvSpPr txBox="1"/>
          <p:nvPr/>
        </p:nvSpPr>
        <p:spPr>
          <a:xfrm>
            <a:off x="5760720" y="45720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7  혜택별 적용 범위</a:t>
            </a:r>
            <a:endParaRPr lang="en-US" sz="1300" dirty="0"/>
          </a:p>
        </p:txBody>
      </p:sp>
      <p:sp>
        <p:nvSpPr>
          <p:cNvPr id="34" name="Text 32"/>
          <p:cNvSpPr txBox="1"/>
          <p:nvPr/>
        </p:nvSpPr>
        <p:spPr>
          <a:xfrm>
            <a:off x="8770468" y="45720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8  원문 근거</a:t>
            </a:r>
            <a:endParaRPr lang="en-US" sz="1300" dirty="0"/>
          </a:p>
        </p:txBody>
      </p:sp>
      <p:sp>
        <p:nvSpPr>
          <p:cNvPr id="35" name="Text 33"/>
          <p:cNvSpPr txBox="1"/>
          <p:nvPr/>
        </p:nvSpPr>
        <p:spPr>
          <a:xfrm>
            <a:off x="548640" y="525780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발표의 수치·시연은 모두 4종 원문 기준입니다. 약 10종은 목표이며, 선정·적재·검증은 완료 전입니다.</a:t>
            </a:r>
            <a:endParaRPr lang="en-US" sz="1600" dirty="0"/>
          </a:p>
        </p:txBody>
      </p:sp>
      <p:sp>
        <p:nvSpPr>
          <p:cNvPr id="36" name="Text 3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card_scope_comparison.md: 하나카드 PDF 9종 확보 기록(문서에 따라 12종 표기) · 약 10종 최종 선정 미완료 · 원문 PDF는 저장소에 넣지 않음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06   왜 GraphRAG인가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“SQL이나 일반 RAG로도 되지 않나요?” — 됩니다. 차이는 관계 경로를 다루는 방식입니다</a:t>
            </a:r>
            <a:endParaRPr lang="en-US" sz="2400" dirty="0"/>
          </a:p>
        </p:txBody>
      </p:sp>
      <p:sp>
        <p:nvSpPr>
          <p:cNvPr id="4" name="Text 2"/>
          <p:cNvSpPr txBox="1"/>
          <p:nvPr/>
        </p:nvSpPr>
        <p:spPr>
          <a:xfrm>
            <a:off x="10372039" y="329184"/>
            <a:ext cx="127101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가설 · 검증 예정</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286000"/>
                <a:gridCol w="3044952"/>
                <a:gridCol w="2880360"/>
                <a:gridCol w="2880360"/>
              </a:tblGrid>
              <a:tr h="42976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비교 기준</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PostgreSQL + 구조화 조건 + LLM</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Neo4j GraphRAG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단순 혜택 검색</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유사 청크 검색으로 충분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정규화된 조건 조회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패턴 매칭 — 차이 작음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혜택별 조건 적용 범위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문맥 의존, 실적/혜택 제외 혼동 위험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scope 컬럼으로 표현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 속성(scope)으로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복수 제외 조건–조항 연결</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출처는 남지만 조건–조항 연결 없음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근거 키 JOIN으로 연결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조건·조항이 경로로 함께 반환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판단 근거 경로의 명시적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생성 답변에 경로가 남지 않음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결과는 남지만 경로는 쿼리로 재구성</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카드→혜택→조건→조항 경로가 결과</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변경 영향 탐색</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영향 목록의 완전성 보장 불가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다중 JOIN·재귀 CTE, 관계 유형이 늘수록 복잡</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가변 길이 경로 탐색으로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오류 원인 추적</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검색된 청크 로그만 남음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쿼리 로그 + JOIN 재현 필요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관계별 근거 속성으로 잘못된 관계 특정</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모델링·구현·유지보수 비용</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가장 낮음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팀 기존 역량, DB 설계 초안 보유</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Neo4j 인프라·온톨로지·추출 품질 관리</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548640" y="5230368"/>
            <a:ext cx="11094415" cy="256032"/>
          </a:xfrm>
          <a:prstGeom prst="rect">
            <a:avLst/>
          </a:prstGeom>
          <a:noFill/>
          <a:ln/>
        </p:spPr>
        <p:txBody>
          <a:bodyPr wrap="square" lIns="0" tIns="0" rIns="0" bIns="0" rtlCol="0" anchor="t"/>
          <a:lstStyle/>
          <a:p>
            <a:pPr algn="r" indent="0" marL="0">
              <a:buNone/>
            </a:pPr>
            <a:r>
              <a:rPr lang="en-US" sz="1100" dirty="0">
                <a:solidFill>
                  <a:srgbClr val="5B6778"/>
                </a:solidFill>
                <a:latin typeface="Malgun Gothic" pitchFamily="34" charset="0"/>
                <a:ea typeface="Malgun Gothic" pitchFamily="34" charset="-122"/>
                <a:cs typeface="Malgun Gothic" pitchFamily="34" charset="-120"/>
              </a:rPr>
              <a:t>○ 적합 예상  △ 조건부  × 어려움 예상 — 설계·문헌 기반 예상이며 실험 전입니다 (정확도·성능 우위를 주장하지 않음)</a:t>
            </a:r>
            <a:endParaRPr lang="en-US" sz="1100" dirty="0"/>
          </a:p>
        </p:txBody>
      </p:sp>
      <p:sp>
        <p:nvSpPr>
          <p:cNvPr id="7" name="Text 4"/>
          <p:cNvSpPr txBox="1"/>
          <p:nvPr/>
        </p:nvSpPr>
        <p:spPr>
          <a:xfrm>
            <a:off x="548640" y="5532120"/>
            <a:ext cx="11094415" cy="777240"/>
          </a:xfrm>
          <a:prstGeom prst="roundRect">
            <a:avLst>
              <a:gd name="adj" fmla="val 9412"/>
            </a:avLst>
          </a:prstGeom>
          <a:solidFill>
            <a:srgbClr val="FDF0DC"/>
          </a:solidFill>
          <a:ln>
            <a:solidFill>
              <a:srgbClr val="FDF0DC"/>
            </a:solidFill>
          </a:ln>
        </p:spPr>
        <p:txBody>
          <a:bodyPr wrap="square" lIns="177800" tIns="177800" rIns="177800" bIns="177800" rtlCol="0" anchor="ctr"/>
          <a:lstStyle/>
          <a:p>
            <a:pPr algn="l" indent="0" marL="0">
              <a:buNone/>
            </a:pPr>
            <a:r>
              <a:rPr lang="en-US" sz="1400" b="1" dirty="0">
                <a:solidFill>
                  <a:srgbClr val="0E1A2B"/>
                </a:solidFill>
                <a:latin typeface="Malgun Gothic" pitchFamily="34" charset="0"/>
                <a:ea typeface="Malgun Gothic" pitchFamily="34" charset="-122"/>
                <a:cs typeface="Malgun Gothic" pitchFamily="34" charset="-120"/>
              </a:rPr>
              <a:t>우리의 주장은 ‘GraphRAG가 항상 더 정확하다’가 아닙니다. </a:t>
            </a:r>
            <a:pPr algn="l" indent="0" marL="0">
              <a:buNone/>
            </a:pPr>
            <a:r>
              <a:rPr lang="en-US" sz="1400" dirty="0">
                <a:solidFill>
                  <a:srgbClr val="1A2433"/>
                </a:solidFill>
                <a:latin typeface="Malgun Gothic" pitchFamily="34" charset="0"/>
                <a:ea typeface="Malgun Gothic" pitchFamily="34" charset="-122"/>
                <a:cs typeface="Malgun Gothic" pitchFamily="34" charset="-120"/>
              </a:rPr>
              <a:t>판단 근거 경로를 결과로 함께 남기고, 변경 영향과 오류 위치를 경로로 찾는 일이 더 단순해지는지를 같은 질문으로 세 방식에 던져 확인합니다 (부록 C).</a:t>
            </a:r>
            <a:endParaRPr lang="en-US" sz="1400" dirty="0"/>
          </a:p>
        </p:txBody>
      </p:sp>
      <p:sp>
        <p:nvSpPr>
          <p:cNvPr id="8" name="Text 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현재 4종 대조·약 10종 목표 · SQL 대비 우위는 미검증 · 비교안: sql/hana_card_db_design.md (설계 초안, DB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07   제안 구조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질문에서 원문 근거까지, 하나의 엔진이 판단 경로를 남깁니다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1664208"/>
            <a:ext cx="15544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원천</a:t>
            </a:r>
            <a:endParaRPr lang="en-US" sz="1200" dirty="0"/>
          </a:p>
        </p:txBody>
      </p:sp>
      <p:sp>
        <p:nvSpPr>
          <p:cNvPr id="6" name="Text 4"/>
          <p:cNvSpPr txBox="1"/>
          <p:nvPr/>
        </p:nvSpPr>
        <p:spPr>
          <a:xfrm>
            <a:off x="548640" y="2011680"/>
            <a:ext cx="1554480" cy="2743200"/>
          </a:xfrm>
          <a:prstGeom prst="roundRect">
            <a:avLst>
              <a:gd name="adj" fmla="val 4706"/>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하나카드</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약관 PDF</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4종 대조</a:t>
            </a:r>
            <a:endParaRPr lang="en-US" sz="1400" dirty="0"/>
          </a:p>
          <a:p>
            <a:pPr algn="ctr" indent="0" marL="0">
              <a:buNone/>
            </a:pP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체크·신용</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약 10종 목표</a:t>
            </a:r>
            <a:endParaRPr lang="en-US" sz="1400" dirty="0"/>
          </a:p>
        </p:txBody>
      </p:sp>
      <p:sp>
        <p:nvSpPr>
          <p:cNvPr id="7" name="Shape 5"/>
          <p:cNvSpPr/>
          <p:nvPr/>
        </p:nvSpPr>
        <p:spPr>
          <a:xfrm>
            <a:off x="2130552" y="3383280"/>
            <a:ext cx="274320" cy="0"/>
          </a:xfrm>
          <a:prstGeom prst="line">
            <a:avLst/>
          </a:prstGeom>
          <a:noFill/>
          <a:ln w="19050">
            <a:solidFill>
              <a:srgbClr val="8A94A3"/>
            </a:solidFill>
            <a:prstDash val="solid"/>
            <a:tailEnd type="triangle"/>
          </a:ln>
        </p:spPr>
      </p:sp>
      <p:sp>
        <p:nvSpPr>
          <p:cNvPr id="8" name="Text 6"/>
          <p:cNvSpPr txBox="1"/>
          <p:nvPr/>
        </p:nvSpPr>
        <p:spPr>
          <a:xfrm>
            <a:off x="2450592" y="1664208"/>
            <a:ext cx="214884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지식화 파이프라인</a:t>
            </a:r>
            <a:endParaRPr lang="en-US" sz="1200" dirty="0"/>
          </a:p>
        </p:txBody>
      </p:sp>
      <p:sp>
        <p:nvSpPr>
          <p:cNvPr id="9" name="Text 7"/>
          <p:cNvSpPr txBox="1"/>
          <p:nvPr/>
        </p:nvSpPr>
        <p:spPr>
          <a:xfrm>
            <a:off x="2450592" y="2011680"/>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M1 전처리·청크</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원문 위치 보존</a:t>
            </a:r>
            <a:endParaRPr lang="en-US" sz="1200" dirty="0"/>
          </a:p>
        </p:txBody>
      </p:sp>
      <p:sp>
        <p:nvSpPr>
          <p:cNvPr id="10" name="Text 8"/>
          <p:cNvSpPr txBox="1"/>
          <p:nvPr/>
        </p:nvSpPr>
        <p:spPr>
          <a:xfrm>
            <a:off x="2450592" y="2724912"/>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M3·M4 LLM 관계 추출</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근거 문장 필수</a:t>
            </a:r>
            <a:endParaRPr lang="en-US" sz="1200" dirty="0"/>
          </a:p>
        </p:txBody>
      </p:sp>
      <p:sp>
        <p:nvSpPr>
          <p:cNvPr id="11" name="Text 9"/>
          <p:cNvSpPr txBox="1"/>
          <p:nvPr/>
        </p:nvSpPr>
        <p:spPr>
          <a:xfrm>
            <a:off x="2450592" y="3438144"/>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M5 정규화</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정책 단위 병합</a:t>
            </a:r>
            <a:endParaRPr lang="en-US" sz="1200" dirty="0"/>
          </a:p>
        </p:txBody>
      </p:sp>
      <p:sp>
        <p:nvSpPr>
          <p:cNvPr id="12" name="Text 10"/>
          <p:cNvSpPr txBox="1"/>
          <p:nvPr/>
        </p:nvSpPr>
        <p:spPr>
          <a:xfrm>
            <a:off x="2450592" y="4151376"/>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M8 검증</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A·B 교차 대조</a:t>
            </a:r>
            <a:endParaRPr lang="en-US" sz="1200" dirty="0"/>
          </a:p>
        </p:txBody>
      </p:sp>
      <p:sp>
        <p:nvSpPr>
          <p:cNvPr id="13" name="Shape 11"/>
          <p:cNvSpPr/>
          <p:nvPr/>
        </p:nvSpPr>
        <p:spPr>
          <a:xfrm>
            <a:off x="4626864" y="3383280"/>
            <a:ext cx="246888" cy="0"/>
          </a:xfrm>
          <a:prstGeom prst="line">
            <a:avLst/>
          </a:prstGeom>
          <a:noFill/>
          <a:ln w="19050">
            <a:solidFill>
              <a:srgbClr val="8A94A3"/>
            </a:solidFill>
            <a:prstDash val="solid"/>
            <a:tailEnd type="triangle"/>
          </a:ln>
        </p:spPr>
      </p:sp>
      <p:sp>
        <p:nvSpPr>
          <p:cNvPr id="14" name="Text 12"/>
          <p:cNvSpPr txBox="1"/>
          <p:nvPr/>
        </p:nvSpPr>
        <p:spPr>
          <a:xfrm>
            <a:off x="4901184" y="1664208"/>
            <a:ext cx="29260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판단 엔진 · GraphRAG (M6·M7)</a:t>
            </a:r>
            <a:endParaRPr lang="en-US" sz="1200" dirty="0"/>
          </a:p>
        </p:txBody>
      </p:sp>
      <p:sp>
        <p:nvSpPr>
          <p:cNvPr id="15" name="Shape 13"/>
          <p:cNvSpPr/>
          <p:nvPr/>
        </p:nvSpPr>
        <p:spPr>
          <a:xfrm>
            <a:off x="4901184" y="2011680"/>
            <a:ext cx="2926080" cy="2743200"/>
          </a:xfrm>
          <a:prstGeom prst="roundRect">
            <a:avLst>
              <a:gd name="adj" fmla="val 3333"/>
            </a:avLst>
          </a:prstGeom>
          <a:solidFill>
            <a:srgbClr val="0E1A2B"/>
          </a:solidFill>
          <a:ln w="12700">
            <a:solidFill>
              <a:srgbClr val="0E1A2B"/>
            </a:solidFill>
            <a:prstDash val="solid"/>
          </a:ln>
        </p:spPr>
      </p:sp>
      <p:sp>
        <p:nvSpPr>
          <p:cNvPr id="16" name="Text 14"/>
          <p:cNvSpPr txBox="1"/>
          <p:nvPr/>
        </p:nvSpPr>
        <p:spPr>
          <a:xfrm>
            <a:off x="5074920" y="2194560"/>
            <a:ext cx="1143000" cy="384048"/>
          </a:xfrm>
          <a:prstGeom prst="roundRect">
            <a:avLst>
              <a:gd name="adj" fmla="val 28571"/>
            </a:avLst>
          </a:prstGeom>
          <a:solidFill>
            <a:srgbClr val="0E1A2B"/>
          </a:solidFill>
          <a:ln w="12700">
            <a:solidFill>
              <a:srgbClr val="6F7F96"/>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p:txBody>
      </p:sp>
      <p:sp>
        <p:nvSpPr>
          <p:cNvPr id="17" name="Text 15"/>
          <p:cNvSpPr txBox="1"/>
          <p:nvPr/>
        </p:nvSpPr>
        <p:spPr>
          <a:xfrm>
            <a:off x="6510528" y="2194560"/>
            <a:ext cx="1143000" cy="384048"/>
          </a:xfrm>
          <a:prstGeom prst="roundRect">
            <a:avLst>
              <a:gd name="adj" fmla="val 28571"/>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p:txBody>
      </p:sp>
      <p:sp>
        <p:nvSpPr>
          <p:cNvPr id="18" name="Text 16"/>
          <p:cNvSpPr txBox="1"/>
          <p:nvPr/>
        </p:nvSpPr>
        <p:spPr>
          <a:xfrm>
            <a:off x="6510528" y="2761488"/>
            <a:ext cx="1143000" cy="384048"/>
          </a:xfrm>
          <a:prstGeom prst="roundRect">
            <a:avLst>
              <a:gd name="adj" fmla="val 28571"/>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p:txBody>
      </p:sp>
      <p:sp>
        <p:nvSpPr>
          <p:cNvPr id="19" name="Text 17"/>
          <p:cNvSpPr txBox="1"/>
          <p:nvPr/>
        </p:nvSpPr>
        <p:spPr>
          <a:xfrm>
            <a:off x="5074920" y="2761488"/>
            <a:ext cx="1143000" cy="384048"/>
          </a:xfrm>
          <a:prstGeom prst="roundRect">
            <a:avLst>
              <a:gd name="adj" fmla="val 28571"/>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p:txBody>
      </p:sp>
      <p:sp>
        <p:nvSpPr>
          <p:cNvPr id="20" name="Shape 18"/>
          <p:cNvSpPr/>
          <p:nvPr/>
        </p:nvSpPr>
        <p:spPr>
          <a:xfrm>
            <a:off x="6217920" y="2386584"/>
            <a:ext cx="292608" cy="0"/>
          </a:xfrm>
          <a:prstGeom prst="line">
            <a:avLst/>
          </a:prstGeom>
          <a:noFill/>
          <a:ln w="19050">
            <a:solidFill>
              <a:srgbClr val="C9D3E0"/>
            </a:solidFill>
            <a:prstDash val="solid"/>
            <a:tailEnd type="triangle"/>
          </a:ln>
        </p:spPr>
      </p:sp>
      <p:sp>
        <p:nvSpPr>
          <p:cNvPr id="21" name="Shape 19"/>
          <p:cNvSpPr/>
          <p:nvPr/>
        </p:nvSpPr>
        <p:spPr>
          <a:xfrm>
            <a:off x="7082028" y="2578608"/>
            <a:ext cx="0" cy="182880"/>
          </a:xfrm>
          <a:prstGeom prst="line">
            <a:avLst/>
          </a:prstGeom>
          <a:noFill/>
          <a:ln w="19050">
            <a:solidFill>
              <a:srgbClr val="C9D3E0"/>
            </a:solidFill>
            <a:prstDash val="solid"/>
            <a:tailEnd type="triangle"/>
          </a:ln>
        </p:spPr>
      </p:sp>
      <p:sp>
        <p:nvSpPr>
          <p:cNvPr id="22" name="Shape 20"/>
          <p:cNvSpPr/>
          <p:nvPr/>
        </p:nvSpPr>
        <p:spPr>
          <a:xfrm flipH="1">
            <a:off x="6217920" y="2953512"/>
            <a:ext cx="292608" cy="0"/>
          </a:xfrm>
          <a:prstGeom prst="line">
            <a:avLst/>
          </a:prstGeom>
          <a:noFill/>
          <a:ln w="19050">
            <a:solidFill>
              <a:srgbClr val="C9D3E0"/>
            </a:solidFill>
            <a:prstDash val="solid"/>
            <a:tailEnd type="triangle"/>
          </a:ln>
        </p:spPr>
      </p:sp>
      <p:sp>
        <p:nvSpPr>
          <p:cNvPr id="23" name="Text 21"/>
          <p:cNvSpPr txBox="1"/>
          <p:nvPr/>
        </p:nvSpPr>
        <p:spPr>
          <a:xfrm>
            <a:off x="5074920" y="3310128"/>
            <a:ext cx="2697480" cy="137160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Malgun Gothic" pitchFamily="34" charset="0"/>
                <a:ea typeface="Malgun Gothic" pitchFamily="34" charset="-122"/>
                <a:cs typeface="Malgun Gothic" pitchFamily="34" charset="-120"/>
              </a:rPr>
              <a:t>Neo4j 적재 — 근거 속성 보존</a:t>
            </a:r>
            <a:endParaRPr lang="en-US" sz="1200" dirty="0"/>
          </a:p>
          <a:p>
            <a:pPr indent="0" marL="0">
              <a:lnSpc>
                <a:spcPct val="120000"/>
              </a:lnSpc>
              <a:buNone/>
            </a:pPr>
            <a:r>
              <a:rPr lang="en-US" sz="1200" dirty="0">
                <a:solidFill>
                  <a:srgbClr val="FFFFFF"/>
                </a:solidFill>
                <a:latin typeface="Malgun Gothic" pitchFamily="34" charset="0"/>
                <a:ea typeface="Malgun Gothic" pitchFamily="34" charset="-122"/>
                <a:cs typeface="Malgun Gothic" pitchFamily="34" charset="-120"/>
              </a:rPr>
              <a:t>Cypher: 혜택 조회·영향 추적·경로</a:t>
            </a:r>
            <a:endParaRPr lang="en-US" sz="1200" dirty="0"/>
          </a:p>
          <a:p>
            <a:pPr indent="0" marL="0">
              <a:lnSpc>
                <a:spcPct val="120000"/>
              </a:lnSpc>
              <a:buNone/>
            </a:pPr>
            <a:r>
              <a:rPr lang="en-US" sz="1200" b="1" dirty="0">
                <a:solidFill>
                  <a:srgbClr val="E8A33D"/>
                </a:solidFill>
                <a:latin typeface="Malgun Gothic" pitchFamily="34" charset="0"/>
                <a:ea typeface="Malgun Gothic" pitchFamily="34" charset="-122"/>
                <a:cs typeface="Malgun Gothic" pitchFamily="34" charset="-120"/>
              </a:rPr>
              <a:t>판정: 적용 / 미적용 / 판단 불가(사유)</a:t>
            </a:r>
            <a:endParaRPr lang="en-US" sz="1200" dirty="0"/>
          </a:p>
          <a:p>
            <a:pPr indent="0" marL="0">
              <a:lnSpc>
                <a:spcPct val="120000"/>
              </a:lnSpc>
              <a:buNone/>
            </a:pPr>
            <a:r>
              <a:rPr lang="en-US" sz="1200" b="1" dirty="0">
                <a:solidFill>
                  <a:srgbClr val="7FD6C9"/>
                </a:solidFill>
                <a:latin typeface="Malgun Gothic" pitchFamily="34" charset="0"/>
                <a:ea typeface="Malgun Gothic" pitchFamily="34" charset="-122"/>
                <a:cs typeface="Malgun Gothic" pitchFamily="34" charset="-120"/>
              </a:rPr>
              <a:t>판단 실행 기록: 질의·경로·판정·버전</a:t>
            </a:r>
            <a:endParaRPr lang="en-US" sz="1200" dirty="0"/>
          </a:p>
        </p:txBody>
      </p:sp>
      <p:sp>
        <p:nvSpPr>
          <p:cNvPr id="24" name="Shape 22"/>
          <p:cNvSpPr/>
          <p:nvPr/>
        </p:nvSpPr>
        <p:spPr>
          <a:xfrm>
            <a:off x="7854696" y="3383280"/>
            <a:ext cx="246888" cy="0"/>
          </a:xfrm>
          <a:prstGeom prst="line">
            <a:avLst/>
          </a:prstGeom>
          <a:noFill/>
          <a:ln w="19050">
            <a:solidFill>
              <a:srgbClr val="8A94A3"/>
            </a:solidFill>
            <a:prstDash val="solid"/>
            <a:tailEnd type="triangle"/>
          </a:ln>
        </p:spPr>
      </p:sp>
      <p:sp>
        <p:nvSpPr>
          <p:cNvPr id="25" name="Text 23"/>
          <p:cNvSpPr txBox="1"/>
          <p:nvPr/>
        </p:nvSpPr>
        <p:spPr>
          <a:xfrm>
            <a:off x="8138160" y="1664208"/>
            <a:ext cx="141732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연결 계층</a:t>
            </a:r>
            <a:endParaRPr lang="en-US" sz="1200" dirty="0"/>
          </a:p>
        </p:txBody>
      </p:sp>
      <p:sp>
        <p:nvSpPr>
          <p:cNvPr id="26" name="Text 24"/>
          <p:cNvSpPr txBox="1"/>
          <p:nvPr/>
        </p:nvSpPr>
        <p:spPr>
          <a:xfrm>
            <a:off x="8138160" y="2011680"/>
            <a:ext cx="1417320" cy="1143000"/>
          </a:xfrm>
          <a:prstGeom prst="roundRect">
            <a:avLst>
              <a:gd name="adj" fmla="val 6400"/>
            </a:avLst>
          </a:prstGeom>
          <a:solidFill>
            <a:srgbClr val="FFFFFF"/>
          </a:solidFill>
          <a:ln w="15875">
            <a:solidFill>
              <a:srgbClr val="3A4A60"/>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API</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어댑터</a:t>
            </a:r>
            <a:endParaRPr lang="en-US" sz="1300" dirty="0"/>
          </a:p>
        </p:txBody>
      </p:sp>
      <p:sp>
        <p:nvSpPr>
          <p:cNvPr id="27" name="Text 25"/>
          <p:cNvSpPr txBox="1"/>
          <p:nvPr/>
        </p:nvSpPr>
        <p:spPr>
          <a:xfrm>
            <a:off x="8138160" y="3291840"/>
            <a:ext cx="1417320" cy="1463040"/>
          </a:xfrm>
          <a:prstGeom prst="roundRect">
            <a:avLst>
              <a:gd name="adj" fmla="val 5161"/>
            </a:avLst>
          </a:prstGeom>
          <a:solidFill>
            <a:srgbClr val="FFFFFF"/>
          </a:solidFill>
          <a:ln w="25400">
            <a:solidFill>
              <a:srgbClr val="E8A33D"/>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MCP 서버</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얇은 어댑터</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판단 로직 없음</a:t>
            </a:r>
            <a:endParaRPr lang="en-US" sz="1300" dirty="0"/>
          </a:p>
        </p:txBody>
      </p:sp>
      <p:sp>
        <p:nvSpPr>
          <p:cNvPr id="28" name="Text 26"/>
          <p:cNvSpPr txBox="1"/>
          <p:nvPr/>
        </p:nvSpPr>
        <p:spPr>
          <a:xfrm>
            <a:off x="9811512" y="1664208"/>
            <a:ext cx="18288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AI 채널</a:t>
            </a:r>
            <a:endParaRPr lang="en-US" sz="1200" dirty="0"/>
          </a:p>
        </p:txBody>
      </p:sp>
      <p:sp>
        <p:nvSpPr>
          <p:cNvPr id="29" name="Text 27"/>
          <p:cNvSpPr txBox="1"/>
          <p:nvPr/>
        </p:nvSpPr>
        <p:spPr>
          <a:xfrm>
            <a:off x="9811512" y="20116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상품·준법 검토</a:t>
            </a:r>
            <a:endParaRPr lang="en-US" sz="1300" dirty="0"/>
          </a:p>
        </p:txBody>
      </p:sp>
      <p:sp>
        <p:nvSpPr>
          <p:cNvPr id="30" name="Text 28"/>
          <p:cNvSpPr txBox="1"/>
          <p:nvPr/>
        </p:nvSpPr>
        <p:spPr>
          <a:xfrm>
            <a:off x="9811512" y="29260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자사 앱 AI 상담</a:t>
            </a:r>
            <a:endParaRPr lang="en-US" sz="1300" dirty="0"/>
          </a:p>
        </p:txBody>
      </p:sp>
      <p:sp>
        <p:nvSpPr>
          <p:cNvPr id="31" name="Text 29"/>
          <p:cNvSpPr txBox="1"/>
          <p:nvPr/>
        </p:nvSpPr>
        <p:spPr>
          <a:xfrm>
            <a:off x="9811512" y="3840480"/>
            <a:ext cx="1828800" cy="914400"/>
          </a:xfrm>
          <a:prstGeom prst="roundRect">
            <a:avLst>
              <a:gd name="adj" fmla="val 8000"/>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외부 AI 서비스</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클라이언트)</a:t>
            </a:r>
            <a:endParaRPr lang="en-US" sz="1300" dirty="0"/>
          </a:p>
        </p:txBody>
      </p:sp>
      <p:sp>
        <p:nvSpPr>
          <p:cNvPr id="32" name="Shape 30"/>
          <p:cNvSpPr/>
          <p:nvPr/>
        </p:nvSpPr>
        <p:spPr>
          <a:xfrm>
            <a:off x="9555480" y="2395728"/>
            <a:ext cx="246888" cy="0"/>
          </a:xfrm>
          <a:prstGeom prst="line">
            <a:avLst/>
          </a:prstGeom>
          <a:noFill/>
          <a:ln w="19050">
            <a:solidFill>
              <a:srgbClr val="8A94A3"/>
            </a:solidFill>
            <a:prstDash val="solid"/>
            <a:tailEnd type="triangle"/>
          </a:ln>
        </p:spPr>
      </p:sp>
      <p:sp>
        <p:nvSpPr>
          <p:cNvPr id="33" name="Shape 31"/>
          <p:cNvSpPr/>
          <p:nvPr/>
        </p:nvSpPr>
        <p:spPr>
          <a:xfrm>
            <a:off x="9555480" y="2999232"/>
            <a:ext cx="246888" cy="292608"/>
          </a:xfrm>
          <a:prstGeom prst="line">
            <a:avLst/>
          </a:prstGeom>
          <a:noFill/>
          <a:ln w="19050">
            <a:solidFill>
              <a:srgbClr val="8A94A3"/>
            </a:solidFill>
            <a:prstDash val="solid"/>
            <a:tailEnd type="triangle"/>
          </a:ln>
        </p:spPr>
      </p:sp>
      <p:sp>
        <p:nvSpPr>
          <p:cNvPr id="34" name="Shape 32"/>
          <p:cNvSpPr/>
          <p:nvPr/>
        </p:nvSpPr>
        <p:spPr>
          <a:xfrm>
            <a:off x="9555480" y="4206240"/>
            <a:ext cx="246888" cy="91440"/>
          </a:xfrm>
          <a:prstGeom prst="line">
            <a:avLst/>
          </a:prstGeom>
          <a:noFill/>
          <a:ln w="19050">
            <a:solidFill>
              <a:srgbClr val="8A94A3"/>
            </a:solidFill>
            <a:prstDash val="solid"/>
            <a:tailEnd type="triangle"/>
          </a:ln>
        </p:spPr>
      </p:sp>
      <p:sp>
        <p:nvSpPr>
          <p:cNvPr id="35" name="Text 33"/>
          <p:cNvSpPr txBox="1"/>
          <p:nvPr/>
        </p:nvSpPr>
        <p:spPr>
          <a:xfrm>
            <a:off x="9811512" y="4828032"/>
            <a:ext cx="1920240" cy="274320"/>
          </a:xfrm>
          <a:prstGeom prst="rect">
            <a:avLst/>
          </a:prstGeom>
          <a:noFill/>
          <a:ln/>
        </p:spPr>
        <p:txBody>
          <a:bodyPr wrap="square" lIns="0" tIns="0" rIns="0" bIns="0" rtlCol="0" anchor="t"/>
          <a:lstStyle/>
          <a:p>
            <a:pPr indent="0" marL="0">
              <a:buNone/>
            </a:pPr>
            <a:r>
              <a:rPr lang="en-US" sz="1000" b="1" dirty="0">
                <a:solidFill>
                  <a:srgbClr val="6A4FB0"/>
                </a:solidFill>
                <a:latin typeface="Malgun Gothic" pitchFamily="34" charset="0"/>
                <a:ea typeface="Malgun Gothic" pitchFamily="34" charset="-122"/>
                <a:cs typeface="Malgun Gothic" pitchFamily="34" charset="-120"/>
              </a:rPr>
              <a:t>+ 마케팅 정책 계층 (확장 제안)</a:t>
            </a:r>
            <a:endParaRPr lang="en-US" sz="1000" dirty="0"/>
          </a:p>
        </p:txBody>
      </p:sp>
      <p:sp>
        <p:nvSpPr>
          <p:cNvPr id="36" name="Text 34"/>
          <p:cNvSpPr txBox="1"/>
          <p:nvPr/>
        </p:nvSpPr>
        <p:spPr>
          <a:xfrm>
            <a:off x="548640" y="5166360"/>
            <a:ext cx="7278624" cy="868680"/>
          </a:xfrm>
          <a:prstGeom prst="roundRect">
            <a:avLst>
              <a:gd name="adj" fmla="val 8421"/>
            </a:avLst>
          </a:prstGeom>
          <a:solidFill>
            <a:srgbClr val="E3F4F1"/>
          </a:solidFill>
          <a:ln>
            <a:solidFill>
              <a:srgbClr val="E3F4F1"/>
            </a:solidFill>
          </a:ln>
        </p:spPr>
        <p:txBody>
          <a:bodyPr wrap="square" lIns="177800" tIns="177800" rIns="177800" bIns="177800" rtlCol="0" anchor="ctr"/>
          <a:lstStyle/>
          <a:p>
            <a:pPr algn="l" indent="0" marL="0">
              <a:buNone/>
            </a:pPr>
            <a:r>
              <a:rPr lang="en-US" sz="1400" b="1" dirty="0">
                <a:solidFill>
                  <a:srgbClr val="0D6F64"/>
                </a:solidFill>
                <a:latin typeface="Malgun Gothic" pitchFamily="34" charset="0"/>
                <a:ea typeface="Malgun Gothic" pitchFamily="34" charset="-122"/>
                <a:cs typeface="Malgun Gothic" pitchFamily="34" charset="-120"/>
              </a:rPr>
              <a:t>카드사가 보장할 수 있는 것   </a:t>
            </a:r>
            <a:pPr algn="l" indent="0" marL="0">
              <a:buNone/>
            </a:pPr>
            <a:r>
              <a:rPr lang="en-US" sz="1400" dirty="0">
                <a:solidFill>
                  <a:srgbClr val="1A2433"/>
                </a:solidFill>
                <a:latin typeface="Malgun Gothic" pitchFamily="34" charset="0"/>
                <a:ea typeface="Malgun Gothic" pitchFamily="34" charset="-122"/>
                <a:cs typeface="Malgun Gothic" pitchFamily="34" charset="-120"/>
              </a:rPr>
              <a:t>어느 채널이든 같은 조건·근거·판단 경로를 공급하고, 공급 내역을 기록</a:t>
            </a:r>
            <a:endParaRPr lang="en-US" sz="1400" dirty="0"/>
          </a:p>
        </p:txBody>
      </p:sp>
      <p:sp>
        <p:nvSpPr>
          <p:cNvPr id="37" name="Text 35"/>
          <p:cNvSpPr txBox="1"/>
          <p:nvPr/>
        </p:nvSpPr>
        <p:spPr>
          <a:xfrm>
            <a:off x="7982712" y="5166360"/>
            <a:ext cx="3657600" cy="868680"/>
          </a:xfrm>
          <a:prstGeom prst="roundRect">
            <a:avLst>
              <a:gd name="adj" fmla="val 8421"/>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보장할 수 없는 것</a:t>
            </a:r>
            <a:endParaRPr lang="en-US" sz="1400" dirty="0"/>
          </a:p>
          <a:p>
            <a:pPr algn="l" indent="0" marL="0">
              <a:buNone/>
            </a:pPr>
            <a:r>
              <a:rPr lang="en-US" sz="1400" dirty="0">
                <a:solidFill>
                  <a:srgbClr val="1A2433"/>
                </a:solidFill>
                <a:latin typeface="Malgun Gothic" pitchFamily="34" charset="0"/>
                <a:ea typeface="Malgun Gothic" pitchFamily="34" charset="-122"/>
                <a:cs typeface="Malgun Gothic" pitchFamily="34" charset="-120"/>
              </a:rPr>
              <a:t>외부 AI의 호출 여부·요약·문구 표시</a:t>
            </a:r>
            <a:endParaRPr lang="en-US" sz="14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4종 원문 대조 / 약 10종 확대 목표 · 엔진·MCP 미구현 · 현재 구현: 카드 등록·조회 CLI, 쿼리 로그 포매터(QueryLogger)</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08   검증 대상</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원문 근거와 AI 판단 과정은 다릅니다 — 둘 다 남겨야 검증할 수 있습니다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Shape 3"/>
          <p:cNvSpPr/>
          <p:nvPr/>
        </p:nvSpPr>
        <p:spPr>
          <a:xfrm>
            <a:off x="548640" y="1691640"/>
            <a:ext cx="4663440" cy="2971800"/>
          </a:xfrm>
          <a:prstGeom prst="roundRect">
            <a:avLst>
              <a:gd name="adj" fmla="val 3077"/>
            </a:avLst>
          </a:prstGeom>
          <a:solidFill>
            <a:srgbClr val="FFFFFF"/>
          </a:solidFill>
          <a:ln w="15875">
            <a:solidFill>
              <a:srgbClr val="159A8C"/>
            </a:solidFill>
            <a:prstDash val="solid"/>
          </a:ln>
        </p:spPr>
      </p:sp>
      <p:sp>
        <p:nvSpPr>
          <p:cNvPr id="6" name="Text 4"/>
          <p:cNvSpPr txBox="1"/>
          <p:nvPr/>
        </p:nvSpPr>
        <p:spPr>
          <a:xfrm>
            <a:off x="548640" y="1691640"/>
            <a:ext cx="4663440" cy="713232"/>
          </a:xfrm>
          <a:prstGeom prst="roundRect">
            <a:avLst>
              <a:gd name="adj" fmla="val 12821"/>
            </a:avLst>
          </a:prstGeom>
          <a:solidFill>
            <a:srgbClr val="E3F4F1"/>
          </a:solidFill>
          <a:ln>
            <a:solidFill>
              <a:srgbClr val="E3F4F1"/>
            </a:solidFill>
          </a:ln>
        </p:spPr>
        <p:txBody>
          <a:bodyPr wrap="square" lIns="177800" tIns="177800" rIns="177800" bIns="177800" rtlCol="0" anchor="ctr"/>
          <a:lstStyle/>
          <a:p>
            <a:pPr algn="l" indent="0" marL="0">
              <a:buNone/>
            </a:pPr>
            <a:r>
              <a:rPr lang="en-US" sz="1600" b="1" dirty="0">
                <a:solidFill>
                  <a:srgbClr val="0D6F64"/>
                </a:solidFill>
                <a:latin typeface="Malgun Gothic" pitchFamily="34" charset="0"/>
                <a:ea typeface="Malgun Gothic" pitchFamily="34" charset="-122"/>
                <a:cs typeface="Malgun Gothic" pitchFamily="34" charset="-120"/>
              </a:rPr>
              <a:t>A. 원문 근거 추적</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PDF에 있음 · 지식화 단계에서 저장</a:t>
            </a:r>
            <a:endParaRPr lang="en-US" sz="1300" dirty="0"/>
          </a:p>
        </p:txBody>
      </p:sp>
      <p:sp>
        <p:nvSpPr>
          <p:cNvPr id="7" name="Text 5"/>
          <p:cNvSpPr txBox="1"/>
          <p:nvPr/>
        </p:nvSpPr>
        <p:spPr>
          <a:xfrm>
            <a:off x="777240" y="2560320"/>
            <a:ext cx="42062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문서 ID · 판 · 페이지</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조항 위치 (표·항목 이름)</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원문 문장 (evidence)</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추출된 조건과 그 적용 범위(scope)</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조건 ↔ 혜택 ↔ 카드 관계</a:t>
            </a:r>
            <a:endParaRPr lang="en-US" sz="1400" dirty="0"/>
          </a:p>
        </p:txBody>
      </p:sp>
      <p:sp>
        <p:nvSpPr>
          <p:cNvPr id="8" name="Shape 6"/>
          <p:cNvSpPr/>
          <p:nvPr/>
        </p:nvSpPr>
        <p:spPr>
          <a:xfrm>
            <a:off x="6976872" y="1691640"/>
            <a:ext cx="4666183" cy="2971800"/>
          </a:xfrm>
          <a:prstGeom prst="roundRect">
            <a:avLst>
              <a:gd name="adj" fmla="val 3077"/>
            </a:avLst>
          </a:prstGeom>
          <a:solidFill>
            <a:srgbClr val="FFFFFF"/>
          </a:solidFill>
          <a:ln w="15875">
            <a:solidFill>
              <a:srgbClr val="E8A33D"/>
            </a:solidFill>
            <a:prstDash val="solid"/>
          </a:ln>
        </p:spPr>
      </p:sp>
      <p:sp>
        <p:nvSpPr>
          <p:cNvPr id="9" name="Text 7"/>
          <p:cNvSpPr txBox="1"/>
          <p:nvPr/>
        </p:nvSpPr>
        <p:spPr>
          <a:xfrm>
            <a:off x="6976872" y="1691640"/>
            <a:ext cx="4666183" cy="713232"/>
          </a:xfrm>
          <a:prstGeom prst="roundRect">
            <a:avLst>
              <a:gd name="adj" fmla="val 12821"/>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B. 판단 실행 기록</a:t>
            </a:r>
            <a:endParaRPr lang="en-US" sz="1300" dirty="0"/>
          </a:p>
          <a:p>
            <a:pPr algn="l" indent="0" marL="0">
              <a:buNone/>
            </a:pPr>
            <a:r>
              <a:rPr lang="en-US" sz="1200" dirty="0">
                <a:solidFill>
                  <a:srgbClr val="8F5208"/>
                </a:solidFill>
                <a:latin typeface="Malgun Gothic" pitchFamily="34" charset="0"/>
                <a:ea typeface="Malgun Gothic" pitchFamily="34" charset="-122"/>
                <a:cs typeface="Malgun Gothic" pitchFamily="34" charset="-120"/>
              </a:rPr>
              <a:t>PDF에 없음 · 질문마다 실행 시 기록</a:t>
            </a:r>
            <a:endParaRPr lang="en-US" sz="1300" dirty="0"/>
          </a:p>
        </p:txBody>
      </p:sp>
      <p:sp>
        <p:nvSpPr>
          <p:cNvPr id="10" name="Text 8"/>
          <p:cNvSpPr txBox="1"/>
          <p:nvPr/>
        </p:nvSpPr>
        <p:spPr>
          <a:xfrm>
            <a:off x="7205472" y="2532888"/>
            <a:ext cx="4208983" cy="2359152"/>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질문과 해석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검색된 카드·혜택·조건</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사용한 그래프 관계와 조회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적용한 조건·제외 규칙</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판정(적용/미적용/판단 불가)과 사유</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답변–근거 일치 여부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프롬프트·모델·데이터 버전, 실행 로그</a:t>
            </a:r>
            <a:endParaRPr lang="en-US" sz="1300" dirty="0"/>
          </a:p>
        </p:txBody>
      </p:sp>
      <p:sp>
        <p:nvSpPr>
          <p:cNvPr id="11" name="Text 9"/>
          <p:cNvSpPr txBox="1"/>
          <p:nvPr/>
        </p:nvSpPr>
        <p:spPr>
          <a:xfrm>
            <a:off x="5321808" y="2331720"/>
            <a:ext cx="1545336" cy="256032"/>
          </a:xfrm>
          <a:prstGeom prst="rect">
            <a:avLst/>
          </a:prstGeom>
          <a:noFill/>
          <a:ln/>
        </p:spPr>
        <p:txBody>
          <a:bodyPr wrap="square" lIns="0" tIns="0" rIns="0" bIns="0" rtlCol="0" anchor="t"/>
          <a:lstStyle/>
          <a:p>
            <a:pPr algn="ctr" indent="0" marL="0">
              <a:buNone/>
            </a:pPr>
            <a:r>
              <a:rPr lang="en-US" sz="1100" b="1" dirty="0">
                <a:solidFill>
                  <a:srgbClr val="5B6778"/>
                </a:solidFill>
                <a:latin typeface="Malgun Gothic" pitchFamily="34" charset="0"/>
                <a:ea typeface="Malgun Gothic" pitchFamily="34" charset="-122"/>
                <a:cs typeface="Malgun Gothic" pitchFamily="34" charset="-120"/>
              </a:rPr>
              <a:t>판정마다 연결</a:t>
            </a:r>
            <a:endParaRPr lang="en-US" sz="1100" dirty="0"/>
          </a:p>
        </p:txBody>
      </p:sp>
      <p:sp>
        <p:nvSpPr>
          <p:cNvPr id="12" name="Text 10"/>
          <p:cNvSpPr txBox="1"/>
          <p:nvPr/>
        </p:nvSpPr>
        <p:spPr>
          <a:xfrm>
            <a:off x="5413248" y="2697480"/>
            <a:ext cx="1362456" cy="384048"/>
          </a:xfrm>
          <a:prstGeom prst="roundRect">
            <a:avLst>
              <a:gd name="adj" fmla="val 14286"/>
            </a:avLst>
          </a:prstGeom>
          <a:solidFill>
            <a:srgbClr val="6A4FB0"/>
          </a:solidFill>
          <a:ln>
            <a:solidFill>
              <a:srgbClr val="6A4FB0"/>
            </a:solidFill>
          </a:ln>
        </p:spPr>
        <p:txBody>
          <a:bodyPr wrap="square" lIns="38100" tIns="38100" rIns="38100" bIns="3810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evidence_id</a:t>
            </a:r>
            <a:endParaRPr lang="en-US" sz="1100" dirty="0"/>
          </a:p>
        </p:txBody>
      </p:sp>
      <p:sp>
        <p:nvSpPr>
          <p:cNvPr id="13" name="Text 11"/>
          <p:cNvSpPr txBox="1"/>
          <p:nvPr/>
        </p:nvSpPr>
        <p:spPr>
          <a:xfrm>
            <a:off x="5413248" y="3246120"/>
            <a:ext cx="1362456" cy="384048"/>
          </a:xfrm>
          <a:prstGeom prst="roundRect">
            <a:avLst>
              <a:gd name="adj" fmla="val 14286"/>
            </a:avLst>
          </a:prstGeom>
          <a:solidFill>
            <a:srgbClr val="E8A33D"/>
          </a:solidFill>
          <a:ln>
            <a:solidFill>
              <a:srgbClr val="E8A33D"/>
            </a:solidFill>
          </a:ln>
        </p:spPr>
        <p:txBody>
          <a:bodyPr wrap="square" lIns="38100" tIns="38100" rIns="38100" bIns="38100" rtlCol="0" anchor="ctr"/>
          <a:lstStyle/>
          <a:p>
            <a:pPr algn="ctr" indent="0" marL="0">
              <a:buNone/>
            </a:pPr>
            <a:r>
              <a:rPr lang="en-US" sz="1100" b="1" dirty="0">
                <a:solidFill>
                  <a:srgbClr val="0E1A2B"/>
                </a:solidFill>
                <a:latin typeface="Courier New" pitchFamily="34" charset="0"/>
                <a:ea typeface="Courier New" pitchFamily="34" charset="-122"/>
                <a:cs typeface="Courier New" pitchFamily="34" charset="-120"/>
              </a:rPr>
              <a:t>trace_id</a:t>
            </a:r>
            <a:endParaRPr lang="en-US" sz="1100" dirty="0"/>
          </a:p>
        </p:txBody>
      </p:sp>
      <p:sp>
        <p:nvSpPr>
          <p:cNvPr id="14" name="Shape 12"/>
          <p:cNvSpPr/>
          <p:nvPr/>
        </p:nvSpPr>
        <p:spPr>
          <a:xfrm flipH="1">
            <a:off x="5230368" y="2889504"/>
            <a:ext cx="164592" cy="0"/>
          </a:xfrm>
          <a:prstGeom prst="line">
            <a:avLst/>
          </a:prstGeom>
          <a:noFill/>
          <a:ln w="19050">
            <a:solidFill>
              <a:srgbClr val="6A4FB0"/>
            </a:solidFill>
            <a:prstDash val="solid"/>
            <a:tailEnd type="triangle"/>
          </a:ln>
        </p:spPr>
      </p:sp>
      <p:sp>
        <p:nvSpPr>
          <p:cNvPr id="15" name="Shape 13"/>
          <p:cNvSpPr/>
          <p:nvPr/>
        </p:nvSpPr>
        <p:spPr>
          <a:xfrm>
            <a:off x="6793992" y="3438144"/>
            <a:ext cx="164592" cy="0"/>
          </a:xfrm>
          <a:prstGeom prst="line">
            <a:avLst/>
          </a:prstGeom>
          <a:noFill/>
          <a:ln w="19050">
            <a:solidFill>
              <a:srgbClr val="8F5208"/>
            </a:solidFill>
            <a:prstDash val="solid"/>
            <a:tailEnd type="triangle"/>
          </a:ln>
        </p:spPr>
      </p:sp>
      <p:sp>
        <p:nvSpPr>
          <p:cNvPr id="16" name="Text 14"/>
          <p:cNvSpPr txBox="1"/>
          <p:nvPr/>
        </p:nvSpPr>
        <p:spPr>
          <a:xfrm>
            <a:off x="5321808" y="3794760"/>
            <a:ext cx="1545336" cy="77724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B의 각 판정이</a:t>
            </a:r>
            <a:endParaRPr lang="en-US" sz="11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A의 어느 근거를</a:t>
            </a:r>
            <a:endParaRPr lang="en-US" sz="11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썼는지 가리킴</a:t>
            </a:r>
            <a:endParaRPr lang="en-US" sz="1100" dirty="0"/>
          </a:p>
        </p:txBody>
      </p:sp>
      <p:sp>
        <p:nvSpPr>
          <p:cNvPr id="17" name="Text 15"/>
          <p:cNvSpPr txBox="1"/>
          <p:nvPr/>
        </p:nvSpPr>
        <p:spPr>
          <a:xfrm>
            <a:off x="548640" y="4892040"/>
            <a:ext cx="11094415" cy="749808"/>
          </a:xfrm>
          <a:prstGeom prst="roundRect">
            <a:avLst>
              <a:gd name="adj" fmla="val 9756"/>
            </a:avLst>
          </a:prstGeom>
          <a:solidFill>
            <a:srgbClr val="FBE6E2"/>
          </a:solidFill>
          <a:ln>
            <a:solidFill>
              <a:srgbClr val="FBE6E2"/>
            </a:solidFill>
          </a:ln>
        </p:spPr>
        <p:txBody>
          <a:bodyPr wrap="square" lIns="177800" tIns="177800" rIns="177800" bIns="177800" rtlCol="0" anchor="ctr"/>
          <a:lstStyle/>
          <a:p>
            <a:pPr algn="l" indent="0" marL="0">
              <a:buNone/>
            </a:pPr>
            <a:r>
              <a:rPr lang="en-US" sz="1500" b="1" dirty="0">
                <a:solidFill>
                  <a:srgbClr val="A8311A"/>
                </a:solidFill>
                <a:latin typeface="Malgun Gothic" pitchFamily="34" charset="0"/>
                <a:ea typeface="Malgun Gothic" pitchFamily="34" charset="-122"/>
                <a:cs typeface="Malgun Gothic" pitchFamily="34" charset="-120"/>
              </a:rPr>
              <a:t>그래프 경로 제시 ≠ LLM 내부 사고 과정 설명.  </a:t>
            </a:r>
            <a:pPr algn="l" indent="0" marL="0">
              <a:buNone/>
            </a:pPr>
            <a:r>
              <a:rPr lang="en-US" sz="1500" dirty="0">
                <a:solidFill>
                  <a:srgbClr val="1A2433"/>
                </a:solidFill>
                <a:latin typeface="Malgun Gothic" pitchFamily="34" charset="0"/>
                <a:ea typeface="Malgun Gothic" pitchFamily="34" charset="-122"/>
                <a:cs typeface="Malgun Gothic" pitchFamily="34" charset="-120"/>
              </a:rPr>
              <a:t>검증 대상은 실행 시 기록 가능한 검색 경로·적용 규칙·근거, 그리고 최종 응답과의 일치 여부입니다.</a:t>
            </a:r>
            <a:endParaRPr lang="en-US" sz="1500" dirty="0"/>
          </a:p>
        </p:txBody>
      </p:sp>
      <p:sp>
        <p:nvSpPr>
          <p:cNvPr id="18" name="Text 16"/>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100" dirty="0">
                <a:solidFill>
                  <a:srgbClr val="3A4A60"/>
                </a:solidFill>
                <a:latin typeface="Malgun Gothic" pitchFamily="34" charset="0"/>
                <a:ea typeface="Malgun Gothic" pitchFamily="34" charset="-122"/>
                <a:cs typeface="Malgun Gothic" pitchFamily="34" charset="-120"/>
              </a:rPr>
              <a:t>구현 현황: src/common/query_logger.py — SQL·Cypher 원문·파라미터·결과를 로그로 남기는 포매터는 구현됨. trace 저장 구조와 evidence/trace id 연결은 설계안입니다.</a:t>
            </a:r>
            <a:endParaRPr lang="en-US" sz="1100" dirty="0"/>
          </a:p>
        </p:txBody>
      </p:sp>
      <p:sp>
        <p:nvSpPr>
          <p:cNvPr id="19" name="Text 1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외부 AI 경유 시 B의 ‘질문 원문·답변–근거 일치’는 플랫폼이 요청·응답 기록을 제공해야 남길 수 있음 · A·B 저장 설계는 부록 B</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09   핵심 시연 ①  판단 과정과 원문 근거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답만이 아니라, 판단 경로와 원문 조항을 함께 돌려줍니다</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예상 화면</a:t>
            </a:r>
            <a:endParaRPr lang="en-US" sz="1100" dirty="0"/>
          </a:p>
        </p:txBody>
      </p:sp>
      <p:sp>
        <p:nvSpPr>
          <p:cNvPr id="5" name="Text 3"/>
          <p:cNvSpPr txBox="1"/>
          <p:nvPr/>
        </p:nvSpPr>
        <p:spPr>
          <a:xfrm>
            <a:off x="955822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27632"/>
            <a:ext cx="11094415" cy="457200"/>
          </a:xfrm>
          <a:prstGeom prst="roundRect">
            <a:avLst>
              <a:gd name="adj" fmla="val 16000"/>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Q.  ONE PICK STYLE 카드로 대중교통 혜택을 받으려면 전월실적이 얼마나 필요한가요?</a:t>
            </a:r>
            <a:endParaRPr lang="en-US" sz="1600" dirty="0"/>
          </a:p>
        </p:txBody>
      </p:sp>
      <p:sp>
        <p:nvSpPr>
          <p:cNvPr id="7" name="Text 5"/>
          <p:cNvSpPr txBox="1"/>
          <p:nvPr/>
        </p:nvSpPr>
        <p:spPr>
          <a:xfrm>
            <a:off x="548640"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1 질문</a:t>
            </a:r>
            <a:endParaRPr lang="en-US" sz="1200" dirty="0"/>
          </a:p>
        </p:txBody>
      </p:sp>
      <p:sp>
        <p:nvSpPr>
          <p:cNvPr id="8" name="Shape 6"/>
          <p:cNvSpPr/>
          <p:nvPr/>
        </p:nvSpPr>
        <p:spPr>
          <a:xfrm>
            <a:off x="2203704" y="2350008"/>
            <a:ext cx="210861" cy="0"/>
          </a:xfrm>
          <a:prstGeom prst="line">
            <a:avLst/>
          </a:prstGeom>
          <a:noFill/>
          <a:ln w="19050">
            <a:solidFill>
              <a:srgbClr val="8A94A3"/>
            </a:solidFill>
            <a:prstDash val="solid"/>
            <a:tailEnd type="triangle"/>
          </a:ln>
        </p:spPr>
      </p:sp>
      <p:sp>
        <p:nvSpPr>
          <p:cNvPr id="9" name="Text 7"/>
          <p:cNvSpPr txBox="1"/>
          <p:nvPr/>
        </p:nvSpPr>
        <p:spPr>
          <a:xfrm>
            <a:off x="2441997"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2 해석</a:t>
            </a:r>
            <a:endParaRPr lang="en-US" sz="1200" dirty="0"/>
          </a:p>
        </p:txBody>
      </p:sp>
      <p:sp>
        <p:nvSpPr>
          <p:cNvPr id="10" name="Shape 8"/>
          <p:cNvSpPr/>
          <p:nvPr/>
        </p:nvSpPr>
        <p:spPr>
          <a:xfrm>
            <a:off x="4097061" y="2350008"/>
            <a:ext cx="210861" cy="0"/>
          </a:xfrm>
          <a:prstGeom prst="line">
            <a:avLst/>
          </a:prstGeom>
          <a:noFill/>
          <a:ln w="19050">
            <a:solidFill>
              <a:srgbClr val="8A94A3"/>
            </a:solidFill>
            <a:prstDash val="solid"/>
            <a:tailEnd type="triangle"/>
          </a:ln>
        </p:spPr>
      </p:sp>
      <p:sp>
        <p:nvSpPr>
          <p:cNvPr id="11" name="Text 9"/>
          <p:cNvSpPr txBox="1"/>
          <p:nvPr/>
        </p:nvSpPr>
        <p:spPr>
          <a:xfrm>
            <a:off x="4335353"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3 조건 조회</a:t>
            </a:r>
            <a:endParaRPr lang="en-US" sz="1200" dirty="0"/>
          </a:p>
        </p:txBody>
      </p:sp>
      <p:sp>
        <p:nvSpPr>
          <p:cNvPr id="12" name="Shape 10"/>
          <p:cNvSpPr/>
          <p:nvPr/>
        </p:nvSpPr>
        <p:spPr>
          <a:xfrm>
            <a:off x="5990417" y="2350008"/>
            <a:ext cx="210861" cy="0"/>
          </a:xfrm>
          <a:prstGeom prst="line">
            <a:avLst/>
          </a:prstGeom>
          <a:noFill/>
          <a:ln w="19050">
            <a:solidFill>
              <a:srgbClr val="8A94A3"/>
            </a:solidFill>
            <a:prstDash val="solid"/>
            <a:tailEnd type="triangle"/>
          </a:ln>
        </p:spPr>
      </p:sp>
      <p:sp>
        <p:nvSpPr>
          <p:cNvPr id="13" name="Text 11"/>
          <p:cNvSpPr txBox="1"/>
          <p:nvPr/>
        </p:nvSpPr>
        <p:spPr>
          <a:xfrm>
            <a:off x="6228710"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4 관계 경로</a:t>
            </a:r>
            <a:endParaRPr lang="en-US" sz="1200" dirty="0"/>
          </a:p>
        </p:txBody>
      </p:sp>
      <p:sp>
        <p:nvSpPr>
          <p:cNvPr id="14" name="Shape 12"/>
          <p:cNvSpPr/>
          <p:nvPr/>
        </p:nvSpPr>
        <p:spPr>
          <a:xfrm>
            <a:off x="7883774" y="2350008"/>
            <a:ext cx="210861" cy="0"/>
          </a:xfrm>
          <a:prstGeom prst="line">
            <a:avLst/>
          </a:prstGeom>
          <a:noFill/>
          <a:ln w="19050">
            <a:solidFill>
              <a:srgbClr val="8A94A3"/>
            </a:solidFill>
            <a:prstDash val="solid"/>
            <a:tailEnd type="triangle"/>
          </a:ln>
        </p:spPr>
      </p:sp>
      <p:sp>
        <p:nvSpPr>
          <p:cNvPr id="15" name="Text 13"/>
          <p:cNvSpPr txBox="1"/>
          <p:nvPr/>
        </p:nvSpPr>
        <p:spPr>
          <a:xfrm>
            <a:off x="8122067"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5 원문 근거</a:t>
            </a:r>
            <a:endParaRPr lang="en-US" sz="1200" dirty="0"/>
          </a:p>
        </p:txBody>
      </p:sp>
      <p:sp>
        <p:nvSpPr>
          <p:cNvPr id="16" name="Shape 14"/>
          <p:cNvSpPr/>
          <p:nvPr/>
        </p:nvSpPr>
        <p:spPr>
          <a:xfrm>
            <a:off x="9777131" y="2350008"/>
            <a:ext cx="210861" cy="0"/>
          </a:xfrm>
          <a:prstGeom prst="line">
            <a:avLst/>
          </a:prstGeom>
          <a:noFill/>
          <a:ln w="19050">
            <a:solidFill>
              <a:srgbClr val="8A94A3"/>
            </a:solidFill>
            <a:prstDash val="solid"/>
            <a:tailEnd type="triangle"/>
          </a:ln>
        </p:spPr>
      </p:sp>
      <p:sp>
        <p:nvSpPr>
          <p:cNvPr id="17" name="Text 15"/>
          <p:cNvSpPr txBox="1"/>
          <p:nvPr/>
        </p:nvSpPr>
        <p:spPr>
          <a:xfrm>
            <a:off x="10015423" y="2194560"/>
            <a:ext cx="1627632" cy="310896"/>
          </a:xfrm>
          <a:prstGeom prst="roundRect">
            <a:avLst>
              <a:gd name="adj" fmla="val 17647"/>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 판단 결과</a:t>
            </a:r>
            <a:endParaRPr lang="en-US" sz="1200" dirty="0"/>
          </a:p>
        </p:txBody>
      </p:sp>
      <p:sp>
        <p:nvSpPr>
          <p:cNvPr id="18" name="Text 16"/>
          <p:cNvSpPr txBox="1"/>
          <p:nvPr/>
        </p:nvSpPr>
        <p:spPr>
          <a:xfrm>
            <a:off x="548640" y="3063240"/>
            <a:ext cx="960120" cy="731520"/>
          </a:xfrm>
          <a:prstGeom prst="roundRect">
            <a:avLst>
              <a:gd name="adj" fmla="val 15000"/>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ONE PICK</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STYLE</a:t>
            </a:r>
            <a:endParaRPr lang="en-US" sz="1200" dirty="0"/>
          </a:p>
        </p:txBody>
      </p:sp>
      <p:sp>
        <p:nvSpPr>
          <p:cNvPr id="19" name="Text 17"/>
          <p:cNvSpPr txBox="1"/>
          <p:nvPr/>
        </p:nvSpPr>
        <p:spPr>
          <a:xfrm>
            <a:off x="2240280" y="2971800"/>
            <a:ext cx="1737360" cy="9144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ONE MORE 대중교통</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버스·지하철 5% 캐시백</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월 최대 1천원</a:t>
            </a:r>
            <a:endParaRPr lang="en-US" sz="1100" dirty="0"/>
          </a:p>
        </p:txBody>
      </p:sp>
      <p:sp>
        <p:nvSpPr>
          <p:cNvPr id="20" name="Text 18"/>
          <p:cNvSpPr txBox="1"/>
          <p:nvPr/>
        </p:nvSpPr>
        <p:spPr>
          <a:xfrm>
            <a:off x="4617720" y="3017520"/>
            <a:ext cx="1417320" cy="822960"/>
          </a:xfrm>
          <a:prstGeom prst="roundRect">
            <a:avLst>
              <a:gd name="adj" fmla="val 1333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지난달 국내외</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일시불 10만원</a:t>
            </a:r>
            <a:endParaRPr lang="en-US" sz="1200" dirty="0"/>
          </a:p>
        </p:txBody>
      </p:sp>
      <p:sp>
        <p:nvSpPr>
          <p:cNvPr id="21" name="Text 19"/>
          <p:cNvSpPr txBox="1"/>
          <p:nvPr/>
        </p:nvSpPr>
        <p:spPr>
          <a:xfrm>
            <a:off x="6400800" y="2724912"/>
            <a:ext cx="1463040" cy="566928"/>
          </a:xfrm>
          <a:prstGeom prst="roundRect">
            <a:avLst>
              <a:gd name="adj" fmla="val 19355"/>
            </a:avLst>
          </a:prstGeom>
          <a:solidFill>
            <a:srgbClr val="D9472B"/>
          </a:solidFill>
          <a:ln>
            <a:solidFill>
              <a:srgbClr val="D947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상품권·공과금 등</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(실적 제외)</a:t>
            </a:r>
            <a:endParaRPr lang="en-US" sz="1100" dirty="0"/>
          </a:p>
        </p:txBody>
      </p:sp>
      <p:sp>
        <p:nvSpPr>
          <p:cNvPr id="22" name="Shape 20"/>
          <p:cNvSpPr/>
          <p:nvPr/>
        </p:nvSpPr>
        <p:spPr>
          <a:xfrm>
            <a:off x="1527048" y="3429000"/>
            <a:ext cx="676656" cy="0"/>
          </a:xfrm>
          <a:prstGeom prst="line">
            <a:avLst/>
          </a:prstGeom>
          <a:noFill/>
          <a:ln w="19050">
            <a:solidFill>
              <a:srgbClr val="3A4A60"/>
            </a:solidFill>
            <a:prstDash val="solid"/>
            <a:tailEnd type="triangle"/>
          </a:ln>
        </p:spPr>
      </p:sp>
      <p:sp>
        <p:nvSpPr>
          <p:cNvPr id="23" name="Text 21"/>
          <p:cNvSpPr txBox="1"/>
          <p:nvPr/>
        </p:nvSpPr>
        <p:spPr>
          <a:xfrm>
            <a:off x="1517904" y="3182112"/>
            <a:ext cx="731520" cy="219456"/>
          </a:xfrm>
          <a:prstGeom prst="rect">
            <a:avLst/>
          </a:prstGeom>
          <a:noFill/>
          <a:ln/>
        </p:spPr>
        <p:txBody>
          <a:bodyPr wrap="square" lIns="0" tIns="0" rIns="0" bIns="0" rtlCol="0" anchor="t"/>
          <a:lstStyle/>
          <a:p>
            <a:pPr algn="ctr" indent="0" marL="0">
              <a:buNone/>
            </a:pPr>
            <a:r>
              <a:rPr lang="en-US" sz="800" b="1" dirty="0">
                <a:solidFill>
                  <a:srgbClr val="3A4A60"/>
                </a:solidFill>
                <a:latin typeface="Courier New" pitchFamily="34" charset="0"/>
                <a:ea typeface="Courier New" pitchFamily="34" charset="-122"/>
                <a:cs typeface="Courier New" pitchFamily="34" charset="-120"/>
              </a:rPr>
              <a:t>HAS_BENEFIT</a:t>
            </a:r>
            <a:endParaRPr lang="en-US" sz="800" dirty="0"/>
          </a:p>
        </p:txBody>
      </p:sp>
      <p:sp>
        <p:nvSpPr>
          <p:cNvPr id="24" name="Shape 22"/>
          <p:cNvSpPr/>
          <p:nvPr/>
        </p:nvSpPr>
        <p:spPr>
          <a:xfrm>
            <a:off x="3995928" y="3429000"/>
            <a:ext cx="603504" cy="0"/>
          </a:xfrm>
          <a:prstGeom prst="line">
            <a:avLst/>
          </a:prstGeom>
          <a:noFill/>
          <a:ln w="19050">
            <a:solidFill>
              <a:srgbClr val="3A4A60"/>
            </a:solidFill>
            <a:prstDash val="solid"/>
            <a:tailEnd type="triangle"/>
          </a:ln>
        </p:spPr>
      </p:sp>
      <p:sp>
        <p:nvSpPr>
          <p:cNvPr id="25" name="Text 23"/>
          <p:cNvSpPr txBox="1"/>
          <p:nvPr/>
        </p:nvSpPr>
        <p:spPr>
          <a:xfrm>
            <a:off x="3986784" y="3182112"/>
            <a:ext cx="621792" cy="219456"/>
          </a:xfrm>
          <a:prstGeom prst="rect">
            <a:avLst/>
          </a:prstGeom>
          <a:noFill/>
          <a:ln/>
        </p:spPr>
        <p:txBody>
          <a:bodyPr wrap="square" lIns="0" tIns="0" rIns="0" bIns="0" rtlCol="0" anchor="t"/>
          <a:lstStyle/>
          <a:p>
            <a:pPr algn="ctr" indent="0" marL="0">
              <a:buNone/>
            </a:pPr>
            <a:r>
              <a:rPr lang="en-US" sz="800" b="1" dirty="0">
                <a:solidFill>
                  <a:srgbClr val="3A4A60"/>
                </a:solidFill>
                <a:latin typeface="Courier New" pitchFamily="34" charset="0"/>
                <a:ea typeface="Courier New" pitchFamily="34" charset="-122"/>
                <a:cs typeface="Courier New" pitchFamily="34" charset="-120"/>
              </a:rPr>
              <a:t>REQUIRES</a:t>
            </a:r>
            <a:endParaRPr lang="en-US" sz="800" dirty="0"/>
          </a:p>
        </p:txBody>
      </p:sp>
      <p:sp>
        <p:nvSpPr>
          <p:cNvPr id="26" name="Shape 24"/>
          <p:cNvSpPr/>
          <p:nvPr/>
        </p:nvSpPr>
        <p:spPr>
          <a:xfrm>
            <a:off x="6053328" y="3246120"/>
            <a:ext cx="329184" cy="-219456"/>
          </a:xfrm>
          <a:prstGeom prst="line">
            <a:avLst/>
          </a:prstGeom>
          <a:noFill/>
          <a:ln w="19050">
            <a:solidFill>
              <a:srgbClr val="3A4A60"/>
            </a:solidFill>
            <a:prstDash val="solid"/>
            <a:tailEnd type="triangle"/>
          </a:ln>
        </p:spPr>
      </p:sp>
      <p:sp>
        <p:nvSpPr>
          <p:cNvPr id="27" name="Text 25"/>
          <p:cNvSpPr txBox="1"/>
          <p:nvPr/>
        </p:nvSpPr>
        <p:spPr>
          <a:xfrm>
            <a:off x="6400800" y="3337560"/>
            <a:ext cx="1463040" cy="219456"/>
          </a:xfrm>
          <a:prstGeom prst="rect">
            <a:avLst/>
          </a:prstGeom>
          <a:noFill/>
          <a:ln/>
        </p:spPr>
        <p:txBody>
          <a:bodyPr wrap="square" lIns="0" tIns="0" rIns="0" bIns="0" rtlCol="0" anchor="t"/>
          <a:lstStyle/>
          <a:p>
            <a:pPr algn="ctr" indent="0" marL="0">
              <a:buNone/>
            </a:pPr>
            <a:r>
              <a:rPr lang="en-US" sz="900" b="1" dirty="0">
                <a:solidFill>
                  <a:srgbClr val="3A4A60"/>
                </a:solidFill>
                <a:latin typeface="Courier New" pitchFamily="34" charset="0"/>
                <a:ea typeface="Courier New" pitchFamily="34" charset="-122"/>
                <a:cs typeface="Courier New" pitchFamily="34" charset="-120"/>
              </a:rPr>
              <a:t>EXCLUDES{실적}</a:t>
            </a:r>
            <a:endParaRPr lang="en-US" sz="900" dirty="0"/>
          </a:p>
        </p:txBody>
      </p:sp>
      <p:sp>
        <p:nvSpPr>
          <p:cNvPr id="28" name="Text 26"/>
          <p:cNvSpPr txBox="1"/>
          <p:nvPr/>
        </p:nvSpPr>
        <p:spPr>
          <a:xfrm>
            <a:off x="2240280" y="4343400"/>
            <a:ext cx="1737360" cy="566928"/>
          </a:xfrm>
          <a:prstGeom prst="roundRect">
            <a:avLst>
              <a:gd name="adj" fmla="val 19355"/>
            </a:avLst>
          </a:prstGeom>
          <a:solidFill>
            <a:srgbClr val="D9472B"/>
          </a:solidFill>
          <a:ln>
            <a:solidFill>
              <a:srgbClr val="D947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시외·고속버스·철도</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(혜택 제외)</a:t>
            </a:r>
            <a:endParaRPr lang="en-US" sz="1100" dirty="0"/>
          </a:p>
        </p:txBody>
      </p:sp>
      <p:sp>
        <p:nvSpPr>
          <p:cNvPr id="29" name="Shape 27"/>
          <p:cNvSpPr/>
          <p:nvPr/>
        </p:nvSpPr>
        <p:spPr>
          <a:xfrm>
            <a:off x="3108960" y="3904488"/>
            <a:ext cx="0" cy="411480"/>
          </a:xfrm>
          <a:prstGeom prst="line">
            <a:avLst/>
          </a:prstGeom>
          <a:noFill/>
          <a:ln w="19050">
            <a:solidFill>
              <a:srgbClr val="3A4A60"/>
            </a:solidFill>
            <a:prstDash val="solid"/>
            <a:tailEnd type="triangle"/>
          </a:ln>
        </p:spPr>
      </p:sp>
      <p:sp>
        <p:nvSpPr>
          <p:cNvPr id="30" name="Text 28"/>
          <p:cNvSpPr txBox="1"/>
          <p:nvPr/>
        </p:nvSpPr>
        <p:spPr>
          <a:xfrm>
            <a:off x="3172968" y="3977640"/>
            <a:ext cx="1280160" cy="219456"/>
          </a:xfrm>
          <a:prstGeom prst="rect">
            <a:avLst/>
          </a:prstGeom>
          <a:noFill/>
          <a:ln/>
        </p:spPr>
        <p:txBody>
          <a:bodyPr wrap="square" lIns="0" tIns="0" rIns="0" bIns="0" rtlCol="0" anchor="t"/>
          <a:lstStyle/>
          <a:p>
            <a:pPr indent="0" marL="0">
              <a:buNone/>
            </a:pPr>
            <a:r>
              <a:rPr lang="en-US" sz="900" b="1" dirty="0">
                <a:solidFill>
                  <a:srgbClr val="3A4A60"/>
                </a:solidFill>
                <a:latin typeface="Courier New" pitchFamily="34" charset="0"/>
                <a:ea typeface="Courier New" pitchFamily="34" charset="-122"/>
                <a:cs typeface="Courier New" pitchFamily="34" charset="-120"/>
              </a:rPr>
              <a:t>EXCLUDES{혜택}</a:t>
            </a:r>
            <a:endParaRPr lang="en-US" sz="900" dirty="0"/>
          </a:p>
        </p:txBody>
      </p:sp>
      <p:sp>
        <p:nvSpPr>
          <p:cNvPr id="31" name="Text 29"/>
          <p:cNvSpPr txBox="1"/>
          <p:nvPr/>
        </p:nvSpPr>
        <p:spPr>
          <a:xfrm>
            <a:off x="4617720" y="4343400"/>
            <a:ext cx="1417320" cy="566928"/>
          </a:xfrm>
          <a:prstGeom prst="roundRect">
            <a:avLst>
              <a:gd name="adj" fmla="val 12903"/>
            </a:avLst>
          </a:prstGeom>
          <a:solidFill>
            <a:srgbClr val="FDF0DC"/>
          </a:solidFill>
          <a:ln w="15875">
            <a:solidFill>
              <a:srgbClr val="E8A33D"/>
            </a:solidFill>
            <a:prstDash val="dash"/>
          </a:ln>
        </p:spPr>
        <p:txBody>
          <a:bodyPr wrap="square" lIns="25400" tIns="25400" rIns="25400" bIns="25400" rtlCol="0" anchor="ctr"/>
          <a:lstStyle/>
          <a:p>
            <a:pPr algn="ctr" indent="0" marL="0">
              <a:buNone/>
            </a:pPr>
            <a:r>
              <a:rPr lang="en-US" sz="900" b="1" dirty="0">
                <a:solidFill>
                  <a:srgbClr val="8F5208"/>
                </a:solidFill>
                <a:latin typeface="Malgun Gothic" pitchFamily="34" charset="0"/>
                <a:ea typeface="Malgun Gothic" pitchFamily="34" charset="-122"/>
                <a:cs typeface="Malgun Gothic" pitchFamily="34" charset="-120"/>
              </a:rPr>
              <a:t>예외 (실적 무관)</a:t>
            </a:r>
            <a:endParaRPr lang="en-US" sz="900" dirty="0"/>
          </a:p>
          <a:p>
            <a:pPr algn="ctr" indent="0" marL="0">
              <a:buNone/>
            </a:pPr>
            <a:r>
              <a:rPr lang="en-US" sz="900" b="1" dirty="0">
                <a:solidFill>
                  <a:srgbClr val="8F5208"/>
                </a:solidFill>
                <a:latin typeface="Malgun Gothic" pitchFamily="34" charset="0"/>
                <a:ea typeface="Malgun Gothic" pitchFamily="34" charset="-122"/>
                <a:cs typeface="Malgun Gothic" pitchFamily="34" charset="-120"/>
              </a:rPr>
              <a:t>최초 사용 등록일~</a:t>
            </a:r>
            <a:endParaRPr lang="en-US" sz="900" dirty="0"/>
          </a:p>
          <a:p>
            <a:pPr algn="ctr" indent="0" marL="0">
              <a:buNone/>
            </a:pPr>
            <a:r>
              <a:rPr lang="en-US" sz="900" b="1" dirty="0">
                <a:solidFill>
                  <a:srgbClr val="8F5208"/>
                </a:solidFill>
                <a:latin typeface="Malgun Gothic" pitchFamily="34" charset="0"/>
                <a:ea typeface="Malgun Gothic" pitchFamily="34" charset="-122"/>
                <a:cs typeface="Malgun Gothic" pitchFamily="34" charset="-120"/>
              </a:rPr>
              <a:t>다음 달 말일</a:t>
            </a:r>
            <a:endParaRPr lang="en-US" sz="900" dirty="0"/>
          </a:p>
        </p:txBody>
      </p:sp>
      <p:sp>
        <p:nvSpPr>
          <p:cNvPr id="32" name="Shape 30"/>
          <p:cNvSpPr/>
          <p:nvPr/>
        </p:nvSpPr>
        <p:spPr>
          <a:xfrm>
            <a:off x="5326380" y="3858768"/>
            <a:ext cx="0" cy="457200"/>
          </a:xfrm>
          <a:prstGeom prst="line">
            <a:avLst/>
          </a:prstGeom>
          <a:noFill/>
          <a:ln w="19050">
            <a:solidFill>
              <a:srgbClr val="8F5208"/>
            </a:solidFill>
            <a:prstDash val="solid"/>
            <a:tailEnd type="triangle"/>
          </a:ln>
        </p:spPr>
      </p:sp>
      <p:sp>
        <p:nvSpPr>
          <p:cNvPr id="33" name="Text 31"/>
          <p:cNvSpPr txBox="1"/>
          <p:nvPr/>
        </p:nvSpPr>
        <p:spPr>
          <a:xfrm>
            <a:off x="5385816" y="3977640"/>
            <a:ext cx="640080" cy="219456"/>
          </a:xfrm>
          <a:prstGeom prst="rect">
            <a:avLst/>
          </a:prstGeom>
          <a:noFill/>
          <a:ln/>
        </p:spPr>
        <p:txBody>
          <a:bodyPr wrap="square" lIns="0" tIns="0" rIns="0" bIns="0" rtlCol="0" anchor="t"/>
          <a:lstStyle/>
          <a:p>
            <a:pPr indent="0" marL="0">
              <a:buNone/>
            </a:pPr>
            <a:r>
              <a:rPr lang="en-US" sz="900" b="1" dirty="0">
                <a:solidFill>
                  <a:srgbClr val="8F5208"/>
                </a:solidFill>
                <a:latin typeface="Courier New" pitchFamily="34" charset="0"/>
                <a:ea typeface="Courier New" pitchFamily="34" charset="-122"/>
                <a:cs typeface="Courier New" pitchFamily="34" charset="-120"/>
              </a:rPr>
              <a:t>EXCEPT</a:t>
            </a:r>
            <a:endParaRPr lang="en-US" sz="900" dirty="0"/>
          </a:p>
        </p:txBody>
      </p:sp>
      <p:sp>
        <p:nvSpPr>
          <p:cNvPr id="34" name="Text 32"/>
          <p:cNvSpPr txBox="1"/>
          <p:nvPr/>
        </p:nvSpPr>
        <p:spPr>
          <a:xfrm>
            <a:off x="6400800" y="4343400"/>
            <a:ext cx="1463040" cy="566928"/>
          </a:xfrm>
          <a:prstGeom prst="roundRect">
            <a:avLst>
              <a:gd name="adj" fmla="val 19355"/>
            </a:avLst>
          </a:prstGeom>
          <a:solidFill>
            <a:srgbClr val="E8ECF2"/>
          </a:solidFill>
          <a:ln w="12700">
            <a:solidFill>
              <a:srgbClr val="A0AAB8"/>
            </a:solidFill>
            <a:prstDash val="dash"/>
          </a:ln>
        </p:spPr>
        <p:txBody>
          <a:bodyPr wrap="square" lIns="38100" tIns="38100" rIns="38100" bIns="38100" rtlCol="0" anchor="ctr"/>
          <a:lstStyle/>
          <a:p>
            <a:pPr algn="ctr" indent="0" marL="0">
              <a:buNone/>
            </a:pPr>
            <a:r>
              <a:rPr lang="en-US" sz="1000" b="1" dirty="0">
                <a:solidFill>
                  <a:srgbClr val="3A4A60"/>
                </a:solidFill>
                <a:latin typeface="Malgun Gothic" pitchFamily="34" charset="0"/>
                <a:ea typeface="Malgun Gothic" pitchFamily="34" charset="-122"/>
                <a:cs typeface="Malgun Gothic" pitchFamily="34" charset="-120"/>
              </a:rPr>
              <a:t>ONE PICK·STYLE 영역</a:t>
            </a:r>
            <a:endParaRPr lang="en-US" sz="1000" dirty="0"/>
          </a:p>
          <a:p>
            <a:pPr algn="ctr" indent="0" marL="0">
              <a:buNone/>
            </a:pPr>
            <a:r>
              <a:rPr lang="en-US" sz="1000" b="1" dirty="0">
                <a:solidFill>
                  <a:srgbClr val="3A4A60"/>
                </a:solidFill>
                <a:latin typeface="Malgun Gothic" pitchFamily="34" charset="0"/>
                <a:ea typeface="Malgun Gothic" pitchFamily="34" charset="-122"/>
                <a:cs typeface="Malgun Gothic" pitchFamily="34" charset="-120"/>
              </a:rPr>
              <a:t>실적 조건 없음</a:t>
            </a:r>
            <a:endParaRPr lang="en-US" sz="1000" dirty="0"/>
          </a:p>
        </p:txBody>
      </p:sp>
      <p:sp>
        <p:nvSpPr>
          <p:cNvPr id="35" name="Text 33"/>
          <p:cNvSpPr txBox="1"/>
          <p:nvPr/>
        </p:nvSpPr>
        <p:spPr>
          <a:xfrm>
            <a:off x="6400800" y="4096512"/>
            <a:ext cx="1463040" cy="219456"/>
          </a:xfrm>
          <a:prstGeom prst="rect">
            <a:avLst/>
          </a:prstGeom>
          <a:noFill/>
          <a:ln/>
        </p:spPr>
        <p:txBody>
          <a:bodyPr wrap="square" lIns="0" tIns="0" rIns="0" bIns="0" rtlCol="0" anchor="t"/>
          <a:lstStyle/>
          <a:p>
            <a:pPr algn="ctr" indent="0" marL="0">
              <a:buNone/>
            </a:pPr>
            <a:r>
              <a:rPr lang="en-US" sz="900" dirty="0">
                <a:solidFill>
                  <a:srgbClr val="5B6778"/>
                </a:solidFill>
                <a:latin typeface="Malgun Gothic" pitchFamily="34" charset="0"/>
                <a:ea typeface="Malgun Gothic" pitchFamily="34" charset="-122"/>
                <a:cs typeface="Malgun Gothic" pitchFamily="34" charset="-120"/>
              </a:rPr>
              <a:t>경로 밖</a:t>
            </a:r>
            <a:endParaRPr lang="en-US" sz="900" dirty="0"/>
          </a:p>
        </p:txBody>
      </p:sp>
      <p:sp>
        <p:nvSpPr>
          <p:cNvPr id="36" name="Text 34"/>
          <p:cNvSpPr txBox="1"/>
          <p:nvPr/>
        </p:nvSpPr>
        <p:spPr>
          <a:xfrm>
            <a:off x="548640" y="5120640"/>
            <a:ext cx="7315200" cy="685800"/>
          </a:xfrm>
          <a:prstGeom prst="roundRect">
            <a:avLst>
              <a:gd name="adj" fmla="val 10667"/>
            </a:avLst>
          </a:prstGeom>
          <a:solidFill>
            <a:srgbClr val="6A4FB0"/>
          </a:solidFill>
          <a:ln>
            <a:solidFill>
              <a:srgbClr val="6A4FB0"/>
            </a:solidFill>
          </a:ln>
        </p:spPr>
        <p:txBody>
          <a:bodyPr wrap="square" lIns="127000" tIns="127000" rIns="127000" bIns="12700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SOURCED_FROM → 15650_20260429 1쪽</a:t>
            </a:r>
            <a:endParaRPr lang="en-US" sz="1100" dirty="0"/>
          </a:p>
          <a:p>
            <a:pPr algn="l" indent="0" marL="0">
              <a:buNone/>
            </a:pPr>
            <a:r>
              <a:rPr lang="en-US" sz="1100" dirty="0">
                <a:solidFill>
                  <a:srgbClr val="FFFFFF"/>
                </a:solidFill>
                <a:latin typeface="Malgun Gothic" pitchFamily="34" charset="0"/>
                <a:ea typeface="Malgun Gothic" pitchFamily="34" charset="-122"/>
                <a:cs typeface="Malgun Gothic" pitchFamily="34" charset="-120"/>
              </a:rPr>
              <a:t>ONE MORE 표 · 실적 산정 기준 · 실적 제외 대상 · 실적과 관계없이 서비스 제공 · 서비스 제외 대상</a:t>
            </a:r>
            <a:endParaRPr lang="en-US" sz="1100" dirty="0"/>
          </a:p>
        </p:txBody>
      </p:sp>
      <p:sp>
        <p:nvSpPr>
          <p:cNvPr id="37" name="Shape 35"/>
          <p:cNvSpPr/>
          <p:nvPr/>
        </p:nvSpPr>
        <p:spPr>
          <a:xfrm>
            <a:off x="8183880" y="2724912"/>
            <a:ext cx="3459175" cy="3081528"/>
          </a:xfrm>
          <a:prstGeom prst="roundRect">
            <a:avLst>
              <a:gd name="adj" fmla="val 2967"/>
            </a:avLst>
          </a:prstGeom>
          <a:solidFill>
            <a:srgbClr val="FFFFFF"/>
          </a:solidFill>
          <a:ln w="15875">
            <a:solidFill>
              <a:srgbClr val="0E1A2B"/>
            </a:solidFill>
            <a:prstDash val="solid"/>
          </a:ln>
        </p:spPr>
      </p:sp>
      <p:sp>
        <p:nvSpPr>
          <p:cNvPr id="38" name="Text 36"/>
          <p:cNvSpPr txBox="1"/>
          <p:nvPr/>
        </p:nvSpPr>
        <p:spPr>
          <a:xfrm>
            <a:off x="8366760" y="2816352"/>
            <a:ext cx="3093415"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판단 결과 (예상 화면)</a:t>
            </a:r>
            <a:endParaRPr lang="en-US" sz="1300" dirty="0"/>
          </a:p>
        </p:txBody>
      </p:sp>
      <p:sp>
        <p:nvSpPr>
          <p:cNvPr id="39" name="Text 37"/>
          <p:cNvSpPr txBox="1"/>
          <p:nvPr/>
        </p:nvSpPr>
        <p:spPr>
          <a:xfrm>
            <a:off x="8366760" y="3127248"/>
            <a:ext cx="3093415" cy="1783080"/>
          </a:xfrm>
          <a:prstGeom prst="rect">
            <a:avLst/>
          </a:prstGeom>
          <a:noFill/>
          <a:ln/>
        </p:spPr>
        <p:txBody>
          <a:bodyPr wrap="square" lIns="0" tIns="0" rIns="0" bIns="0" rtlCol="0" anchor="t"/>
          <a:lstStyle/>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조건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지난달 국내외 일시불 10만원 이상</a:t>
            </a:r>
            <a:endParaRPr lang="en-US" sz="1100" dirty="0"/>
          </a:p>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범위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ONE MORE 대중교통에만 적용 (카드 전체 조건 아님)</a:t>
            </a:r>
            <a:endParaRPr lang="en-US" sz="1100" dirty="0"/>
          </a:p>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제외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상품권 등은 실적 미산입, 시외·고속버스·철도는 캐시백 제외</a:t>
            </a:r>
            <a:endParaRPr lang="en-US" sz="1100" dirty="0"/>
          </a:p>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예외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최초 사용 등록일~다음 달 말일은 10만원 미만도 제공</a:t>
            </a:r>
            <a:endParaRPr lang="en-US" sz="1100" dirty="0"/>
          </a:p>
        </p:txBody>
      </p:sp>
      <p:sp>
        <p:nvSpPr>
          <p:cNvPr id="40" name="Text 38"/>
          <p:cNvSpPr txBox="1"/>
          <p:nvPr/>
        </p:nvSpPr>
        <p:spPr>
          <a:xfrm>
            <a:off x="8321040" y="4754880"/>
            <a:ext cx="3184855" cy="868680"/>
          </a:xfrm>
          <a:prstGeom prst="roundRect">
            <a:avLst>
              <a:gd name="adj" fmla="val 8421"/>
            </a:avLst>
          </a:prstGeom>
          <a:solidFill>
            <a:srgbClr val="E8ECF2"/>
          </a:solidFill>
          <a:ln>
            <a:solidFill>
              <a:srgbClr val="E8ECF2"/>
            </a:solidFill>
          </a:ln>
        </p:spPr>
        <p:txBody>
          <a:bodyPr wrap="square" lIns="101600" tIns="101600" rIns="101600" bIns="101600" rtlCol="0" anchor="ctr"/>
          <a:lstStyle/>
          <a:p>
            <a:pPr algn="l" indent="0" marL="0">
              <a:buNone/>
            </a:pPr>
            <a:r>
              <a:rPr lang="en-US" sz="1100" b="1" dirty="0">
                <a:solidFill>
                  <a:srgbClr val="3A4A60"/>
                </a:solidFill>
                <a:latin typeface="Malgun Gothic" pitchFamily="34" charset="0"/>
                <a:ea typeface="Malgun Gothic" pitchFamily="34" charset="-122"/>
                <a:cs typeface="Malgun Gothic" pitchFamily="34" charset="-120"/>
              </a:rPr>
              <a:t>판단 불가 예  </a:t>
            </a:r>
            <a:pPr algn="l" indent="0" marL="0">
              <a:buNone/>
            </a:pPr>
            <a:r>
              <a:rPr lang="en-US" sz="1100" dirty="0">
                <a:solidFill>
                  <a:srgbClr val="3A4A60"/>
                </a:solidFill>
                <a:latin typeface="Malgun Gothic" pitchFamily="34" charset="0"/>
                <a:ea typeface="Malgun Gothic" pitchFamily="34" charset="-122"/>
                <a:cs typeface="Malgun Gothic" pitchFamily="34" charset="-120"/>
              </a:rPr>
              <a:t>“이번 달 받나요?” + 지난달 실적·등록일 정보 없음 → 필요 정보 요청</a:t>
            </a:r>
            <a:endParaRPr lang="en-US" sz="1100" dirty="0"/>
          </a:p>
        </p:txBody>
      </p:sp>
      <p:sp>
        <p:nvSpPr>
          <p:cNvPr id="41" name="Text 3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판정 값은 STYLE 상품설명서 원문으로 확인 · 그래프·응답 화면은 시연 예상 화면(M7-①③ 미구현) · 등록 가맹점·업종 기준은 PDF 밖 정보</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10   핵심 시연 ②  오답 원인 추적</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AI가 틀렸을 때, 어느 단계에서 틀렸는지 찾아 고치고 다시 확인합니다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예정</a:t>
            </a:r>
            <a:endParaRPr lang="en-US" sz="1100" dirty="0"/>
          </a:p>
        </p:txBody>
      </p:sp>
      <p:sp>
        <p:nvSpPr>
          <p:cNvPr id="5" name="Text 3"/>
          <p:cNvSpPr txBox="1"/>
          <p:nvPr/>
        </p:nvSpPr>
        <p:spPr>
          <a:xfrm>
            <a:off x="9558223" y="329184"/>
            <a:ext cx="113385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시나리오</a:t>
            </a:r>
            <a:endParaRPr lang="en-US" sz="1100" dirty="0"/>
          </a:p>
        </p:txBody>
      </p:sp>
      <p:sp>
        <p:nvSpPr>
          <p:cNvPr id="6" name="Text 4"/>
          <p:cNvSpPr txBox="1"/>
          <p:nvPr/>
        </p:nvSpPr>
        <p:spPr>
          <a:xfrm>
            <a:off x="548640" y="1627632"/>
            <a:ext cx="11094415" cy="384048"/>
          </a:xfrm>
          <a:prstGeom prst="roundRect">
            <a:avLst>
              <a:gd name="adj" fmla="val 19048"/>
            </a:avLst>
          </a:prstGeom>
          <a:solidFill>
            <a:srgbClr val="FBE6E2"/>
          </a:solidFill>
          <a:ln w="12700">
            <a:solidFill>
              <a:srgbClr val="D9472B"/>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가상 오류 시나리오 — 실제 실행 로그 재현이 아닙니다 (구현 후 실제 로그로 교체)</a:t>
            </a:r>
            <a:endParaRPr lang="en-US" sz="1400" dirty="0"/>
          </a:p>
        </p:txBody>
      </p:sp>
      <p:sp>
        <p:nvSpPr>
          <p:cNvPr id="7" name="Text 5"/>
          <p:cNvSpPr txBox="1"/>
          <p:nvPr/>
        </p:nvSpPr>
        <p:spPr>
          <a:xfrm>
            <a:off x="548640" y="2148840"/>
            <a:ext cx="3017520" cy="1051560"/>
          </a:xfrm>
          <a:prstGeom prst="roundRect">
            <a:avLst>
              <a:gd name="adj" fmla="val 6957"/>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원래 질문 (1장)</a:t>
            </a:r>
            <a:endParaRPr lang="en-US" sz="1300" dirty="0"/>
          </a:p>
          <a:p>
            <a:pPr algn="l" indent="0" marL="0">
              <a:buNone/>
            </a:pPr>
            <a:r>
              <a:rPr lang="en-US" sz="1300" dirty="0">
                <a:solidFill>
                  <a:srgbClr val="0E1A2B"/>
                </a:solidFill>
                <a:latin typeface="Malgun Gothic" pitchFamily="34" charset="0"/>
                <a:ea typeface="Malgun Gothic" pitchFamily="34" charset="-122"/>
                <a:cs typeface="Malgun Gothic" pitchFamily="34" charset="-120"/>
              </a:rPr>
              <a:t>상품권 8만원 + 버스비 2만원, 대중교통 캐시백 받나요?</a:t>
            </a:r>
            <a:endParaRPr lang="en-US" sz="1300" dirty="0"/>
          </a:p>
        </p:txBody>
      </p:sp>
      <p:sp>
        <p:nvSpPr>
          <p:cNvPr id="8" name="Shape 6"/>
          <p:cNvSpPr/>
          <p:nvPr/>
        </p:nvSpPr>
        <p:spPr>
          <a:xfrm>
            <a:off x="3584448" y="2674620"/>
            <a:ext cx="237744" cy="0"/>
          </a:xfrm>
          <a:prstGeom prst="line">
            <a:avLst/>
          </a:prstGeom>
          <a:noFill/>
          <a:ln w="19050">
            <a:solidFill>
              <a:srgbClr val="8A94A3"/>
            </a:solidFill>
            <a:prstDash val="solid"/>
            <a:tailEnd type="triangle"/>
          </a:ln>
        </p:spPr>
      </p:sp>
      <p:sp>
        <p:nvSpPr>
          <p:cNvPr id="9" name="Text 7"/>
          <p:cNvSpPr txBox="1"/>
          <p:nvPr/>
        </p:nvSpPr>
        <p:spPr>
          <a:xfrm>
            <a:off x="3840480" y="2148840"/>
            <a:ext cx="2514600" cy="1051560"/>
          </a:xfrm>
          <a:prstGeom prst="roundRect">
            <a:avLst>
              <a:gd name="adj" fmla="val 6957"/>
            </a:avLst>
          </a:prstGeom>
          <a:solidFill>
            <a:srgbClr val="1F3350"/>
          </a:solidFill>
          <a:ln>
            <a:solidFill>
              <a:srgbClr val="1F3350"/>
            </a:solidFill>
          </a:ln>
        </p:spPr>
        <p:txBody>
          <a:bodyPr wrap="square" lIns="127000" tIns="127000" rIns="127000" bIns="127000" rtlCol="0" anchor="ctr"/>
          <a:lstStyle/>
          <a:p>
            <a:pPr algn="l" indent="0" marL="0">
              <a:buNone/>
            </a:pPr>
            <a:r>
              <a:rPr lang="en-US" sz="1100" b="1" dirty="0">
                <a:solidFill>
                  <a:srgbClr val="E8A33D"/>
                </a:solidFill>
                <a:latin typeface="Malgun Gothic" pitchFamily="34" charset="0"/>
                <a:ea typeface="Malgun Gothic" pitchFamily="34" charset="-122"/>
                <a:cs typeface="Malgun Gothic" pitchFamily="34" charset="-120"/>
              </a:rPr>
              <a:t>AI 오답</a:t>
            </a:r>
            <a:endParaRPr lang="en-US" sz="1300" dirty="0"/>
          </a:p>
          <a:p>
            <a:pPr algn="l" indent="0" marL="0">
              <a:buNone/>
            </a:pPr>
            <a:r>
              <a:rPr lang="en-US" sz="1300" dirty="0">
                <a:solidFill>
                  <a:srgbClr val="FFFFFF"/>
                </a:solidFill>
                <a:latin typeface="Malgun Gothic" pitchFamily="34" charset="0"/>
                <a:ea typeface="Malgun Gothic" pitchFamily="34" charset="-122"/>
                <a:cs typeface="Malgun Gothic" pitchFamily="34" charset="-120"/>
              </a:rPr>
              <a:t>“네, 10만원을 채워 5% 캐시백”</a:t>
            </a:r>
            <a:endParaRPr lang="en-US" sz="1300" dirty="0"/>
          </a:p>
        </p:txBody>
      </p:sp>
      <p:sp>
        <p:nvSpPr>
          <p:cNvPr id="10" name="Shape 8"/>
          <p:cNvSpPr/>
          <p:nvPr/>
        </p:nvSpPr>
        <p:spPr>
          <a:xfrm>
            <a:off x="6373368" y="2674620"/>
            <a:ext cx="237744" cy="0"/>
          </a:xfrm>
          <a:prstGeom prst="line">
            <a:avLst/>
          </a:prstGeom>
          <a:noFill/>
          <a:ln w="19050">
            <a:solidFill>
              <a:srgbClr val="8A94A3"/>
            </a:solidFill>
            <a:prstDash val="solid"/>
            <a:tailEnd type="triangle"/>
          </a:ln>
        </p:spPr>
      </p:sp>
      <p:sp>
        <p:nvSpPr>
          <p:cNvPr id="11" name="Text 9"/>
          <p:cNvSpPr txBox="1"/>
          <p:nvPr/>
        </p:nvSpPr>
        <p:spPr>
          <a:xfrm>
            <a:off x="6629400" y="2148840"/>
            <a:ext cx="2438248" cy="1051560"/>
          </a:xfrm>
          <a:prstGeom prst="roundRect">
            <a:avLst>
              <a:gd name="adj" fmla="val 6957"/>
            </a:avLst>
          </a:prstGeom>
          <a:solidFill>
            <a:srgbClr val="FBE6E2"/>
          </a:solidFill>
          <a:ln>
            <a:solidFill>
              <a:srgbClr val="FBE6E2"/>
            </a:solidFill>
          </a:ln>
        </p:spPr>
        <p:txBody>
          <a:bodyPr wrap="square" lIns="114300" tIns="114300" rIns="114300" bIns="1143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잘못 적용된 조건</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 → ‘혜택 제외’에만 연결, ‘실적 제외’ 누락 → 10만원 충족으로 오판</a:t>
            </a:r>
            <a:endParaRPr lang="en-US" sz="1200" dirty="0"/>
          </a:p>
        </p:txBody>
      </p:sp>
      <p:sp>
        <p:nvSpPr>
          <p:cNvPr id="12" name="Text 10"/>
          <p:cNvSpPr txBox="1"/>
          <p:nvPr/>
        </p:nvSpPr>
        <p:spPr>
          <a:xfrm>
            <a:off x="9204808" y="2148840"/>
            <a:ext cx="2438248" cy="1051560"/>
          </a:xfrm>
          <a:prstGeom prst="roundRect">
            <a:avLst>
              <a:gd name="adj" fmla="val 6957"/>
            </a:avLst>
          </a:prstGeom>
          <a:solidFill>
            <a:srgbClr val="E3F4F1"/>
          </a:solidFill>
          <a:ln>
            <a:solidFill>
              <a:srgbClr val="E3F4F1"/>
            </a:solidFill>
          </a:ln>
        </p:spPr>
        <p:txBody>
          <a:bodyPr wrap="square" lIns="114300" tIns="114300" rIns="114300" bIns="114300" rtlCol="0" anchor="ctr"/>
          <a:lstStyle/>
          <a:p>
            <a:pPr algn="l" indent="0" marL="0">
              <a:buNone/>
            </a:pPr>
            <a:r>
              <a:rPr lang="en-US" sz="1200" b="1" dirty="0">
                <a:solidFill>
                  <a:srgbClr val="0D6F64"/>
                </a:solidFill>
                <a:latin typeface="Malgun Gothic" pitchFamily="34" charset="0"/>
                <a:ea typeface="Malgun Gothic" pitchFamily="34" charset="-122"/>
                <a:cs typeface="Malgun Gothic" pitchFamily="34" charset="-120"/>
              </a:rPr>
              <a:t>실제 약관 조건</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상품권은 실적 제외이면서 서비스 제외 → 인정 실적 최대 2만원</a:t>
            </a:r>
            <a:endParaRPr lang="en-US" sz="1200" dirty="0"/>
          </a:p>
        </p:txBody>
      </p:sp>
      <p:sp>
        <p:nvSpPr>
          <p:cNvPr id="13" name="Text 11"/>
          <p:cNvSpPr txBox="1"/>
          <p:nvPr/>
        </p:nvSpPr>
        <p:spPr>
          <a:xfrm>
            <a:off x="548640" y="3383280"/>
            <a:ext cx="11094415" cy="27432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오류 위치 추적 — 판단 실행 기록(trace)과 단계별 산출물을 원문과 대조</a:t>
            </a:r>
            <a:endParaRPr lang="en-US" sz="1400" dirty="0"/>
          </a:p>
        </p:txBody>
      </p:sp>
      <p:sp>
        <p:nvSpPr>
          <p:cNvPr id="14" name="Text 12"/>
          <p:cNvSpPr txBox="1"/>
          <p:nvPr/>
        </p:nvSpPr>
        <p:spPr>
          <a:xfrm>
            <a:off x="548640" y="3730752"/>
            <a:ext cx="2011680" cy="658368"/>
          </a:xfrm>
          <a:prstGeom prst="roundRect">
            <a:avLst>
              <a:gd name="adj" fmla="val 11111"/>
            </a:avLst>
          </a:prstGeom>
          <a:solidFill>
            <a:srgbClr val="F3F5F8"/>
          </a:solidFill>
          <a:ln>
            <a:solidFill>
              <a:srgbClr val="F3F5F8"/>
            </a:solidFill>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① PDF 추출</a:t>
            </a:r>
            <a:endParaRPr lang="en-US" sz="1300" dirty="0"/>
          </a:p>
        </p:txBody>
      </p:sp>
      <p:sp>
        <p:nvSpPr>
          <p:cNvPr id="15" name="Text 13"/>
          <p:cNvSpPr txBox="1"/>
          <p:nvPr/>
        </p:nvSpPr>
        <p:spPr>
          <a:xfrm>
            <a:off x="548640" y="4443984"/>
            <a:ext cx="2011680" cy="384048"/>
          </a:xfrm>
          <a:prstGeom prst="rect">
            <a:avLst/>
          </a:prstGeom>
          <a:noFill/>
          <a:ln/>
        </p:spPr>
        <p:txBody>
          <a:bodyPr wrap="square" lIns="0" tIns="0" rIns="0" bIns="0" rtlCol="0" anchor="t"/>
          <a:lstStyle/>
          <a:p>
            <a:pPr algn="ctr" indent="0" marL="0">
              <a:buNone/>
            </a:pPr>
            <a:r>
              <a:rPr lang="en-US" sz="1000" dirty="0">
                <a:solidFill>
                  <a:srgbClr val="5B6778"/>
                </a:solidFill>
                <a:latin typeface="Malgun Gothic" pitchFamily="34" charset="0"/>
                <a:ea typeface="Malgun Gothic" pitchFamily="34" charset="-122"/>
                <a:cs typeface="Malgun Gothic" pitchFamily="34" charset="-120"/>
              </a:rPr>
              <a:t>원문 문장 있음</a:t>
            </a:r>
            <a:endParaRPr lang="en-US" sz="1000" dirty="0"/>
          </a:p>
        </p:txBody>
      </p:sp>
      <p:sp>
        <p:nvSpPr>
          <p:cNvPr id="16" name="Shape 14"/>
          <p:cNvSpPr/>
          <p:nvPr/>
        </p:nvSpPr>
        <p:spPr>
          <a:xfrm>
            <a:off x="2578608" y="4059936"/>
            <a:ext cx="222428" cy="0"/>
          </a:xfrm>
          <a:prstGeom prst="line">
            <a:avLst/>
          </a:prstGeom>
          <a:noFill/>
          <a:ln w="19050">
            <a:solidFill>
              <a:srgbClr val="8A94A3"/>
            </a:solidFill>
            <a:prstDash val="solid"/>
            <a:tailEnd type="triangle"/>
          </a:ln>
        </p:spPr>
      </p:sp>
      <p:sp>
        <p:nvSpPr>
          <p:cNvPr id="17" name="Text 15"/>
          <p:cNvSpPr txBox="1"/>
          <p:nvPr/>
        </p:nvSpPr>
        <p:spPr>
          <a:xfrm>
            <a:off x="2819324" y="3730752"/>
            <a:ext cx="2011680" cy="658368"/>
          </a:xfrm>
          <a:prstGeom prst="roundRect">
            <a:avLst>
              <a:gd name="adj" fmla="val 11111"/>
            </a:avLst>
          </a:prstGeom>
          <a:solidFill>
            <a:srgbClr val="FBE6E2"/>
          </a:solidFill>
          <a:ln w="31750">
            <a:solidFill>
              <a:srgbClr val="D9472B"/>
            </a:solidFill>
          </a:ln>
        </p:spPr>
        <p:txBody>
          <a:bodyPr wrap="square" lIns="50800" tIns="50800" rIns="50800" bIns="508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② 조건·적용 범위 추출</a:t>
            </a:r>
            <a:endParaRPr lang="en-US" sz="1300" dirty="0"/>
          </a:p>
        </p:txBody>
      </p:sp>
      <p:sp>
        <p:nvSpPr>
          <p:cNvPr id="18" name="Text 16"/>
          <p:cNvSpPr txBox="1"/>
          <p:nvPr/>
        </p:nvSpPr>
        <p:spPr>
          <a:xfrm>
            <a:off x="2819324" y="4443984"/>
            <a:ext cx="2011680" cy="384048"/>
          </a:xfrm>
          <a:prstGeom prst="rect">
            <a:avLst/>
          </a:prstGeom>
          <a:noFill/>
          <a:ln/>
        </p:spPr>
        <p:txBody>
          <a:bodyPr wrap="square" lIns="0" tIns="0" rIns="0" bIns="0" rtlCol="0" anchor="t"/>
          <a:lstStyle/>
          <a:p>
            <a:pPr algn="ctr" indent="0" marL="0">
              <a:buNone/>
            </a:pPr>
            <a:r>
              <a:rPr lang="en-US" sz="1000" b="1" dirty="0">
                <a:solidFill>
                  <a:srgbClr val="A8311A"/>
                </a:solidFill>
                <a:latin typeface="Malgun Gothic" pitchFamily="34" charset="0"/>
                <a:ea typeface="Malgun Gothic" pitchFamily="34" charset="-122"/>
                <a:cs typeface="Malgun Gothic" pitchFamily="34" charset="-120"/>
              </a:rPr>
              <a:t>오류 지점: scope 누락</a:t>
            </a:r>
            <a:endParaRPr lang="en-US" sz="1000" dirty="0"/>
          </a:p>
        </p:txBody>
      </p:sp>
      <p:sp>
        <p:nvSpPr>
          <p:cNvPr id="19" name="Shape 17"/>
          <p:cNvSpPr/>
          <p:nvPr/>
        </p:nvSpPr>
        <p:spPr>
          <a:xfrm>
            <a:off x="4849292" y="4059936"/>
            <a:ext cx="222428" cy="0"/>
          </a:xfrm>
          <a:prstGeom prst="line">
            <a:avLst/>
          </a:prstGeom>
          <a:noFill/>
          <a:ln w="19050">
            <a:solidFill>
              <a:srgbClr val="8A94A3"/>
            </a:solidFill>
            <a:prstDash val="solid"/>
            <a:tailEnd type="triangle"/>
          </a:ln>
        </p:spPr>
      </p:sp>
      <p:sp>
        <p:nvSpPr>
          <p:cNvPr id="20" name="Text 18"/>
          <p:cNvSpPr txBox="1"/>
          <p:nvPr/>
        </p:nvSpPr>
        <p:spPr>
          <a:xfrm>
            <a:off x="5090008" y="3730752"/>
            <a:ext cx="2011680" cy="658368"/>
          </a:xfrm>
          <a:prstGeom prst="roundRect">
            <a:avLst>
              <a:gd name="adj" fmla="val 11111"/>
            </a:avLst>
          </a:prstGeom>
          <a:solidFill>
            <a:srgbClr val="F3F5F8"/>
          </a:solidFill>
          <a:ln>
            <a:solidFill>
              <a:srgbClr val="F3F5F8"/>
            </a:solidFill>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③ 관계 정규화</a:t>
            </a:r>
            <a:endParaRPr lang="en-US" sz="1300" dirty="0"/>
          </a:p>
        </p:txBody>
      </p:sp>
      <p:sp>
        <p:nvSpPr>
          <p:cNvPr id="21" name="Text 19"/>
          <p:cNvSpPr txBox="1"/>
          <p:nvPr/>
        </p:nvSpPr>
        <p:spPr>
          <a:xfrm>
            <a:off x="5090008" y="4443984"/>
            <a:ext cx="2011680" cy="384048"/>
          </a:xfrm>
          <a:prstGeom prst="rect">
            <a:avLst/>
          </a:prstGeom>
          <a:noFill/>
          <a:ln/>
        </p:spPr>
        <p:txBody>
          <a:bodyPr wrap="square" lIns="0" tIns="0" rIns="0" bIns="0" rtlCol="0" anchor="t"/>
          <a:lstStyle/>
          <a:p>
            <a:pPr algn="ctr" indent="0" marL="0">
              <a:buNone/>
            </a:pPr>
            <a:r>
              <a:rPr lang="en-US" sz="1000" dirty="0">
                <a:solidFill>
                  <a:srgbClr val="5B6778"/>
                </a:solidFill>
                <a:latin typeface="Malgun Gothic" pitchFamily="34" charset="0"/>
                <a:ea typeface="Malgun Gothic" pitchFamily="34" charset="-122"/>
                <a:cs typeface="Malgun Gothic" pitchFamily="34" charset="-120"/>
              </a:rPr>
              <a:t>②의 오류가 전파</a:t>
            </a:r>
            <a:endParaRPr lang="en-US" sz="1000" dirty="0"/>
          </a:p>
        </p:txBody>
      </p:sp>
      <p:sp>
        <p:nvSpPr>
          <p:cNvPr id="22" name="Shape 20"/>
          <p:cNvSpPr/>
          <p:nvPr/>
        </p:nvSpPr>
        <p:spPr>
          <a:xfrm>
            <a:off x="7119976" y="4059936"/>
            <a:ext cx="222428" cy="0"/>
          </a:xfrm>
          <a:prstGeom prst="line">
            <a:avLst/>
          </a:prstGeom>
          <a:noFill/>
          <a:ln w="19050">
            <a:solidFill>
              <a:srgbClr val="8A94A3"/>
            </a:solidFill>
            <a:prstDash val="solid"/>
            <a:tailEnd type="triangle"/>
          </a:ln>
        </p:spPr>
      </p:sp>
      <p:sp>
        <p:nvSpPr>
          <p:cNvPr id="23" name="Text 21"/>
          <p:cNvSpPr txBox="1"/>
          <p:nvPr/>
        </p:nvSpPr>
        <p:spPr>
          <a:xfrm>
            <a:off x="7360691" y="3730752"/>
            <a:ext cx="2011680" cy="658368"/>
          </a:xfrm>
          <a:prstGeom prst="roundRect">
            <a:avLst>
              <a:gd name="adj" fmla="val 11111"/>
            </a:avLst>
          </a:prstGeom>
          <a:solidFill>
            <a:srgbClr val="F3F5F8"/>
          </a:solidFill>
          <a:ln>
            <a:solidFill>
              <a:srgbClr val="F3F5F8"/>
            </a:solidFill>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④ 검색 (그래프 조회)</a:t>
            </a:r>
            <a:endParaRPr lang="en-US" sz="1300" dirty="0"/>
          </a:p>
        </p:txBody>
      </p:sp>
      <p:sp>
        <p:nvSpPr>
          <p:cNvPr id="24" name="Text 22"/>
          <p:cNvSpPr txBox="1"/>
          <p:nvPr/>
        </p:nvSpPr>
        <p:spPr>
          <a:xfrm>
            <a:off x="7360691" y="4443984"/>
            <a:ext cx="2011680" cy="384048"/>
          </a:xfrm>
          <a:prstGeom prst="rect">
            <a:avLst/>
          </a:prstGeom>
          <a:noFill/>
          <a:ln/>
        </p:spPr>
        <p:txBody>
          <a:bodyPr wrap="square" lIns="0" tIns="0" rIns="0" bIns="0" rtlCol="0" anchor="t"/>
          <a:lstStyle/>
          <a:p>
            <a:pPr algn="ctr" indent="0" marL="0">
              <a:buNone/>
            </a:pPr>
            <a:r>
              <a:rPr lang="en-US" sz="1000" dirty="0">
                <a:solidFill>
                  <a:srgbClr val="5B6778"/>
                </a:solidFill>
                <a:latin typeface="Malgun Gothic" pitchFamily="34" charset="0"/>
                <a:ea typeface="Malgun Gothic" pitchFamily="34" charset="-122"/>
                <a:cs typeface="Malgun Gothic" pitchFamily="34" charset="-120"/>
              </a:rPr>
              <a:t>잘못된 관계를 그대로 조회</a:t>
            </a:r>
            <a:endParaRPr lang="en-US" sz="1000" dirty="0"/>
          </a:p>
        </p:txBody>
      </p:sp>
      <p:sp>
        <p:nvSpPr>
          <p:cNvPr id="25" name="Shape 23"/>
          <p:cNvSpPr/>
          <p:nvPr/>
        </p:nvSpPr>
        <p:spPr>
          <a:xfrm>
            <a:off x="9390659" y="4059936"/>
            <a:ext cx="222428" cy="0"/>
          </a:xfrm>
          <a:prstGeom prst="line">
            <a:avLst/>
          </a:prstGeom>
          <a:noFill/>
          <a:ln w="19050">
            <a:solidFill>
              <a:srgbClr val="8A94A3"/>
            </a:solidFill>
            <a:prstDash val="solid"/>
            <a:tailEnd type="triangle"/>
          </a:ln>
        </p:spPr>
      </p:sp>
      <p:sp>
        <p:nvSpPr>
          <p:cNvPr id="26" name="Text 24"/>
          <p:cNvSpPr txBox="1"/>
          <p:nvPr/>
        </p:nvSpPr>
        <p:spPr>
          <a:xfrm>
            <a:off x="9631375" y="3730752"/>
            <a:ext cx="2011680" cy="658368"/>
          </a:xfrm>
          <a:prstGeom prst="roundRect">
            <a:avLst>
              <a:gd name="adj" fmla="val 11111"/>
            </a:avLst>
          </a:prstGeom>
          <a:solidFill>
            <a:srgbClr val="F3F5F8"/>
          </a:solidFill>
          <a:ln w="15875">
            <a:solidFill>
              <a:srgbClr val="E8A33D"/>
            </a:solidFill>
            <a:prstDash val="dash"/>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⑤ LLM 답변 생성</a:t>
            </a:r>
            <a:endParaRPr lang="en-US" sz="1300" dirty="0"/>
          </a:p>
        </p:txBody>
      </p:sp>
      <p:sp>
        <p:nvSpPr>
          <p:cNvPr id="27" name="Text 25"/>
          <p:cNvSpPr txBox="1"/>
          <p:nvPr/>
        </p:nvSpPr>
        <p:spPr>
          <a:xfrm>
            <a:off x="9631375" y="4443984"/>
            <a:ext cx="2011680" cy="384048"/>
          </a:xfrm>
          <a:prstGeom prst="rect">
            <a:avLst/>
          </a:prstGeom>
          <a:noFill/>
          <a:ln/>
        </p:spPr>
        <p:txBody>
          <a:bodyPr wrap="square" lIns="0" tIns="0" rIns="0" bIns="0" rtlCol="0" anchor="t"/>
          <a:lstStyle/>
          <a:p>
            <a:pPr algn="ctr" indent="0" marL="0">
              <a:buNone/>
            </a:pPr>
            <a:r>
              <a:rPr lang="en-US" sz="1000" b="1" dirty="0">
                <a:solidFill>
                  <a:srgbClr val="8F5208"/>
                </a:solidFill>
                <a:latin typeface="Malgun Gothic" pitchFamily="34" charset="0"/>
                <a:ea typeface="Malgun Gothic" pitchFamily="34" charset="-122"/>
                <a:cs typeface="Malgun Gothic" pitchFamily="34" charset="-120"/>
              </a:rPr>
              <a:t>다른 유형: 근거를 무시한 답변</a:t>
            </a:r>
            <a:endParaRPr lang="en-US" sz="1000" dirty="0"/>
          </a:p>
        </p:txBody>
      </p:sp>
      <p:sp>
        <p:nvSpPr>
          <p:cNvPr id="28" name="Text 26"/>
          <p:cNvSpPr txBox="1"/>
          <p:nvPr/>
        </p:nvSpPr>
        <p:spPr>
          <a:xfrm>
            <a:off x="548640" y="4956048"/>
            <a:ext cx="329184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수정: 상품권에 실적 제외 관계(scope) 보정</a:t>
            </a:r>
            <a:endParaRPr lang="en-US" sz="1200" dirty="0"/>
          </a:p>
        </p:txBody>
      </p:sp>
      <p:sp>
        <p:nvSpPr>
          <p:cNvPr id="29" name="Shape 27"/>
          <p:cNvSpPr/>
          <p:nvPr/>
        </p:nvSpPr>
        <p:spPr>
          <a:xfrm>
            <a:off x="3858768" y="5184648"/>
            <a:ext cx="238658" cy="0"/>
          </a:xfrm>
          <a:prstGeom prst="line">
            <a:avLst/>
          </a:prstGeom>
          <a:noFill/>
          <a:ln w="19050">
            <a:solidFill>
              <a:srgbClr val="8A94A3"/>
            </a:solidFill>
            <a:prstDash val="solid"/>
            <a:tailEnd type="triangle"/>
          </a:ln>
        </p:spPr>
      </p:sp>
      <p:sp>
        <p:nvSpPr>
          <p:cNvPr id="30" name="Text 28"/>
          <p:cNvSpPr txBox="1"/>
          <p:nvPr/>
        </p:nvSpPr>
        <p:spPr>
          <a:xfrm>
            <a:off x="4115714" y="4956048"/>
            <a:ext cx="146304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재적재</a:t>
            </a:r>
            <a:endParaRPr lang="en-US" sz="1200" dirty="0"/>
          </a:p>
        </p:txBody>
      </p:sp>
      <p:sp>
        <p:nvSpPr>
          <p:cNvPr id="31" name="Shape 29"/>
          <p:cNvSpPr/>
          <p:nvPr/>
        </p:nvSpPr>
        <p:spPr>
          <a:xfrm>
            <a:off x="5597042" y="5184648"/>
            <a:ext cx="238658" cy="0"/>
          </a:xfrm>
          <a:prstGeom prst="line">
            <a:avLst/>
          </a:prstGeom>
          <a:noFill/>
          <a:ln w="19050">
            <a:solidFill>
              <a:srgbClr val="8A94A3"/>
            </a:solidFill>
            <a:prstDash val="solid"/>
            <a:tailEnd type="triangle"/>
          </a:ln>
        </p:spPr>
      </p:sp>
      <p:sp>
        <p:nvSpPr>
          <p:cNvPr id="32" name="Text 30"/>
          <p:cNvSpPr txBox="1"/>
          <p:nvPr/>
        </p:nvSpPr>
        <p:spPr>
          <a:xfrm>
            <a:off x="5853989" y="4956048"/>
            <a:ext cx="210312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같은 질문 재검증</a:t>
            </a:r>
            <a:endParaRPr lang="en-US" sz="1200" dirty="0"/>
          </a:p>
        </p:txBody>
      </p:sp>
      <p:sp>
        <p:nvSpPr>
          <p:cNvPr id="33" name="Shape 31"/>
          <p:cNvSpPr/>
          <p:nvPr/>
        </p:nvSpPr>
        <p:spPr>
          <a:xfrm>
            <a:off x="7975397" y="5184648"/>
            <a:ext cx="238658" cy="0"/>
          </a:xfrm>
          <a:prstGeom prst="line">
            <a:avLst/>
          </a:prstGeom>
          <a:noFill/>
          <a:ln w="19050">
            <a:solidFill>
              <a:srgbClr val="8A94A3"/>
            </a:solidFill>
            <a:prstDash val="solid"/>
            <a:tailEnd type="triangle"/>
          </a:ln>
        </p:spPr>
      </p:sp>
      <p:sp>
        <p:nvSpPr>
          <p:cNvPr id="34" name="Text 32"/>
          <p:cNvSpPr txBox="1"/>
          <p:nvPr/>
        </p:nvSpPr>
        <p:spPr>
          <a:xfrm>
            <a:off x="8232343" y="4956048"/>
            <a:ext cx="3410712" cy="4572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판정: 미적용 (등록일 예외 확인 필요)</a:t>
            </a:r>
            <a:endParaRPr lang="en-US" sz="1200" dirty="0"/>
          </a:p>
        </p:txBody>
      </p:sp>
      <p:sp>
        <p:nvSpPr>
          <p:cNvPr id="35" name="Text 33"/>
          <p:cNvSpPr txBox="1"/>
          <p:nvPr/>
        </p:nvSpPr>
        <p:spPr>
          <a:xfrm>
            <a:off x="548640" y="5596128"/>
            <a:ext cx="11094415" cy="658368"/>
          </a:xfrm>
          <a:prstGeom prst="roundRect">
            <a:avLst>
              <a:gd name="adj" fmla="val 11111"/>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목표는 ‘전부 맞힌다’가 아니라 ‘틀린 지점을 찾을 수 있다’입니다. 고치지 못한 항목은 판단 보류로 공개합니다.</a:t>
            </a:r>
            <a:endParaRPr lang="en-US" sz="1500" dirty="0"/>
          </a:p>
        </p:txBody>
      </p:sp>
      <p:sp>
        <p:nvSpPr>
          <p:cNvPr id="36" name="Text 3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시나리오는 STYLE 원문에서 확인한 함정(상품권이 실적 제외·서비스 제외에 모두 등장)으로 구성 · 단계 구분은 M1·M3~M5·M7·M8 · 오류 6분류는 부록 D</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11   핵심 시연 ③  조건 변경 영향</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조건 하나가 바뀌면, 다시 검토할 혜택이 경로로 드러납니다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45920"/>
            <a:ext cx="11094415" cy="502920"/>
          </a:xfrm>
          <a:prstGeom prst="roundRect">
            <a:avLst>
              <a:gd name="adj" fmla="val 14545"/>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가정:  ‘상품권·기프트카드 구매’를 전월실적 산정에 포함하도록 조항이 바뀐다면?</a:t>
            </a:r>
            <a:endParaRPr lang="en-US" sz="1600" dirty="0"/>
          </a:p>
        </p:txBody>
      </p:sp>
      <p:sp>
        <p:nvSpPr>
          <p:cNvPr id="7" name="Text 5"/>
          <p:cNvSpPr txBox="1"/>
          <p:nvPr/>
        </p:nvSpPr>
        <p:spPr>
          <a:xfrm>
            <a:off x="548640" y="2286000"/>
            <a:ext cx="3840480" cy="292608"/>
          </a:xfrm>
          <a:prstGeom prst="rect">
            <a:avLst/>
          </a:prstGeom>
          <a:noFill/>
          <a:ln/>
        </p:spPr>
        <p:txBody>
          <a:bodyPr wrap="square" lIns="0" tIns="0" rIns="0" bIns="0" rtlCol="0" anchor="t"/>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검토 후보 — 4종 · 혜택 7개</a:t>
            </a:r>
            <a:endParaRPr lang="en-US" sz="1400" dirty="0"/>
          </a:p>
        </p:txBody>
      </p:sp>
      <p:sp>
        <p:nvSpPr>
          <p:cNvPr id="8" name="Text 6"/>
          <p:cNvSpPr txBox="1"/>
          <p:nvPr/>
        </p:nvSpPr>
        <p:spPr>
          <a:xfrm>
            <a:off x="548640" y="2633472"/>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STYLE</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9" name="Shape 7"/>
          <p:cNvSpPr/>
          <p:nvPr/>
        </p:nvSpPr>
        <p:spPr>
          <a:xfrm>
            <a:off x="4251960" y="2907792"/>
            <a:ext cx="274320" cy="0"/>
          </a:xfrm>
          <a:prstGeom prst="line">
            <a:avLst/>
          </a:prstGeom>
          <a:noFill/>
          <a:ln w="19050">
            <a:solidFill>
              <a:srgbClr val="159A8C"/>
            </a:solidFill>
            <a:prstDash val="solid"/>
          </a:ln>
        </p:spPr>
      </p:sp>
      <p:sp>
        <p:nvSpPr>
          <p:cNvPr id="10" name="Text 8"/>
          <p:cNvSpPr txBox="1"/>
          <p:nvPr/>
        </p:nvSpPr>
        <p:spPr>
          <a:xfrm>
            <a:off x="548640" y="3255264"/>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PLAY</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11" name="Shape 9"/>
          <p:cNvSpPr/>
          <p:nvPr/>
        </p:nvSpPr>
        <p:spPr>
          <a:xfrm>
            <a:off x="4251960" y="3529584"/>
            <a:ext cx="274320" cy="0"/>
          </a:xfrm>
          <a:prstGeom prst="line">
            <a:avLst/>
          </a:prstGeom>
          <a:noFill/>
          <a:ln w="19050">
            <a:solidFill>
              <a:srgbClr val="159A8C"/>
            </a:solidFill>
            <a:prstDash val="solid"/>
          </a:ln>
        </p:spPr>
      </p:sp>
      <p:sp>
        <p:nvSpPr>
          <p:cNvPr id="12" name="Text 10"/>
          <p:cNvSpPr txBox="1"/>
          <p:nvPr/>
        </p:nvSpPr>
        <p:spPr>
          <a:xfrm>
            <a:off x="548640" y="3877056"/>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BT</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인천공항 라운지(50만)</a:t>
            </a:r>
            <a:endParaRPr lang="en-US" sz="1300" dirty="0"/>
          </a:p>
        </p:txBody>
      </p:sp>
      <p:sp>
        <p:nvSpPr>
          <p:cNvPr id="13" name="Shape 11"/>
          <p:cNvSpPr/>
          <p:nvPr/>
        </p:nvSpPr>
        <p:spPr>
          <a:xfrm>
            <a:off x="4251960" y="4151376"/>
            <a:ext cx="274320" cy="0"/>
          </a:xfrm>
          <a:prstGeom prst="line">
            <a:avLst/>
          </a:prstGeom>
          <a:noFill/>
          <a:ln w="19050">
            <a:solidFill>
              <a:srgbClr val="159A8C"/>
            </a:solidFill>
            <a:prstDash val="solid"/>
          </a:ln>
        </p:spPr>
      </p:sp>
      <p:sp>
        <p:nvSpPr>
          <p:cNvPr id="14" name="Text 12"/>
          <p:cNvSpPr txBox="1"/>
          <p:nvPr/>
        </p:nvSpPr>
        <p:spPr>
          <a:xfrm>
            <a:off x="548640" y="4498848"/>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에너지 공과금(40/80만) · 일상생활(40만)</a:t>
            </a:r>
            <a:endParaRPr lang="en-US" sz="1300" dirty="0"/>
          </a:p>
        </p:txBody>
      </p:sp>
      <p:sp>
        <p:nvSpPr>
          <p:cNvPr id="15" name="Shape 13"/>
          <p:cNvSpPr/>
          <p:nvPr/>
        </p:nvSpPr>
        <p:spPr>
          <a:xfrm>
            <a:off x="4251960" y="4773168"/>
            <a:ext cx="274320" cy="0"/>
          </a:xfrm>
          <a:prstGeom prst="line">
            <a:avLst/>
          </a:prstGeom>
          <a:noFill/>
          <a:ln w="19050">
            <a:solidFill>
              <a:srgbClr val="159A8C"/>
            </a:solidFill>
            <a:prstDash val="solid"/>
          </a:ln>
        </p:spPr>
      </p:sp>
      <p:sp>
        <p:nvSpPr>
          <p:cNvPr id="16" name="Shape 14"/>
          <p:cNvSpPr/>
          <p:nvPr/>
        </p:nvSpPr>
        <p:spPr>
          <a:xfrm>
            <a:off x="4526280" y="2907792"/>
            <a:ext cx="0" cy="1865376"/>
          </a:xfrm>
          <a:prstGeom prst="line">
            <a:avLst/>
          </a:prstGeom>
          <a:noFill/>
          <a:ln w="19050">
            <a:solidFill>
              <a:srgbClr val="159A8C"/>
            </a:solidFill>
            <a:prstDash val="solid"/>
          </a:ln>
        </p:spPr>
      </p:sp>
      <p:sp>
        <p:nvSpPr>
          <p:cNvPr id="17" name="Shape 15"/>
          <p:cNvSpPr/>
          <p:nvPr/>
        </p:nvSpPr>
        <p:spPr>
          <a:xfrm>
            <a:off x="4526280" y="3767328"/>
            <a:ext cx="301752" cy="0"/>
          </a:xfrm>
          <a:prstGeom prst="line">
            <a:avLst/>
          </a:prstGeom>
          <a:noFill/>
          <a:ln w="19050">
            <a:solidFill>
              <a:srgbClr val="159A8C"/>
            </a:solidFill>
            <a:prstDash val="solid"/>
            <a:tailEnd type="triangle"/>
          </a:ln>
        </p:spPr>
      </p:sp>
      <p:sp>
        <p:nvSpPr>
          <p:cNvPr id="18" name="Text 16"/>
          <p:cNvSpPr txBox="1"/>
          <p:nvPr/>
        </p:nvSpPr>
        <p:spPr>
          <a:xfrm>
            <a:off x="4297680" y="2313432"/>
            <a:ext cx="3291840" cy="256032"/>
          </a:xfrm>
          <a:prstGeom prst="rect">
            <a:avLst/>
          </a:prstGeom>
          <a:noFill/>
          <a:ln/>
        </p:spPr>
        <p:txBody>
          <a:bodyPr wrap="square" lIns="0" tIns="0" rIns="0" bIns="0" rtlCol="0" anchor="t"/>
          <a:lstStyle/>
          <a:p>
            <a:pPr indent="0" marL="0">
              <a:buNone/>
            </a:pPr>
            <a:r>
              <a:rPr lang="en-US" sz="1000" b="1" dirty="0">
                <a:solidFill>
                  <a:srgbClr val="0D6F64"/>
                </a:solidFill>
                <a:latin typeface="Courier New" pitchFamily="34" charset="0"/>
                <a:ea typeface="Courier New" pitchFamily="34" charset="-122"/>
                <a:cs typeface="Courier New" pitchFamily="34" charset="-120"/>
              </a:rPr>
              <a:t>REQUIRES → EXCLUDES {scope: 실적}</a:t>
            </a:r>
            <a:endParaRPr lang="en-US" sz="1000" dirty="0"/>
          </a:p>
        </p:txBody>
      </p:sp>
      <p:sp>
        <p:nvSpPr>
          <p:cNvPr id="19" name="Text 17"/>
          <p:cNvSpPr txBox="1"/>
          <p:nvPr/>
        </p:nvSpPr>
        <p:spPr>
          <a:xfrm>
            <a:off x="4846320" y="3081528"/>
            <a:ext cx="2148840" cy="1371600"/>
          </a:xfrm>
          <a:prstGeom prst="roundRect">
            <a:avLst>
              <a:gd name="adj" fmla="val 8000"/>
            </a:avLst>
          </a:prstGeom>
          <a:solidFill>
            <a:srgbClr val="D9472B"/>
          </a:solidFill>
          <a:ln>
            <a:solidFill>
              <a:srgbClr val="D9472B"/>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상품권·</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기프트카드 구매</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(실적 제외 항목)</a:t>
            </a:r>
            <a:endParaRPr lang="en-US" sz="1400" dirty="0"/>
          </a:p>
        </p:txBody>
      </p:sp>
      <p:sp>
        <p:nvSpPr>
          <p:cNvPr id="20" name="Text 18"/>
          <p:cNvSpPr txBox="1"/>
          <p:nvPr/>
        </p:nvSpPr>
        <p:spPr>
          <a:xfrm>
            <a:off x="7726680" y="2286000"/>
            <a:ext cx="3913632" cy="292608"/>
          </a:xfrm>
          <a:prstGeom prst="rect">
            <a:avLst/>
          </a:prstGeom>
          <a:noFill/>
          <a:ln/>
        </p:spPr>
        <p:txBody>
          <a:bodyPr wrap="square" lIns="0" tIns="0" rIns="0" bIns="0" rtlCol="0" anchor="t"/>
          <a:lstStyle/>
          <a:p>
            <a:pPr indent="0" marL="0">
              <a:buNone/>
            </a:pPr>
            <a:r>
              <a:rPr lang="en-US" sz="1400" b="1" dirty="0">
                <a:solidFill>
                  <a:srgbClr val="3A4A60"/>
                </a:solidFill>
                <a:latin typeface="Malgun Gothic" pitchFamily="34" charset="0"/>
                <a:ea typeface="Malgun Gothic" pitchFamily="34" charset="-122"/>
                <a:cs typeface="Malgun Gothic" pitchFamily="34" charset="-120"/>
              </a:rPr>
              <a:t>같은 단어, 다른 범위 — 별도 표시</a:t>
            </a:r>
            <a:endParaRPr lang="en-US" sz="1400" dirty="0"/>
          </a:p>
        </p:txBody>
      </p:sp>
      <p:sp>
        <p:nvSpPr>
          <p:cNvPr id="21" name="Text 19"/>
          <p:cNvSpPr txBox="1"/>
          <p:nvPr/>
        </p:nvSpPr>
        <p:spPr>
          <a:xfrm>
            <a:off x="7726680" y="2633472"/>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BT · BIG TICKET 할인 제외</a:t>
            </a:r>
            <a:endParaRPr lang="en-US" sz="1300" dirty="0"/>
          </a:p>
        </p:txBody>
      </p:sp>
      <p:sp>
        <p:nvSpPr>
          <p:cNvPr id="22" name="Shape 20"/>
          <p:cNvSpPr/>
          <p:nvPr/>
        </p:nvSpPr>
        <p:spPr>
          <a:xfrm>
            <a:off x="7406640" y="2907792"/>
            <a:ext cx="320040" cy="0"/>
          </a:xfrm>
          <a:prstGeom prst="line">
            <a:avLst/>
          </a:prstGeom>
          <a:noFill/>
          <a:ln w="15875">
            <a:solidFill>
              <a:srgbClr val="A0AAB8"/>
            </a:solidFill>
            <a:prstDash val="dash"/>
          </a:ln>
        </p:spPr>
      </p:sp>
      <p:sp>
        <p:nvSpPr>
          <p:cNvPr id="23" name="Text 21"/>
          <p:cNvSpPr txBox="1"/>
          <p:nvPr/>
        </p:nvSpPr>
        <p:spPr>
          <a:xfrm>
            <a:off x="7726680" y="3255264"/>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에너지 더블 · 대형마트 할인 제외</a:t>
            </a:r>
            <a:endParaRPr lang="en-US" sz="1300" dirty="0"/>
          </a:p>
        </p:txBody>
      </p:sp>
      <p:sp>
        <p:nvSpPr>
          <p:cNvPr id="24" name="Shape 22"/>
          <p:cNvSpPr/>
          <p:nvPr/>
        </p:nvSpPr>
        <p:spPr>
          <a:xfrm>
            <a:off x="7406640" y="3529584"/>
            <a:ext cx="320040" cy="0"/>
          </a:xfrm>
          <a:prstGeom prst="line">
            <a:avLst/>
          </a:prstGeom>
          <a:noFill/>
          <a:ln w="15875">
            <a:solidFill>
              <a:srgbClr val="A0AAB8"/>
            </a:solidFill>
            <a:prstDash val="dash"/>
          </a:ln>
        </p:spPr>
      </p:sp>
      <p:sp>
        <p:nvSpPr>
          <p:cNvPr id="25" name="Text 23"/>
          <p:cNvSpPr txBox="1"/>
          <p:nvPr/>
        </p:nvSpPr>
        <p:spPr>
          <a:xfrm>
            <a:off x="7726680" y="3877056"/>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STYLE·PLAY · 서비스 공통 제외</a:t>
            </a:r>
            <a:endParaRPr lang="en-US" sz="1300" dirty="0"/>
          </a:p>
        </p:txBody>
      </p:sp>
      <p:sp>
        <p:nvSpPr>
          <p:cNvPr id="26" name="Shape 24"/>
          <p:cNvSpPr/>
          <p:nvPr/>
        </p:nvSpPr>
        <p:spPr>
          <a:xfrm>
            <a:off x="7406640" y="4151376"/>
            <a:ext cx="320040" cy="0"/>
          </a:xfrm>
          <a:prstGeom prst="line">
            <a:avLst/>
          </a:prstGeom>
          <a:noFill/>
          <a:ln w="15875">
            <a:solidFill>
              <a:srgbClr val="A0AAB8"/>
            </a:solidFill>
            <a:prstDash val="dash"/>
          </a:ln>
        </p:spPr>
      </p:sp>
      <p:sp>
        <p:nvSpPr>
          <p:cNvPr id="27" name="Shape 25"/>
          <p:cNvSpPr/>
          <p:nvPr/>
        </p:nvSpPr>
        <p:spPr>
          <a:xfrm>
            <a:off x="7406640" y="2907792"/>
            <a:ext cx="0" cy="1243584"/>
          </a:xfrm>
          <a:prstGeom prst="line">
            <a:avLst/>
          </a:prstGeom>
          <a:noFill/>
          <a:ln w="15875">
            <a:solidFill>
              <a:srgbClr val="A0AAB8"/>
            </a:solidFill>
            <a:prstDash val="dash"/>
          </a:ln>
        </p:spPr>
      </p:sp>
      <p:sp>
        <p:nvSpPr>
          <p:cNvPr id="28" name="Shape 26"/>
          <p:cNvSpPr/>
          <p:nvPr/>
        </p:nvSpPr>
        <p:spPr>
          <a:xfrm>
            <a:off x="6995160" y="3767328"/>
            <a:ext cx="411480" cy="0"/>
          </a:xfrm>
          <a:prstGeom prst="line">
            <a:avLst/>
          </a:prstGeom>
          <a:noFill/>
          <a:ln w="15875">
            <a:solidFill>
              <a:srgbClr val="A0AAB8"/>
            </a:solidFill>
            <a:prstDash val="dash"/>
          </a:ln>
        </p:spPr>
      </p:sp>
      <p:sp>
        <p:nvSpPr>
          <p:cNvPr id="29" name="Text 27"/>
          <p:cNvSpPr txBox="1"/>
          <p:nvPr/>
        </p:nvSpPr>
        <p:spPr>
          <a:xfrm>
            <a:off x="7059168" y="3246120"/>
            <a:ext cx="365760" cy="457200"/>
          </a:xfrm>
          <a:prstGeom prst="rect">
            <a:avLst/>
          </a:prstGeom>
          <a:noFill/>
          <a:ln/>
        </p:spPr>
        <p:txBody>
          <a:bodyPr wrap="square" lIns="0" tIns="0" rIns="0" bIns="0" rtlCol="0" anchor="t"/>
          <a:lstStyle/>
          <a:p>
            <a:pPr indent="0" marL="0">
              <a:buNone/>
            </a:pPr>
            <a:r>
              <a:rPr lang="en-US" sz="900" dirty="0">
                <a:solidFill>
                  <a:srgbClr val="5B6778"/>
                </a:solidFill>
                <a:latin typeface="Malgun Gothic" pitchFamily="34" charset="0"/>
                <a:ea typeface="Malgun Gothic" pitchFamily="34" charset="-122"/>
                <a:cs typeface="Malgun Gothic" pitchFamily="34" charset="-120"/>
              </a:rPr>
              <a:t>scope:</a:t>
            </a:r>
            <a:endParaRPr lang="en-US" sz="900" dirty="0"/>
          </a:p>
          <a:p>
            <a:pPr indent="0" marL="0">
              <a:buNone/>
            </a:pPr>
            <a:r>
              <a:rPr lang="en-US" sz="900" dirty="0">
                <a:solidFill>
                  <a:srgbClr val="5B6778"/>
                </a:solidFill>
                <a:latin typeface="Malgun Gothic" pitchFamily="34" charset="0"/>
                <a:ea typeface="Malgun Gothic" pitchFamily="34" charset="-122"/>
                <a:cs typeface="Malgun Gothic" pitchFamily="34" charset="-120"/>
              </a:rPr>
              <a:t>혜택</a:t>
            </a:r>
            <a:endParaRPr lang="en-US" sz="900" dirty="0"/>
          </a:p>
        </p:txBody>
      </p:sp>
      <p:sp>
        <p:nvSpPr>
          <p:cNvPr id="30" name="Text 28"/>
          <p:cNvSpPr txBox="1"/>
          <p:nvPr/>
        </p:nvSpPr>
        <p:spPr>
          <a:xfrm>
            <a:off x="7726680" y="4498848"/>
            <a:ext cx="3913632" cy="548640"/>
          </a:xfrm>
          <a:prstGeom prst="roundRect">
            <a:avLst>
              <a:gd name="adj" fmla="val 13333"/>
            </a:avLst>
          </a:prstGeom>
          <a:solidFill>
            <a:srgbClr val="FFFFFF"/>
          </a:solidFill>
          <a:ln w="12700">
            <a:solidFill>
              <a:srgbClr val="A0AAB8"/>
            </a:solidFill>
            <a:prstDash val="dash"/>
          </a:ln>
        </p:spPr>
        <p:txBody>
          <a:bodyPr wrap="square" lIns="127000" tIns="127000" rIns="127000" bIns="127000" rtlCol="0" anchor="ctr"/>
          <a:lstStyle/>
          <a:p>
            <a:pPr algn="l" indent="0" marL="0">
              <a:buNone/>
            </a:pPr>
            <a:r>
              <a:rPr lang="en-US" sz="1200" dirty="0">
                <a:solidFill>
                  <a:srgbClr val="5B6778"/>
                </a:solidFill>
                <a:latin typeface="Malgun Gothic" pitchFamily="34" charset="0"/>
                <a:ea typeface="Malgun Gothic" pitchFamily="34" charset="-122"/>
                <a:cs typeface="Malgun Gothic" pitchFamily="34" charset="-120"/>
              </a:rPr>
              <a:t>영향 없음: ONE PICK·STYLE/PLAY 영역, BIG TICKET (지난달 실적 조건 없음)</a:t>
            </a:r>
            <a:endParaRPr lang="en-US" sz="1200" dirty="0"/>
          </a:p>
        </p:txBody>
      </p:sp>
      <p:sp>
        <p:nvSpPr>
          <p:cNvPr id="31" name="Text 29"/>
          <p:cNvSpPr txBox="1"/>
          <p:nvPr/>
        </p:nvSpPr>
        <p:spPr>
          <a:xfrm>
            <a:off x="548640" y="5257800"/>
            <a:ext cx="11094415" cy="640080"/>
          </a:xfrm>
          <a:prstGeom prst="roundRect">
            <a:avLst>
              <a:gd name="adj" fmla="val 11429"/>
            </a:avLst>
          </a:prstGeom>
          <a:solidFill>
            <a:srgbClr val="0E1A2B"/>
          </a:solidFill>
          <a:ln>
            <a:solidFill>
              <a:srgbClr val="0E1A2B"/>
            </a:solidFill>
          </a:ln>
        </p:spPr>
        <p:txBody>
          <a:bodyPr wrap="square" lIns="177800" tIns="177800" rIns="177800" bIns="177800" rtlCol="0" anchor="ctr"/>
          <a:lstStyle/>
          <a:p>
            <a:pPr algn="l" indent="0" marL="0">
              <a:buNone/>
            </a:pPr>
            <a:r>
              <a:rPr lang="en-US" sz="1500" dirty="0">
                <a:solidFill>
                  <a:srgbClr val="A9B7C9"/>
                </a:solidFill>
                <a:latin typeface="Malgun Gothic" pitchFamily="34" charset="0"/>
                <a:ea typeface="Malgun Gothic" pitchFamily="34" charset="-122"/>
                <a:cs typeface="Malgun Gothic" pitchFamily="34" charset="-120"/>
              </a:rPr>
              <a:t>‘상품권’ 검색 → </a:t>
            </a:r>
            <a:pPr algn="l" indent="0" marL="0">
              <a:buNone/>
            </a:pPr>
            <a:r>
              <a:rPr lang="en-US" sz="1500" b="1" dirty="0">
                <a:solidFill>
                  <a:srgbClr val="FFFFFF"/>
                </a:solidFill>
                <a:latin typeface="Malgun Gothic" pitchFamily="34" charset="0"/>
                <a:ea typeface="Malgun Gothic" pitchFamily="34" charset="-122"/>
                <a:cs typeface="Malgun Gothic" pitchFamily="34" charset="-120"/>
              </a:rPr>
              <a:t>상품권 문구 전부</a:t>
            </a:r>
            <a:pPr algn="l" indent="0" marL="0">
              <a:buNone/>
            </a:pPr>
            <a:r>
              <a:rPr lang="en-US" sz="1500" dirty="0">
                <a:solidFill>
                  <a:srgbClr val="A9B7C9"/>
                </a:solidFill>
                <a:latin typeface="Malgun Gothic" pitchFamily="34" charset="0"/>
                <a:ea typeface="Malgun Gothic" pitchFamily="34" charset="-122"/>
                <a:cs typeface="Malgun Gothic" pitchFamily="34" charset="-120"/>
              </a:rPr>
              <a:t>      그래프 경로 → </a:t>
            </a:r>
            <a:pPr algn="l" indent="0" marL="0">
              <a:buNone/>
            </a:pPr>
            <a:r>
              <a:rPr lang="en-US" sz="1500" b="1" dirty="0">
                <a:solidFill>
                  <a:srgbClr val="E8A33D"/>
                </a:solidFill>
                <a:latin typeface="Malgun Gothic" pitchFamily="34" charset="0"/>
                <a:ea typeface="Malgun Gothic" pitchFamily="34" charset="-122"/>
                <a:cs typeface="Malgun Gothic" pitchFamily="34" charset="-120"/>
              </a:rPr>
              <a:t>실적 조건에 걸린 7개 혜택 + 범위 다른 조항 분리</a:t>
            </a:r>
            <a:endParaRPr lang="en-US" sz="1500" dirty="0"/>
          </a:p>
        </p:txBody>
      </p:sp>
      <p:sp>
        <p:nvSpPr>
          <p:cNvPr id="32" name="Text 30"/>
          <p:cNvSpPr txBox="1"/>
          <p:nvPr/>
        </p:nvSpPr>
        <p:spPr>
          <a:xfrm>
            <a:off x="548640" y="5971032"/>
            <a:ext cx="11094415" cy="292608"/>
          </a:xfrm>
          <a:prstGeom prst="rect">
            <a:avLst/>
          </a:prstGeom>
          <a:noFill/>
          <a:ln/>
        </p:spPr>
        <p:txBody>
          <a:bodyPr wrap="square" lIns="0" tIns="0" rIns="0" bIns="0" rtlCol="0" anchor="t"/>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결과는 자동 정책 변경이나 법적 효력 판정이 아니라, 사람이 확인할 검토 후보 목록입니다.</a:t>
            </a:r>
            <a:endParaRPr lang="en-US" sz="1200" dirty="0"/>
          </a:p>
        </p:txBody>
      </p:sp>
      <p:sp>
        <p:nvSpPr>
          <p:cNvPr id="33" name="Text 31"/>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4종 원문 수작업 검토로 도출한 기대 결과 · 약 10종 확대 시 재검토 · Cypher·MCP 미실행</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12   MCP 연동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검증된 판단을 다른 AI에도: MCP는 판단 로직이 아닌 연결 어댑터입니다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576072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같은 질문 · 두 경로 · 결과 일치 여부 검증</a:t>
            </a:r>
            <a:endParaRPr lang="en-US" sz="1400" dirty="0"/>
          </a:p>
        </p:txBody>
      </p:sp>
      <p:sp>
        <p:nvSpPr>
          <p:cNvPr id="7" name="Text 5"/>
          <p:cNvSpPr txBox="1"/>
          <p:nvPr/>
        </p:nvSpPr>
        <p:spPr>
          <a:xfrm>
            <a:off x="54864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Neo4j Browser</a:t>
            </a:r>
            <a:endParaRPr lang="en-US" sz="1300" dirty="0"/>
          </a:p>
        </p:txBody>
      </p:sp>
      <p:sp>
        <p:nvSpPr>
          <p:cNvPr id="8" name="Shape 6"/>
          <p:cNvSpPr/>
          <p:nvPr/>
        </p:nvSpPr>
        <p:spPr>
          <a:xfrm>
            <a:off x="2304288" y="2432304"/>
            <a:ext cx="192024" cy="0"/>
          </a:xfrm>
          <a:prstGeom prst="line">
            <a:avLst/>
          </a:prstGeom>
          <a:noFill/>
          <a:ln w="19050">
            <a:solidFill>
              <a:srgbClr val="8A94A3"/>
            </a:solidFill>
            <a:prstDash val="solid"/>
            <a:tailEnd type="triangle"/>
          </a:ln>
        </p:spPr>
      </p:sp>
      <p:sp>
        <p:nvSpPr>
          <p:cNvPr id="9" name="Text 7"/>
          <p:cNvSpPr txBox="1"/>
          <p:nvPr/>
        </p:nvSpPr>
        <p:spPr>
          <a:xfrm>
            <a:off x="251460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Cypher 쿼리</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(M7-②)</a:t>
            </a:r>
            <a:endParaRPr lang="en-US" sz="1300" dirty="0"/>
          </a:p>
        </p:txBody>
      </p:sp>
      <p:sp>
        <p:nvSpPr>
          <p:cNvPr id="10" name="Shape 8"/>
          <p:cNvSpPr/>
          <p:nvPr/>
        </p:nvSpPr>
        <p:spPr>
          <a:xfrm>
            <a:off x="4270248" y="2432304"/>
            <a:ext cx="192024" cy="0"/>
          </a:xfrm>
          <a:prstGeom prst="line">
            <a:avLst/>
          </a:prstGeom>
          <a:noFill/>
          <a:ln w="19050">
            <a:solidFill>
              <a:srgbClr val="8A94A3"/>
            </a:solidFill>
            <a:prstDash val="solid"/>
            <a:tailEnd type="triangle"/>
          </a:ln>
        </p:spPr>
      </p:sp>
      <p:sp>
        <p:nvSpPr>
          <p:cNvPr id="11" name="Text 9"/>
          <p:cNvSpPr txBox="1"/>
          <p:nvPr/>
        </p:nvSpPr>
        <p:spPr>
          <a:xfrm>
            <a:off x="4480560" y="2103120"/>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A</a:t>
            </a:r>
            <a:endParaRPr lang="en-US" sz="1300" dirty="0"/>
          </a:p>
        </p:txBody>
      </p:sp>
      <p:sp>
        <p:nvSpPr>
          <p:cNvPr id="12" name="Text 10"/>
          <p:cNvSpPr txBox="1"/>
          <p:nvPr/>
        </p:nvSpPr>
        <p:spPr>
          <a:xfrm>
            <a:off x="548640" y="2907792"/>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로컬 MCP</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클라이언트</a:t>
            </a:r>
            <a:endParaRPr lang="en-US" sz="1300" dirty="0"/>
          </a:p>
        </p:txBody>
      </p:sp>
      <p:sp>
        <p:nvSpPr>
          <p:cNvPr id="13" name="Shape 11"/>
          <p:cNvSpPr/>
          <p:nvPr/>
        </p:nvSpPr>
        <p:spPr>
          <a:xfrm>
            <a:off x="2304288" y="3236976"/>
            <a:ext cx="192024" cy="0"/>
          </a:xfrm>
          <a:prstGeom prst="line">
            <a:avLst/>
          </a:prstGeom>
          <a:noFill/>
          <a:ln w="19050">
            <a:solidFill>
              <a:srgbClr val="8A94A3"/>
            </a:solidFill>
            <a:prstDash val="solid"/>
            <a:tailEnd type="triangle"/>
          </a:ln>
        </p:spPr>
      </p:sp>
      <p:sp>
        <p:nvSpPr>
          <p:cNvPr id="14" name="Text 12"/>
          <p:cNvSpPr txBox="1"/>
          <p:nvPr/>
        </p:nvSpPr>
        <p:spPr>
          <a:xfrm>
            <a:off x="2514600" y="2907792"/>
            <a:ext cx="1737360" cy="658368"/>
          </a:xfrm>
          <a:prstGeom prst="roundRect">
            <a:avLst>
              <a:gd name="adj" fmla="val 11111"/>
            </a:avLst>
          </a:prstGeom>
          <a:solidFill>
            <a:srgbClr val="FFFFFF"/>
          </a:solidFill>
          <a:ln w="19050">
            <a:solidFill>
              <a:srgbClr val="E8A33D"/>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서버 →</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같은 쿼리 함수</a:t>
            </a:r>
            <a:endParaRPr lang="en-US" sz="1300" dirty="0"/>
          </a:p>
        </p:txBody>
      </p:sp>
      <p:sp>
        <p:nvSpPr>
          <p:cNvPr id="15" name="Shape 13"/>
          <p:cNvSpPr/>
          <p:nvPr/>
        </p:nvSpPr>
        <p:spPr>
          <a:xfrm>
            <a:off x="4270248" y="3236976"/>
            <a:ext cx="192024" cy="0"/>
          </a:xfrm>
          <a:prstGeom prst="line">
            <a:avLst/>
          </a:prstGeom>
          <a:noFill/>
          <a:ln w="19050">
            <a:solidFill>
              <a:srgbClr val="8A94A3"/>
            </a:solidFill>
            <a:prstDash val="solid"/>
            <a:tailEnd type="triangle"/>
          </a:ln>
        </p:spPr>
      </p:sp>
      <p:sp>
        <p:nvSpPr>
          <p:cNvPr id="16" name="Text 14"/>
          <p:cNvSpPr txBox="1"/>
          <p:nvPr/>
        </p:nvSpPr>
        <p:spPr>
          <a:xfrm>
            <a:off x="4480560" y="2907792"/>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B</a:t>
            </a:r>
            <a:endParaRPr lang="en-US" sz="1300" dirty="0"/>
          </a:p>
        </p:txBody>
      </p:sp>
      <p:sp>
        <p:nvSpPr>
          <p:cNvPr id="17" name="Text 15"/>
          <p:cNvSpPr txBox="1"/>
          <p:nvPr/>
        </p:nvSpPr>
        <p:spPr>
          <a:xfrm>
            <a:off x="548640" y="3767328"/>
            <a:ext cx="5669280" cy="548640"/>
          </a:xfrm>
          <a:prstGeom prst="roundRect">
            <a:avLst>
              <a:gd name="adj" fmla="val 13333"/>
            </a:avLst>
          </a:prstGeom>
          <a:solidFill>
            <a:srgbClr val="FFFFFF"/>
          </a:solidFill>
          <a:ln w="15875">
            <a:solidFill>
              <a:srgbClr val="159A8C"/>
            </a:solidFill>
          </a:ln>
        </p:spPr>
        <p:txBody>
          <a:bodyPr wrap="square" lIns="127000" tIns="127000" rIns="127000" bIns="127000" rtlCol="0" anchor="ctr"/>
          <a:lstStyle/>
          <a:p>
            <a:pPr algn="l" indent="0" marL="0">
              <a:buNone/>
            </a:pPr>
            <a:r>
              <a:rPr lang="en-US" sz="1300" b="1" dirty="0">
                <a:solidFill>
                  <a:srgbClr val="0D6F64"/>
                </a:solidFill>
                <a:latin typeface="Malgun Gothic" pitchFamily="34" charset="0"/>
                <a:ea typeface="Malgun Gothic" pitchFamily="34" charset="-122"/>
                <a:cs typeface="Malgun Gothic" pitchFamily="34" charset="-120"/>
              </a:rPr>
              <a:t>결과 A = 결과 B ?  </a:t>
            </a:r>
            <a:pPr algn="l" indent="0" marL="0">
              <a:buNone/>
            </a:pPr>
            <a:r>
              <a:rPr lang="en-US" sz="1300" dirty="0">
                <a:solidFill>
                  <a:srgbClr val="1A2433"/>
                </a:solidFill>
                <a:latin typeface="Malgun Gothic" pitchFamily="34" charset="0"/>
                <a:ea typeface="Malgun Gothic" pitchFamily="34" charset="-122"/>
                <a:cs typeface="Malgun Gothic" pitchFamily="34" charset="-120"/>
              </a:rPr>
              <a:t>구조화 응답·근거 일치 검증 · 최종 자연어 답변의 정확성은 별도 평가</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5669280" cy="914400"/>
        </p:xfrm>
        <a:graphic>
          <a:graphicData uri="http://schemas.openxmlformats.org/drawingml/2006/table">
            <a:tbl>
              <a:tblPr/>
              <a:tblGrid>
                <a:gridCol w="3108960"/>
                <a:gridCol w="1691640"/>
                <a:gridCol w="868680"/>
              </a:tblGrid>
              <a:tr h="34747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MCP 도구(안)</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내부 동작</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우선순위</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get_card_benefits(card)</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M7-① 혜택·조건·근거</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필수</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find_affected_by_condition(condition)</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M7-② 영향 추적</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8F5208"/>
                          </a:solidFill>
                          <a:latin typeface="Malgun Gothic" pitchFamily="34" charset="0"/>
                          <a:ea typeface="Malgun Gothic" pitchFamily="34" charset="-122"/>
                          <a:cs typeface="Malgun Gothic" pitchFamily="34" charset="-120"/>
                        </a:rPr>
                        <a:t>가능하면</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explain_judgment(card, benefit)</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M7-③ 판단 경로</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5B6778"/>
                          </a:solidFill>
                          <a:latin typeface="Malgun Gothic" pitchFamily="34" charset="0"/>
                          <a:ea typeface="Malgun Gothic" pitchFamily="34" charset="-122"/>
                          <a:cs typeface="Malgun Gothic" pitchFamily="34" charset="-120"/>
                        </a:rPr>
                        <a:t>후속</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9" name="Shape 16"/>
          <p:cNvSpPr/>
          <p:nvPr/>
        </p:nvSpPr>
        <p:spPr>
          <a:xfrm>
            <a:off x="6583680" y="1691640"/>
            <a:ext cx="5059375" cy="1965960"/>
          </a:xfrm>
          <a:prstGeom prst="roundRect">
            <a:avLst>
              <a:gd name="adj" fmla="val 4651"/>
            </a:avLst>
          </a:prstGeom>
          <a:solidFill>
            <a:srgbClr val="E3F4F1"/>
          </a:solidFill>
          <a:ln w="12700">
            <a:solidFill>
              <a:srgbClr val="E3F4F1"/>
            </a:solidFill>
            <a:prstDash val="solid"/>
          </a:ln>
        </p:spPr>
      </p:sp>
      <p:sp>
        <p:nvSpPr>
          <p:cNvPr id="20" name="Text 17"/>
          <p:cNvSpPr txBox="1"/>
          <p:nvPr/>
        </p:nvSpPr>
        <p:spPr>
          <a:xfrm>
            <a:off x="6784848" y="1783080"/>
            <a:ext cx="4693615" cy="1810512"/>
          </a:xfrm>
          <a:prstGeom prst="rect">
            <a:avLst/>
          </a:prstGeom>
          <a:noFill/>
          <a:ln/>
        </p:spPr>
        <p:txBody>
          <a:bodyPr wrap="square" lIns="0" tIns="0" rIns="0" bIns="0" rtlCol="0" anchor="t"/>
          <a:lstStyle/>
          <a:p>
            <a:pPr indent="0" marL="0">
              <a:spcAft>
                <a:spcPts val="400"/>
              </a:spcAft>
              <a:buNone/>
            </a:pPr>
            <a:r>
              <a:rPr lang="en-US" sz="1500" b="1" dirty="0">
                <a:solidFill>
                  <a:srgbClr val="0D6F64"/>
                </a:solidFill>
                <a:latin typeface="Malgun Gothic" pitchFamily="34" charset="0"/>
                <a:ea typeface="Malgun Gothic" pitchFamily="34" charset="-122"/>
                <a:cs typeface="Malgun Gothic" pitchFamily="34" charset="-120"/>
              </a:rPr>
              <a:t>MCP가 하는 일</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기존 조회 함수를 AI 클라이언트에 연결</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판정 로직을 따로 만들지 않는 얇은 어댑터</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반환값에 근거 조항·trace id 포함 (설계)</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자사 AI는 MCP 없이 내부 API를 직접 써도 됩니다</a:t>
            </a:r>
            <a:endParaRPr lang="en-US" sz="1400" dirty="0"/>
          </a:p>
        </p:txBody>
      </p:sp>
      <p:sp>
        <p:nvSpPr>
          <p:cNvPr id="21" name="Shape 18"/>
          <p:cNvSpPr/>
          <p:nvPr/>
        </p:nvSpPr>
        <p:spPr>
          <a:xfrm>
            <a:off x="6583680" y="3767328"/>
            <a:ext cx="5059375" cy="1225296"/>
          </a:xfrm>
          <a:prstGeom prst="roundRect">
            <a:avLst>
              <a:gd name="adj" fmla="val 7463"/>
            </a:avLst>
          </a:prstGeom>
          <a:solidFill>
            <a:srgbClr val="FFFFFF"/>
          </a:solidFill>
          <a:ln w="15875">
            <a:solidFill>
              <a:srgbClr val="E8A33D"/>
            </a:solidFill>
            <a:prstDash val="solid"/>
          </a:ln>
        </p:spPr>
      </p:sp>
      <p:sp>
        <p:nvSpPr>
          <p:cNvPr id="22" name="Text 19"/>
          <p:cNvSpPr txBox="1"/>
          <p:nvPr/>
        </p:nvSpPr>
        <p:spPr>
          <a:xfrm>
            <a:off x="6784848" y="3840480"/>
            <a:ext cx="4693615" cy="1097280"/>
          </a:xfrm>
          <a:prstGeom prst="rect">
            <a:avLst/>
          </a:prstGeom>
          <a:noFill/>
          <a:ln/>
        </p:spPr>
        <p:txBody>
          <a:bodyPr wrap="square" lIns="0" tIns="0" rIns="0" bIns="0" rtlCol="0" anchor="t"/>
          <a:lstStyle/>
          <a:p>
            <a:pPr indent="0" marL="0">
              <a:spcAft>
                <a:spcPts val="400"/>
              </a:spcAft>
              <a:buNone/>
            </a:pPr>
            <a:r>
              <a:rPr lang="en-US" sz="1400" b="1" dirty="0">
                <a:solidFill>
                  <a:srgbClr val="0E1A2B"/>
                </a:solidFill>
                <a:latin typeface="Malgun Gothic" pitchFamily="34" charset="0"/>
                <a:ea typeface="Malgun Gothic" pitchFamily="34" charset="-122"/>
                <a:cs typeface="Malgun Gothic" pitchFamily="34" charset="-120"/>
              </a:rPr>
              <a:t>외부 AI 경유 시 카드사가 확인할 수 있는 범위</a:t>
            </a:r>
            <a:endParaRPr lang="en-US" sz="1200" dirty="0"/>
          </a:p>
          <a:p>
            <a:pPr indent="0" marL="0">
              <a:spcAft>
                <a:spcPts val="400"/>
              </a:spcAft>
              <a:buNone/>
            </a:pPr>
            <a:r>
              <a:rPr lang="en-US" sz="1200" b="1" dirty="0">
                <a:solidFill>
                  <a:srgbClr val="0D6F64"/>
                </a:solidFill>
                <a:latin typeface="Malgun Gothic" pitchFamily="34" charset="0"/>
                <a:ea typeface="Malgun Gothic" pitchFamily="34" charset="-122"/>
                <a:cs typeface="Malgun Gothic" pitchFamily="34" charset="-120"/>
              </a:rPr>
              <a:t>기록 가능  </a:t>
            </a:r>
            <a:pPr indent="0" marL="0">
              <a:spcAft>
                <a:spcPts val="400"/>
              </a:spcAft>
              <a:buNone/>
            </a:pPr>
            <a:r>
              <a:rPr lang="en-US" sz="1200" dirty="0">
                <a:solidFill>
                  <a:srgbClr val="1A2433"/>
                </a:solidFill>
                <a:latin typeface="Malgun Gothic" pitchFamily="34" charset="0"/>
                <a:ea typeface="Malgun Gothic" pitchFamily="34" charset="-122"/>
                <a:cs typeface="Malgun Gothic" pitchFamily="34" charset="-120"/>
              </a:rPr>
              <a:t>MCP로 공급한 조건·근거·trace id (카드사 측 로그)</a:t>
            </a:r>
            <a:endParaRPr lang="en-US" sz="1200" dirty="0"/>
          </a:p>
          <a:p>
            <a:pPr indent="0" marL="0">
              <a:spcAft>
                <a:spcPts val="400"/>
              </a:spcAft>
              <a:buNone/>
            </a:pPr>
            <a:r>
              <a:rPr lang="en-US" sz="1200" b="1" dirty="0">
                <a:solidFill>
                  <a:srgbClr val="8F5208"/>
                </a:solidFill>
                <a:latin typeface="Malgun Gothic" pitchFamily="34" charset="0"/>
                <a:ea typeface="Malgun Gothic" pitchFamily="34" charset="-122"/>
                <a:cs typeface="Malgun Gothic" pitchFamily="34" charset="-120"/>
              </a:rPr>
              <a:t>조건부  </a:t>
            </a:r>
            <a:pPr indent="0" marL="0">
              <a:spcAft>
                <a:spcPts val="400"/>
              </a:spcAft>
              <a:buNone/>
            </a:pPr>
            <a:r>
              <a:rPr lang="en-US" sz="1200" dirty="0">
                <a:solidFill>
                  <a:srgbClr val="1A2433"/>
                </a:solidFill>
                <a:latin typeface="Malgun Gothic" pitchFamily="34" charset="0"/>
                <a:ea typeface="Malgun Gothic" pitchFamily="34" charset="-122"/>
                <a:cs typeface="Malgun Gothic" pitchFamily="34" charset="-120"/>
              </a:rPr>
              <a:t>최종 답변–근거 대조 — 플랫폼이 응답 기록을 줄 때만</a:t>
            </a:r>
            <a:endParaRPr lang="en-US" sz="1200" dirty="0"/>
          </a:p>
          <a:p>
            <a:pPr indent="0" marL="0">
              <a:spcAft>
                <a:spcPts val="400"/>
              </a:spcAft>
              <a:buNone/>
            </a:pPr>
            <a:r>
              <a:rPr lang="en-US" sz="1200" b="1" dirty="0">
                <a:solidFill>
                  <a:srgbClr val="A8311A"/>
                </a:solidFill>
                <a:latin typeface="Malgun Gothic" pitchFamily="34" charset="0"/>
                <a:ea typeface="Malgun Gothic" pitchFamily="34" charset="-122"/>
                <a:cs typeface="Malgun Gothic" pitchFamily="34" charset="-120"/>
              </a:rPr>
              <a:t>보장 불가  </a:t>
            </a:r>
            <a:pPr indent="0" marL="0">
              <a:spcAft>
                <a:spcPts val="400"/>
              </a:spcAft>
              <a:buNone/>
            </a:pPr>
            <a:r>
              <a:rPr lang="en-US" sz="1200" dirty="0">
                <a:solidFill>
                  <a:srgbClr val="1A2433"/>
                </a:solidFill>
                <a:latin typeface="Malgun Gothic" pitchFamily="34" charset="0"/>
                <a:ea typeface="Malgun Gothic" pitchFamily="34" charset="-122"/>
                <a:cs typeface="Malgun Gothic" pitchFamily="34" charset="-120"/>
              </a:rPr>
              <a:t>호출 여부 · 요약·변형 · 브랜드 문구 표시</a:t>
            </a:r>
            <a:endParaRPr lang="en-US" sz="1200" dirty="0"/>
          </a:p>
        </p:txBody>
      </p:sp>
      <p:sp>
        <p:nvSpPr>
          <p:cNvPr id="23" name="Shape 20"/>
          <p:cNvSpPr/>
          <p:nvPr/>
        </p:nvSpPr>
        <p:spPr>
          <a:xfrm>
            <a:off x="6583680" y="5138928"/>
            <a:ext cx="5059375" cy="822960"/>
          </a:xfrm>
          <a:prstGeom prst="roundRect">
            <a:avLst>
              <a:gd name="adj" fmla="val 11111"/>
            </a:avLst>
          </a:prstGeom>
          <a:solidFill>
            <a:srgbClr val="F3F5F8"/>
          </a:solidFill>
          <a:ln w="12700">
            <a:solidFill>
              <a:srgbClr val="F3F5F8"/>
            </a:solidFill>
            <a:prstDash val="solid"/>
          </a:ln>
        </p:spPr>
      </p:sp>
      <p:sp>
        <p:nvSpPr>
          <p:cNvPr id="24" name="Text 21"/>
          <p:cNvSpPr txBox="1"/>
          <p:nvPr/>
        </p:nvSpPr>
        <p:spPr>
          <a:xfrm>
            <a:off x="6784848" y="5202936"/>
            <a:ext cx="4693615" cy="713232"/>
          </a:xfrm>
          <a:prstGeom prst="rect">
            <a:avLst/>
          </a:prstGeom>
          <a:noFill/>
          <a:ln/>
        </p:spPr>
        <p:txBody>
          <a:bodyPr wrap="square" lIns="0" tIns="0" rIns="0" bIns="0" rtlCol="0" anchor="t"/>
          <a:lstStyle/>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시연 범위: </a:t>
            </a:r>
            <a:pPr indent="0" marL="0">
              <a:lnSpc>
                <a:spcPct val="110000"/>
              </a:lnSpc>
              <a:buNone/>
            </a:pPr>
            <a:r>
              <a:rPr lang="en-US" sz="1200" dirty="0">
                <a:solidFill>
                  <a:srgbClr val="3A4A60"/>
                </a:solidFill>
                <a:latin typeface="Malgun Gothic" pitchFamily="34" charset="0"/>
                <a:ea typeface="Malgun Gothic" pitchFamily="34" charset="-122"/>
                <a:cs typeface="Malgun Gothic" pitchFamily="34" charset="-120"/>
              </a:rPr>
              <a:t>로컬 MCP 클라이언트까지 (외부 플랫폼 실연동 제외)</a:t>
            </a:r>
            <a:endParaRPr lang="en-US" sz="1200" dirty="0"/>
          </a:p>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컷라인: </a:t>
            </a:r>
            <a:pPr indent="0" marL="0">
              <a:lnSpc>
                <a:spcPct val="110000"/>
              </a:lnSpc>
              <a:buNone/>
            </a:pPr>
            <a:r>
              <a:rPr lang="en-US" sz="1200" dirty="0">
                <a:solidFill>
                  <a:srgbClr val="3A4A60"/>
                </a:solidFill>
                <a:latin typeface="Malgun Gothic" pitchFamily="34" charset="0"/>
                <a:ea typeface="Malgun Gothic" pitchFamily="34" charset="-122"/>
                <a:cs typeface="Malgun Gothic" pitchFamily="34" charset="-120"/>
              </a:rPr>
              <a:t>3일차 오전까지 M8 미완료 시 get_card_benefits만 구현</a:t>
            </a:r>
            <a:endParaRPr lang="en-US" sz="1200" dirty="0"/>
          </a:p>
        </p:txBody>
      </p:sp>
      <p:sp>
        <p:nvSpPr>
          <p:cNvPr id="25" name="Text 2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업계 사례: 신한카드, 카카오 PlayMCP 기반 ‘카카오 툴즈’ 연동 발표(2026-09-13) — 연결 방식의 실사례일 뿐, 우리 구현과의 동등성 근거는 아닙니다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13   카드사 도입 가치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안내를 확인하고, 설명하고, 고칠 수 있는 기반</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FE9F8"/>
          </a:solidFill>
          <a:ln>
            <a:solidFill>
              <a:srgbClr val="EFE9F8"/>
            </a:solidFill>
          </a:ln>
        </p:spPr>
        <p:txBody>
          <a:bodyPr wrap="square" lIns="0" tIns="0" rIns="0" bIns="0" rtlCol="0" anchor="ctr"/>
          <a:lstStyle/>
          <a:p>
            <a:pPr algn="ctr" indent="0" marL="0">
              <a:buNone/>
            </a:pPr>
            <a:r>
              <a:rPr lang="en-US" sz="1100" b="1" dirty="0">
                <a:solidFill>
                  <a:srgbClr val="6A4FB0"/>
                </a:solidFill>
                <a:latin typeface="Malgun Gothic" pitchFamily="34" charset="0"/>
                <a:ea typeface="Malgun Gothic" pitchFamily="34" charset="-122"/>
                <a:cs typeface="Malgun Gothic" pitchFamily="34" charset="-120"/>
              </a:rPr>
              <a:t>확장 제안</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가설</a:t>
            </a:r>
            <a:endParaRPr lang="en-US" sz="1100" dirty="0"/>
          </a:p>
        </p:txBody>
      </p:sp>
      <p:sp>
        <p:nvSpPr>
          <p:cNvPr id="6" name="Text 4"/>
          <p:cNvSpPr txBox="1"/>
          <p:nvPr/>
        </p:nvSpPr>
        <p:spPr>
          <a:xfrm>
            <a:off x="548640" y="1691640"/>
            <a:ext cx="6858000" cy="292608"/>
          </a:xfrm>
          <a:prstGeom prst="rect">
            <a:avLst/>
          </a:prstGeom>
          <a:noFill/>
          <a:ln/>
        </p:spPr>
        <p:txBody>
          <a:bodyPr wrap="square" lIns="0" tIns="0" rIns="0" bIns="0" rtlCol="0" anchor="t"/>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담당자 상황별 가치</a:t>
            </a:r>
            <a:endParaRPr lang="en-US" sz="1500" dirty="0"/>
          </a:p>
        </p:txBody>
      </p:sp>
      <p:sp>
        <p:nvSpPr>
          <p:cNvPr id="7" name="Text 5"/>
          <p:cNvSpPr txBox="1"/>
          <p:nvPr/>
        </p:nvSpPr>
        <p:spPr>
          <a:xfrm>
            <a:off x="548640" y="2084832"/>
            <a:ext cx="2331720" cy="658368"/>
          </a:xfrm>
          <a:prstGeom prst="roundRect">
            <a:avLst>
              <a:gd name="adj" fmla="val 11111"/>
            </a:avLst>
          </a:prstGeom>
          <a:solidFill>
            <a:srgbClr val="159A8C"/>
          </a:solidFill>
          <a:ln>
            <a:solidFill>
              <a:srgbClr val="159A8C"/>
            </a:solidFill>
          </a:ln>
        </p:spPr>
        <p:txBody>
          <a:bodyPr wrap="square" lIns="127000" tIns="127000" rIns="127000" bIns="12700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고객 문의</a:t>
            </a:r>
            <a:endParaRPr lang="en-US" sz="1300" dirty="0"/>
          </a:p>
          <a:p>
            <a:pPr algn="l" indent="0" marL="0">
              <a:buNone/>
            </a:pPr>
            <a:r>
              <a:rPr lang="en-US" sz="1300" b="1" dirty="0">
                <a:solidFill>
                  <a:srgbClr val="FFFFFF"/>
                </a:solidFill>
                <a:latin typeface="Malgun Gothic" pitchFamily="34" charset="0"/>
                <a:ea typeface="Malgun Gothic" pitchFamily="34" charset="-122"/>
                <a:cs typeface="Malgun Gothic" pitchFamily="34" charset="-120"/>
              </a:rPr>
              <a:t>“AI가 된다고 했어요”</a:t>
            </a:r>
            <a:endParaRPr lang="en-US" sz="1300" dirty="0"/>
          </a:p>
        </p:txBody>
      </p:sp>
      <p:sp>
        <p:nvSpPr>
          <p:cNvPr id="8" name="Shape 6"/>
          <p:cNvSpPr/>
          <p:nvPr/>
        </p:nvSpPr>
        <p:spPr>
          <a:xfrm>
            <a:off x="2907792" y="2414016"/>
            <a:ext cx="274320" cy="0"/>
          </a:xfrm>
          <a:prstGeom prst="line">
            <a:avLst/>
          </a:prstGeom>
          <a:noFill/>
          <a:ln w="19050">
            <a:solidFill>
              <a:srgbClr val="8A94A3"/>
            </a:solidFill>
            <a:prstDash val="solid"/>
            <a:tailEnd type="triangle"/>
          </a:ln>
        </p:spPr>
      </p:sp>
      <p:sp>
        <p:nvSpPr>
          <p:cNvPr id="9" name="Text 7"/>
          <p:cNvSpPr txBox="1"/>
          <p:nvPr/>
        </p:nvSpPr>
        <p:spPr>
          <a:xfrm>
            <a:off x="3246120" y="2084832"/>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판단 실행 기록·근거 경로로 적용 조건과 오류 위치 확인 (외부 AI는 응답 기록 확보 시)</a:t>
            </a:r>
            <a:endParaRPr lang="en-US" sz="1300" dirty="0"/>
          </a:p>
        </p:txBody>
      </p:sp>
      <p:sp>
        <p:nvSpPr>
          <p:cNvPr id="10" name="Text 8"/>
          <p:cNvSpPr txBox="1"/>
          <p:nvPr/>
        </p:nvSpPr>
        <p:spPr>
          <a:xfrm>
            <a:off x="548640" y="2852928"/>
            <a:ext cx="2331720" cy="658368"/>
          </a:xfrm>
          <a:prstGeom prst="roundRect">
            <a:avLst>
              <a:gd name="adj" fmla="val 11111"/>
            </a:avLst>
          </a:prstGeom>
          <a:solidFill>
            <a:srgbClr val="E8A33D"/>
          </a:solidFill>
          <a:ln>
            <a:solidFill>
              <a:srgbClr val="E8A33D"/>
            </a:solidFill>
          </a:ln>
        </p:spPr>
        <p:txBody>
          <a:bodyPr wrap="square" lIns="127000" tIns="127000" rIns="127000" bIns="1270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약관·상품 조건 변경</a:t>
            </a:r>
            <a:endParaRPr lang="en-US" sz="1300" dirty="0"/>
          </a:p>
        </p:txBody>
      </p:sp>
      <p:sp>
        <p:nvSpPr>
          <p:cNvPr id="11" name="Shape 9"/>
          <p:cNvSpPr/>
          <p:nvPr/>
        </p:nvSpPr>
        <p:spPr>
          <a:xfrm>
            <a:off x="2907792" y="3182112"/>
            <a:ext cx="274320" cy="0"/>
          </a:xfrm>
          <a:prstGeom prst="line">
            <a:avLst/>
          </a:prstGeom>
          <a:noFill/>
          <a:ln w="19050">
            <a:solidFill>
              <a:srgbClr val="8A94A3"/>
            </a:solidFill>
            <a:prstDash val="solid"/>
            <a:tailEnd type="triangle"/>
          </a:ln>
        </p:spPr>
      </p:sp>
      <p:sp>
        <p:nvSpPr>
          <p:cNvPr id="12" name="Text 10"/>
          <p:cNvSpPr txBox="1"/>
          <p:nvPr/>
        </p:nvSpPr>
        <p:spPr>
          <a:xfrm>
            <a:off x="3246120" y="2852928"/>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다시 검토할 카드·혜택·판단 결과를 검토 후보 목록으로 산출</a:t>
            </a:r>
            <a:endParaRPr lang="en-US" sz="1300" dirty="0"/>
          </a:p>
        </p:txBody>
      </p:sp>
      <p:sp>
        <p:nvSpPr>
          <p:cNvPr id="13" name="Text 11"/>
          <p:cNvSpPr txBox="1"/>
          <p:nvPr/>
        </p:nvSpPr>
        <p:spPr>
          <a:xfrm>
            <a:off x="548640" y="3621024"/>
            <a:ext cx="2331720" cy="658368"/>
          </a:xfrm>
          <a:prstGeom prst="roundRect">
            <a:avLst>
              <a:gd name="adj" fmla="val 11111"/>
            </a:avLst>
          </a:prstGeom>
          <a:solidFill>
            <a:srgbClr val="3A4A60"/>
          </a:solidFill>
          <a:ln>
            <a:solidFill>
              <a:srgbClr val="3A4A60"/>
            </a:solidFill>
          </a:ln>
        </p:spPr>
        <p:txBody>
          <a:bodyPr wrap="square" lIns="127000" tIns="127000" rIns="127000" bIns="12700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새 AI 채널 추가</a:t>
            </a:r>
            <a:endParaRPr lang="en-US" sz="1300" dirty="0"/>
          </a:p>
        </p:txBody>
      </p:sp>
      <p:sp>
        <p:nvSpPr>
          <p:cNvPr id="14" name="Shape 12"/>
          <p:cNvSpPr/>
          <p:nvPr/>
        </p:nvSpPr>
        <p:spPr>
          <a:xfrm>
            <a:off x="2907792" y="3950208"/>
            <a:ext cx="274320" cy="0"/>
          </a:xfrm>
          <a:prstGeom prst="line">
            <a:avLst/>
          </a:prstGeom>
          <a:noFill/>
          <a:ln w="19050">
            <a:solidFill>
              <a:srgbClr val="8A94A3"/>
            </a:solidFill>
            <a:prstDash val="solid"/>
            <a:tailEnd type="triangle"/>
          </a:ln>
        </p:spPr>
      </p:sp>
      <p:sp>
        <p:nvSpPr>
          <p:cNvPr id="15" name="Text 13"/>
          <p:cNvSpPr txBox="1"/>
          <p:nvPr/>
        </p:nvSpPr>
        <p:spPr>
          <a:xfrm>
            <a:off x="3246120" y="3621024"/>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판단 로직을 다시 만들지 않고 같은 엔진을 호출 (내부 API·MCP)</a:t>
            </a:r>
            <a:endParaRPr lang="en-US" sz="1300" dirty="0"/>
          </a:p>
        </p:txBody>
      </p:sp>
      <p:sp>
        <p:nvSpPr>
          <p:cNvPr id="16" name="Text 14"/>
          <p:cNvSpPr txBox="1"/>
          <p:nvPr/>
        </p:nvSpPr>
        <p:spPr>
          <a:xfrm>
            <a:off x="548640" y="4389120"/>
            <a:ext cx="2331720" cy="658368"/>
          </a:xfrm>
          <a:prstGeom prst="roundRect">
            <a:avLst>
              <a:gd name="adj" fmla="val 11111"/>
            </a:avLst>
          </a:prstGeom>
          <a:solidFill>
            <a:srgbClr val="6A4FB0"/>
          </a:solidFill>
          <a:ln>
            <a:solidFill>
              <a:srgbClr val="6A4FB0"/>
            </a:solidFill>
          </a:ln>
        </p:spPr>
        <p:txBody>
          <a:bodyPr wrap="square" lIns="127000" tIns="127000" rIns="127000" bIns="12700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고지 문구 점검</a:t>
            </a:r>
            <a:endParaRPr lang="en-US" sz="1300" dirty="0"/>
          </a:p>
        </p:txBody>
      </p:sp>
      <p:sp>
        <p:nvSpPr>
          <p:cNvPr id="17" name="Shape 15"/>
          <p:cNvSpPr/>
          <p:nvPr/>
        </p:nvSpPr>
        <p:spPr>
          <a:xfrm>
            <a:off x="2907792" y="4718304"/>
            <a:ext cx="274320" cy="0"/>
          </a:xfrm>
          <a:prstGeom prst="line">
            <a:avLst/>
          </a:prstGeom>
          <a:noFill/>
          <a:ln w="19050">
            <a:solidFill>
              <a:srgbClr val="8A94A3"/>
            </a:solidFill>
            <a:prstDash val="solid"/>
            <a:tailEnd type="triangle"/>
          </a:ln>
        </p:spPr>
      </p:sp>
      <p:sp>
        <p:nvSpPr>
          <p:cNvPr id="18" name="Text 16"/>
          <p:cNvSpPr txBox="1"/>
          <p:nvPr/>
        </p:nvSpPr>
        <p:spPr>
          <a:xfrm>
            <a:off x="3246120" y="4389120"/>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고객에게 고지된 원문과 AI 안내 내용이 일치하는지 점검</a:t>
            </a:r>
            <a:endParaRPr lang="en-US" sz="1300" dirty="0"/>
          </a:p>
        </p:txBody>
      </p:sp>
      <p:sp>
        <p:nvSpPr>
          <p:cNvPr id="19" name="Shape 17"/>
          <p:cNvSpPr/>
          <p:nvPr/>
        </p:nvSpPr>
        <p:spPr>
          <a:xfrm>
            <a:off x="7863840" y="1691640"/>
            <a:ext cx="3779215" cy="3483864"/>
          </a:xfrm>
          <a:prstGeom prst="roundRect">
            <a:avLst>
              <a:gd name="adj" fmla="val 2625"/>
            </a:avLst>
          </a:prstGeom>
          <a:solidFill>
            <a:srgbClr val="EFE9F8"/>
          </a:solidFill>
          <a:ln w="12700">
            <a:solidFill>
              <a:srgbClr val="EFE9F8"/>
            </a:solidFill>
            <a:prstDash val="solid"/>
          </a:ln>
        </p:spPr>
      </p:sp>
      <p:sp>
        <p:nvSpPr>
          <p:cNvPr id="20" name="Text 18"/>
          <p:cNvSpPr txBox="1"/>
          <p:nvPr/>
        </p:nvSpPr>
        <p:spPr>
          <a:xfrm>
            <a:off x="8046720" y="1828800"/>
            <a:ext cx="3413455" cy="3246120"/>
          </a:xfrm>
          <a:prstGeom prst="rect">
            <a:avLst/>
          </a:prstGeom>
          <a:noFill/>
          <a:ln/>
        </p:spPr>
        <p:txBody>
          <a:bodyPr wrap="square" lIns="0" tIns="0" rIns="0" bIns="0" rtlCol="0" anchor="t"/>
          <a:lstStyle/>
          <a:p>
            <a:pPr indent="0" marL="0">
              <a:spcAft>
                <a:spcPts val="800"/>
              </a:spcAft>
              <a:buNone/>
            </a:pPr>
            <a:r>
              <a:rPr lang="en-US" sz="1400" b="1" dirty="0">
                <a:solidFill>
                  <a:srgbClr val="6A4FB0"/>
                </a:solidFill>
                <a:latin typeface="Malgun Gothic" pitchFamily="34" charset="0"/>
                <a:ea typeface="Malgun Gothic" pitchFamily="34" charset="-122"/>
                <a:cs typeface="Malgun Gothic" pitchFamily="34" charset="-120"/>
              </a:rPr>
              <a:t>보조 · 확장 제안</a:t>
            </a:r>
            <a:endParaRPr lang="en-US" sz="1300" dirty="0"/>
          </a:p>
          <a:p>
            <a:pPr indent="0" marL="0">
              <a:spcAft>
                <a:spcPts val="800"/>
              </a:spcAft>
              <a:buNone/>
            </a:pPr>
            <a:r>
              <a:rPr lang="en-US" sz="1300" b="1" dirty="0">
                <a:solidFill>
                  <a:srgbClr val="0E1A2B"/>
                </a:solidFill>
                <a:latin typeface="Malgun Gothic" pitchFamily="34" charset="0"/>
                <a:ea typeface="Malgun Gothic" pitchFamily="34" charset="-122"/>
                <a:cs typeface="Malgun Gothic" pitchFamily="34" charset="-120"/>
              </a:rPr>
              <a:t>마케팅·피드백 계층</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카드사 승인 문구 관리</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혜택–광고 문구 정합성 점검</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조건 변경 시 재검토할 문구 식별</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질문·오답·검토 피드백 개선 루프</a:t>
            </a:r>
            <a:endParaRPr lang="en-US" sz="1300" dirty="0"/>
          </a:p>
        </p:txBody>
      </p:sp>
      <p:sp>
        <p:nvSpPr>
          <p:cNvPr id="21" name="Text 19"/>
          <p:cNvSpPr txBox="1"/>
          <p:nvPr/>
        </p:nvSpPr>
        <p:spPr>
          <a:xfrm>
            <a:off x="548640" y="5349240"/>
            <a:ext cx="11094415" cy="658368"/>
          </a:xfrm>
          <a:prstGeom prst="roundRect">
            <a:avLst>
              <a:gd name="adj" fmla="val 11111"/>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객관성 원칙  </a:t>
            </a:r>
            <a:pPr algn="l" indent="0" marL="0">
              <a:buNone/>
            </a:pPr>
            <a:r>
              <a:rPr lang="en-US" sz="1400" dirty="0">
                <a:solidFill>
                  <a:srgbClr val="1A2433"/>
                </a:solidFill>
                <a:latin typeface="Malgun Gothic" pitchFamily="34" charset="0"/>
                <a:ea typeface="Malgun Gothic" pitchFamily="34" charset="-122"/>
                <a:cs typeface="Malgun Gothic" pitchFamily="34" charset="-120"/>
              </a:rPr>
              <a:t>광고·마케팅 데이터는 판단 입력과 분리합니다. 마케팅 출력은 GraphRAG의 차별성이 아닙니다.</a:t>
            </a:r>
            <a:endParaRPr lang="en-US" sz="1400" dirty="0"/>
          </a:p>
        </p:txBody>
      </p:sp>
      <p:sp>
        <p:nvSpPr>
          <p:cNvPr id="22" name="Text 20"/>
          <p:cNvSpPr txBox="1"/>
          <p:nvPr/>
        </p:nvSpPr>
        <p:spPr>
          <a:xfrm>
            <a:off x="548640" y="6062472"/>
            <a:ext cx="11094415" cy="274320"/>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기대 효과는 실측 전인 팀 가설입니다 — 처리 시간 단축 등 수치는 주장하지 않습니다.</a:t>
            </a:r>
            <a:endParaRPr lang="en-US" sz="1100" dirty="0"/>
          </a:p>
        </p:txBody>
      </p:sp>
      <p:sp>
        <p:nvSpPr>
          <p:cNvPr id="23" name="Text 21"/>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자사 AI vs 외부 AI 통제권 비교는 부록 E · 마케팅 계층: 최종_카드사_자체AI혜택서비스_사업적개발명분_20261029.md (팀 가설, 미구현)</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548640"/>
            <a:ext cx="2743200" cy="292608"/>
          </a:xfrm>
          <a:prstGeom prst="rect">
            <a:avLst/>
          </a:prstGeom>
          <a:noFill/>
          <a:ln/>
        </p:spPr>
        <p:txBody>
          <a:bodyPr wrap="square" lIns="0" tIns="0" rIns="0" bIns="0" rtlCol="0" anchor="t"/>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결론</a:t>
            </a:r>
            <a:endParaRPr lang="en-US" sz="1300" dirty="0"/>
          </a:p>
        </p:txBody>
      </p:sp>
      <p:sp>
        <p:nvSpPr>
          <p:cNvPr id="3" name="Text 1"/>
          <p:cNvSpPr txBox="1"/>
          <p:nvPr/>
        </p:nvSpPr>
        <p:spPr>
          <a:xfrm>
            <a:off x="640080" y="1005840"/>
            <a:ext cx="10972800" cy="1417320"/>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Malgun Gothic" pitchFamily="34" charset="0"/>
                <a:ea typeface="Malgun Gothic" pitchFamily="34" charset="-122"/>
                <a:cs typeface="Malgun Gothic" pitchFamily="34" charset="-120"/>
              </a:rPr>
              <a:t>AI가 카드 혜택을 판단했다면, 카드사는 그 판단에 사용된</a:t>
            </a:r>
            <a:endParaRPr lang="en-US" sz="3000" dirty="0"/>
          </a:p>
          <a:p>
            <a:pPr indent="0" marL="0">
              <a:lnSpc>
                <a:spcPct val="110000"/>
              </a:lnSpc>
              <a:buNone/>
            </a:pPr>
            <a:r>
              <a:rPr lang="en-US" sz="3000" b="1" dirty="0">
                <a:solidFill>
                  <a:srgbClr val="FFFFFF"/>
                </a:solidFill>
                <a:latin typeface="Malgun Gothic" pitchFamily="34" charset="0"/>
                <a:ea typeface="Malgun Gothic" pitchFamily="34" charset="-122"/>
                <a:cs typeface="Malgun Gothic" pitchFamily="34" charset="-120"/>
              </a:rPr>
              <a:t>조건과 공식 약관 근거를 확인할 수 있어야 합니다.</a:t>
            </a:r>
            <a:endParaRPr lang="en-US" sz="3000" dirty="0"/>
          </a:p>
        </p:txBody>
      </p:sp>
      <p:sp>
        <p:nvSpPr>
          <p:cNvPr id="4" name="Shape 2"/>
          <p:cNvSpPr/>
          <p:nvPr/>
        </p:nvSpPr>
        <p:spPr>
          <a:xfrm>
            <a:off x="640080" y="2743200"/>
            <a:ext cx="2521458" cy="1691640"/>
          </a:xfrm>
          <a:prstGeom prst="roundRect">
            <a:avLst>
              <a:gd name="adj" fmla="val 5405"/>
            </a:avLst>
          </a:prstGeom>
          <a:solidFill>
            <a:srgbClr val="0D6F64"/>
          </a:solidFill>
          <a:ln w="12700">
            <a:solidFill>
              <a:srgbClr val="0D6F64"/>
            </a:solidFill>
            <a:prstDash val="solid"/>
          </a:ln>
        </p:spPr>
      </p:sp>
      <p:sp>
        <p:nvSpPr>
          <p:cNvPr id="5" name="Text 3"/>
          <p:cNvSpPr txBox="1"/>
          <p:nvPr/>
        </p:nvSpPr>
        <p:spPr>
          <a:xfrm>
            <a:off x="841248" y="2880360"/>
            <a:ext cx="2119122" cy="256032"/>
          </a:xfrm>
          <a:prstGeom prst="rect">
            <a:avLst/>
          </a:prstGeom>
          <a:noFill/>
          <a:ln/>
        </p:spPr>
        <p:txBody>
          <a:bodyPr wrap="square" lIns="0" tIns="0" rIns="0" bIns="0" rtlCol="0" anchor="t"/>
          <a:lstStyle/>
          <a:p>
            <a:pPr indent="0" marL="0">
              <a:buNone/>
            </a:pPr>
            <a:r>
              <a:rPr lang="en-US" sz="1200" b="1" dirty="0">
                <a:solidFill>
                  <a:srgbClr val="BFEDE6"/>
                </a:solidFill>
                <a:latin typeface="Malgun Gothic" pitchFamily="34" charset="0"/>
                <a:ea typeface="Malgun Gothic" pitchFamily="34" charset="-122"/>
                <a:cs typeface="Malgun Gothic" pitchFamily="34" charset="-120"/>
              </a:rPr>
              <a:t>핵심</a:t>
            </a:r>
            <a:endParaRPr lang="en-US" sz="1200" dirty="0"/>
          </a:p>
        </p:txBody>
      </p:sp>
      <p:sp>
        <p:nvSpPr>
          <p:cNvPr id="6" name="Text 4"/>
          <p:cNvSpPr txBox="1"/>
          <p:nvPr/>
        </p:nvSpPr>
        <p:spPr>
          <a:xfrm>
            <a:off x="841248"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근거 검증</a:t>
            </a:r>
            <a:endParaRPr lang="en-US" sz="2000" dirty="0"/>
          </a:p>
        </p:txBody>
      </p:sp>
      <p:sp>
        <p:nvSpPr>
          <p:cNvPr id="7" name="Text 5"/>
          <p:cNvSpPr txBox="1"/>
          <p:nvPr/>
        </p:nvSpPr>
        <p:spPr>
          <a:xfrm>
            <a:off x="841248"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적용한 조건·범위·</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원문 조항을 판단마다 기록</a:t>
            </a:r>
            <a:endParaRPr lang="en-US" sz="1300" dirty="0"/>
          </a:p>
        </p:txBody>
      </p:sp>
      <p:sp>
        <p:nvSpPr>
          <p:cNvPr id="8" name="Shape 6"/>
          <p:cNvSpPr/>
          <p:nvPr/>
        </p:nvSpPr>
        <p:spPr>
          <a:xfrm>
            <a:off x="3188970" y="3584448"/>
            <a:ext cx="219456" cy="0"/>
          </a:xfrm>
          <a:prstGeom prst="line">
            <a:avLst/>
          </a:prstGeom>
          <a:noFill/>
          <a:ln w="19050">
            <a:solidFill>
              <a:srgbClr val="E8A33D"/>
            </a:solidFill>
            <a:prstDash val="solid"/>
            <a:tailEnd type="triangle"/>
          </a:ln>
        </p:spPr>
      </p:sp>
      <p:sp>
        <p:nvSpPr>
          <p:cNvPr id="9" name="Shape 7"/>
          <p:cNvSpPr/>
          <p:nvPr/>
        </p:nvSpPr>
        <p:spPr>
          <a:xfrm>
            <a:off x="3435858" y="2743200"/>
            <a:ext cx="2521458" cy="1691640"/>
          </a:xfrm>
          <a:prstGeom prst="roundRect">
            <a:avLst>
              <a:gd name="adj" fmla="val 5405"/>
            </a:avLst>
          </a:prstGeom>
          <a:solidFill>
            <a:srgbClr val="1F3350"/>
          </a:solidFill>
          <a:ln w="12700">
            <a:solidFill>
              <a:srgbClr val="1F3350"/>
            </a:solidFill>
            <a:prstDash val="solid"/>
          </a:ln>
        </p:spPr>
      </p:sp>
      <p:sp>
        <p:nvSpPr>
          <p:cNvPr id="10" name="Text 8"/>
          <p:cNvSpPr txBox="1"/>
          <p:nvPr/>
        </p:nvSpPr>
        <p:spPr>
          <a:xfrm>
            <a:off x="3637026" y="2880360"/>
            <a:ext cx="2119122"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확장①</a:t>
            </a:r>
            <a:endParaRPr lang="en-US" sz="1200" dirty="0"/>
          </a:p>
        </p:txBody>
      </p:sp>
      <p:sp>
        <p:nvSpPr>
          <p:cNvPr id="11" name="Text 9"/>
          <p:cNvSpPr txBox="1"/>
          <p:nvPr/>
        </p:nvSpPr>
        <p:spPr>
          <a:xfrm>
            <a:off x="3637026"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오류 추적</a:t>
            </a:r>
            <a:endParaRPr lang="en-US" sz="2000" dirty="0"/>
          </a:p>
        </p:txBody>
      </p:sp>
      <p:sp>
        <p:nvSpPr>
          <p:cNvPr id="12" name="Text 10"/>
          <p:cNvSpPr txBox="1"/>
          <p:nvPr/>
        </p:nvSpPr>
        <p:spPr>
          <a:xfrm>
            <a:off x="3637026"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틀린 답이 생긴 단계를</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찾아 고치고 재검증</a:t>
            </a:r>
            <a:endParaRPr lang="en-US" sz="1300" dirty="0"/>
          </a:p>
        </p:txBody>
      </p:sp>
      <p:sp>
        <p:nvSpPr>
          <p:cNvPr id="13" name="Shape 11"/>
          <p:cNvSpPr/>
          <p:nvPr/>
        </p:nvSpPr>
        <p:spPr>
          <a:xfrm>
            <a:off x="5984748" y="3584448"/>
            <a:ext cx="219456" cy="0"/>
          </a:xfrm>
          <a:prstGeom prst="line">
            <a:avLst/>
          </a:prstGeom>
          <a:noFill/>
          <a:ln w="19050">
            <a:solidFill>
              <a:srgbClr val="E8A33D"/>
            </a:solidFill>
            <a:prstDash val="solid"/>
            <a:tailEnd type="triangle"/>
          </a:ln>
        </p:spPr>
      </p:sp>
      <p:sp>
        <p:nvSpPr>
          <p:cNvPr id="14" name="Shape 12"/>
          <p:cNvSpPr/>
          <p:nvPr/>
        </p:nvSpPr>
        <p:spPr>
          <a:xfrm>
            <a:off x="6231636" y="2743200"/>
            <a:ext cx="2521458" cy="1691640"/>
          </a:xfrm>
          <a:prstGeom prst="roundRect">
            <a:avLst>
              <a:gd name="adj" fmla="val 5405"/>
            </a:avLst>
          </a:prstGeom>
          <a:solidFill>
            <a:srgbClr val="1F3350"/>
          </a:solidFill>
          <a:ln w="12700">
            <a:solidFill>
              <a:srgbClr val="1F3350"/>
            </a:solidFill>
            <a:prstDash val="solid"/>
          </a:ln>
        </p:spPr>
      </p:sp>
      <p:sp>
        <p:nvSpPr>
          <p:cNvPr id="15" name="Text 13"/>
          <p:cNvSpPr txBox="1"/>
          <p:nvPr/>
        </p:nvSpPr>
        <p:spPr>
          <a:xfrm>
            <a:off x="6432804" y="2880360"/>
            <a:ext cx="2119122"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확장②</a:t>
            </a:r>
            <a:endParaRPr lang="en-US" sz="1200" dirty="0"/>
          </a:p>
        </p:txBody>
      </p:sp>
      <p:sp>
        <p:nvSpPr>
          <p:cNvPr id="16" name="Text 14"/>
          <p:cNvSpPr txBox="1"/>
          <p:nvPr/>
        </p:nvSpPr>
        <p:spPr>
          <a:xfrm>
            <a:off x="6432804"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변경 영향</a:t>
            </a:r>
            <a:endParaRPr lang="en-US" sz="2000" dirty="0"/>
          </a:p>
        </p:txBody>
      </p:sp>
      <p:sp>
        <p:nvSpPr>
          <p:cNvPr id="17" name="Text 15"/>
          <p:cNvSpPr txBox="1"/>
          <p:nvPr/>
        </p:nvSpPr>
        <p:spPr>
          <a:xfrm>
            <a:off x="6432804"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조건이 바뀌면</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다시 볼 혜택을 경로로 산출</a:t>
            </a:r>
            <a:endParaRPr lang="en-US" sz="1300" dirty="0"/>
          </a:p>
        </p:txBody>
      </p:sp>
      <p:sp>
        <p:nvSpPr>
          <p:cNvPr id="18" name="Shape 16"/>
          <p:cNvSpPr/>
          <p:nvPr/>
        </p:nvSpPr>
        <p:spPr>
          <a:xfrm>
            <a:off x="8780526" y="3584448"/>
            <a:ext cx="219456" cy="0"/>
          </a:xfrm>
          <a:prstGeom prst="line">
            <a:avLst/>
          </a:prstGeom>
          <a:noFill/>
          <a:ln w="19050">
            <a:solidFill>
              <a:srgbClr val="E8A33D"/>
            </a:solidFill>
            <a:prstDash val="solid"/>
            <a:tailEnd type="triangle"/>
          </a:ln>
        </p:spPr>
      </p:sp>
      <p:sp>
        <p:nvSpPr>
          <p:cNvPr id="19" name="Shape 17"/>
          <p:cNvSpPr/>
          <p:nvPr/>
        </p:nvSpPr>
        <p:spPr>
          <a:xfrm>
            <a:off x="9027414" y="2743200"/>
            <a:ext cx="2521458" cy="1691640"/>
          </a:xfrm>
          <a:prstGeom prst="roundRect">
            <a:avLst>
              <a:gd name="adj" fmla="val 5405"/>
            </a:avLst>
          </a:prstGeom>
          <a:solidFill>
            <a:srgbClr val="1F3350"/>
          </a:solidFill>
          <a:ln w="12700">
            <a:solidFill>
              <a:srgbClr val="1F3350"/>
            </a:solidFill>
            <a:prstDash val="solid"/>
          </a:ln>
        </p:spPr>
      </p:sp>
      <p:sp>
        <p:nvSpPr>
          <p:cNvPr id="20" name="Text 18"/>
          <p:cNvSpPr txBox="1"/>
          <p:nvPr/>
        </p:nvSpPr>
        <p:spPr>
          <a:xfrm>
            <a:off x="9228582" y="2880360"/>
            <a:ext cx="2119122"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확장③</a:t>
            </a:r>
            <a:endParaRPr lang="en-US" sz="1200" dirty="0"/>
          </a:p>
        </p:txBody>
      </p:sp>
      <p:sp>
        <p:nvSpPr>
          <p:cNvPr id="21" name="Text 19"/>
          <p:cNvSpPr txBox="1"/>
          <p:nvPr/>
        </p:nvSpPr>
        <p:spPr>
          <a:xfrm>
            <a:off x="9228582"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재사용</a:t>
            </a:r>
            <a:endParaRPr lang="en-US" sz="2000" dirty="0"/>
          </a:p>
        </p:txBody>
      </p:sp>
      <p:sp>
        <p:nvSpPr>
          <p:cNvPr id="22" name="Text 20"/>
          <p:cNvSpPr txBox="1"/>
          <p:nvPr/>
        </p:nvSpPr>
        <p:spPr>
          <a:xfrm>
            <a:off x="9228582"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검증된 판단을 여러 AI</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채널이 같은 엔진으로 호출</a:t>
            </a:r>
            <a:endParaRPr lang="en-US" sz="1300" dirty="0"/>
          </a:p>
        </p:txBody>
      </p:sp>
      <p:sp>
        <p:nvSpPr>
          <p:cNvPr id="23" name="Text 21"/>
          <p:cNvSpPr txBox="1"/>
          <p:nvPr/>
        </p:nvSpPr>
        <p:spPr>
          <a:xfrm>
            <a:off x="640080" y="4709160"/>
            <a:ext cx="10972800" cy="822960"/>
          </a:xfrm>
          <a:prstGeom prst="rect">
            <a:avLst/>
          </a:prstGeom>
          <a:noFill/>
          <a:ln/>
        </p:spPr>
        <p:txBody>
          <a:bodyPr wrap="square" lIns="0" tIns="0" rIns="0" bIns="0" rtlCol="0" anchor="t"/>
          <a:lstStyle/>
          <a:p>
            <a:pPr indent="0" marL="0">
              <a:lnSpc>
                <a:spcPct val="110000"/>
              </a:lnSpc>
              <a:buNone/>
            </a:pPr>
            <a:r>
              <a:rPr lang="en-US" sz="1900" b="1" dirty="0">
                <a:solidFill>
                  <a:srgbClr val="E8A33D"/>
                </a:solidFill>
                <a:latin typeface="Malgun Gothic" pitchFamily="34" charset="0"/>
                <a:ea typeface="Malgun Gothic" pitchFamily="34" charset="-122"/>
                <a:cs typeface="Malgun Gothic" pitchFamily="34" charset="-120"/>
              </a:rPr>
              <a:t>판단 근거를 검증하고, 오류 원인을 추적하며, 변경 영향을 확인할 수 있는</a:t>
            </a:r>
            <a:endParaRPr lang="en-US" sz="1900" dirty="0"/>
          </a:p>
          <a:p>
            <a:pPr indent="0" marL="0">
              <a:lnSpc>
                <a:spcPct val="110000"/>
              </a:lnSpc>
              <a:buNone/>
            </a:pPr>
            <a:r>
              <a:rPr lang="en-US" sz="1900" b="1" dirty="0">
                <a:solidFill>
                  <a:srgbClr val="E8A33D"/>
                </a:solidFill>
                <a:latin typeface="Malgun Gothic" pitchFamily="34" charset="0"/>
                <a:ea typeface="Malgun Gothic" pitchFamily="34" charset="-122"/>
                <a:cs typeface="Malgun Gothic" pitchFamily="34" charset="-120"/>
              </a:rPr>
              <a:t>공통 GraphRAG 엔진을 여러 AI 채널에서 재사용합니다.</a:t>
            </a:r>
            <a:endParaRPr lang="en-US" sz="1900" dirty="0"/>
          </a:p>
        </p:txBody>
      </p:sp>
      <p:sp>
        <p:nvSpPr>
          <p:cNvPr id="24" name="Text 22"/>
          <p:cNvSpPr txBox="1"/>
          <p:nvPr/>
        </p:nvSpPr>
        <p:spPr>
          <a:xfrm>
            <a:off x="640080" y="5760720"/>
            <a:ext cx="10972800" cy="320040"/>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현재: 하나카드 4종 원문 대조·설계  /  목표: 체크·신용 약 10종 · GraphRAG 엔진·MCP는 구현 전</a:t>
            </a:r>
            <a:endParaRPr lang="en-US" sz="13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A   과제 수행 증빙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M0~M9는 발표의 어느 장면을 만드는가 — 현재 상태 포함</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3657600"/>
                <a:gridCol w="1783080"/>
                <a:gridCol w="3730752"/>
              </a:tblGrid>
              <a:tr h="36576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관련 장(좌상단 번호)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현재 상태 (2026-10-30)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체크·신용 유사 혜택 약 10종 선정 목표; 4종부터 시연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05, 11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4종 원문 대조 완료 / 약 10종 최종 선정·적재는 예정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추출 가능성 표본 검증 완료 /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Card·Benefit·Condition·Merchant·Clause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07, 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설계안 (과제 매핑표)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문장·clause_id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04, 10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정책 단위 병합, 오병합 점검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04, 10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오병합 위험 사례 확인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07</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혜택 조회 · 영향 추적 · 판단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09, 11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원문으로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원문–트리플–그래프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10, 부록 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기준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도구 3안, 컷라인 설정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판단 실행 기록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질의·경로·적용 규칙·판정·버전, evidence/trace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08, 10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QueryLogger 포매터 구현 / trace 저장 구조 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구현 완료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PostgreSQL 카드 등록·조회 CLI + 단위 테스트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완료 (payment_card)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README.md · architecture.md · src/common/query_logger.py · sql/hana_card_db_design.md (DB 설계 초안,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B   그래프 설계안 (M2)</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 → 혜택 → 조건 → 약관 조항, 모든 관계에 근거를 붙입니다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전월실적·한도</a:t>
            </a:r>
            <a:endParaRPr lang="en-US" sz="1200" dirty="0"/>
          </a:p>
        </p:txBody>
      </p:sp>
      <p:sp>
        <p:nvSpPr>
          <p:cNvPr id="8" name="Text 6"/>
          <p:cNvSpPr txBox="1"/>
          <p:nvPr/>
        </p:nvSpPr>
        <p:spPr>
          <a:xfrm>
            <a:off x="9189720" y="2057400"/>
            <a:ext cx="2450592" cy="640080"/>
          </a:xfrm>
          <a:prstGeom prst="roundRect">
            <a:avLst>
              <a:gd name="adj" fmla="val 17143"/>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항목</a:t>
            </a:r>
            <a:endParaRPr lang="en-US" sz="1200" dirty="0"/>
          </a:p>
        </p:txBody>
      </p:sp>
      <p:sp>
        <p:nvSpPr>
          <p:cNvPr id="9" name="Shape 7"/>
          <p:cNvSpPr/>
          <p:nvPr/>
        </p:nvSpPr>
        <p:spPr>
          <a:xfrm>
            <a:off x="2542032" y="2377440"/>
            <a:ext cx="859536" cy="0"/>
          </a:xfrm>
          <a:prstGeom prst="line">
            <a:avLst/>
          </a:prstGeom>
          <a:noFill/>
          <a:ln w="19050">
            <a:solidFill>
              <a:srgbClr val="3A4A60"/>
            </a:solidFill>
            <a:prstDash val="solid"/>
            <a:tailEnd type="triangle"/>
          </a:ln>
        </p:spPr>
      </p:sp>
      <p:sp>
        <p:nvSpPr>
          <p:cNvPr id="10" name="Text 8"/>
          <p:cNvSpPr txBox="1"/>
          <p:nvPr/>
        </p:nvSpPr>
        <p:spPr>
          <a:xfrm>
            <a:off x="233172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377440"/>
            <a:ext cx="859536" cy="0"/>
          </a:xfrm>
          <a:prstGeom prst="line">
            <a:avLst/>
          </a:prstGeom>
          <a:noFill/>
          <a:ln w="19050">
            <a:solidFill>
              <a:srgbClr val="3A4A60"/>
            </a:solidFill>
            <a:prstDash val="solid"/>
            <a:tailEnd type="triangle"/>
          </a:ln>
        </p:spPr>
      </p:sp>
      <p:sp>
        <p:nvSpPr>
          <p:cNvPr id="12" name="Text 10"/>
          <p:cNvSpPr txBox="1"/>
          <p:nvPr/>
        </p:nvSpPr>
        <p:spPr>
          <a:xfrm>
            <a:off x="521208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377440"/>
            <a:ext cx="859536" cy="0"/>
          </a:xfrm>
          <a:prstGeom prst="line">
            <a:avLst/>
          </a:prstGeom>
          <a:noFill/>
          <a:ln w="19050">
            <a:solidFill>
              <a:srgbClr val="3A4A60"/>
            </a:solidFill>
            <a:prstDash val="solid"/>
            <a:tailEnd type="triangle"/>
          </a:ln>
        </p:spPr>
      </p:sp>
      <p:sp>
        <p:nvSpPr>
          <p:cNvPr id="14" name="Text 12"/>
          <p:cNvSpPr txBox="1"/>
          <p:nvPr/>
        </p:nvSpPr>
        <p:spPr>
          <a:xfrm>
            <a:off x="809244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EXCLUDES {scope}</a:t>
            </a:r>
            <a:endParaRPr lang="en-US" sz="1000" dirty="0"/>
          </a:p>
        </p:txBody>
      </p:sp>
      <p:sp>
        <p:nvSpPr>
          <p:cNvPr id="15" name="Text 13"/>
          <p:cNvSpPr txBox="1"/>
          <p:nvPr/>
        </p:nvSpPr>
        <p:spPr>
          <a:xfrm>
            <a:off x="548640" y="3520440"/>
            <a:ext cx="1965960" cy="640080"/>
          </a:xfrm>
          <a:prstGeom prst="roundRect">
            <a:avLst>
              <a:gd name="adj" fmla="val 17143"/>
            </a:avLst>
          </a:prstGeom>
          <a:solidFill>
            <a:srgbClr val="EFE9F8"/>
          </a:solidFill>
          <a:ln w="15875">
            <a:solidFill>
              <a:srgbClr val="6A4FB0"/>
            </a:solidFill>
            <a:prstDash val="dash"/>
          </a:ln>
        </p:spPr>
        <p:txBody>
          <a:bodyPr wrap="square" lIns="38100" tIns="38100" rIns="38100" bIns="38100" rtlCol="0" anchor="ctr"/>
          <a:lstStyle/>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Copy</a:t>
            </a:r>
            <a:endParaRPr lang="en-US" sz="1200" dirty="0"/>
          </a:p>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승인 문구 (확장 제안)</a:t>
            </a:r>
            <a:endParaRPr lang="en-US" sz="1200" dirty="0"/>
          </a:p>
        </p:txBody>
      </p:sp>
      <p:sp>
        <p:nvSpPr>
          <p:cNvPr id="16" name="Text 14"/>
          <p:cNvSpPr txBox="1"/>
          <p:nvPr/>
        </p:nvSpPr>
        <p:spPr>
          <a:xfrm>
            <a:off x="3429000" y="352044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40080"/>
          </a:xfrm>
          <a:prstGeom prst="roundRect">
            <a:avLst>
              <a:gd name="adj" fmla="val 17143"/>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약관 조항</a:t>
            </a:r>
            <a:endParaRPr lang="en-US" sz="1200" dirty="0"/>
          </a:p>
        </p:txBody>
      </p:sp>
      <p:sp>
        <p:nvSpPr>
          <p:cNvPr id="18" name="Text 16"/>
          <p:cNvSpPr txBox="1"/>
          <p:nvPr/>
        </p:nvSpPr>
        <p:spPr>
          <a:xfrm>
            <a:off x="9189720" y="3520440"/>
            <a:ext cx="2450592" cy="640080"/>
          </a:xfrm>
          <a:prstGeom prst="roundRect">
            <a:avLst>
              <a:gd name="adj" fmla="val 17143"/>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Merchant</a:t>
            </a:r>
            <a:endParaRPr lang="en-US" sz="1200" dirty="0"/>
          </a:p>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가맹점·업종</a:t>
            </a:r>
            <a:endParaRPr lang="en-US" sz="1200" dirty="0"/>
          </a:p>
        </p:txBody>
      </p:sp>
      <p:sp>
        <p:nvSpPr>
          <p:cNvPr id="19" name="Shape 17"/>
          <p:cNvSpPr/>
          <p:nvPr/>
        </p:nvSpPr>
        <p:spPr>
          <a:xfrm>
            <a:off x="4411980" y="2724912"/>
            <a:ext cx="0" cy="768096"/>
          </a:xfrm>
          <a:prstGeom prst="line">
            <a:avLst/>
          </a:prstGeom>
          <a:noFill/>
          <a:ln w="19050">
            <a:solidFill>
              <a:srgbClr val="3A4A60"/>
            </a:solidFill>
            <a:prstDash val="solid"/>
            <a:tailEnd type="triangle"/>
          </a:ln>
        </p:spPr>
      </p:sp>
      <p:sp>
        <p:nvSpPr>
          <p:cNvPr id="20" name="Text 18"/>
          <p:cNvSpPr txBox="1"/>
          <p:nvPr/>
        </p:nvSpPr>
        <p:spPr>
          <a:xfrm>
            <a:off x="4485132" y="2880360"/>
            <a:ext cx="118872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24912"/>
            <a:ext cx="0" cy="768096"/>
          </a:xfrm>
          <a:prstGeom prst="line">
            <a:avLst/>
          </a:prstGeom>
          <a:noFill/>
          <a:ln w="19050">
            <a:solidFill>
              <a:srgbClr val="3A4A60"/>
            </a:solidFill>
            <a:prstDash val="solid"/>
            <a:tailEnd type="triangle"/>
          </a:ln>
        </p:spPr>
      </p:sp>
      <p:sp>
        <p:nvSpPr>
          <p:cNvPr id="22" name="Text 20"/>
          <p:cNvSpPr txBox="1"/>
          <p:nvPr/>
        </p:nvSpPr>
        <p:spPr>
          <a:xfrm>
            <a:off x="7365492" y="2880360"/>
            <a:ext cx="128016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flipV="1">
            <a:off x="2514600" y="2697480"/>
            <a:ext cx="914400" cy="822960"/>
          </a:xfrm>
          <a:prstGeom prst="line">
            <a:avLst/>
          </a:prstGeom>
          <a:noFill/>
          <a:ln w="19050">
            <a:solidFill>
              <a:srgbClr val="6A4FB0"/>
            </a:solidFill>
            <a:prstDash val="solid"/>
            <a:tailEnd type="triangle"/>
          </a:ln>
        </p:spPr>
      </p:sp>
      <p:sp>
        <p:nvSpPr>
          <p:cNvPr id="24" name="Text 22"/>
          <p:cNvSpPr txBox="1"/>
          <p:nvPr/>
        </p:nvSpPr>
        <p:spPr>
          <a:xfrm>
            <a:off x="2926080" y="3136392"/>
            <a:ext cx="822960" cy="237744"/>
          </a:xfrm>
          <a:prstGeom prst="rect">
            <a:avLst/>
          </a:prstGeom>
          <a:noFill/>
          <a:ln/>
        </p:spPr>
        <p:txBody>
          <a:bodyPr wrap="square" lIns="0" tIns="0" rIns="0" bIns="0" rtlCol="0" anchor="t"/>
          <a:lstStyle/>
          <a:p>
            <a:pPr indent="0" marL="0">
              <a:buNone/>
            </a:pPr>
            <a:r>
              <a:rPr lang="en-US" sz="1000" b="1" dirty="0">
                <a:solidFill>
                  <a:srgbClr val="6A4FB0"/>
                </a:solidFill>
                <a:latin typeface="Courier New" pitchFamily="34" charset="0"/>
                <a:ea typeface="Courier New" pitchFamily="34" charset="-122"/>
                <a:cs typeface="Courier New" pitchFamily="34" charset="-120"/>
              </a:rPr>
              <a:t>CLAIMS</a:t>
            </a:r>
            <a:endParaRPr lang="en-US" sz="1000" dirty="0"/>
          </a:p>
        </p:txBody>
      </p:sp>
      <p:sp>
        <p:nvSpPr>
          <p:cNvPr id="25" name="Text 23"/>
          <p:cNvSpPr txBox="1"/>
          <p:nvPr/>
        </p:nvSpPr>
        <p:spPr>
          <a:xfrm>
            <a:off x="9189720" y="4206240"/>
            <a:ext cx="2450592" cy="237744"/>
          </a:xfrm>
          <a:prstGeom prst="rect">
            <a:avLst/>
          </a:prstGeom>
          <a:noFill/>
          <a:ln/>
        </p:spPr>
        <p:txBody>
          <a:bodyPr wrap="square" lIns="0" tIns="0" rIns="0" bIns="0" rtlCol="0" anchor="t"/>
          <a:lstStyle/>
          <a:p>
            <a:pPr algn="ctr" indent="0" marL="0">
              <a:buNone/>
            </a:pPr>
            <a:r>
              <a:rPr lang="en-US" sz="1000" dirty="0">
                <a:solidFill>
                  <a:srgbClr val="3A4A60"/>
                </a:solidFill>
                <a:latin typeface="Courier New" pitchFamily="34" charset="0"/>
                <a:ea typeface="Courier New" pitchFamily="34" charset="-122"/>
                <a:cs typeface="Courier New" pitchFamily="34" charset="-120"/>
              </a:rPr>
              <a:t>APPLIES_TO ← Benefit</a:t>
            </a:r>
            <a:endParaRPr lang="en-US" sz="1000" dirty="0"/>
          </a:p>
        </p:txBody>
      </p:sp>
      <p:sp>
        <p:nvSpPr>
          <p:cNvPr id="26" name="Text 24"/>
          <p:cNvSpPr txBox="1"/>
          <p:nvPr/>
        </p:nvSpPr>
        <p:spPr>
          <a:xfrm>
            <a:off x="548640" y="4498848"/>
            <a:ext cx="11094415" cy="566928"/>
          </a:xfrm>
          <a:prstGeom prst="rect">
            <a:avLst/>
          </a:prstGeom>
          <a:noFill/>
          <a:ln/>
        </p:spPr>
        <p:txBody>
          <a:bodyPr wrap="square" lIns="0" tIns="0" rIns="0" bIns="0" rtlCol="0" anchor="t"/>
          <a:lstStyle/>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모든 관계 속성: document_id · chunk_id · evidence(원문 문장). 근거 없는 관계는 만들지 않고, 카드 간 같은 정책만 하나의 노드로 공유합니다.</a:t>
            </a:r>
            <a:endParaRPr lang="en-US" sz="1200" dirty="0"/>
          </a:p>
          <a:p>
            <a:pPr indent="0" marL="0">
              <a:lnSpc>
                <a:spcPct val="110000"/>
              </a:lnSpc>
              <a:buNone/>
            </a:pPr>
            <a:r>
              <a:rPr lang="en-US" sz="1200" dirty="0">
                <a:solidFill>
                  <a:srgbClr val="8F5208"/>
                </a:solidFill>
                <a:latin typeface="Malgun Gothic" pitchFamily="34" charset="0"/>
                <a:ea typeface="Malgun Gothic" pitchFamily="34" charset="-122"/>
                <a:cs typeface="Malgun Gothic" pitchFamily="34" charset="-120"/>
              </a:rPr>
              <a:t>판단 실행 기록 설계 메모: JudgmentRun {trace_id, 질문, 판정, 모델·데이터 버전} —USED→ 경로상의 Benefit·Condition·Clause (미구현)</a:t>
            </a:r>
            <a:endParaRPr lang="en-US" sz="1200" dirty="0"/>
          </a:p>
        </p:txBody>
      </p:sp>
      <p:sp>
        <p:nvSpPr>
          <p:cNvPr id="27" name="Text 25"/>
          <p:cNvSpPr txBox="1"/>
          <p:nvPr/>
        </p:nvSpPr>
        <p:spPr>
          <a:xfrm>
            <a:off x="548640" y="5138928"/>
            <a:ext cx="11094415" cy="1170432"/>
          </a:xfrm>
          <a:prstGeom prst="roundRect">
            <a:avLst>
              <a:gd name="adj" fmla="val 6250"/>
            </a:avLst>
          </a:prstGeom>
          <a:solidFill>
            <a:srgbClr val="0E1A2B"/>
          </a:solidFill>
          <a:ln>
            <a:solidFill>
              <a:srgbClr val="0E1A2B"/>
            </a:solidFill>
          </a:ln>
        </p:spPr>
        <p:txBody>
          <a:bodyPr wrap="square" lIns="127000" tIns="127000" rIns="127000" bIns="127000" rtlCol="0" anchor="t"/>
          <a:lstStyle/>
          <a:p>
            <a:pPr algn="l" indent="0" marL="0">
              <a:buNone/>
            </a:pPr>
            <a:r>
              <a:rPr lang="en-US" sz="1000" dirty="0">
                <a:solidFill>
                  <a:srgbClr val="E6ECF4"/>
                </a:solidFill>
                <a:latin typeface="Courier New" pitchFamily="34" charset="0"/>
                <a:ea typeface="Courier New" pitchFamily="34" charset="-122"/>
                <a:cs typeface="Courier New" pitchFamily="34" charset="-120"/>
              </a:rPr>
              <a:t>// 시연 ③ 영향 추적 (예시 Cypher, 미실행)</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MATCH (x:Condition {name:'상품권·기프트카드 구매'})&lt;-[:EXCLUDES {scope:'실적'}]-(r:Condition)&lt;-[:REQUIRES]-(b:Benefit)&lt;-[:HAS_BENEFIT]-(c:Card)</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RETURN c.name AS card, b.name AS benefit, r.threshold AS spend,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노드·관계는 과제_매핑표_10.29.md M2 안 · Copy 노드는 V2 §6 제안 · JudgmentRun은 V4 설계 메모 · 쿼리는 설계 예시이며 실행 결과 아님</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C   비교 실험 설계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주장 대신 실험으로 — 결과 칸은 실행한 뒤에만 채웁니다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미실행</a:t>
            </a:r>
            <a:endParaRPr lang="en-US" sz="1100" dirty="0"/>
          </a:p>
        </p:txBody>
      </p:sp>
      <p:sp>
        <p:nvSpPr>
          <p:cNvPr id="5" name="Text 3"/>
          <p:cNvSpPr txBox="1"/>
          <p:nvPr/>
        </p:nvSpPr>
        <p:spPr>
          <a:xfrm>
            <a:off x="548640" y="1664208"/>
            <a:ext cx="5486400" cy="45720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골든 질문 15~20개 · 정답 기준은 원문 조항</a:t>
            </a:r>
            <a:endParaRPr lang="en-US" sz="1400" dirty="0"/>
          </a:p>
        </p:txBody>
      </p:sp>
      <p:sp>
        <p:nvSpPr>
          <p:cNvPr id="6" name="Text 4"/>
          <p:cNvSpPr txBox="1"/>
          <p:nvPr/>
        </p:nvSpPr>
        <p:spPr>
          <a:xfrm>
            <a:off x="548640" y="2194560"/>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근거 경로</a:t>
            </a:r>
            <a:endParaRPr lang="en-US" sz="1200" dirty="0"/>
          </a:p>
        </p:txBody>
      </p:sp>
      <p:sp>
        <p:nvSpPr>
          <p:cNvPr id="7" name="Text 5"/>
          <p:cNvSpPr txBox="1"/>
          <p:nvPr/>
        </p:nvSpPr>
        <p:spPr>
          <a:xfrm>
            <a:off x="2011680" y="2194560"/>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STYLE 대중교통 혜택의 전월실적 조건과 근거 조항은?</a:t>
            </a:r>
            <a:endParaRPr lang="en-US" sz="1300" dirty="0"/>
          </a:p>
        </p:txBody>
      </p:sp>
      <p:sp>
        <p:nvSpPr>
          <p:cNvPr id="8" name="Text 6"/>
          <p:cNvSpPr txBox="1"/>
          <p:nvPr/>
        </p:nvSpPr>
        <p:spPr>
          <a:xfrm>
            <a:off x="548640" y="2798064"/>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변경 영향</a:t>
            </a:r>
            <a:endParaRPr lang="en-US" sz="1200" dirty="0"/>
          </a:p>
        </p:txBody>
      </p:sp>
      <p:sp>
        <p:nvSpPr>
          <p:cNvPr id="9" name="Text 7"/>
          <p:cNvSpPr txBox="1"/>
          <p:nvPr/>
        </p:nvSpPr>
        <p:spPr>
          <a:xfrm>
            <a:off x="2011680" y="2798064"/>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상품권을 실적에 포함하면 영향받는 카드·혜택·조항은?</a:t>
            </a:r>
            <a:endParaRPr lang="en-US" sz="1300" dirty="0"/>
          </a:p>
        </p:txBody>
      </p:sp>
      <p:sp>
        <p:nvSpPr>
          <p:cNvPr id="10" name="Text 8"/>
          <p:cNvSpPr txBox="1"/>
          <p:nvPr/>
        </p:nvSpPr>
        <p:spPr>
          <a:xfrm>
            <a:off x="548640" y="3401568"/>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공유 구조</a:t>
            </a:r>
            <a:endParaRPr lang="en-US" sz="1200" dirty="0"/>
          </a:p>
        </p:txBody>
      </p:sp>
      <p:sp>
        <p:nvSpPr>
          <p:cNvPr id="11" name="Text 9"/>
          <p:cNvSpPr txBox="1"/>
          <p:nvPr/>
        </p:nvSpPr>
        <p:spPr>
          <a:xfrm>
            <a:off x="2011680" y="3401568"/>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체크·신용카드의 유사 혜택은 조건이 어떻게 다른가?</a:t>
            </a:r>
            <a:endParaRPr lang="en-US" sz="1300" dirty="0"/>
          </a:p>
        </p:txBody>
      </p:sp>
      <p:sp>
        <p:nvSpPr>
          <p:cNvPr id="12" name="Text 10"/>
          <p:cNvSpPr txBox="1"/>
          <p:nvPr/>
        </p:nvSpPr>
        <p:spPr>
          <a:xfrm>
            <a:off x="548640" y="4005072"/>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적용 범위</a:t>
            </a:r>
            <a:endParaRPr lang="en-US" sz="1200" dirty="0"/>
          </a:p>
        </p:txBody>
      </p:sp>
      <p:sp>
        <p:nvSpPr>
          <p:cNvPr id="13" name="Text 11"/>
          <p:cNvSpPr txBox="1"/>
          <p:nvPr/>
        </p:nvSpPr>
        <p:spPr>
          <a:xfrm>
            <a:off x="2011680" y="4005072"/>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같은 항목이 할인·적립 제외로 쓰인 상품은?</a:t>
            </a:r>
            <a:endParaRPr lang="en-US" sz="1300" dirty="0"/>
          </a:p>
        </p:txBody>
      </p:sp>
      <p:sp>
        <p:nvSpPr>
          <p:cNvPr id="14" name="Text 12"/>
          <p:cNvSpPr txBox="1"/>
          <p:nvPr/>
        </p:nvSpPr>
        <p:spPr>
          <a:xfrm>
            <a:off x="548640" y="4608576"/>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3상태 판정</a:t>
            </a:r>
            <a:endParaRPr lang="en-US" sz="1200" dirty="0"/>
          </a:p>
        </p:txBody>
      </p:sp>
      <p:sp>
        <p:nvSpPr>
          <p:cNvPr id="15" name="Text 13"/>
          <p:cNvSpPr txBox="1"/>
          <p:nvPr/>
        </p:nvSpPr>
        <p:spPr>
          <a:xfrm>
            <a:off x="2011680" y="4608576"/>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적용 / 미적용 / 판단 불가 사유가 맞는가?</a:t>
            </a:r>
            <a:endParaRPr lang="en-US" sz="1300" dirty="0"/>
          </a:p>
        </p:txBody>
      </p:sp>
      <p:sp>
        <p:nvSpPr>
          <p:cNvPr id="16" name="Text 14"/>
          <p:cNvSpPr txBox="1"/>
          <p:nvPr/>
        </p:nvSpPr>
        <p:spPr>
          <a:xfrm>
            <a:off x="548640" y="5303520"/>
            <a:ext cx="5486400" cy="960120"/>
          </a:xfrm>
          <a:prstGeom prst="rect">
            <a:avLst/>
          </a:prstGeom>
          <a:noFill/>
          <a:ln/>
        </p:spPr>
        <p:txBody>
          <a:bodyPr wrap="square" lIns="0" tIns="0" rIns="0" bIns="0" rtlCol="0" anchor="t"/>
          <a:lstStyle/>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비교: ① 벡터 RAG ② PostgreSQL + 조건 + LLM ③ GraphRAG</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작성자·표본 수·계산법을 기록하고 불리한 항목도 공개합니다.</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선택 과제(S1) — 필수 M0~M9 완료 후 수행합니다.</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55080" y="1691640"/>
          <a:ext cx="5285232" cy="914400"/>
        </p:xfrm>
        <a:graphic>
          <a:graphicData uri="http://schemas.openxmlformats.org/drawingml/2006/table">
            <a:tbl>
              <a:tblPr/>
              <a:tblGrid>
                <a:gridCol w="2176272"/>
                <a:gridCol w="1033272"/>
                <a:gridCol w="1033272"/>
                <a:gridCol w="1042416"/>
              </a:tblGrid>
              <a:tr h="420624">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지표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SQL + LLM</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조항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잘못된 단정 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정밀도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경로 일치율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판단 불가 적정성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오류 원인 단계 식별률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18" name="Text 15"/>
          <p:cNvSpPr txBox="1"/>
          <p:nvPr/>
        </p:nvSpPr>
        <p:spPr>
          <a:xfrm>
            <a:off x="6355080" y="5596128"/>
            <a:ext cx="5285232" cy="274320"/>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 : 미실행. 수치는 실험 후 교체합니다.</a:t>
            </a:r>
            <a:endParaRPr lang="en-US" sz="1100" dirty="0"/>
          </a:p>
        </p:txBody>
      </p:sp>
      <p:sp>
        <p:nvSpPr>
          <p:cNvPr id="19" name="Text 1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 근거: 카드사_자체AI판단엔진_개발명분_공식근거조사_20261028.md §5 · V2 §3·§4 · 과제_매핑표_10.29.md (M8, S1)</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D   오류 검증 기준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틀린 관계는 검증하고, 근거가 부족하면 판단을 보류합니다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원문 청크</a:t>
            </a:r>
            <a:endParaRPr lang="en-US" sz="1400" dirty="0"/>
          </a:p>
        </p:txBody>
      </p:sp>
      <p:sp>
        <p:nvSpPr>
          <p:cNvPr id="7" name="Shape 5"/>
          <p:cNvSpPr/>
          <p:nvPr/>
        </p:nvSpPr>
        <p:spPr>
          <a:xfrm>
            <a:off x="3063240" y="1956816"/>
            <a:ext cx="327050" cy="0"/>
          </a:xfrm>
          <a:prstGeom prst="line">
            <a:avLst/>
          </a:prstGeom>
          <a:noFill/>
          <a:ln w="19050">
            <a:solidFill>
              <a:srgbClr val="8A94A3"/>
            </a:solidFill>
            <a:prstDash val="solid"/>
            <a:tailEnd type="triangle"/>
          </a:ln>
        </p:spPr>
      </p:sp>
      <p:sp>
        <p:nvSpPr>
          <p:cNvPr id="8" name="Text 6"/>
          <p:cNvSpPr txBox="1"/>
          <p:nvPr/>
        </p:nvSpPr>
        <p:spPr>
          <a:xfrm>
            <a:off x="3417722"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트리플 JSON</a:t>
            </a:r>
            <a:endParaRPr lang="en-US" sz="1400" dirty="0"/>
          </a:p>
        </p:txBody>
      </p:sp>
      <p:sp>
        <p:nvSpPr>
          <p:cNvPr id="9" name="Shape 7"/>
          <p:cNvSpPr/>
          <p:nvPr/>
        </p:nvSpPr>
        <p:spPr>
          <a:xfrm>
            <a:off x="5932322" y="1956816"/>
            <a:ext cx="327050" cy="0"/>
          </a:xfrm>
          <a:prstGeom prst="line">
            <a:avLst/>
          </a:prstGeom>
          <a:noFill/>
          <a:ln w="19050">
            <a:solidFill>
              <a:srgbClr val="8A94A3"/>
            </a:solidFill>
            <a:prstDash val="solid"/>
            <a:tailEnd type="triangle"/>
          </a:ln>
        </p:spPr>
      </p:sp>
      <p:sp>
        <p:nvSpPr>
          <p:cNvPr id="10" name="Text 8"/>
          <p:cNvSpPr txBox="1"/>
          <p:nvPr/>
        </p:nvSpPr>
        <p:spPr>
          <a:xfrm>
            <a:off x="6286805"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정규화 개체</a:t>
            </a:r>
            <a:endParaRPr lang="en-US" sz="1400" dirty="0"/>
          </a:p>
        </p:txBody>
      </p:sp>
      <p:sp>
        <p:nvSpPr>
          <p:cNvPr id="11" name="Shape 9"/>
          <p:cNvSpPr/>
          <p:nvPr/>
        </p:nvSpPr>
        <p:spPr>
          <a:xfrm>
            <a:off x="8801405" y="1956816"/>
            <a:ext cx="327050" cy="0"/>
          </a:xfrm>
          <a:prstGeom prst="line">
            <a:avLst/>
          </a:prstGeom>
          <a:noFill/>
          <a:ln w="19050">
            <a:solidFill>
              <a:srgbClr val="8A94A3"/>
            </a:solidFill>
            <a:prstDash val="solid"/>
            <a:tailEnd type="triangle"/>
          </a:ln>
        </p:spPr>
      </p:sp>
      <p:sp>
        <p:nvSpPr>
          <p:cNvPr id="12" name="Text 10"/>
          <p:cNvSpPr txBox="1"/>
          <p:nvPr/>
        </p:nvSpPr>
        <p:spPr>
          <a:xfrm>
            <a:off x="9155887"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Neo4j 그래프</a:t>
            </a:r>
            <a:endParaRPr lang="en-US" sz="1400" dirty="0"/>
          </a:p>
        </p:txBody>
      </p:sp>
      <p:sp>
        <p:nvSpPr>
          <p:cNvPr id="13" name="Text 11"/>
          <p:cNvSpPr txBox="1"/>
          <p:nvPr/>
        </p:nvSpPr>
        <p:spPr>
          <a:xfrm>
            <a:off x="548640" y="2286000"/>
            <a:ext cx="11094415" cy="256032"/>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단계 사이를 원문과 대조 (M8)</a:t>
            </a:r>
            <a:endParaRPr lang="en-US" sz="1100" dirty="0"/>
          </a:p>
        </p:txBody>
      </p:sp>
      <p:sp>
        <p:nvSpPr>
          <p:cNvPr id="14" name="Text 12"/>
          <p:cNvSpPr txBox="1"/>
          <p:nvPr/>
        </p:nvSpPr>
        <p:spPr>
          <a:xfrm>
            <a:off x="548640" y="2697480"/>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오류 6분류 — M8 검증 기준</a:t>
            </a:r>
            <a:endParaRPr lang="en-US" sz="1400" dirty="0"/>
          </a:p>
        </p:txBody>
      </p:sp>
      <p:sp>
        <p:nvSpPr>
          <p:cNvPr id="15" name="Text 13"/>
          <p:cNvSpPr txBox="1"/>
          <p:nvPr/>
        </p:nvSpPr>
        <p:spPr>
          <a:xfrm>
            <a:off x="548640"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원문에 없는 관계</a:t>
            </a:r>
            <a:endParaRPr lang="en-US" sz="1300" dirty="0"/>
          </a:p>
        </p:txBody>
      </p:sp>
      <p:sp>
        <p:nvSpPr>
          <p:cNvPr id="16" name="Text 14"/>
          <p:cNvSpPr txBox="1"/>
          <p:nvPr/>
        </p:nvSpPr>
        <p:spPr>
          <a:xfrm>
            <a:off x="2359152"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방향 오류</a:t>
            </a:r>
            <a:endParaRPr lang="en-US" sz="1300" dirty="0"/>
          </a:p>
        </p:txBody>
      </p:sp>
      <p:sp>
        <p:nvSpPr>
          <p:cNvPr id="17" name="Text 15"/>
          <p:cNvSpPr txBox="1"/>
          <p:nvPr/>
        </p:nvSpPr>
        <p:spPr>
          <a:xfrm>
            <a:off x="4169664"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중복</a:t>
            </a:r>
            <a:endParaRPr lang="en-US" sz="1300" dirty="0"/>
          </a:p>
        </p:txBody>
      </p:sp>
      <p:sp>
        <p:nvSpPr>
          <p:cNvPr id="18" name="Text 16"/>
          <p:cNvSpPr txBox="1"/>
          <p:nvPr/>
        </p:nvSpPr>
        <p:spPr>
          <a:xfrm>
            <a:off x="548640"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오병합</a:t>
            </a:r>
            <a:endParaRPr lang="en-US" sz="1300" dirty="0"/>
          </a:p>
        </p:txBody>
      </p:sp>
      <p:sp>
        <p:nvSpPr>
          <p:cNvPr id="19" name="Text 17"/>
          <p:cNvSpPr txBox="1"/>
          <p:nvPr/>
        </p:nvSpPr>
        <p:spPr>
          <a:xfrm>
            <a:off x="2359152"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스키마 위반</a:t>
            </a:r>
            <a:endParaRPr lang="en-US" sz="1300" dirty="0"/>
          </a:p>
        </p:txBody>
      </p:sp>
      <p:sp>
        <p:nvSpPr>
          <p:cNvPr id="20" name="Text 18"/>
          <p:cNvSpPr txBox="1"/>
          <p:nvPr/>
        </p:nvSpPr>
        <p:spPr>
          <a:xfrm>
            <a:off x="4169664"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적재 누락</a:t>
            </a:r>
            <a:endParaRPr lang="en-US" sz="1300" dirty="0"/>
          </a:p>
        </p:txBody>
      </p:sp>
      <p:sp>
        <p:nvSpPr>
          <p:cNvPr id="21" name="Text 19"/>
          <p:cNvSpPr txBox="1"/>
          <p:nvPr/>
        </p:nvSpPr>
        <p:spPr>
          <a:xfrm>
            <a:off x="548640" y="4041648"/>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개선 루프</a:t>
            </a:r>
            <a:endParaRPr lang="en-US" sz="1400" dirty="0"/>
          </a:p>
        </p:txBody>
      </p:sp>
      <p:sp>
        <p:nvSpPr>
          <p:cNvPr id="22" name="Text 20"/>
          <p:cNvSpPr txBox="1"/>
          <p:nvPr/>
        </p:nvSpPr>
        <p:spPr>
          <a:xfrm>
            <a:off x="5486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오류 분류</a:t>
            </a:r>
            <a:endParaRPr lang="en-US" sz="1200" dirty="0"/>
          </a:p>
        </p:txBody>
      </p:sp>
      <p:sp>
        <p:nvSpPr>
          <p:cNvPr id="23" name="Shape 21"/>
          <p:cNvSpPr/>
          <p:nvPr/>
        </p:nvSpPr>
        <p:spPr>
          <a:xfrm>
            <a:off x="1746504" y="4672584"/>
            <a:ext cx="164592" cy="0"/>
          </a:xfrm>
          <a:prstGeom prst="line">
            <a:avLst/>
          </a:prstGeom>
          <a:noFill/>
          <a:ln w="19050">
            <a:solidFill>
              <a:srgbClr val="8A94A3"/>
            </a:solidFill>
            <a:prstDash val="solid"/>
            <a:tailEnd type="triangle"/>
          </a:ln>
        </p:spPr>
      </p:sp>
      <p:sp>
        <p:nvSpPr>
          <p:cNvPr id="24" name="Text 22"/>
          <p:cNvSpPr txBox="1"/>
          <p:nvPr/>
        </p:nvSpPr>
        <p:spPr>
          <a:xfrm>
            <a:off x="19202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프롬프트·정규화 수정</a:t>
            </a:r>
            <a:endParaRPr lang="en-US" sz="1200" dirty="0"/>
          </a:p>
        </p:txBody>
      </p:sp>
      <p:sp>
        <p:nvSpPr>
          <p:cNvPr id="25" name="Shape 23"/>
          <p:cNvSpPr/>
          <p:nvPr/>
        </p:nvSpPr>
        <p:spPr>
          <a:xfrm>
            <a:off x="3118104" y="4672584"/>
            <a:ext cx="164592" cy="0"/>
          </a:xfrm>
          <a:prstGeom prst="line">
            <a:avLst/>
          </a:prstGeom>
          <a:noFill/>
          <a:ln w="19050">
            <a:solidFill>
              <a:srgbClr val="8A94A3"/>
            </a:solidFill>
            <a:prstDash val="solid"/>
            <a:tailEnd type="triangle"/>
          </a:ln>
        </p:spPr>
      </p:sp>
      <p:sp>
        <p:nvSpPr>
          <p:cNvPr id="26" name="Text 24"/>
          <p:cNvSpPr txBox="1"/>
          <p:nvPr/>
        </p:nvSpPr>
        <p:spPr>
          <a:xfrm>
            <a:off x="32918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재추출</a:t>
            </a:r>
            <a:endParaRPr lang="en-US" sz="1200" dirty="0"/>
          </a:p>
        </p:txBody>
      </p:sp>
      <p:sp>
        <p:nvSpPr>
          <p:cNvPr id="27" name="Shape 25"/>
          <p:cNvSpPr/>
          <p:nvPr/>
        </p:nvSpPr>
        <p:spPr>
          <a:xfrm>
            <a:off x="4489704" y="4672584"/>
            <a:ext cx="164592" cy="0"/>
          </a:xfrm>
          <a:prstGeom prst="line">
            <a:avLst/>
          </a:prstGeom>
          <a:noFill/>
          <a:ln w="19050">
            <a:solidFill>
              <a:srgbClr val="8A94A3"/>
            </a:solidFill>
            <a:prstDash val="solid"/>
            <a:tailEnd type="triangle"/>
          </a:ln>
        </p:spPr>
      </p:sp>
      <p:sp>
        <p:nvSpPr>
          <p:cNvPr id="28" name="Text 26"/>
          <p:cNvSpPr txBox="1"/>
          <p:nvPr/>
        </p:nvSpPr>
        <p:spPr>
          <a:xfrm>
            <a:off x="46634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같은 질문 재검증</a:t>
            </a:r>
            <a:endParaRPr lang="en-US" sz="1200" dirty="0"/>
          </a:p>
        </p:txBody>
      </p:sp>
      <p:sp>
        <p:nvSpPr>
          <p:cNvPr id="29" name="Text 27"/>
          <p:cNvSpPr txBox="1"/>
          <p:nvPr/>
        </p:nvSpPr>
        <p:spPr>
          <a:xfrm>
            <a:off x="548640" y="5074920"/>
            <a:ext cx="5440680" cy="50292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A(파일)·B(PostgreSQL) 두 파이프라인의 추출이 어긋나는 항목은 사람 검토 대상으로 분류합니다.</a:t>
            </a:r>
            <a:endParaRPr lang="en-US" sz="1200" dirty="0"/>
          </a:p>
        </p:txBody>
      </p:sp>
      <p:sp>
        <p:nvSpPr>
          <p:cNvPr id="30" name="Text 28"/>
          <p:cNvSpPr txBox="1"/>
          <p:nvPr/>
        </p:nvSpPr>
        <p:spPr>
          <a:xfrm>
            <a:off x="6263640" y="2697480"/>
            <a:ext cx="5376672"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원문 조사에서 이미 확인한 함정 — 시연 후보</a:t>
            </a:r>
            <a:endParaRPr lang="en-US" sz="1400" dirty="0"/>
          </a:p>
        </p:txBody>
      </p:sp>
      <p:sp>
        <p:nvSpPr>
          <p:cNvPr id="31" name="Shape 29"/>
          <p:cNvSpPr/>
          <p:nvPr/>
        </p:nvSpPr>
        <p:spPr>
          <a:xfrm>
            <a:off x="6263640" y="3063240"/>
            <a:ext cx="5376672" cy="777240"/>
          </a:xfrm>
          <a:prstGeom prst="roundRect">
            <a:avLst>
              <a:gd name="adj" fmla="val 11765"/>
            </a:avLst>
          </a:prstGeom>
          <a:solidFill>
            <a:srgbClr val="F3F5F8"/>
          </a:solidFill>
          <a:ln w="9525">
            <a:solidFill>
              <a:srgbClr val="F3F5F8"/>
            </a:solidFill>
            <a:prstDash val="solid"/>
          </a:ln>
        </p:spPr>
      </p:sp>
      <p:sp>
        <p:nvSpPr>
          <p:cNvPr id="32" name="Text 30"/>
          <p:cNvSpPr txBox="1"/>
          <p:nvPr/>
        </p:nvSpPr>
        <p:spPr>
          <a:xfrm>
            <a:off x="6419088" y="312724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실적 제외 ↔ 혜택 제외 혼동</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상품권이 BT 실적 제외와 BIG TICKET 할인 제외에 모두 등장. scope를 잘못 붙이면 시연 ②·③ 결과가 틀어집니다.</a:t>
            </a:r>
            <a:endParaRPr lang="en-US" sz="1400" dirty="0"/>
          </a:p>
        </p:txBody>
      </p:sp>
      <p:sp>
        <p:nvSpPr>
          <p:cNvPr id="33" name="Shape 31"/>
          <p:cNvSpPr/>
          <p:nvPr/>
        </p:nvSpPr>
        <p:spPr>
          <a:xfrm>
            <a:off x="6263640" y="3931920"/>
            <a:ext cx="5376672" cy="777240"/>
          </a:xfrm>
          <a:prstGeom prst="roundRect">
            <a:avLst>
              <a:gd name="adj" fmla="val 11765"/>
            </a:avLst>
          </a:prstGeom>
          <a:solidFill>
            <a:srgbClr val="F3F5F8"/>
          </a:solidFill>
          <a:ln w="9525">
            <a:solidFill>
              <a:srgbClr val="F3F5F8"/>
            </a:solidFill>
            <a:prstDash val="solid"/>
          </a:ln>
        </p:spPr>
      </p:sp>
      <p:sp>
        <p:nvSpPr>
          <p:cNvPr id="34" name="Text 32"/>
          <p:cNvSpPr txBox="1"/>
          <p:nvPr/>
        </p:nvSpPr>
        <p:spPr>
          <a:xfrm>
            <a:off x="6419088" y="399592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표 구조 손실 → 잘못된 관계</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BT 할인율 4개가 한 셀로 추출. 구간별 할인율·한도 연결은 사람 검토 대상입니다.</a:t>
            </a:r>
            <a:endParaRPr lang="en-US" sz="1400" dirty="0"/>
          </a:p>
        </p:txBody>
      </p:sp>
      <p:sp>
        <p:nvSpPr>
          <p:cNvPr id="35" name="Shape 33"/>
          <p:cNvSpPr/>
          <p:nvPr/>
        </p:nvSpPr>
        <p:spPr>
          <a:xfrm>
            <a:off x="6263640" y="4800600"/>
            <a:ext cx="5376672" cy="777240"/>
          </a:xfrm>
          <a:prstGeom prst="roundRect">
            <a:avLst>
              <a:gd name="adj" fmla="val 11765"/>
            </a:avLst>
          </a:prstGeom>
          <a:solidFill>
            <a:srgbClr val="F3F5F8"/>
          </a:solidFill>
          <a:ln w="9525">
            <a:solidFill>
              <a:srgbClr val="F3F5F8"/>
            </a:solidFill>
            <a:prstDash val="solid"/>
          </a:ln>
        </p:spPr>
      </p:sp>
      <p:sp>
        <p:nvSpPr>
          <p:cNvPr id="36" name="Text 34"/>
          <p:cNvSpPr txBox="1"/>
          <p:nvPr/>
        </p:nvSpPr>
        <p:spPr>
          <a:xfrm>
            <a:off x="6419088" y="486460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원문 문구의 임의 정규화</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신한 건담 X 원문의 ‘상품/선불전자지급수단’ → ‘상품권’으로 자동 변환하지 않고 판단 보류.</a:t>
            </a:r>
            <a:endParaRPr lang="en-US" sz="1400" dirty="0"/>
          </a:p>
        </p:txBody>
      </p:sp>
      <p:sp>
        <p:nvSpPr>
          <p:cNvPr id="37" name="Text 35"/>
          <p:cNvSpPr txBox="1"/>
          <p:nvPr/>
        </p:nvSpPr>
        <p:spPr>
          <a:xfrm>
            <a:off x="548640" y="5669280"/>
            <a:ext cx="11094415" cy="594360"/>
          </a:xfrm>
          <a:prstGeom prst="roundRect">
            <a:avLst>
              <a:gd name="adj" fmla="val 12308"/>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목표는 ‘전부 고쳤다’가 아니라 ‘어디서 멈추는지 안다’입니다. 미해결 1건은 판단 보류로 그대로 공개합니다.</a:t>
            </a:r>
            <a:endParaRPr lang="en-US" sz="15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함정 사례는 원문 조사로 확인한 위험 · LLM 실행 로그로 재현한 ‘실제 오답’은 M4·M8 이후 교체 (V1·V2 오답 공개 원칙)</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E   자사 AI vs 외부 AI</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자사 AI와 외부 AI의 차이는 엔진이 아니라 ‘통제권’에 있습니다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가설</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926080"/>
                <a:gridCol w="3840480"/>
                <a:gridCol w="4325112"/>
              </a:tblGrid>
              <a:tr h="47548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구분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카드사 자사 AI</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외부 AI (연동 허용 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조건·근거·판단 기록</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gridSpan="2">
                  <a:txBody>
                    <a:bodyP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같은 엔진 → 같은 구조화 결과·근거·trace</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4F1"/>
                    </a:solidFill>
                  </a:tcPr>
                </a:tc>
                <a:tc hMerge="1">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고객 접점</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플랫폼</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답변·화면 구성</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카드사가 설계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AI가 결정</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최종 답변–근거 일치 점검</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카드사가 사후 점검 가능</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AI의 최종 문장은 카드사가 받지 못할 수 있음</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브랜드·캠페인 표시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승인 정책대로 관리</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필드를 줘도 표시 보장 불가</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최신 조건 사용</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운영 절차로 통제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호출·캐시·요약에 따라 다름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548640" y="5257800"/>
            <a:ext cx="11094415" cy="868680"/>
          </a:xfrm>
          <a:prstGeom prst="roundRect">
            <a:avLst>
              <a:gd name="adj" fmla="val 8421"/>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E8A33D"/>
                </a:solidFill>
                <a:latin typeface="Malgun Gothic" pitchFamily="34" charset="0"/>
                <a:ea typeface="Malgun Gothic" pitchFamily="34" charset="-122"/>
                <a:cs typeface="Malgun Gothic" pitchFamily="34" charset="-120"/>
              </a:rPr>
              <a:t>시사점  </a:t>
            </a:r>
            <a:pPr algn="l" indent="0" marL="0">
              <a:buNone/>
            </a:pPr>
            <a:r>
              <a:rPr lang="en-US" sz="1400" dirty="0">
                <a:solidFill>
                  <a:srgbClr val="FFFFFF"/>
                </a:solidFill>
                <a:latin typeface="Malgun Gothic" pitchFamily="34" charset="0"/>
                <a:ea typeface="Malgun Gothic" pitchFamily="34" charset="-122"/>
                <a:cs typeface="Malgun Gothic" pitchFamily="34" charset="-120"/>
              </a:rPr>
              <a:t>엔진은 공유하되, 최종 답변까지 근거와 대조할 수 있는 곳은 카드사가 통제하는 채널입니다. 외부 AI에는 근거·trace id를 함께 공급해 사후 추적의 단서를 남기되, 최종 답변 대조는 플랫폼의 응답 기록 제공 여부에 달려 있습니다.</a:t>
            </a:r>
            <a:endParaRPr lang="en-US" sz="14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역할 비교: V2 §6-1 · '최종 답변–근거 일치 점검' 행은 V4 추가(팀 가설) · 외부 플랫폼 정책은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F   예상 질문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657600"/>
                <a:gridCol w="7434072"/>
              </a:tblGrid>
              <a:tr h="34747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질문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답변 요지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AI(LLM)의 사고 과정까지 설명하나요?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설명 대상은 실행 시 기록 가능한 검색 경로·적용 규칙·근거 조항과 최종 답변의 일치 여부입니다. LLM 내부 추론은 대상이 아닙니다.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PDF 원문 검색으로 충분하지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원문 위치는 찾지만, 어떤 조건이 어느 혜택에 어떤 범위로 적용됐는지는 남지 않습니다. 혜택별 조건–판단 연결이 필요한 이유입니다.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카드사의 정본은 PDF가 아니라 내부 상품 DB 아닌가요?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PDF는 고객에게 고지된 계약 문구입니다. 내부 DB와 고지 문서의 불일치를 점검하는 보완 용도로 제안합니다 (내부 시스템 구조는 미확인).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카드를 약 10종으로 늘려도 SQL로 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됩니다. GraphRAG만 가능한 기능은 아닙니다. 유사 혜택·제외 범위를 SQL과 Cypher로 비교해 모델링과 경로 추적의 차이를 검증하겠습니다.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신한이 이미 비슷한 걸 만들지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차별점이 아니라 업계가 인정한 문제라는 근거로 인용했습니다. 신한 엔진의 방식(GraphRAG 여부)은 공개되지 않았습니다.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표 추출이 자동인가요?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기본 표 추출은 대부분 실패했습니다. 수작업 보정과 사람 검토가 들어간다는 점을 공개합니다.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MCP가 있으면 외부 AI의 답을 통제하나요?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아닙니다. 조건·근거·trace id를 공급하고 그 내역을 기록할 뿐, 호출 여부·요약·문구는 외부 AI가 결정합니다. 최종 답변 추적은 플랫폼이 응답 기록을 줄 때만 가능합니다.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고객에게 추천하면 규제 문제는요?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이번 범위는 내부 검토 도구입니다. 고객 대면 추천·광고는 금융소비자보호법상 권유·광고 규율 검토가 필요합니다 (준법 확인 필요).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문서가 최신인가요?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시행일·현재 유효 여부·재배포 조건은 미확인입니다. 문서 버전과 SHA-256 해시를 함께 기록합니다.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ppt_story_key_points_v2_draft.md §8 (예상 반론과 답변) · V4 추가: 앞의 두 질문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G   출처와 검증 상태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754880"/>
                <a:gridCol w="4416552"/>
                <a:gridCol w="1920240"/>
              </a:tblGrid>
              <a:tr h="402336">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shinhangroup.com/kr/archive/press/detail/966</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조건 판단 AI 엔진 공동 개발, 기존 AI 문제 4가지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press1.newswire.co.kr/newsRead.php?no=1042468</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ChatGPT for Kakao, PlayMCP 기반 카카오 툴즈 연동</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 (m.hanacard.co.kr/leaflet/…)</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상품권 제외 범위, 혜택별 실적 조건, STYLE 대중교통 조건·예외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검증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card_scope_comparison_claude.md · _gpt_review.md · card_scope_comparison.md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공통 문구·scope 차이, PG 재분류 문장, PDF 확보 범위</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조사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src/common/query_logger.py</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SQL·Cypher 원문·파라미터·결과 로그 포매터 (판단 실행 기록의 기반 부품)</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구현 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Shape 2"/>
          <p:cNvSpPr/>
          <p:nvPr/>
        </p:nvSpPr>
        <p:spPr>
          <a:xfrm>
            <a:off x="548640" y="4681728"/>
            <a:ext cx="11094415" cy="1554480"/>
          </a:xfrm>
          <a:prstGeom prst="roundRect">
            <a:avLst>
              <a:gd name="adj" fmla="val 5882"/>
            </a:avLst>
          </a:prstGeom>
          <a:solidFill>
            <a:srgbClr val="FDF0DC"/>
          </a:solidFill>
          <a:ln w="12700">
            <a:solidFill>
              <a:srgbClr val="FDF0DC"/>
            </a:solidFill>
            <a:prstDash val="solid"/>
          </a:ln>
        </p:spPr>
      </p:sp>
      <p:sp>
        <p:nvSpPr>
          <p:cNvPr id="6" name="Text 3"/>
          <p:cNvSpPr txBox="1"/>
          <p:nvPr/>
        </p:nvSpPr>
        <p:spPr>
          <a:xfrm>
            <a:off x="731520" y="4754880"/>
            <a:ext cx="10728655" cy="1417320"/>
          </a:xfrm>
          <a:prstGeom prst="rect">
            <a:avLst/>
          </a:prstGeom>
          <a:noFill/>
          <a:ln/>
        </p:spPr>
        <p:txBody>
          <a:bodyPr wrap="square" lIns="0" tIns="0" rIns="0" bIns="0" rtlCol="0" anchor="t"/>
          <a:lstStyle/>
          <a:p>
            <a:pPr indent="0" marL="0">
              <a:spcAft>
                <a:spcPts val="300"/>
              </a:spcAft>
              <a:buNone/>
            </a:pPr>
            <a:r>
              <a:rPr lang="en-US" sz="1300" b="1" dirty="0">
                <a:solidFill>
                  <a:srgbClr val="8F5208"/>
                </a:solidFill>
                <a:latin typeface="Malgun Gothic" pitchFamily="34" charset="0"/>
                <a:ea typeface="Malgun Gothic" pitchFamily="34" charset="-122"/>
                <a:cs typeface="Malgun Gothic" pitchFamily="34" charset="-120"/>
              </a:rPr>
              <a:t>원문 대조로 정정한 사항</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V3 표지의 ‘대중교통 5% 할인’ → 원문은 ‘5% 캐시백, 서비스 한도 월 1천원’. V4에서 정정했습니다 (V3 파일은 보존).</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BT BIG TICKET의 지난달 실적은 원문 표에 ‘없음’, 50만원 조건은 인천공항 라운지입니다 (card_scope_comparison_claude.md 기재와 다름).</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에너지 더블은 에너지 공과금 청구할인(40/80만원)도 지난달 실적 조건이 있어 영향 목록에 포함했습니다.</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STYLE 문서는 15650_20260429판 기준. 일부 조사 문서는 15650_20260316 링크를 인용하며, 두 판의 차이는 대조하지 않았습니다.</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판단 근거를 검증하는 카드 혜택 GraphRAG 엔진 — 하나카드 상품설명서 기반</dc:title>
  <dc:subject>PptxGenJS Presentation</dc:subject>
  <dc:creator>mle-02-p2-team3</dc:creator>
  <cp:lastModifiedBy>mle-02-p2-team3</cp:lastModifiedBy>
  <cp:revision>1</cp:revision>
  <dcterms:created xsi:type="dcterms:W3CDTF">2026-10-30T00:09:11Z</dcterms:created>
  <dcterms:modified xsi:type="dcterms:W3CDTF">2026-10-30T00:09:11Z</dcterms:modified>
</cp:coreProperties>
</file>