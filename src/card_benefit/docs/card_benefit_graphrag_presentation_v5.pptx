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4870dfe2-0157-1150-0c6e-405afbb72d82}">
          <p14:sldIdLst>
            <p14:sldId id="256"/>
            <p14:sldId id="257"/>
          </p14:sldIdLst>
        </p14:section>
        <p14:section name="문제" id="{ccb789c5-05af-430e-90a0-071148e94c42}">
          <p14:sldIdLst>
            <p14:sldId id="258"/>
            <p14:sldId id="259"/>
            <p14:sldId id="260"/>
          </p14:sldIdLst>
        </p14:section>
        <p14:section name="해결 구조" id="{6855f6b9-705a-e026-d1e0-d9287f34648c}">
          <p14:sldIdLst>
            <p14:sldId id="261"/>
            <p14:sldId id="262"/>
            <p14:sldId id="263"/>
          </p14:sldIdLst>
        </p14:section>
        <p14:section name="기술 선택과 검증" id="{480b9005-010e-abc3-2140-a053c095fca2}">
          <p14:sldIdLst>
            <p14:sldId id="264"/>
            <p14:sldId id="265"/>
          </p14:sldIdLst>
        </p14:section>
        <p14:section name="활용과 현황" id="{c36483b8-8e29-cd96-475b-06879da0b83c}">
          <p14:sldIdLst>
            <p14:sldId id="266"/>
            <p14:sldId id="267"/>
          </p14:sldIdLst>
        </p14:section>
        <p14:section name="결론" id="{d1e1a8de-5073-3a44-bb6b-9362b0ca052f}">
          <p14:sldIdLst>
            <p14:sldId id="268"/>
          </p14:sldIdLst>
        </p14:section>
        <p14:section name="부록" id="{a3f2a0f3-e87a-4930-eb8a-6606381f5792}">
          <p14:sldIdLst>
            <p14:sldId id="269"/>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고객이 AI에게 이렇게 묻습니다. ONE PICK STYLE 카드의 대중교통 캐시백 조건이 뭐예요? AI는 대답을 잘 합니다. 그런데 그 대답의 내용, 즉 캐시백 조건과 근거는 어디에서 와야 할까요. 저희는 카드사의 공식 상품정보에서 와야 한다고 봅니다. 외부 AI가 필요할 때 카드사의 공식 정보를 조회하고, 카드사는 혜택과 조건, 약관 근거를 돌려주는 구조입니다. 이때 연결 방식으로 MCP 같은 도구 연결을 쓸 수 있습니다. 저희 프로젝트는 이 구조를 하나카드 공식 상품설명서로 설계하고 검증하는 것입니다. 다만 아직 구현 전인 제안 구조이고, 외부 AI가 이 정보를 실제로 조회할지, 최종 답을 어떻게 만들지는 외부 AI가 정합니다. 그렇다면 이런 일이 실제로 일어나고 있을까요?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실제로 이런 일이 시작됐습니다. 2026년 9월 13일 신한카드는 카드사 최초로 ChatGPT for Kakao와 연계한 AI 대화형 금융 서비스를 발표했습니다. 카카오의 PlayMCP 기반 카카오 툴즈에 신한카드 서비스를 연동해, 고객이 신한카드 툴을 추가하면 대화로 카드 추천과 상세혜택 조회를 할 수 있습니다. 나흘 전 9월 9일에는 최적의 금융상품을 추천하고 선택하는 AI 개발을 발표했는데, 여기서 기존 생성형 AI의 한계로 엉뚱한 답변과 정보 왜곡, 일관성 부족, 복합 조건 누락, 정책·규정 미반영을 꼽았습니다. 두 발표는 서로 다른 발표이고, 내부적으로 연결됐는지, GraphRAG를 쓰는지는 공식 자료에 없습니다. 다른 카드사나 은행의 현황도 확인하지 않았습니다. 저희가 이 사례에서 가져오는 것은 하나입니다. 카드사의 공식 상품정보를 외부 AI에 연결하는 실제 서비스가 등장하고 있다는 것입니다. 그렇다면 연결만 하면 복잡한 카드 혜택을 정확하게 안내할 수 있을까요?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하나카드 ONE PICK STYLE의 대중교통 혜택입니다. 고객이 기억하는 건 대중교통 5% 캐시백, 이 한 줄입니다. 그런데 원문을 보면 조건이 붙어 있습니다. 하나씩 보겠습니다. 첫째, 지난달 국내외 일시불 이용금액이 10만원 이상이어야 합니다. 둘째, 캐시백은 월 최대 1,000원까지입니다. 셋째, 시외버스와 고속버스, KTX·SRT·ITX 같은 철도는 캐시백에서 빠집니다. 넷째, 상품권이나 기프트카드 구매, 공과금 등은 지난달 실적 계산에 들어가지 않습니다. 다섯째, 예외가 있습니다. 카드를 처음 사용 등록한 날부터 다음 달 말일까지는 실적이 10만원이 안 돼도 제공합니다. 한 줄 뒤에 조건이 다섯 개이고, 잘 보시면 이 조건들이 걸리는 위치가 다릅니다. 셋째는 혜택 자체에 걸리고, 넷째는 실적 계산에 걸립니다. 그렇다면 같은 제외 조건이 서로 다른 곳에 걸리는 경우도 있을까요?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상품권 하나만 따라가 보겠습니다. STYLE 원문에서 상품권은 두 군데에 나옵니다. 하나는 실적 제외 대상입니다. 상품권으로 쓴 돈은 지난달 10만원 계산에 들어가지 않습니다. 다른 하나는 서비스 제외 대상입니다. 상품권 결제 자체에는 캐시백이나 할인이 적용되지 않습니다. 같은 단어인데 걸리는 곳이 다릅니다. 아래 표처럼 원문을 대조한 4종 모두 상품권이 실적 산정에서 빠지지만, 혜택에서 빠지는 범위는 상품마다 다릅니다. STYLE·PLAY는 서비스 공통, BT는 BIG TICKET 할인, 에너지 더블은 대형마트 할인입니다. ‘상품권’으로 검색하면 이 문구들이 다 나옵니다. 하지만 어느 문구가 실적에, 어느 문구가 혜택에 걸리는지는 문맥과 표 구조를 함께 봐야 알 수 있습니다. 공정하게 말씀드리면 벡터 RAG나 SQL도 이 범위를 데이터로 저장해 두면 구분할 수 있습니다. 결국 관건은 그 범위를 PDF에서 정확히 뽑아내는 일입니다. 그렇다면 PDF에서 조건을 추출하면 관계까지 보존될까요?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그렇다면 PDF에서 조건을 뽑으면 관계가 남을까요. 저희가 실제로 해 봤습니다. 왼쪽은 BT 카드 BIG TICKET 혜택의 원문 표를 단순화한 그림입니다. 이용금액 구간마다 할인율이 한 행씩 있고, 한도가 구간별로 대응합니다. 오른쪽은 pdfplumber 기본 옵션으로 표를 뽑은 결과입니다. 할인율 네 개가 한 셀에 묶여 나오고, 어느 구간의 할인율인지 알려 주는 이용금액 구간 열은 아예 사라졌습니다. 숫자는 다 읽혔는데 관계가 끊어진 것입니다. 같은 검증에서 STYLE과 PLAY는 표가 하나도 탐지되지 않았고, 에너지 더블은 가맹점 열이 비어서 나왔습니다. 또 월 5천원이라는 값이 혜택 세 곳에 반복돼 숫자만으로는 어느 혜택의 한도인지 알 수 없습니다. 아래 점선 상자는 아직 확인하지 않은 예상 위험입니다. 공정하게 말씀드리면 이건 기본 설정의 표본 결과이고, 파서 설정이나 OCR, 수작업 보정으로 달라질 수 있습니다. 중요한 것은 추출한 조건을 원문과 대조하고, 관계를 따라갈 수 있는 구조로 저장해야 한다는 점입니다. 어떤 구조여야 할까요?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저희가 설계한 구조입니다. 위쪽은 문서를 그래프로 만드는 과정입니다. 하나카드 공식 PDF를 원문 위치를 남기며 나누고, LLM이 혜택과 조건의 관계를 뽑아 표기를 맞추고, 사람이 원문과 대조해 검수한 다음 Neo4j에 관계로 저장합니다. 아래쪽이 GraphRAG입니다. GraphRAG는 그래프에서 찾은 관계와 원문 근거를 LLM의 답변에 넣는 방식입니다. 질문이 들어오면 LLM이 무엇을 묻는지 해석하고, 그래프에서 관련 관계와 근거를 검색하고, 그 검색 결과를 바탕으로 답합니다. Neo4j에 저장만 해서는 GraphRAG가 아니라는 점을 강조드립니다. 아래 그림이 3장 사례를 그래프로 그린 모습입니다. STYLE 카드에서 ONE MORE 대중교통 혜택, 그 혜택이 요구하는 지난달 10만원 실적 조건, 그 조건이 상품권을 실적에서 제외한다는 규칙, 그리고 그 규칙이 나온 상품설명서 1쪽까지 하나의 경로로 이어집니다. 아직 설계 단계입니다. 이렇게 연결하면 어떤 결과를 줄 수 있을까요?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장면입니다. ONE PICK STYLE 대중교통 캐시백의 전월실적 조건을 물으면, 답은 이렇게 돌아와야 합니다. 공식 혜택은 버스·지하철 5% 캐시백, 실적 기준은 지난달 국내외 일시불 10만원 이상, 한도는 월 최대 1,000원, 제외 대상은 혜택에서 빠지는 시외·고속버스와 철도, 실적에서 빠지는 상품권 등이고, 신규 예외까지 함께 나옵니다. 그리고 오른쪽처럼 이 내용이 상품설명서 1쪽의 어느 부분에서 나왔는지가 같이 붙습니다. 이 화면은 구현 후 얻으려는 출력 예시이고, 값은 저희가 원문과 손으로 대조한 것입니다. 한 가지 분명히 할 점이 있습니다. 저희는 이 고객이 이번 달 캐시백을 받는지는 판단하지 않습니다. 개인의 실적이나 등록일, 결제 기록은 쓰지 않습니다. 저희가 말하는 판단은 공식 약관의 조건과 적용 범위를 분석하는 것입니다. 그렇다면 관계를 이용하면 조회 말고 무엇을 더 할 수 있을까요?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관계를 반대 방향으로 따라가 보겠습니다. 가상으로 상품권 구매의 실적 제외 조항이 바뀐다고 해 보겠습니다. 상품권 구매라는 대상에서 출발해, 그 대상을 언급하는 카드별 실적 제외 규칙을 찾고, 그 규칙이 붙은 실적 조건을 요구하는 혜택까지 따라가면 다시 검토할 혜택 후보가 나옵니다. 원문 대조한 4종에서는 STYLE과 PLAY의 대중교통·놀이공원, BT의 공항 라운지, 에너지 더블의 공과금·일상생활 할인입니다. 반대로 실적 조건이 없는 ONE PICK 영역이나 BIG TICKET은 후보에서 빠집니다. 여기서 중요한 설계 원칙이 있습니다. 상품권이라는 대상을 공통으로 연결한다고 해서 카드마다 정책이 같은 것은 아닙니다. 그래서 규칙은 카드별로 따로 저장하고, 적용 범위와 원문 문서 판도 각각 남깁니다. 그리고 이 결과는 자동으로 정책을 바꾸는 목록이 아니라 사람이 검토할 영향 후보입니다. 그런데 이런 조회는 SQL로도 할 수 있지 않을까요?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가장 중요한 질문입니다. SQL로도 되지 않나요? 됩니다. 일반 벡터 RAG도 원문을 찾아 근거를 보여 줄 수 있고, PostgreSQL도 관계 테이블과 JOIN, 재귀 CTE로 조건과 영향 범위를 분석할 수 있습니다. 그래서 이 표는 무엇이 되고 안 되는지를 비교하는 표가 아닙니다. 같은 일을 어떤 방식으로 표현하고 탐색하느냐의 차이입니다. 그래프는 관계 유형과 여러 단계, 역방향 경로를 명시적으로 표현하는 데 편할 가능성이 있습니다. 대신 인프라와 온톨로지 관리 부담이 큽니다. SQL은 저희 팀이 익숙하고 테이블 설계 초안도 있습니다. 어느 쪽이 더 정확하거나 효율적인지는 실제로 비교해 봐야 압니다. 그래서 같은 파일럿 질문을 세 방식에 넣어 비교할 계획입니다. 이 프로젝트는 복잡한 카드 혜택 관계를 그래프로 표현하고 탐색하는 방법을 검증합니다. SQL 대비 우위는 실제 비교 전에 단정하지 않습니다. 그렇다면 그래프에서 찾은 조건과 AI의 답변은 어떻게 검증할까요?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검증은 한 번에 하지 않고 네 단계로 나눕니다. 원문 PDF, 거기서 뽑아 정리한 관계, 그래프에서 검색한 결과, 그리고 LLM이 만든 답변입니다. 단계마다 생길 수 있는 오류가 다릅니다. 원문 단계에서는 5장에서 본 것처럼 표가 잘못 추출될 수 있고, 관계 단계에서는 상품권의 실적 제외처럼 조건이 빠지거나 적용 범위가 섞일 수 있습니다. 검색 단계에서는 다른 혜택의 조항을 잘못 붙일 수 있고, 답변 단계에서는 근거에 없는 조건을 덧붙일 수 있습니다. 그래서 단계마다 대조하는 대상을 따로 정합니다. 이걸 가능하게 하는 것이 실행 기록입니다. 저희 시스템에서 실행한 경우 질문, 실행한 쿼리, 돌려준 조건과 조항, 생성한 답변, 모델과 데이터 버전을 남길 수 있습니다. 쿼리 로그 포매터는 이미 구현돼 있고, 기록을 저장하는 구조는 설계 단계입니다. 한 가지 한계가 있습니다. 외부 AI가 고객에게 최종적으로 한 답은 카드사의 MCP 호출 로그만으로는 검증할 수 없습니다. 그 답변을 따로 확보한 경우에만 나중에 대조할 수 있습니다. 그렇다면 이 조회 기능을 여러 AI가 쓰게 하려면 어떻게 해야 할까요?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1장의 구조로 돌아갑니다. MCP는 신한카드 보도자료의 표현대로, AI가 외부 서비스와 연결돼 데이터를 주고받게 하는 표준 방식입니다. 저희 구조에서 MCP는 판단을 하지 않습니다. 외부 AI나 로컬 AI 클라이언트는 MCP 서버를, 자사 시스템은 내부 API를 통해 같은 GraphRAG 엔진을 부르고, 엔진은 공식 혜택과 조건, 원문 근거를 돌려줍니다. 판단 로직이 엔진 한 곳에만 있기 때문에 어느 AI가 묻든 같은 공식 정보가 나갑니다. 구현할 도구는 카드별 혜택·조건·근거를 돌려주는 도구가 필수이고, 영향 후보를 찾는 도구는 여유가 있으면 만듭니다. 시연 목표는 로컬 AI 클라이언트로 MCP 도구를 불렀을 때의 결과가 Neo4j Browser에서 같은 Cypher를 실행한 결과와 같은지 확인하는 것입니다. 카카오 같은 외부 플랫폼과 실제로 연동하는 것은 범위 밖입니다. 그리고 카드사가 확인할 수 있는 범위는 공급한 조건과 근거, 호출 기록까지이고, 외부 AI의 최종 답변은 따로 확보해야 대조할 수 있습니다. 그렇다면 지금 저희는 어디까지 와 있을까요?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지금까지 말씀드린 것 중 무엇이 실제로 된 것인지 구분하겠습니다. 원문 확인한 것은 하나카드 4종의 상품설명서 대조, PDF 추출 표본 검증, 신한 발표 재확인입니다. 약 10종은 목표이고 아직 선정 전입니다. 구현된 것은 PostgreSQL 카드 상품 등록·조회 프로그램과 단위 테스트, 그리고 팀 공통 기반인 DB·Neo4j 연결, 쿼리 로그 포매터, PDF 페이지 텍스트 읽기입니다. graph_rag_sample은 참고 구현이고 카드 도메인 코드가 아닙니다. 설계만 된 것은 그래프 스키마, 추출·검증 테이블 초안, MCP 도구안, 검증 기준입니다. 앞으로 할 일은 과제가 요구하는 대로 파일 기반과 DB 기반 두 파이프라인으로 각자 추출해 결과를 비교하고, Neo4j에 적재해 Cypher로 탐색하고, 근거 기반 답변과 MCP 도구 하나를 만든 뒤 파일럿 질문으로 검증하는 것입니다. 2인 팀이라 대표 4종을 먼저 끝내고, 여력이 있으면 10종으로 넓힙니다. 그렇다면 이것이 완성되면 어떤 의미가 있을까요?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처음 질문으로 돌아가겠습니다. 고객이 AI에게 카드 혜택을 물으면, 공식 정보는 어디에서 와야 할까요. 저희의 답은 이것입니다. AI 채널이 달라져도, 카드사가 제공하는 공식 혜택 조건과 근거는 일관되게 관리할 수 있어야 합니다. 세 가지만 기억해 주십시오. 왜 필요한가. 카드사의 공식 정보를 외부 AI에 제공하기 위해서입니다. 왜 GraphRAG인가. 복잡한 혜택과 조건, 원문 근거의 관계를 구조화하고 탐색하는 방법을 검증하기 위해서입니다. 왜 MCP인가. 그렇게 만든 공식 조회 기능을 여러 AI 클라이언트에서 재사용하기 위해서입니다. 현재는 하나카드 4종의 원문 대조와 PDF 추출 검증, 기본 구현까지 왔고, 다음은 두 파이프라인 추출부터 MCP 도구까지입니다. SQL보다 낫다고 단정하지 않고, 같은 질문으로 비교해 확인하겠습니다.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과제 M0부터 M9까지와 두 독립 파이프라인의 현재 상태입니다. 원문 대조와 추출 표본 검증, 카드 등록 프로그램과 공통 기반까지가 완료이고, 나머지는 설계 또는 미구현입니다.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그래프 설계안입니다. 카드, 혜택, 실적 조건, 제외 규칙, 조항을 노드로 둡니다. 제외 규칙은 카드별로 따로 두고 적용 범위와 문서 판을 속성으로 남기며, 상품권 구매 같은 대상만 공통 개념 노드로 연결합니다. 모든 관계에 원문 위치와 문장을 붙입니다.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검증 계획입니다. 하나카드 4종의 약관에서 15~20개의 파일럿 질문을 만들고, 정답은 원문 조항을 기준으로 합니다. 세 방식에 같은 질문을 넣어 근거 정확도, 조건 누락, 적용 범위, 관계 추출 품질, 영향 후보의 정밀도와 재현율, 답변 일치, 개발 복잡도를 비교합니다. 초기 파일럿이라 일반적인 우위를 증명하지는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오답 원인 추적의 예시입니다. 가상 시나리오입니다. STYLE 대중교통 캐시백 실적에 상품권 구매도 포함되느냐고 물었는데 AI가 포함된다고 답했다고 하겠습니다. 원문에서 상품권은 실적 제외 대상입니다. 단계별 산출물을 원문과 대조하면, PDF 추출 단계에는 원문 문장이 있었지만 조건과 적용 범위를 추출하는 두 번째 단계에서 실적 제외 관계가 빠졌고, 그 오류가 검색과 답변까지 전파됐다는 것을 찾을 수 있습니다. 관계를 고치고 다시 적재한 뒤 같은 질문으로 재검증합니다.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원문 근거는 PDF 안에 있는 것이고, 실행 기록은 저희 시스템이 질문마다 실행하면서 남기는 것입니다. 외부 AI를 거치면 카드사가 기록할 수 있는 것은 공급한 내용까지이고, 최종 답변은 별도로 확보해야 대조할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질문입니다. 가장 먼저 나올 질문은 개인 혜택 여부와 SQL 비교일 것입니다. 개인 데이터는 쓰지 않고, SQL로도 가능하다고 인정한 뒤 비교 계획으로 답합니다.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출처와 검증 상태입니다. V5에서는 신한 9월 9일 발표 제목을 원제목으로 바꿨고, 개인 적격성 판단을 연상시키는 표현과 우열 기호 비교표를 삭제했습니다.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rtlCol="0"/>
          <a:lstStyle>
            <a:lvl1pPr indent="0" marL="0">
              <a:buNone/>
              <a:defRPr lang="en-US" sz="1200" b="1" dirty="0">
                <a:solidFill>
                  <a:srgbClr val="8F5208"/>
                </a:solidFill>
                <a:latin typeface="Malgun Gothic" pitchFamily="34" charset="0"/>
                <a:ea typeface="Malgun Gothic" pitchFamily="34" charset="-122"/>
                <a:cs typeface="Malgun Gothic" pitchFamily="34" charset="-120"/>
              </a:defRPr>
            </a:lvl1pPr>
          </a:lstStyle>
          <a:p>
            <a:pPr indent="0" marL="0">
              <a:buNone/>
            </a:pP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rtlCol="0"/>
          <a:lstStyle>
            <a:lvl1pPr algn="l" indent="0" marL="0">
              <a:buNone/>
              <a:defRPr lang="en-US" sz="2400" b="1" dirty="0">
                <a:solidFill>
                  <a:srgbClr val="0E1A2B"/>
                </a:solidFill>
                <a:latin typeface="Malgun Gothic" pitchFamily="34" charset="0"/>
                <a:ea typeface="Malgun Gothic" pitchFamily="34" charset="-122"/>
                <a:cs typeface="Malgun Gothic" pitchFamily="34" charset="-120"/>
              </a:defRPr>
            </a:lvl1pPr>
          </a:lstStyle>
          <a:p>
            <a:pPr algn="l" indent="0" marL="0">
              <a:buNone/>
            </a:pPr>
            <a:endParaRPr lang="en-US" sz="24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E1A2B"/>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7F96"/>
                </a:solidFill>
                <a:latin typeface="Malgun Gothic"/>
                <a:ea typeface="Malgun Gothic"/>
                <a:cs typeface="Malgun Gothic"/>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457200"/>
            <a:ext cx="10515600" cy="292608"/>
          </a:xfrm>
          <a:prstGeom prst="rect">
            <a:avLst/>
          </a:prstGeom>
          <a:noFill/>
          <a:ln/>
        </p:spPr>
        <p:txBody>
          <a:bodyPr wrap="square" lIns="0" tIns="0" rIns="0" bIns="0" rtlCol="0" anchor="t"/>
          <a:lstStyle/>
          <a:p>
            <a:pPr indent="0" marL="0">
              <a:buNone/>
            </a:pPr>
            <a:r>
              <a:rPr lang="en-US" sz="1300" dirty="0">
                <a:solidFill>
                  <a:srgbClr val="A9B7C9"/>
                </a:solidFill>
                <a:latin typeface="Malgun Gothic" pitchFamily="34" charset="0"/>
                <a:ea typeface="Malgun Gothic" pitchFamily="34" charset="-122"/>
                <a:cs typeface="Malgun Gothic" pitchFamily="34" charset="-120"/>
              </a:rPr>
              <a:t>하나카드 상품설명서 기반 GraphRAG  ·  카드 혜택 공식 정보 제공 구조  ·  2차 팀 프로젝트</a:t>
            </a:r>
            <a:endParaRPr lang="en-US" sz="1300" dirty="0"/>
          </a:p>
        </p:txBody>
      </p:sp>
      <p:sp>
        <p:nvSpPr>
          <p:cNvPr id="3" name="Text 1"/>
          <p:cNvSpPr txBox="1"/>
          <p:nvPr/>
        </p:nvSpPr>
        <p:spPr>
          <a:xfrm>
            <a:off x="640080" y="868680"/>
            <a:ext cx="10972800" cy="1325880"/>
          </a:xfrm>
          <a:prstGeom prst="rect">
            <a:avLst/>
          </a:prstGeom>
          <a:noFill/>
          <a:ln/>
        </p:spPr>
        <p:txBody>
          <a:bodyPr wrap="square" lIns="0" tIns="0" rIns="0" bIns="0" rtlCol="0" anchor="t"/>
          <a:lstStyle/>
          <a:p>
            <a:pPr indent="0" marL="0">
              <a:lnSpc>
                <a:spcPct val="105000"/>
              </a:lnSpc>
              <a:buNone/>
            </a:pPr>
            <a:r>
              <a:rPr lang="en-US" sz="3400" b="1" dirty="0">
                <a:solidFill>
                  <a:srgbClr val="FFFFFF"/>
                </a:solidFill>
                <a:latin typeface="Malgun Gothic" pitchFamily="34" charset="0"/>
                <a:ea typeface="Malgun Gothic" pitchFamily="34" charset="-122"/>
                <a:cs typeface="Malgun Gothic" pitchFamily="34" charset="-120"/>
              </a:rPr>
              <a:t>고객이 AI에게 카드 혜택을 물으면,</a:t>
            </a:r>
            <a:endParaRPr lang="en-US" sz="3400" dirty="0"/>
          </a:p>
          <a:p>
            <a:pPr indent="0" marL="0">
              <a:lnSpc>
                <a:spcPct val="105000"/>
              </a:lnSpc>
              <a:buNone/>
            </a:pPr>
            <a:r>
              <a:rPr lang="en-US" sz="3400" b="1" dirty="0">
                <a:solidFill>
                  <a:srgbClr val="E8A33D"/>
                </a:solidFill>
                <a:latin typeface="Malgun Gothic" pitchFamily="34" charset="0"/>
                <a:ea typeface="Malgun Gothic" pitchFamily="34" charset="-122"/>
                <a:cs typeface="Malgun Gothic" pitchFamily="34" charset="-120"/>
              </a:rPr>
              <a:t>공식 정보는 어디에서 올까요?</a:t>
            </a:r>
            <a:endParaRPr lang="en-US" sz="3400" dirty="0"/>
          </a:p>
        </p:txBody>
      </p:sp>
      <p:sp>
        <p:nvSpPr>
          <p:cNvPr id="4" name="Text 2"/>
          <p:cNvSpPr txBox="1"/>
          <p:nvPr/>
        </p:nvSpPr>
        <p:spPr>
          <a:xfrm>
            <a:off x="640080" y="2560320"/>
            <a:ext cx="3383280" cy="1417320"/>
          </a:xfrm>
          <a:prstGeom prst="roundRect">
            <a:avLst>
              <a:gd name="adj" fmla="val 10323"/>
            </a:avLst>
          </a:prstGeom>
          <a:solidFill>
            <a:srgbClr val="FFFFFF"/>
          </a:solidFill>
          <a:ln>
            <a:solidFill>
              <a:srgbClr val="FFFFFF"/>
            </a:solidFill>
          </a:ln>
        </p:spPr>
        <p:txBody>
          <a:bodyPr wrap="square" lIns="152400" tIns="152400" rIns="152400" bIns="152400" rtlCol="0" anchor="ctr"/>
          <a:lstStyle/>
          <a:p>
            <a:pPr algn="l" indent="0" marL="0">
              <a:buNone/>
            </a:pPr>
            <a:r>
              <a:rPr lang="en-US" sz="1100" b="1" dirty="0">
                <a:solidFill>
                  <a:srgbClr val="5B6778"/>
                </a:solidFill>
                <a:latin typeface="Malgun Gothic" pitchFamily="34" charset="0"/>
                <a:ea typeface="Malgun Gothic" pitchFamily="34" charset="-122"/>
                <a:cs typeface="Malgun Gothic" pitchFamily="34" charset="-120"/>
              </a:rPr>
              <a:t>고객</a:t>
            </a:r>
            <a:endParaRPr lang="en-US" sz="1300" dirty="0"/>
          </a:p>
          <a:p>
            <a:pPr algn="l" indent="0" marL="0">
              <a:buNone/>
            </a:pPr>
            <a:r>
              <a:rPr lang="en-US" sz="1600" b="1" dirty="0">
                <a:solidFill>
                  <a:srgbClr val="0E1A2B"/>
                </a:solidFill>
                <a:latin typeface="Malgun Gothic" pitchFamily="34" charset="0"/>
                <a:ea typeface="Malgun Gothic" pitchFamily="34" charset="-122"/>
                <a:cs typeface="Malgun Gothic" pitchFamily="34" charset="-120"/>
              </a:rPr>
              <a:t>ONE PICK STYLE 카드의 대중교통 캐시백 조건이 뭐예요?</a:t>
            </a:r>
            <a:endParaRPr lang="en-US" sz="1300" dirty="0"/>
          </a:p>
        </p:txBody>
      </p:sp>
      <p:sp>
        <p:nvSpPr>
          <p:cNvPr id="5" name="Shape 3"/>
          <p:cNvSpPr/>
          <p:nvPr/>
        </p:nvSpPr>
        <p:spPr>
          <a:xfrm>
            <a:off x="4069080" y="3273552"/>
            <a:ext cx="548640" cy="0"/>
          </a:xfrm>
          <a:prstGeom prst="line">
            <a:avLst/>
          </a:prstGeom>
          <a:noFill/>
          <a:ln w="19050">
            <a:solidFill>
              <a:srgbClr val="C9D3E0"/>
            </a:solidFill>
            <a:prstDash val="solid"/>
            <a:tailEnd type="triangle"/>
          </a:ln>
        </p:spPr>
      </p:sp>
      <p:sp>
        <p:nvSpPr>
          <p:cNvPr id="6" name="Text 4"/>
          <p:cNvSpPr txBox="1"/>
          <p:nvPr/>
        </p:nvSpPr>
        <p:spPr>
          <a:xfrm>
            <a:off x="3977640" y="2944368"/>
            <a:ext cx="731520" cy="237744"/>
          </a:xfrm>
          <a:prstGeom prst="rect">
            <a:avLst/>
          </a:prstGeom>
          <a:noFill/>
          <a:ln/>
        </p:spPr>
        <p:txBody>
          <a:bodyPr wrap="square" lIns="0" tIns="0" rIns="0" bIns="0" rtlCol="0" anchor="t"/>
          <a:lstStyle/>
          <a:p>
            <a:pPr algn="ctr" indent="0" marL="0">
              <a:buNone/>
            </a:pPr>
            <a:r>
              <a:rPr lang="en-US" sz="1100" dirty="0">
                <a:solidFill>
                  <a:srgbClr val="C9D3E0"/>
                </a:solidFill>
                <a:latin typeface="Malgun Gothic" pitchFamily="34" charset="0"/>
                <a:ea typeface="Malgun Gothic" pitchFamily="34" charset="-122"/>
                <a:cs typeface="Malgun Gothic" pitchFamily="34" charset="-120"/>
              </a:rPr>
              <a:t>질문</a:t>
            </a:r>
            <a:endParaRPr lang="en-US" sz="1100" dirty="0"/>
          </a:p>
        </p:txBody>
      </p:sp>
      <p:sp>
        <p:nvSpPr>
          <p:cNvPr id="7" name="Text 5"/>
          <p:cNvSpPr txBox="1"/>
          <p:nvPr/>
        </p:nvSpPr>
        <p:spPr>
          <a:xfrm>
            <a:off x="4663440" y="2560320"/>
            <a:ext cx="2423160" cy="1417320"/>
          </a:xfrm>
          <a:prstGeom prst="roundRect">
            <a:avLst>
              <a:gd name="adj" fmla="val 10323"/>
            </a:avLst>
          </a:prstGeom>
          <a:solidFill>
            <a:srgbClr val="3A4A60"/>
          </a:solidFill>
          <a:ln>
            <a:solidFill>
              <a:srgbClr val="3A4A60"/>
            </a:solidFill>
          </a:ln>
        </p:spPr>
        <p:txBody>
          <a:bodyPr wrap="square" lIns="76200" tIns="76200" rIns="76200" bIns="76200" rtlCol="0" anchor="ctr"/>
          <a:lstStyle/>
          <a:p>
            <a:pPr algn="ctr" indent="0" marL="0">
              <a:buNone/>
            </a:pPr>
            <a:r>
              <a:rPr lang="en-US" sz="1900" b="1" dirty="0">
                <a:solidFill>
                  <a:srgbClr val="FFFFFF"/>
                </a:solidFill>
                <a:latin typeface="Malgun Gothic" pitchFamily="34" charset="0"/>
                <a:ea typeface="Malgun Gothic" pitchFamily="34" charset="-122"/>
                <a:cs typeface="Malgun Gothic" pitchFamily="34" charset="-120"/>
              </a:rPr>
              <a:t>외부 AI</a:t>
            </a:r>
            <a:endParaRPr lang="en-US" sz="1300" dirty="0"/>
          </a:p>
          <a:p>
            <a:pPr algn="ctr" indent="0" marL="0">
              <a:buNone/>
            </a:pPr>
            <a:r>
              <a:rPr lang="en-US" sz="1200" dirty="0">
                <a:solidFill>
                  <a:srgbClr val="D5DEEA"/>
                </a:solidFill>
                <a:latin typeface="Malgun Gothic" pitchFamily="34" charset="0"/>
                <a:ea typeface="Malgun Gothic" pitchFamily="34" charset="-122"/>
                <a:cs typeface="Malgun Gothic" pitchFamily="34" charset="-120"/>
              </a:rPr>
              <a:t>고객과 대화 · 답변 구성</a:t>
            </a:r>
            <a:endParaRPr lang="en-US" sz="1300" dirty="0"/>
          </a:p>
        </p:txBody>
      </p:sp>
      <p:sp>
        <p:nvSpPr>
          <p:cNvPr id="8" name="Shape 6"/>
          <p:cNvSpPr/>
          <p:nvPr/>
        </p:nvSpPr>
        <p:spPr>
          <a:xfrm>
            <a:off x="7132320" y="3017520"/>
            <a:ext cx="1097280" cy="0"/>
          </a:xfrm>
          <a:prstGeom prst="line">
            <a:avLst/>
          </a:prstGeom>
          <a:noFill/>
          <a:ln w="19050">
            <a:solidFill>
              <a:srgbClr val="C9D3E0"/>
            </a:solidFill>
            <a:prstDash val="solid"/>
            <a:tailEnd type="triangle"/>
          </a:ln>
        </p:spPr>
      </p:sp>
      <p:sp>
        <p:nvSpPr>
          <p:cNvPr id="9" name="Text 7"/>
          <p:cNvSpPr txBox="1"/>
          <p:nvPr/>
        </p:nvSpPr>
        <p:spPr>
          <a:xfrm>
            <a:off x="7086600" y="2688336"/>
            <a:ext cx="1188720" cy="237744"/>
          </a:xfrm>
          <a:prstGeom prst="rect">
            <a:avLst/>
          </a:prstGeom>
          <a:noFill/>
          <a:ln/>
        </p:spPr>
        <p:txBody>
          <a:bodyPr wrap="square" lIns="0" tIns="0" rIns="0" bIns="0" rtlCol="0" anchor="t"/>
          <a:lstStyle/>
          <a:p>
            <a:pPr algn="ctr" indent="0" marL="0">
              <a:buNone/>
            </a:pPr>
            <a:r>
              <a:rPr lang="en-US" sz="1000" dirty="0">
                <a:solidFill>
                  <a:srgbClr val="C9D3E0"/>
                </a:solidFill>
                <a:latin typeface="Malgun Gothic" pitchFamily="34" charset="0"/>
                <a:ea typeface="Malgun Gothic" pitchFamily="34" charset="-122"/>
                <a:cs typeface="Malgun Gothic" pitchFamily="34" charset="-120"/>
              </a:rPr>
              <a:t>조회 (예: MCP)</a:t>
            </a:r>
            <a:endParaRPr lang="en-US" sz="1000" dirty="0"/>
          </a:p>
        </p:txBody>
      </p:sp>
      <p:sp>
        <p:nvSpPr>
          <p:cNvPr id="10" name="Shape 8"/>
          <p:cNvSpPr/>
          <p:nvPr/>
        </p:nvSpPr>
        <p:spPr>
          <a:xfrm flipH="1">
            <a:off x="7132320" y="3520440"/>
            <a:ext cx="1097280" cy="0"/>
          </a:xfrm>
          <a:prstGeom prst="line">
            <a:avLst/>
          </a:prstGeom>
          <a:noFill/>
          <a:ln w="19050">
            <a:solidFill>
              <a:srgbClr val="E8A33D"/>
            </a:solidFill>
            <a:prstDash val="solid"/>
            <a:tailEnd type="triangle"/>
          </a:ln>
        </p:spPr>
      </p:sp>
      <p:sp>
        <p:nvSpPr>
          <p:cNvPr id="11" name="Text 9"/>
          <p:cNvSpPr txBox="1"/>
          <p:nvPr/>
        </p:nvSpPr>
        <p:spPr>
          <a:xfrm>
            <a:off x="7086600" y="3611880"/>
            <a:ext cx="1188720" cy="237744"/>
          </a:xfrm>
          <a:prstGeom prst="rect">
            <a:avLst/>
          </a:prstGeom>
          <a:noFill/>
          <a:ln/>
        </p:spPr>
        <p:txBody>
          <a:bodyPr wrap="square" lIns="0" tIns="0" rIns="0" bIns="0" rtlCol="0" anchor="t"/>
          <a:lstStyle/>
          <a:p>
            <a:pPr algn="ctr" indent="0" marL="0">
              <a:buNone/>
            </a:pPr>
            <a:r>
              <a:rPr lang="en-US" sz="1000" dirty="0">
                <a:solidFill>
                  <a:srgbClr val="E8A33D"/>
                </a:solidFill>
                <a:latin typeface="Malgun Gothic" pitchFamily="34" charset="0"/>
                <a:ea typeface="Malgun Gothic" pitchFamily="34" charset="-122"/>
                <a:cs typeface="Malgun Gothic" pitchFamily="34" charset="-120"/>
              </a:rPr>
              <a:t>공식 조건·근거</a:t>
            </a:r>
            <a:endParaRPr lang="en-US" sz="1000" dirty="0"/>
          </a:p>
        </p:txBody>
      </p:sp>
      <p:sp>
        <p:nvSpPr>
          <p:cNvPr id="12" name="Text 10"/>
          <p:cNvSpPr txBox="1"/>
          <p:nvPr/>
        </p:nvSpPr>
        <p:spPr>
          <a:xfrm>
            <a:off x="8275320" y="2487168"/>
            <a:ext cx="3364992" cy="1563624"/>
          </a:xfrm>
          <a:prstGeom prst="roundRect">
            <a:avLst>
              <a:gd name="adj" fmla="val 9357"/>
            </a:avLst>
          </a:prstGeom>
          <a:solidFill>
            <a:srgbClr val="159A8C"/>
          </a:solidFill>
          <a:ln>
            <a:solidFill>
              <a:srgbClr val="159A8C"/>
            </a:solidFill>
          </a:ln>
        </p:spPr>
        <p:txBody>
          <a:bodyPr wrap="square" lIns="76200" tIns="76200" rIns="76200" bIns="7620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카드사 공식 상품정보</a:t>
            </a:r>
            <a:endParaRPr lang="en-US" sz="1300" dirty="0"/>
          </a:p>
          <a:p>
            <a:pPr algn="ctr" indent="0" marL="0">
              <a:buNone/>
            </a:pPr>
            <a:r>
              <a:rPr lang="en-US" sz="1400" dirty="0">
                <a:solidFill>
                  <a:srgbClr val="FFFFFF"/>
                </a:solidFill>
                <a:latin typeface="Malgun Gothic" pitchFamily="34" charset="0"/>
                <a:ea typeface="Malgun Gothic" pitchFamily="34" charset="-122"/>
                <a:cs typeface="Malgun Gothic" pitchFamily="34" charset="-120"/>
              </a:rPr>
              <a:t>카드 혜택 · 조건 · 약관 근거</a:t>
            </a:r>
            <a:endParaRPr lang="en-US" sz="1300" dirty="0"/>
          </a:p>
          <a:p>
            <a:pPr algn="ctr" indent="0" marL="0">
              <a:buNone/>
            </a:pPr>
            <a:r>
              <a:rPr lang="en-US" sz="1000" dirty="0">
                <a:solidFill>
                  <a:srgbClr val="CDEFEA"/>
                </a:solidFill>
                <a:latin typeface="Malgun Gothic" pitchFamily="34" charset="0"/>
                <a:ea typeface="Malgun Gothic" pitchFamily="34" charset="-122"/>
                <a:cs typeface="Malgun Gothic" pitchFamily="34" charset="-120"/>
              </a:rPr>
              <a:t>하나카드 상품설명서 기반 · 제안 구조</a:t>
            </a:r>
            <a:endParaRPr lang="en-US" sz="1300" dirty="0"/>
          </a:p>
        </p:txBody>
      </p:sp>
      <p:sp>
        <p:nvSpPr>
          <p:cNvPr id="13" name="Text 11"/>
          <p:cNvSpPr txBox="1"/>
          <p:nvPr/>
        </p:nvSpPr>
        <p:spPr>
          <a:xfrm>
            <a:off x="640080" y="4297680"/>
            <a:ext cx="10972800" cy="685800"/>
          </a:xfrm>
          <a:prstGeom prst="rect">
            <a:avLst/>
          </a:prstGeom>
          <a:noFill/>
          <a:ln/>
        </p:spPr>
        <p:txBody>
          <a:bodyPr wrap="square" lIns="0" tIns="0" rIns="0" bIns="0" rtlCol="0" anchor="t"/>
          <a:lstStyle/>
          <a:p>
            <a:pPr indent="0" marL="0">
              <a:lnSpc>
                <a:spcPct val="110000"/>
              </a:lnSpc>
              <a:buNone/>
            </a:pPr>
            <a:r>
              <a:rPr lang="en-US" sz="1700" b="1" dirty="0">
                <a:solidFill>
                  <a:srgbClr val="E8A33D"/>
                </a:solidFill>
                <a:latin typeface="Malgun Gothic" pitchFamily="34" charset="0"/>
                <a:ea typeface="Malgun Gothic" pitchFamily="34" charset="-122"/>
                <a:cs typeface="Malgun Gothic" pitchFamily="34" charset="-120"/>
              </a:rPr>
              <a:t>이 프로젝트  </a:t>
            </a:r>
            <a:pPr indent="0" marL="0">
              <a:lnSpc>
                <a:spcPct val="110000"/>
              </a:lnSpc>
              <a:buNone/>
            </a:pPr>
            <a:r>
              <a:rPr lang="en-US" sz="1700" dirty="0">
                <a:solidFill>
                  <a:srgbClr val="FFFFFF"/>
                </a:solidFill>
                <a:latin typeface="Malgun Gothic" pitchFamily="34" charset="0"/>
                <a:ea typeface="Malgun Gothic" pitchFamily="34" charset="-122"/>
                <a:cs typeface="Malgun Gothic" pitchFamily="34" charset="-120"/>
              </a:rPr>
              <a:t>카드사가 외부 AI에 공식 카드 혜택·조건·약관 근거를 제공하는 구조를, 하나카드 공식 상품설명서로 설계하고 검증합니다.</a:t>
            </a:r>
            <a:endParaRPr lang="en-US" sz="1700" dirty="0"/>
          </a:p>
        </p:txBody>
      </p:sp>
      <p:sp>
        <p:nvSpPr>
          <p:cNvPr id="14" name="Text 12"/>
          <p:cNvSpPr txBox="1"/>
          <p:nvPr/>
        </p:nvSpPr>
        <p:spPr>
          <a:xfrm>
            <a:off x="640080" y="5193792"/>
            <a:ext cx="11000232" cy="502920"/>
          </a:xfrm>
          <a:prstGeom prst="roundRect">
            <a:avLst>
              <a:gd name="adj" fmla="val 18182"/>
            </a:avLst>
          </a:prstGeom>
          <a:solidFill>
            <a:srgbClr val="1F3350"/>
          </a:solidFill>
          <a:ln w="12700">
            <a:solidFill>
              <a:srgbClr val="E8A33D"/>
            </a:solidFill>
          </a:ln>
        </p:spPr>
        <p:txBody>
          <a:bodyPr wrap="square" lIns="177800" tIns="177800" rIns="177800" bIns="177800" rtlCol="0" anchor="ctr"/>
          <a:lstStyle/>
          <a:p>
            <a:pPr algn="l" indent="0" marL="0">
              <a:buNone/>
            </a:pPr>
            <a:r>
              <a:rPr lang="en-US" sz="1500" b="1" dirty="0">
                <a:solidFill>
                  <a:srgbClr val="E8A33D"/>
                </a:solidFill>
                <a:latin typeface="Malgun Gothic" pitchFamily="34" charset="0"/>
                <a:ea typeface="Malgun Gothic" pitchFamily="34" charset="-122"/>
                <a:cs typeface="Malgun Gothic" pitchFamily="34" charset="-120"/>
              </a:rPr>
              <a:t>다음 질문  </a:t>
            </a:r>
            <a:pPr algn="l" indent="0" marL="0">
              <a:buNone/>
            </a:pPr>
            <a:r>
              <a:rPr lang="en-US" sz="1500" b="1" dirty="0">
                <a:solidFill>
                  <a:srgbClr val="FFFFFF"/>
                </a:solidFill>
                <a:latin typeface="Malgun Gothic" pitchFamily="34" charset="0"/>
                <a:ea typeface="Malgun Gothic" pitchFamily="34" charset="-122"/>
                <a:cs typeface="Malgun Gothic" pitchFamily="34" charset="-120"/>
              </a:rPr>
              <a:t>그런데 카드사가 실제로 외부 AI에 공식 상품정보를 제공하는 사례가 있을까요?</a:t>
            </a:r>
            <a:endParaRPr lang="en-US" sz="1500" dirty="0"/>
          </a:p>
        </p:txBody>
      </p:sp>
      <p:sp>
        <p:nvSpPr>
          <p:cNvPr id="15" name="Text 13"/>
          <p:cNvSpPr txBox="1"/>
          <p:nvPr/>
        </p:nvSpPr>
        <p:spPr>
          <a:xfrm>
            <a:off x="640080" y="5852160"/>
            <a:ext cx="10515600" cy="256032"/>
          </a:xfrm>
          <a:prstGeom prst="rect">
            <a:avLst/>
          </a:prstGeom>
          <a:noFill/>
          <a:ln/>
        </p:spPr>
        <p:txBody>
          <a:bodyPr wrap="square" lIns="0" tIns="0" rIns="0" bIns="0" rtlCol="0" anchor="t"/>
          <a:lstStyle/>
          <a:p>
            <a:pPr indent="0" marL="0">
              <a:buNone/>
            </a:pPr>
            <a:r>
              <a:rPr lang="en-US" sz="1000" dirty="0">
                <a:solidFill>
                  <a:srgbClr val="7F8FA6"/>
                </a:solidFill>
                <a:latin typeface="Malgun Gothic" pitchFamily="34" charset="0"/>
                <a:ea typeface="Malgun Gothic" pitchFamily="34" charset="-122"/>
                <a:cs typeface="Malgun Gothic" pitchFamily="34" charset="-120"/>
              </a:rPr>
              <a:t>제안 구조 · GraphRAG 엔진·MCP 미구현 · 외부 AI의 도구 호출 여부와 최종 답변은 외부 AI가 결정 · 실제 플랫폼 연동 없음</a:t>
            </a:r>
            <a:endParaRPr lang="en-US" sz="1000" dirty="0"/>
          </a:p>
        </p:txBody>
      </p:sp>
      <p:sp>
        <p:nvSpPr>
          <p:cNvPr id="16" name="Text 14"/>
          <p:cNvSpPr txBox="1"/>
          <p:nvPr/>
        </p:nvSpPr>
        <p:spPr>
          <a:xfrm>
            <a:off x="640080" y="6263640"/>
            <a:ext cx="5486400" cy="256032"/>
          </a:xfrm>
          <a:prstGeom prst="rect">
            <a:avLst/>
          </a:prstGeom>
          <a:noFill/>
          <a:ln/>
        </p:spPr>
        <p:txBody>
          <a:bodyPr wrap="square" lIns="0" tIns="0" rIns="0" bIns="0" rtlCol="0" anchor="t"/>
          <a:lstStyle/>
          <a:p>
            <a:pPr indent="0" marL="0">
              <a:buNone/>
            </a:pPr>
            <a:r>
              <a:rPr lang="en-US" sz="1100" dirty="0">
                <a:solidFill>
                  <a:srgbClr val="7F8FA6"/>
                </a:solidFill>
                <a:latin typeface="Malgun Gothic" pitchFamily="34" charset="0"/>
                <a:ea typeface="Malgun Gothic" pitchFamily="34" charset="-122"/>
                <a:cs typeface="Malgun Gothic" pitchFamily="34" charset="-120"/>
              </a:rPr>
              <a:t>mle-02-p2-team3  ·  2026.10</a:t>
            </a:r>
            <a:endParaRPr lang="en-US" sz="11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7F96"/>
                </a:solidFill>
                <a:latin typeface="Malgun Gothic"/>
                <a:ea typeface="Malgun Gothic"/>
                <a:cs typeface="Malgun Gothic"/>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01   실제 사례</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카드사 공식 정보를 외부 AI에 연결하는 서비스가 등장했습니다</a:t>
            </a:r>
            <a:endParaRPr lang="en-US" sz="2400" dirty="0"/>
          </a:p>
        </p:txBody>
      </p:sp>
      <p:sp>
        <p:nvSpPr>
          <p:cNvPr id="4" name="Text 2"/>
          <p:cNvSpPr txBox="1"/>
          <p:nvPr/>
        </p:nvSpPr>
        <p:spPr>
          <a:xfrm>
            <a:off x="10509199" y="329184"/>
            <a:ext cx="113385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공식 발표 확인</a:t>
            </a:r>
            <a:endParaRPr lang="en-US" sz="1100" dirty="0"/>
          </a:p>
        </p:txBody>
      </p:sp>
      <p:sp>
        <p:nvSpPr>
          <p:cNvPr id="5" name="Shape 3"/>
          <p:cNvSpPr/>
          <p:nvPr/>
        </p:nvSpPr>
        <p:spPr>
          <a:xfrm>
            <a:off x="548640" y="1691640"/>
            <a:ext cx="5440680" cy="3017520"/>
          </a:xfrm>
          <a:prstGeom prst="roundRect">
            <a:avLst>
              <a:gd name="adj" fmla="val 3030"/>
            </a:avLst>
          </a:prstGeom>
          <a:solidFill>
            <a:srgbClr val="F3F5F8"/>
          </a:solidFill>
          <a:ln w="9525">
            <a:solidFill>
              <a:srgbClr val="F3F5F8"/>
            </a:solidFill>
            <a:prstDash val="solid"/>
          </a:ln>
        </p:spPr>
      </p:sp>
      <p:sp>
        <p:nvSpPr>
          <p:cNvPr id="6" name="Text 4"/>
          <p:cNvSpPr txBox="1"/>
          <p:nvPr/>
        </p:nvSpPr>
        <p:spPr>
          <a:xfrm>
            <a:off x="777240" y="1810512"/>
            <a:ext cx="5029200" cy="256032"/>
          </a:xfrm>
          <a:prstGeom prst="rect">
            <a:avLst/>
          </a:prstGeom>
          <a:noFill/>
          <a:ln/>
        </p:spPr>
        <p:txBody>
          <a:bodyPr wrap="square" lIns="0" tIns="0" rIns="0" bIns="0" rtlCol="0" anchor="t"/>
          <a:lstStyle/>
          <a:p>
            <a:pPr indent="0" marL="0">
              <a:buNone/>
            </a:pPr>
            <a:r>
              <a:rPr lang="en-US" sz="1200" b="1" dirty="0">
                <a:solidFill>
                  <a:srgbClr val="5B6778"/>
                </a:solidFill>
                <a:latin typeface="Malgun Gothic" pitchFamily="34" charset="0"/>
                <a:ea typeface="Malgun Gothic" pitchFamily="34" charset="-122"/>
                <a:cs typeface="Malgun Gothic" pitchFamily="34" charset="-120"/>
              </a:rPr>
              <a:t>2026-09-09  ·  신한금융그룹 보도자료</a:t>
            </a:r>
            <a:endParaRPr lang="en-US" sz="1200" dirty="0"/>
          </a:p>
        </p:txBody>
      </p:sp>
      <p:sp>
        <p:nvSpPr>
          <p:cNvPr id="7" name="Text 5"/>
          <p:cNvSpPr txBox="1"/>
          <p:nvPr/>
        </p:nvSpPr>
        <p:spPr>
          <a:xfrm>
            <a:off x="777240" y="2103120"/>
            <a:ext cx="5029200" cy="658368"/>
          </a:xfrm>
          <a:prstGeom prst="rect">
            <a:avLst/>
          </a:prstGeom>
          <a:noFill/>
          <a:ln/>
        </p:spPr>
        <p:txBody>
          <a:bodyPr wrap="square" lIns="0" tIns="0" rIns="0" bIns="0" rtlCol="0" anchor="t"/>
          <a:lstStyle/>
          <a:p>
            <a:pPr indent="0" marL="0">
              <a:buNone/>
            </a:pPr>
            <a:r>
              <a:rPr lang="en-US" sz="1600" b="1" dirty="0">
                <a:solidFill>
                  <a:srgbClr val="0E1A2B"/>
                </a:solidFill>
                <a:latin typeface="Malgun Gothic" pitchFamily="34" charset="0"/>
                <a:ea typeface="Malgun Gothic" pitchFamily="34" charset="-122"/>
                <a:cs typeface="Malgun Gothic" pitchFamily="34" charset="-120"/>
              </a:rPr>
              <a:t>“신한카드, 최적의 금융상품 추천하고 선택하는 AI 개발”</a:t>
            </a:r>
            <a:endParaRPr lang="en-US" sz="1600" dirty="0"/>
          </a:p>
        </p:txBody>
      </p:sp>
      <p:sp>
        <p:nvSpPr>
          <p:cNvPr id="8" name="Text 6"/>
          <p:cNvSpPr txBox="1"/>
          <p:nvPr/>
        </p:nvSpPr>
        <p:spPr>
          <a:xfrm>
            <a:off x="777240" y="2770632"/>
            <a:ext cx="5029200" cy="237744"/>
          </a:xfrm>
          <a:prstGeom prst="rect">
            <a:avLst/>
          </a:prstGeom>
          <a:noFill/>
          <a:ln/>
        </p:spPr>
        <p:txBody>
          <a:bodyPr wrap="square" lIns="0" tIns="0" rIns="0" bIns="0" rtlCol="0" anchor="t"/>
          <a:lstStyle/>
          <a:p>
            <a:pPr indent="0" marL="0">
              <a:buNone/>
            </a:pPr>
            <a:r>
              <a:rPr lang="en-US" sz="1200" dirty="0">
                <a:solidFill>
                  <a:srgbClr val="3A4A60"/>
                </a:solidFill>
                <a:latin typeface="Malgun Gothic" pitchFamily="34" charset="0"/>
                <a:ea typeface="Malgun Gothic" pitchFamily="34" charset="-122"/>
                <a:cs typeface="Malgun Gothic" pitchFamily="34" charset="-120"/>
              </a:rPr>
              <a:t>AI 인프라 기업 커넥셔너리와 기술 개발·실증</a:t>
            </a:r>
            <a:endParaRPr lang="en-US" sz="1200" dirty="0"/>
          </a:p>
        </p:txBody>
      </p:sp>
      <p:sp>
        <p:nvSpPr>
          <p:cNvPr id="9" name="Text 7"/>
          <p:cNvSpPr txBox="1"/>
          <p:nvPr/>
        </p:nvSpPr>
        <p:spPr>
          <a:xfrm>
            <a:off x="777240" y="3063240"/>
            <a:ext cx="5029200" cy="237744"/>
          </a:xfrm>
          <a:prstGeom prst="rect">
            <a:avLst/>
          </a:prstGeom>
          <a:noFill/>
          <a:ln/>
        </p:spPr>
        <p:txBody>
          <a:bodyPr wrap="square" lIns="0" tIns="0" rIns="0" bIns="0" rtlCol="0" anchor="t"/>
          <a:lstStyle/>
          <a:p>
            <a:pPr indent="0" marL="0">
              <a:buNone/>
            </a:pPr>
            <a:r>
              <a:rPr lang="en-US" sz="1100" dirty="0">
                <a:solidFill>
                  <a:srgbClr val="5B6778"/>
                </a:solidFill>
                <a:latin typeface="Malgun Gothic" pitchFamily="34" charset="0"/>
                <a:ea typeface="Malgun Gothic" pitchFamily="34" charset="-122"/>
                <a:cs typeface="Malgun Gothic" pitchFamily="34" charset="-120"/>
              </a:rPr>
              <a:t>회사가 밝힌 기존 생성형 AI의 한계</a:t>
            </a:r>
            <a:endParaRPr lang="en-US" sz="1100" dirty="0"/>
          </a:p>
        </p:txBody>
      </p:sp>
      <p:sp>
        <p:nvSpPr>
          <p:cNvPr id="10" name="Text 8"/>
          <p:cNvSpPr txBox="1"/>
          <p:nvPr/>
        </p:nvSpPr>
        <p:spPr>
          <a:xfrm>
            <a:off x="777240" y="3337560"/>
            <a:ext cx="2450592" cy="329184"/>
          </a:xfrm>
          <a:prstGeom prst="roundRect">
            <a:avLst>
              <a:gd name="adj" fmla="val 16667"/>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엉뚱한 답변·정보 왜곡</a:t>
            </a:r>
            <a:endParaRPr lang="en-US" sz="1300" dirty="0"/>
          </a:p>
        </p:txBody>
      </p:sp>
      <p:sp>
        <p:nvSpPr>
          <p:cNvPr id="11" name="Text 9"/>
          <p:cNvSpPr txBox="1"/>
          <p:nvPr/>
        </p:nvSpPr>
        <p:spPr>
          <a:xfrm>
            <a:off x="3319272" y="3337560"/>
            <a:ext cx="2450592" cy="329184"/>
          </a:xfrm>
          <a:prstGeom prst="roundRect">
            <a:avLst>
              <a:gd name="adj" fmla="val 16667"/>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일관성 부족</a:t>
            </a:r>
            <a:endParaRPr lang="en-US" sz="1300" dirty="0"/>
          </a:p>
        </p:txBody>
      </p:sp>
      <p:sp>
        <p:nvSpPr>
          <p:cNvPr id="12" name="Text 10"/>
          <p:cNvSpPr txBox="1"/>
          <p:nvPr/>
        </p:nvSpPr>
        <p:spPr>
          <a:xfrm>
            <a:off x="777240" y="3739896"/>
            <a:ext cx="2450592" cy="329184"/>
          </a:xfrm>
          <a:prstGeom prst="roundRect">
            <a:avLst>
              <a:gd name="adj" fmla="val 16667"/>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복합 조건 누락</a:t>
            </a:r>
            <a:endParaRPr lang="en-US" sz="1300" dirty="0"/>
          </a:p>
        </p:txBody>
      </p:sp>
      <p:sp>
        <p:nvSpPr>
          <p:cNvPr id="13" name="Text 11"/>
          <p:cNvSpPr txBox="1"/>
          <p:nvPr/>
        </p:nvSpPr>
        <p:spPr>
          <a:xfrm>
            <a:off x="3319272" y="3739896"/>
            <a:ext cx="2450592" cy="329184"/>
          </a:xfrm>
          <a:prstGeom prst="roundRect">
            <a:avLst>
              <a:gd name="adj" fmla="val 16667"/>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정책·규정 미반영</a:t>
            </a:r>
            <a:endParaRPr lang="en-US" sz="1300" dirty="0"/>
          </a:p>
        </p:txBody>
      </p:sp>
      <p:sp>
        <p:nvSpPr>
          <p:cNvPr id="14" name="Text 12"/>
          <p:cNvSpPr txBox="1"/>
          <p:nvPr/>
        </p:nvSpPr>
        <p:spPr>
          <a:xfrm>
            <a:off x="777240" y="4206240"/>
            <a:ext cx="5029200" cy="411480"/>
          </a:xfrm>
          <a:prstGeom prst="rect">
            <a:avLst/>
          </a:prstGeom>
          <a:noFill/>
          <a:ln/>
        </p:spPr>
        <p:txBody>
          <a:bodyPr wrap="square" lIns="0" tIns="0" rIns="0" bIns="0" rtlCol="0" anchor="t"/>
          <a:lstStyle/>
          <a:p>
            <a:pPr indent="0" marL="0">
              <a:buNone/>
            </a:pPr>
            <a:r>
              <a:rPr lang="en-US" sz="1200" i="1" dirty="0">
                <a:solidFill>
                  <a:srgbClr val="3A4A60"/>
                </a:solidFill>
                <a:latin typeface="Malgun Gothic" pitchFamily="34" charset="0"/>
                <a:ea typeface="Malgun Gothic" pitchFamily="34" charset="-122"/>
                <a:cs typeface="Malgun Gothic" pitchFamily="34" charset="-120"/>
              </a:rPr>
              <a:t>“… 조건 수정만으로 실시간 반영될 수 있는 것이다”</a:t>
            </a:r>
            <a:endParaRPr lang="en-US" sz="1200" dirty="0"/>
          </a:p>
        </p:txBody>
      </p:sp>
      <p:sp>
        <p:nvSpPr>
          <p:cNvPr id="15" name="Shape 13"/>
          <p:cNvSpPr/>
          <p:nvPr/>
        </p:nvSpPr>
        <p:spPr>
          <a:xfrm>
            <a:off x="6199632" y="1691640"/>
            <a:ext cx="5440680" cy="3017520"/>
          </a:xfrm>
          <a:prstGeom prst="roundRect">
            <a:avLst>
              <a:gd name="adj" fmla="val 3030"/>
            </a:avLst>
          </a:prstGeom>
          <a:solidFill>
            <a:srgbClr val="F3F5F8"/>
          </a:solidFill>
          <a:ln w="9525">
            <a:solidFill>
              <a:srgbClr val="F3F5F8"/>
            </a:solidFill>
            <a:prstDash val="solid"/>
          </a:ln>
        </p:spPr>
      </p:sp>
      <p:sp>
        <p:nvSpPr>
          <p:cNvPr id="16" name="Text 14"/>
          <p:cNvSpPr txBox="1"/>
          <p:nvPr/>
        </p:nvSpPr>
        <p:spPr>
          <a:xfrm>
            <a:off x="6428232" y="1810512"/>
            <a:ext cx="5029200" cy="256032"/>
          </a:xfrm>
          <a:prstGeom prst="rect">
            <a:avLst/>
          </a:prstGeom>
          <a:noFill/>
          <a:ln/>
        </p:spPr>
        <p:txBody>
          <a:bodyPr wrap="square" lIns="0" tIns="0" rIns="0" bIns="0" rtlCol="0" anchor="t"/>
          <a:lstStyle/>
          <a:p>
            <a:pPr indent="0" marL="0">
              <a:buNone/>
            </a:pPr>
            <a:r>
              <a:rPr lang="en-US" sz="1200" b="1" dirty="0">
                <a:solidFill>
                  <a:srgbClr val="5B6778"/>
                </a:solidFill>
                <a:latin typeface="Malgun Gothic" pitchFamily="34" charset="0"/>
                <a:ea typeface="Malgun Gothic" pitchFamily="34" charset="-122"/>
                <a:cs typeface="Malgun Gothic" pitchFamily="34" charset="-120"/>
              </a:rPr>
              <a:t>2026-09-13  ·  신한카드 보도자료</a:t>
            </a:r>
            <a:endParaRPr lang="en-US" sz="1200" dirty="0"/>
          </a:p>
        </p:txBody>
      </p:sp>
      <p:sp>
        <p:nvSpPr>
          <p:cNvPr id="17" name="Text 15"/>
          <p:cNvSpPr txBox="1"/>
          <p:nvPr/>
        </p:nvSpPr>
        <p:spPr>
          <a:xfrm>
            <a:off x="6428232" y="2103120"/>
            <a:ext cx="5029200" cy="658368"/>
          </a:xfrm>
          <a:prstGeom prst="rect">
            <a:avLst/>
          </a:prstGeom>
          <a:noFill/>
          <a:ln/>
        </p:spPr>
        <p:txBody>
          <a:bodyPr wrap="square" lIns="0" tIns="0" rIns="0" bIns="0" rtlCol="0" anchor="t"/>
          <a:lstStyle/>
          <a:p>
            <a:pPr indent="0" marL="0">
              <a:buNone/>
            </a:pPr>
            <a:r>
              <a:rPr lang="en-US" sz="1600" b="1" dirty="0">
                <a:solidFill>
                  <a:srgbClr val="0E1A2B"/>
                </a:solidFill>
                <a:latin typeface="Malgun Gothic" pitchFamily="34" charset="0"/>
                <a:ea typeface="Malgun Gothic" pitchFamily="34" charset="-122"/>
                <a:cs typeface="Malgun Gothic" pitchFamily="34" charset="-120"/>
              </a:rPr>
              <a:t>“카드사 최초 ‘ChatGPT for Kakao’와 연계한 AI 대화형 금융 서비스”</a:t>
            </a:r>
            <a:endParaRPr lang="en-US" sz="1600" dirty="0"/>
          </a:p>
        </p:txBody>
      </p:sp>
      <p:sp>
        <p:nvSpPr>
          <p:cNvPr id="18" name="Text 16"/>
          <p:cNvSpPr txBox="1"/>
          <p:nvPr/>
        </p:nvSpPr>
        <p:spPr>
          <a:xfrm>
            <a:off x="6428232" y="2770632"/>
            <a:ext cx="5029200" cy="237744"/>
          </a:xfrm>
          <a:prstGeom prst="rect">
            <a:avLst/>
          </a:prstGeom>
          <a:noFill/>
          <a:ln/>
        </p:spPr>
        <p:txBody>
          <a:bodyPr wrap="square" lIns="0" tIns="0" rIns="0" bIns="0" rtlCol="0" anchor="t"/>
          <a:lstStyle/>
          <a:p>
            <a:pPr indent="0" marL="0">
              <a:buNone/>
            </a:pPr>
            <a:r>
              <a:rPr lang="en-US" sz="1200" dirty="0">
                <a:solidFill>
                  <a:srgbClr val="3A4A60"/>
                </a:solidFill>
                <a:latin typeface="Malgun Gothic" pitchFamily="34" charset="0"/>
                <a:ea typeface="Malgun Gothic" pitchFamily="34" charset="-122"/>
                <a:cs typeface="Malgun Gothic" pitchFamily="34" charset="-120"/>
              </a:rPr>
              <a:t>카카오 ‘PlayMCP’ 기반 ‘카카오 툴즈’에 연동</a:t>
            </a:r>
            <a:endParaRPr lang="en-US" sz="1200" dirty="0"/>
          </a:p>
        </p:txBody>
      </p:sp>
      <p:sp>
        <p:nvSpPr>
          <p:cNvPr id="19" name="Text 17"/>
          <p:cNvSpPr txBox="1"/>
          <p:nvPr/>
        </p:nvSpPr>
        <p:spPr>
          <a:xfrm>
            <a:off x="6428232" y="3063240"/>
            <a:ext cx="5029200" cy="237744"/>
          </a:xfrm>
          <a:prstGeom prst="rect">
            <a:avLst/>
          </a:prstGeom>
          <a:noFill/>
          <a:ln/>
        </p:spPr>
        <p:txBody>
          <a:bodyPr wrap="square" lIns="0" tIns="0" rIns="0" bIns="0" rtlCol="0" anchor="t"/>
          <a:lstStyle/>
          <a:p>
            <a:pPr indent="0" marL="0">
              <a:buNone/>
            </a:pPr>
            <a:r>
              <a:rPr lang="en-US" sz="1100" dirty="0">
                <a:solidFill>
                  <a:srgbClr val="5B6778"/>
                </a:solidFill>
                <a:latin typeface="Malgun Gothic" pitchFamily="34" charset="0"/>
                <a:ea typeface="Malgun Gothic" pitchFamily="34" charset="-122"/>
                <a:cs typeface="Malgun Gothic" pitchFamily="34" charset="-120"/>
              </a:rPr>
              <a:t>외부 AI 대화창에서 제공하는 기능</a:t>
            </a:r>
            <a:endParaRPr lang="en-US" sz="1100" dirty="0"/>
          </a:p>
        </p:txBody>
      </p:sp>
      <p:sp>
        <p:nvSpPr>
          <p:cNvPr id="20" name="Text 18"/>
          <p:cNvSpPr txBox="1"/>
          <p:nvPr/>
        </p:nvSpPr>
        <p:spPr>
          <a:xfrm>
            <a:off x="6428232" y="3337560"/>
            <a:ext cx="2450592" cy="329184"/>
          </a:xfrm>
          <a:prstGeom prst="roundRect">
            <a:avLst>
              <a:gd name="adj" fmla="val 16667"/>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카드 추천</a:t>
            </a:r>
            <a:endParaRPr lang="en-US" sz="1300" dirty="0"/>
          </a:p>
        </p:txBody>
      </p:sp>
      <p:sp>
        <p:nvSpPr>
          <p:cNvPr id="21" name="Text 19"/>
          <p:cNvSpPr txBox="1"/>
          <p:nvPr/>
        </p:nvSpPr>
        <p:spPr>
          <a:xfrm>
            <a:off x="8970264" y="3337560"/>
            <a:ext cx="2450592" cy="329184"/>
          </a:xfrm>
          <a:prstGeom prst="roundRect">
            <a:avLst>
              <a:gd name="adj" fmla="val 16667"/>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인기카드 조회</a:t>
            </a:r>
            <a:endParaRPr lang="en-US" sz="1300" dirty="0"/>
          </a:p>
        </p:txBody>
      </p:sp>
      <p:sp>
        <p:nvSpPr>
          <p:cNvPr id="22" name="Text 20"/>
          <p:cNvSpPr txBox="1"/>
          <p:nvPr/>
        </p:nvSpPr>
        <p:spPr>
          <a:xfrm>
            <a:off x="6428232" y="3739896"/>
            <a:ext cx="2450592" cy="329184"/>
          </a:xfrm>
          <a:prstGeom prst="roundRect">
            <a:avLst>
              <a:gd name="adj" fmla="val 16667"/>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카드 상세혜택 조회</a:t>
            </a:r>
            <a:endParaRPr lang="en-US" sz="1300" dirty="0"/>
          </a:p>
        </p:txBody>
      </p:sp>
      <p:sp>
        <p:nvSpPr>
          <p:cNvPr id="23" name="Text 21"/>
          <p:cNvSpPr txBox="1"/>
          <p:nvPr/>
        </p:nvSpPr>
        <p:spPr>
          <a:xfrm>
            <a:off x="8970264" y="3739896"/>
            <a:ext cx="2450592" cy="329184"/>
          </a:xfrm>
          <a:prstGeom prst="roundRect">
            <a:avLst>
              <a:gd name="adj" fmla="val 16667"/>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소비 인사이트·콘텐츠</a:t>
            </a:r>
            <a:endParaRPr lang="en-US" sz="1300" dirty="0"/>
          </a:p>
        </p:txBody>
      </p:sp>
      <p:sp>
        <p:nvSpPr>
          <p:cNvPr id="24" name="Text 22"/>
          <p:cNvSpPr txBox="1"/>
          <p:nvPr/>
        </p:nvSpPr>
        <p:spPr>
          <a:xfrm>
            <a:off x="6428232" y="4206240"/>
            <a:ext cx="5029200" cy="411480"/>
          </a:xfrm>
          <a:prstGeom prst="rect">
            <a:avLst/>
          </a:prstGeom>
          <a:noFill/>
          <a:ln/>
        </p:spPr>
        <p:txBody>
          <a:bodyPr wrap="square" lIns="0" tIns="0" rIns="0" bIns="0" rtlCol="0" anchor="t"/>
          <a:lstStyle/>
          <a:p>
            <a:pPr indent="0" marL="0">
              <a:buNone/>
            </a:pPr>
            <a:r>
              <a:rPr lang="en-US" sz="1200" dirty="0">
                <a:solidFill>
                  <a:srgbClr val="3A4A60"/>
                </a:solidFill>
                <a:latin typeface="Malgun Gothic" pitchFamily="34" charset="0"/>
                <a:ea typeface="Malgun Gothic" pitchFamily="34" charset="-122"/>
                <a:cs typeface="Malgun Gothic" pitchFamily="34" charset="-120"/>
              </a:rPr>
              <a:t>고객이 ‘카카오 툴즈’에서 신한카드 툴을 추가한 뒤 대화로 이용</a:t>
            </a:r>
            <a:endParaRPr lang="en-US" sz="1200" dirty="0"/>
          </a:p>
        </p:txBody>
      </p:sp>
      <p:sp>
        <p:nvSpPr>
          <p:cNvPr id="25" name="Text 23"/>
          <p:cNvSpPr txBox="1"/>
          <p:nvPr/>
        </p:nvSpPr>
        <p:spPr>
          <a:xfrm>
            <a:off x="548640" y="4828032"/>
            <a:ext cx="11094415" cy="502920"/>
          </a:xfrm>
          <a:prstGeom prst="roundRect">
            <a:avLst>
              <a:gd name="adj" fmla="val 14545"/>
            </a:avLst>
          </a:prstGeom>
          <a:solidFill>
            <a:srgbClr val="0E1A2B"/>
          </a:solidFill>
          <a:ln>
            <a:solidFill>
              <a:srgbClr val="0E1A2B"/>
            </a:solidFill>
          </a:ln>
        </p:spPr>
        <p:txBody>
          <a:bodyPr wrap="square" lIns="177800" tIns="177800" rIns="177800" bIns="177800" rtlCol="0" anchor="ctr"/>
          <a:lstStyle/>
          <a:p>
            <a:pPr algn="l" indent="0" marL="0">
              <a:buNone/>
            </a:pPr>
            <a:r>
              <a:rPr lang="en-US" sz="1600" b="1" dirty="0">
                <a:solidFill>
                  <a:srgbClr val="FFFFFF"/>
                </a:solidFill>
                <a:latin typeface="Malgun Gothic" pitchFamily="34" charset="0"/>
                <a:ea typeface="Malgun Gothic" pitchFamily="34" charset="-122"/>
                <a:cs typeface="Malgun Gothic" pitchFamily="34" charset="-120"/>
              </a:rPr>
              <a:t>외부 AI 채널에 카드사 공식 상품정보를 연결하는 실제 서비스가 등장하고 있습니다.</a:t>
            </a:r>
            <a:endParaRPr lang="en-US" sz="1600" dirty="0"/>
          </a:p>
        </p:txBody>
      </p:sp>
      <p:sp>
        <p:nvSpPr>
          <p:cNvPr id="26" name="Text 24"/>
          <p:cNvSpPr txBox="1"/>
          <p:nvPr/>
        </p:nvSpPr>
        <p:spPr>
          <a:xfrm>
            <a:off x="548640" y="5394960"/>
            <a:ext cx="11094415" cy="411480"/>
          </a:xfrm>
          <a:prstGeom prst="rect">
            <a:avLst/>
          </a:prstGeom>
          <a:noFill/>
          <a:ln/>
        </p:spPr>
        <p:txBody>
          <a:bodyPr wrap="square" lIns="0" tIns="0" rIns="0" bIns="0" rtlCol="0" anchor="t"/>
          <a:lstStyle/>
          <a:p>
            <a:pPr indent="0" marL="0">
              <a:buNone/>
            </a:pPr>
            <a:r>
              <a:rPr lang="en-US" sz="1100" dirty="0">
                <a:solidFill>
                  <a:srgbClr val="A8311A"/>
                </a:solidFill>
                <a:latin typeface="Malgun Gothic" pitchFamily="34" charset="0"/>
                <a:ea typeface="Malgun Gothic" pitchFamily="34" charset="-122"/>
                <a:cs typeface="Malgun Gothic" pitchFamily="34" charset="-120"/>
              </a:rPr>
              <a:t>공식 자료에 없음(미확인): 두 발표의 내부 시스템 연결 · GraphRAG 사용 여부 · 다른 카드사·은행의 MCP 제공 현황. 우열 비교가 아니라 ‘외부 AI 연결이 실제로 시작됐다’는 근거로 인용합니다.</a:t>
            </a:r>
            <a:endParaRPr lang="en-US" sz="1100" dirty="0"/>
          </a:p>
        </p:txBody>
      </p:sp>
      <p:sp>
        <p:nvSpPr>
          <p:cNvPr id="27" name="Text 25"/>
          <p:cNvSpPr txBox="1"/>
          <p:nvPr/>
        </p:nvSpPr>
        <p:spPr>
          <a:xfrm>
            <a:off x="548640" y="5852160"/>
            <a:ext cx="11094415" cy="438912"/>
          </a:xfrm>
          <a:prstGeom prst="roundRect">
            <a:avLst>
              <a:gd name="adj" fmla="val 20833"/>
            </a:avLst>
          </a:prstGeom>
          <a:solidFill>
            <a:srgbClr val="FFFFFF"/>
          </a:solidFill>
          <a:ln w="15875">
            <a:solidFill>
              <a:srgbClr val="E8A33D"/>
            </a:solidFill>
          </a:ln>
        </p:spPr>
        <p:txBody>
          <a:bodyPr wrap="square" lIns="152400" tIns="152400" rIns="152400" bIns="152400" rtlCol="0" anchor="ctr"/>
          <a:lstStyle/>
          <a:p>
            <a:pPr algn="l" indent="0" marL="0">
              <a:buNone/>
            </a:pPr>
            <a:r>
              <a:rPr lang="en-US" sz="1400" b="1" dirty="0">
                <a:solidFill>
                  <a:srgbClr val="8F5208"/>
                </a:solidFill>
                <a:latin typeface="Malgun Gothic" pitchFamily="34" charset="0"/>
                <a:ea typeface="Malgun Gothic" pitchFamily="34" charset="-122"/>
                <a:cs typeface="Malgun Gothic" pitchFamily="34" charset="-120"/>
              </a:rPr>
              <a:t>다음 질문  </a:t>
            </a:r>
            <a:pPr algn="l" indent="0" marL="0">
              <a:buNone/>
            </a:pPr>
            <a:r>
              <a:rPr lang="en-US" sz="1400" b="1" dirty="0">
                <a:solidFill>
                  <a:srgbClr val="0E1A2B"/>
                </a:solidFill>
                <a:latin typeface="Malgun Gothic" pitchFamily="34" charset="0"/>
                <a:ea typeface="Malgun Gothic" pitchFamily="34" charset="-122"/>
                <a:cs typeface="Malgun Gothic" pitchFamily="34" charset="-120"/>
              </a:rPr>
              <a:t>카드사 공식 정보를 AI에 연결한다고 해서, 복잡한 카드 혜택을 정확하게 안내할 수 있을까요?</a:t>
            </a:r>
            <a:endParaRPr lang="en-US" sz="1400" dirty="0"/>
          </a:p>
        </p:txBody>
      </p:sp>
      <p:sp>
        <p:nvSpPr>
          <p:cNvPr id="28" name="Text 26"/>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출처: shinhangroup.com/kr/archive/press/detail/966 (2026-09-09) · press1.newswire.co.kr/newsRead.php?no=1042468 (2026-09-13) — 2026-10-30 원문 재확인</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02   실제 약관 사례</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‘대중교통 5% 캐시백’, 정말 이 한 문장으로 충분할까요?</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원문 확인</a:t>
            </a:r>
            <a:endParaRPr lang="en-US" sz="1100" dirty="0"/>
          </a:p>
        </p:txBody>
      </p:sp>
      <p:sp>
        <p:nvSpPr>
          <p:cNvPr id="5" name="Text 3"/>
          <p:cNvSpPr txBox="1"/>
          <p:nvPr/>
        </p:nvSpPr>
        <p:spPr>
          <a:xfrm>
            <a:off x="548640" y="1737360"/>
            <a:ext cx="3931920" cy="1828800"/>
          </a:xfrm>
          <a:prstGeom prst="roundRect">
            <a:avLst>
              <a:gd name="adj" fmla="val 6000"/>
            </a:avLst>
          </a:prstGeom>
          <a:solidFill>
            <a:srgbClr val="0E1A2B"/>
          </a:solidFill>
          <a:ln>
            <a:solidFill>
              <a:srgbClr val="0E1A2B"/>
            </a:solidFill>
          </a:ln>
        </p:spPr>
        <p:txBody>
          <a:bodyPr wrap="square" lIns="228600" tIns="228600" rIns="228600" bIns="228600" rtlCol="0" anchor="ctr"/>
          <a:lstStyle/>
          <a:p>
            <a:pPr algn="l" indent="0" marL="0">
              <a:buNone/>
            </a:pPr>
            <a:r>
              <a:rPr lang="en-US" sz="1200" dirty="0">
                <a:solidFill>
                  <a:srgbClr val="A9B7C9"/>
                </a:solidFill>
                <a:latin typeface="Malgun Gothic" pitchFamily="34" charset="0"/>
                <a:ea typeface="Malgun Gothic" pitchFamily="34" charset="-122"/>
                <a:cs typeface="Malgun Gothic" pitchFamily="34" charset="-120"/>
              </a:rPr>
              <a:t>ONE PICK STYLE · ONE MORE 대중교통</a:t>
            </a:r>
            <a:endParaRPr lang="en-US" sz="1300" dirty="0"/>
          </a:p>
          <a:p>
            <a:pPr algn="l" indent="0" marL="0">
              <a:buNone/>
            </a:pPr>
            <a:r>
              <a:rPr lang="en-US" sz="3800" b="1" dirty="0">
                <a:solidFill>
                  <a:srgbClr val="FFFFFF"/>
                </a:solidFill>
                <a:latin typeface="Malgun Gothic" pitchFamily="34" charset="0"/>
                <a:ea typeface="Malgun Gothic" pitchFamily="34" charset="-122"/>
                <a:cs typeface="Malgun Gothic" pitchFamily="34" charset="-120"/>
              </a:rPr>
              <a:t>대중교통</a:t>
            </a:r>
            <a:endParaRPr lang="en-US" sz="1300" dirty="0"/>
          </a:p>
          <a:p>
            <a:pPr algn="l" indent="0" marL="0">
              <a:buNone/>
            </a:pPr>
            <a:r>
              <a:rPr lang="en-US" sz="3800" b="1" dirty="0">
                <a:solidFill>
                  <a:srgbClr val="FFFFFF"/>
                </a:solidFill>
                <a:latin typeface="Malgun Gothic" pitchFamily="34" charset="0"/>
                <a:ea typeface="Malgun Gothic" pitchFamily="34" charset="-122"/>
                <a:cs typeface="Malgun Gothic" pitchFamily="34" charset="-120"/>
              </a:rPr>
              <a:t>5% 캐시백</a:t>
            </a:r>
            <a:endParaRPr lang="en-US" sz="1300" dirty="0"/>
          </a:p>
        </p:txBody>
      </p:sp>
      <p:sp>
        <p:nvSpPr>
          <p:cNvPr id="6" name="Text 4"/>
          <p:cNvSpPr txBox="1"/>
          <p:nvPr/>
        </p:nvSpPr>
        <p:spPr>
          <a:xfrm>
            <a:off x="548640" y="3657600"/>
            <a:ext cx="3931920" cy="256032"/>
          </a:xfrm>
          <a:prstGeom prst="rect">
            <a:avLst/>
          </a:prstGeom>
          <a:noFill/>
          <a:ln/>
        </p:spPr>
        <p:txBody>
          <a:bodyPr wrap="square" lIns="0" tIns="0" rIns="0" bIns="0" rtlCol="0" anchor="t"/>
          <a:lstStyle/>
          <a:p>
            <a:pPr indent="0" marL="0">
              <a:buNone/>
            </a:pPr>
            <a:r>
              <a:rPr lang="en-US" sz="1200" dirty="0">
                <a:solidFill>
                  <a:srgbClr val="5B6778"/>
                </a:solidFill>
                <a:latin typeface="Malgun Gothic" pitchFamily="34" charset="0"/>
                <a:ea typeface="Malgun Gothic" pitchFamily="34" charset="-122"/>
                <a:cs typeface="Malgun Gothic" pitchFamily="34" charset="-120"/>
              </a:rPr>
              <a:t>고객이 기억하는 한 줄</a:t>
            </a:r>
            <a:endParaRPr lang="en-US" sz="1200" dirty="0"/>
          </a:p>
        </p:txBody>
      </p:sp>
      <p:sp>
        <p:nvSpPr>
          <p:cNvPr id="7" name="Text 5"/>
          <p:cNvSpPr txBox="1"/>
          <p:nvPr/>
        </p:nvSpPr>
        <p:spPr>
          <a:xfrm>
            <a:off x="548640" y="4023360"/>
            <a:ext cx="3931920" cy="822960"/>
          </a:xfrm>
          <a:prstGeom prst="rect">
            <a:avLst/>
          </a:prstGeom>
          <a:noFill/>
          <a:ln/>
        </p:spPr>
        <p:txBody>
          <a:bodyPr wrap="square" lIns="0" tIns="0" rIns="0" bIns="0" rtlCol="0" anchor="t"/>
          <a:lstStyle/>
          <a:p>
            <a:pPr indent="0" marL="0">
              <a:lnSpc>
                <a:spcPct val="115000"/>
              </a:lnSpc>
              <a:buNone/>
            </a:pPr>
            <a:r>
              <a:rPr lang="en-US" sz="1700" b="1" dirty="0">
                <a:solidFill>
                  <a:srgbClr val="0E1A2B"/>
                </a:solidFill>
                <a:latin typeface="Malgun Gothic" pitchFamily="34" charset="0"/>
                <a:ea typeface="Malgun Gothic" pitchFamily="34" charset="-122"/>
                <a:cs typeface="Malgun Gothic" pitchFamily="34" charset="-120"/>
              </a:rPr>
              <a:t>한 줄 뒤에 조건 5개가 붙어 있고,</a:t>
            </a:r>
            <a:endParaRPr lang="en-US" sz="1700" dirty="0"/>
          </a:p>
          <a:p>
            <a:pPr indent="0" marL="0">
              <a:lnSpc>
                <a:spcPct val="115000"/>
              </a:lnSpc>
              <a:buNone/>
            </a:pPr>
            <a:r>
              <a:rPr lang="en-US" sz="1700" b="1" dirty="0">
                <a:solidFill>
                  <a:srgbClr val="0E1A2B"/>
                </a:solidFill>
                <a:latin typeface="Malgun Gothic" pitchFamily="34" charset="0"/>
                <a:ea typeface="Malgun Gothic" pitchFamily="34" charset="-122"/>
                <a:cs typeface="Malgun Gothic" pitchFamily="34" charset="-120"/>
              </a:rPr>
              <a:t>조건마다 걸리는 위치가 다릅니다.</a:t>
            </a:r>
            <a:endParaRPr lang="en-US" sz="1700" dirty="0"/>
          </a:p>
        </p:txBody>
      </p:sp>
      <p:sp>
        <p:nvSpPr>
          <p:cNvPr id="8" name="Shape 6"/>
          <p:cNvSpPr/>
          <p:nvPr/>
        </p:nvSpPr>
        <p:spPr>
          <a:xfrm>
            <a:off x="4480560" y="2651760"/>
            <a:ext cx="274320" cy="0"/>
          </a:xfrm>
          <a:prstGeom prst="line">
            <a:avLst/>
          </a:prstGeom>
          <a:noFill/>
          <a:ln w="19050">
            <a:solidFill>
              <a:srgbClr val="A0AAB8"/>
            </a:solidFill>
            <a:prstDash val="solid"/>
          </a:ln>
        </p:spPr>
      </p:sp>
      <p:sp>
        <p:nvSpPr>
          <p:cNvPr id="9" name="Shape 7"/>
          <p:cNvSpPr/>
          <p:nvPr/>
        </p:nvSpPr>
        <p:spPr>
          <a:xfrm>
            <a:off x="4754880" y="2066544"/>
            <a:ext cx="0" cy="3145536"/>
          </a:xfrm>
          <a:prstGeom prst="line">
            <a:avLst/>
          </a:prstGeom>
          <a:noFill/>
          <a:ln w="19050">
            <a:solidFill>
              <a:srgbClr val="A0AAB8"/>
            </a:solidFill>
            <a:prstDash val="solid"/>
          </a:ln>
        </p:spPr>
      </p:sp>
      <p:sp>
        <p:nvSpPr>
          <p:cNvPr id="10" name="Shape 8"/>
          <p:cNvSpPr/>
          <p:nvPr/>
        </p:nvSpPr>
        <p:spPr>
          <a:xfrm>
            <a:off x="4754880" y="2066544"/>
            <a:ext cx="256032" cy="0"/>
          </a:xfrm>
          <a:prstGeom prst="line">
            <a:avLst/>
          </a:prstGeom>
          <a:noFill/>
          <a:ln w="19050">
            <a:solidFill>
              <a:srgbClr val="A0AAB8"/>
            </a:solidFill>
            <a:prstDash val="solid"/>
          </a:ln>
        </p:spPr>
      </p:sp>
      <p:sp>
        <p:nvSpPr>
          <p:cNvPr id="11" name="Text 9"/>
          <p:cNvSpPr txBox="1"/>
          <p:nvPr/>
        </p:nvSpPr>
        <p:spPr>
          <a:xfrm>
            <a:off x="5029200" y="1737360"/>
            <a:ext cx="1463040" cy="658368"/>
          </a:xfrm>
          <a:prstGeom prst="roundRect">
            <a:avLst>
              <a:gd name="adj" fmla="val 8333"/>
            </a:avLst>
          </a:prstGeom>
          <a:solidFill>
            <a:srgbClr val="E8A33D"/>
          </a:solidFill>
          <a:ln>
            <a:solidFill>
              <a:srgbClr val="E8A33D"/>
            </a:solidFill>
          </a:ln>
        </p:spPr>
        <p:txBody>
          <a:bodyPr wrap="square" lIns="38100" tIns="38100" rIns="38100" bIns="381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① 전월실적</a:t>
            </a:r>
            <a:endParaRPr lang="en-US" sz="1400" dirty="0"/>
          </a:p>
        </p:txBody>
      </p:sp>
      <p:sp>
        <p:nvSpPr>
          <p:cNvPr id="12" name="Text 10"/>
          <p:cNvSpPr txBox="1"/>
          <p:nvPr/>
        </p:nvSpPr>
        <p:spPr>
          <a:xfrm>
            <a:off x="6583680" y="1737360"/>
            <a:ext cx="5059375" cy="658368"/>
          </a:xfrm>
          <a:prstGeom prst="roundRect">
            <a:avLst>
              <a:gd name="adj" fmla="val 11111"/>
            </a:avLst>
          </a:prstGeom>
          <a:solidFill>
            <a:srgbClr val="F3F5F8"/>
          </a:solidFill>
          <a:ln w="9525">
            <a:solidFill>
              <a:srgbClr val="F3F5F8"/>
            </a:solidFill>
          </a:ln>
        </p:spPr>
        <p:txBody>
          <a:bodyPr wrap="square" lIns="152400" tIns="152400" rIns="152400" bIns="152400" rtlCol="0" anchor="ctr"/>
          <a:lstStyle/>
          <a:p>
            <a:pPr algn="l" indent="0" marL="0">
              <a:buNone/>
            </a:pPr>
            <a:r>
              <a:rPr lang="en-US" sz="1500" dirty="0">
                <a:solidFill>
                  <a:srgbClr val="0E1A2B"/>
                </a:solidFill>
                <a:latin typeface="Malgun Gothic" pitchFamily="34" charset="0"/>
                <a:ea typeface="Malgun Gothic" pitchFamily="34" charset="-122"/>
                <a:cs typeface="Malgun Gothic" pitchFamily="34" charset="-120"/>
              </a:rPr>
              <a:t>지난달 국내외 일시불 이용금액 10만원 이상</a:t>
            </a:r>
            <a:endParaRPr lang="en-US" sz="1500" dirty="0"/>
          </a:p>
        </p:txBody>
      </p:sp>
      <p:sp>
        <p:nvSpPr>
          <p:cNvPr id="13" name="Shape 11"/>
          <p:cNvSpPr/>
          <p:nvPr/>
        </p:nvSpPr>
        <p:spPr>
          <a:xfrm>
            <a:off x="4754880" y="2852928"/>
            <a:ext cx="256032" cy="0"/>
          </a:xfrm>
          <a:prstGeom prst="line">
            <a:avLst/>
          </a:prstGeom>
          <a:noFill/>
          <a:ln w="19050">
            <a:solidFill>
              <a:srgbClr val="A0AAB8"/>
            </a:solidFill>
            <a:prstDash val="solid"/>
          </a:ln>
        </p:spPr>
      </p:sp>
      <p:sp>
        <p:nvSpPr>
          <p:cNvPr id="14" name="Text 12"/>
          <p:cNvSpPr txBox="1"/>
          <p:nvPr/>
        </p:nvSpPr>
        <p:spPr>
          <a:xfrm>
            <a:off x="5029200" y="2523744"/>
            <a:ext cx="1463040" cy="658368"/>
          </a:xfrm>
          <a:prstGeom prst="roundRect">
            <a:avLst>
              <a:gd name="adj" fmla="val 8333"/>
            </a:avLst>
          </a:prstGeom>
          <a:solidFill>
            <a:srgbClr val="E8A33D"/>
          </a:solidFill>
          <a:ln>
            <a:solidFill>
              <a:srgbClr val="E8A33D"/>
            </a:solidFill>
          </a:ln>
        </p:spPr>
        <p:txBody>
          <a:bodyPr wrap="square" lIns="38100" tIns="38100" rIns="38100" bIns="381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② 한도</a:t>
            </a:r>
            <a:endParaRPr lang="en-US" sz="1400" dirty="0"/>
          </a:p>
        </p:txBody>
      </p:sp>
      <p:sp>
        <p:nvSpPr>
          <p:cNvPr id="15" name="Text 13"/>
          <p:cNvSpPr txBox="1"/>
          <p:nvPr/>
        </p:nvSpPr>
        <p:spPr>
          <a:xfrm>
            <a:off x="6583680" y="2523744"/>
            <a:ext cx="5059375" cy="658368"/>
          </a:xfrm>
          <a:prstGeom prst="roundRect">
            <a:avLst>
              <a:gd name="adj" fmla="val 11111"/>
            </a:avLst>
          </a:prstGeom>
          <a:solidFill>
            <a:srgbClr val="F3F5F8"/>
          </a:solidFill>
          <a:ln w="9525">
            <a:solidFill>
              <a:srgbClr val="F3F5F8"/>
            </a:solidFill>
          </a:ln>
        </p:spPr>
        <p:txBody>
          <a:bodyPr wrap="square" lIns="152400" tIns="152400" rIns="152400" bIns="152400" rtlCol="0" anchor="ctr"/>
          <a:lstStyle/>
          <a:p>
            <a:pPr algn="l" indent="0" marL="0">
              <a:buNone/>
            </a:pPr>
            <a:r>
              <a:rPr lang="en-US" sz="1500" dirty="0">
                <a:solidFill>
                  <a:srgbClr val="0E1A2B"/>
                </a:solidFill>
                <a:latin typeface="Malgun Gothic" pitchFamily="34" charset="0"/>
                <a:ea typeface="Malgun Gothic" pitchFamily="34" charset="-122"/>
                <a:cs typeface="Malgun Gothic" pitchFamily="34" charset="-120"/>
              </a:rPr>
              <a:t>캐시백 한도 월 최대 1,000원</a:t>
            </a:r>
            <a:endParaRPr lang="en-US" sz="1500" dirty="0"/>
          </a:p>
        </p:txBody>
      </p:sp>
      <p:sp>
        <p:nvSpPr>
          <p:cNvPr id="16" name="Shape 14"/>
          <p:cNvSpPr/>
          <p:nvPr/>
        </p:nvSpPr>
        <p:spPr>
          <a:xfrm>
            <a:off x="4754880" y="3639312"/>
            <a:ext cx="256032" cy="0"/>
          </a:xfrm>
          <a:prstGeom prst="line">
            <a:avLst/>
          </a:prstGeom>
          <a:noFill/>
          <a:ln w="19050">
            <a:solidFill>
              <a:srgbClr val="A0AAB8"/>
            </a:solidFill>
            <a:prstDash val="solid"/>
          </a:ln>
        </p:spPr>
      </p:sp>
      <p:sp>
        <p:nvSpPr>
          <p:cNvPr id="17" name="Text 15"/>
          <p:cNvSpPr txBox="1"/>
          <p:nvPr/>
        </p:nvSpPr>
        <p:spPr>
          <a:xfrm>
            <a:off x="5029200" y="3310128"/>
            <a:ext cx="1463040" cy="658368"/>
          </a:xfrm>
          <a:prstGeom prst="roundRect">
            <a:avLst>
              <a:gd name="adj" fmla="val 8333"/>
            </a:avLst>
          </a:prstGeom>
          <a:solidFill>
            <a:srgbClr val="D9472B"/>
          </a:solidFill>
          <a:ln>
            <a:solidFill>
              <a:srgbClr val="D9472B"/>
            </a:solidFill>
          </a:ln>
        </p:spPr>
        <p:txBody>
          <a:bodyPr wrap="square" lIns="38100" tIns="38100" rIns="38100" bIns="3810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③ 혜택 제외</a:t>
            </a:r>
            <a:endParaRPr lang="en-US" sz="1400" dirty="0"/>
          </a:p>
        </p:txBody>
      </p:sp>
      <p:sp>
        <p:nvSpPr>
          <p:cNvPr id="18" name="Text 16"/>
          <p:cNvSpPr txBox="1"/>
          <p:nvPr/>
        </p:nvSpPr>
        <p:spPr>
          <a:xfrm>
            <a:off x="6583680" y="3310128"/>
            <a:ext cx="5059375" cy="658368"/>
          </a:xfrm>
          <a:prstGeom prst="roundRect">
            <a:avLst>
              <a:gd name="adj" fmla="val 11111"/>
            </a:avLst>
          </a:prstGeom>
          <a:solidFill>
            <a:srgbClr val="F3F5F8"/>
          </a:solidFill>
          <a:ln w="9525">
            <a:solidFill>
              <a:srgbClr val="F3F5F8"/>
            </a:solidFill>
          </a:ln>
        </p:spPr>
        <p:txBody>
          <a:bodyPr wrap="square" lIns="152400" tIns="152400" rIns="152400" bIns="152400" rtlCol="0" anchor="ctr"/>
          <a:lstStyle/>
          <a:p>
            <a:pPr algn="l" indent="0" marL="0">
              <a:buNone/>
            </a:pPr>
            <a:r>
              <a:rPr lang="en-US" sz="1500" dirty="0">
                <a:solidFill>
                  <a:srgbClr val="0E1A2B"/>
                </a:solidFill>
                <a:latin typeface="Malgun Gothic" pitchFamily="34" charset="0"/>
                <a:ea typeface="Malgun Gothic" pitchFamily="34" charset="-122"/>
                <a:cs typeface="Malgun Gothic" pitchFamily="34" charset="-120"/>
              </a:rPr>
              <a:t>시외·고속버스, 철도(KTX·SRT·ITX)는 캐시백 제외</a:t>
            </a:r>
            <a:endParaRPr lang="en-US" sz="1500" dirty="0"/>
          </a:p>
        </p:txBody>
      </p:sp>
      <p:sp>
        <p:nvSpPr>
          <p:cNvPr id="19" name="Shape 17"/>
          <p:cNvSpPr/>
          <p:nvPr/>
        </p:nvSpPr>
        <p:spPr>
          <a:xfrm>
            <a:off x="4754880" y="4425696"/>
            <a:ext cx="256032" cy="0"/>
          </a:xfrm>
          <a:prstGeom prst="line">
            <a:avLst/>
          </a:prstGeom>
          <a:noFill/>
          <a:ln w="19050">
            <a:solidFill>
              <a:srgbClr val="A0AAB8"/>
            </a:solidFill>
            <a:prstDash val="solid"/>
          </a:ln>
        </p:spPr>
      </p:sp>
      <p:sp>
        <p:nvSpPr>
          <p:cNvPr id="20" name="Text 18"/>
          <p:cNvSpPr txBox="1"/>
          <p:nvPr/>
        </p:nvSpPr>
        <p:spPr>
          <a:xfrm>
            <a:off x="5029200" y="4096512"/>
            <a:ext cx="1463040" cy="658368"/>
          </a:xfrm>
          <a:prstGeom prst="roundRect">
            <a:avLst>
              <a:gd name="adj" fmla="val 8333"/>
            </a:avLst>
          </a:prstGeom>
          <a:solidFill>
            <a:srgbClr val="A8311A"/>
          </a:solidFill>
          <a:ln>
            <a:solidFill>
              <a:srgbClr val="A8311A"/>
            </a:solidFill>
          </a:ln>
        </p:spPr>
        <p:txBody>
          <a:bodyPr wrap="square" lIns="38100" tIns="38100" rIns="38100" bIns="3810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④ 실적 제외</a:t>
            </a:r>
            <a:endParaRPr lang="en-US" sz="1400" dirty="0"/>
          </a:p>
        </p:txBody>
      </p:sp>
      <p:sp>
        <p:nvSpPr>
          <p:cNvPr id="21" name="Text 19"/>
          <p:cNvSpPr txBox="1"/>
          <p:nvPr/>
        </p:nvSpPr>
        <p:spPr>
          <a:xfrm>
            <a:off x="6583680" y="4096512"/>
            <a:ext cx="5059375" cy="658368"/>
          </a:xfrm>
          <a:prstGeom prst="roundRect">
            <a:avLst>
              <a:gd name="adj" fmla="val 11111"/>
            </a:avLst>
          </a:prstGeom>
          <a:solidFill>
            <a:srgbClr val="F3F5F8"/>
          </a:solidFill>
          <a:ln w="9525">
            <a:solidFill>
              <a:srgbClr val="F3F5F8"/>
            </a:solidFill>
          </a:ln>
        </p:spPr>
        <p:txBody>
          <a:bodyPr wrap="square" lIns="152400" tIns="152400" rIns="152400" bIns="152400" rtlCol="0" anchor="ctr"/>
          <a:lstStyle/>
          <a:p>
            <a:pPr algn="l" indent="0" marL="0">
              <a:buNone/>
            </a:pPr>
            <a:r>
              <a:rPr lang="en-US" sz="1500" dirty="0">
                <a:solidFill>
                  <a:srgbClr val="0E1A2B"/>
                </a:solidFill>
                <a:latin typeface="Malgun Gothic" pitchFamily="34" charset="0"/>
                <a:ea typeface="Malgun Gothic" pitchFamily="34" charset="-122"/>
                <a:cs typeface="Malgun Gothic" pitchFamily="34" charset="-120"/>
              </a:rPr>
              <a:t>상품권·기프트카드 구매, 공과금 등은 실적에 미산입</a:t>
            </a:r>
            <a:endParaRPr lang="en-US" sz="1500" dirty="0"/>
          </a:p>
        </p:txBody>
      </p:sp>
      <p:sp>
        <p:nvSpPr>
          <p:cNvPr id="22" name="Shape 20"/>
          <p:cNvSpPr/>
          <p:nvPr/>
        </p:nvSpPr>
        <p:spPr>
          <a:xfrm>
            <a:off x="4754880" y="5212080"/>
            <a:ext cx="256032" cy="0"/>
          </a:xfrm>
          <a:prstGeom prst="line">
            <a:avLst/>
          </a:prstGeom>
          <a:noFill/>
          <a:ln w="19050">
            <a:solidFill>
              <a:srgbClr val="A0AAB8"/>
            </a:solidFill>
            <a:prstDash val="solid"/>
          </a:ln>
        </p:spPr>
      </p:sp>
      <p:sp>
        <p:nvSpPr>
          <p:cNvPr id="23" name="Text 21"/>
          <p:cNvSpPr txBox="1"/>
          <p:nvPr/>
        </p:nvSpPr>
        <p:spPr>
          <a:xfrm>
            <a:off x="5029200" y="4882896"/>
            <a:ext cx="1463040" cy="658368"/>
          </a:xfrm>
          <a:prstGeom prst="roundRect">
            <a:avLst>
              <a:gd name="adj" fmla="val 8333"/>
            </a:avLst>
          </a:prstGeom>
          <a:solidFill>
            <a:srgbClr val="6A4FB0"/>
          </a:solidFill>
          <a:ln>
            <a:solidFill>
              <a:srgbClr val="6A4FB0"/>
            </a:solidFill>
          </a:ln>
        </p:spPr>
        <p:txBody>
          <a:bodyPr wrap="square" lIns="38100" tIns="38100" rIns="38100" bIns="3810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⑤ 예외</a:t>
            </a:r>
            <a:endParaRPr lang="en-US" sz="1400" dirty="0"/>
          </a:p>
        </p:txBody>
      </p:sp>
      <p:sp>
        <p:nvSpPr>
          <p:cNvPr id="24" name="Text 22"/>
          <p:cNvSpPr txBox="1"/>
          <p:nvPr/>
        </p:nvSpPr>
        <p:spPr>
          <a:xfrm>
            <a:off x="6583680" y="4882896"/>
            <a:ext cx="5059375" cy="658368"/>
          </a:xfrm>
          <a:prstGeom prst="roundRect">
            <a:avLst>
              <a:gd name="adj" fmla="val 11111"/>
            </a:avLst>
          </a:prstGeom>
          <a:solidFill>
            <a:srgbClr val="F3F5F8"/>
          </a:solidFill>
          <a:ln w="9525">
            <a:solidFill>
              <a:srgbClr val="F3F5F8"/>
            </a:solidFill>
          </a:ln>
        </p:spPr>
        <p:txBody>
          <a:bodyPr wrap="square" lIns="152400" tIns="152400" rIns="152400" bIns="152400" rtlCol="0" anchor="ctr"/>
          <a:lstStyle/>
          <a:p>
            <a:pPr algn="l" indent="0" marL="0">
              <a:buNone/>
            </a:pPr>
            <a:r>
              <a:rPr lang="en-US" sz="1500" dirty="0">
                <a:solidFill>
                  <a:srgbClr val="0E1A2B"/>
                </a:solidFill>
                <a:latin typeface="Malgun Gothic" pitchFamily="34" charset="0"/>
                <a:ea typeface="Malgun Gothic" pitchFamily="34" charset="-122"/>
                <a:cs typeface="Malgun Gothic" pitchFamily="34" charset="-120"/>
              </a:rPr>
              <a:t>최초 카드 사용 등록일~다음 달 말일은 실적 10만원 미만이어도 제공</a:t>
            </a:r>
            <a:endParaRPr lang="en-US" sz="1500" dirty="0"/>
          </a:p>
        </p:txBody>
      </p:sp>
      <p:sp>
        <p:nvSpPr>
          <p:cNvPr id="25" name="Text 23"/>
          <p:cNvSpPr txBox="1"/>
          <p:nvPr/>
        </p:nvSpPr>
        <p:spPr>
          <a:xfrm>
            <a:off x="548640" y="5852160"/>
            <a:ext cx="11094415" cy="438912"/>
          </a:xfrm>
          <a:prstGeom prst="roundRect">
            <a:avLst>
              <a:gd name="adj" fmla="val 20833"/>
            </a:avLst>
          </a:prstGeom>
          <a:solidFill>
            <a:srgbClr val="FFFFFF"/>
          </a:solidFill>
          <a:ln w="15875">
            <a:solidFill>
              <a:srgbClr val="E8A33D"/>
            </a:solidFill>
          </a:ln>
        </p:spPr>
        <p:txBody>
          <a:bodyPr wrap="square" lIns="152400" tIns="152400" rIns="152400" bIns="152400" rtlCol="0" anchor="ctr"/>
          <a:lstStyle/>
          <a:p>
            <a:pPr algn="l" indent="0" marL="0">
              <a:buNone/>
            </a:pPr>
            <a:r>
              <a:rPr lang="en-US" sz="1400" b="1" dirty="0">
                <a:solidFill>
                  <a:srgbClr val="8F5208"/>
                </a:solidFill>
                <a:latin typeface="Malgun Gothic" pitchFamily="34" charset="0"/>
                <a:ea typeface="Malgun Gothic" pitchFamily="34" charset="-122"/>
                <a:cs typeface="Malgun Gothic" pitchFamily="34" charset="-120"/>
              </a:rPr>
              <a:t>다음 질문  </a:t>
            </a:r>
            <a:pPr algn="l" indent="0" marL="0">
              <a:buNone/>
            </a:pPr>
            <a:r>
              <a:rPr lang="en-US" sz="1400" b="1" dirty="0">
                <a:solidFill>
                  <a:srgbClr val="0E1A2B"/>
                </a:solidFill>
                <a:latin typeface="Malgun Gothic" pitchFamily="34" charset="0"/>
                <a:ea typeface="Malgun Gothic" pitchFamily="34" charset="-122"/>
                <a:cs typeface="Malgun Gothic" pitchFamily="34" charset="-120"/>
              </a:rPr>
              <a:t>그런데 같은 제외 조건도 적용되는 위치가 서로 다를 수 있을까요?</a:t>
            </a:r>
            <a:endParaRPr lang="en-US" sz="1400" dirty="0"/>
          </a:p>
        </p:txBody>
      </p:sp>
      <p:sp>
        <p:nvSpPr>
          <p:cNvPr id="26" name="Text 24"/>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원문: 하나카드 ONE PICK STYLE 상품설명서(15650_20260429) 1쪽 — ONE MORE 표·실적 산정 기준·실적 제외 대상·서비스 제외 대상·실적과 관계없이 서비스 제공, 2026-10-30 대조</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03   적용 범위</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같은 ‘상품권 제외’도 걸리는 곳이 다릅니다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원문 확인</a:t>
            </a:r>
            <a:endParaRPr lang="en-US" sz="1100" dirty="0"/>
          </a:p>
        </p:txBody>
      </p:sp>
      <p:sp>
        <p:nvSpPr>
          <p:cNvPr id="5" name="Text 3"/>
          <p:cNvSpPr txBox="1"/>
          <p:nvPr/>
        </p:nvSpPr>
        <p:spPr>
          <a:xfrm>
            <a:off x="4480560" y="1691640"/>
            <a:ext cx="3200400" cy="548640"/>
          </a:xfrm>
          <a:prstGeom prst="roundRect">
            <a:avLst>
              <a:gd name="adj" fmla="val 20000"/>
            </a:avLst>
          </a:prstGeom>
          <a:solidFill>
            <a:srgbClr val="D9472B"/>
          </a:solidFill>
          <a:ln>
            <a:solidFill>
              <a:srgbClr val="D9472B"/>
            </a:solidFill>
          </a:ln>
        </p:spPr>
        <p:txBody>
          <a:bodyPr wrap="square" lIns="38100" tIns="38100" rIns="38100" bIns="3810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상품권·기프트카드 구매</a:t>
            </a:r>
            <a:endParaRPr lang="en-US" sz="1600" dirty="0"/>
          </a:p>
        </p:txBody>
      </p:sp>
      <p:sp>
        <p:nvSpPr>
          <p:cNvPr id="6" name="Shape 4"/>
          <p:cNvSpPr/>
          <p:nvPr/>
        </p:nvSpPr>
        <p:spPr>
          <a:xfrm flipH="1">
            <a:off x="4937760" y="2258568"/>
            <a:ext cx="1828800" cy="347472"/>
          </a:xfrm>
          <a:prstGeom prst="line">
            <a:avLst/>
          </a:prstGeom>
          <a:noFill/>
          <a:ln w="19050">
            <a:solidFill>
              <a:srgbClr val="3A4A60"/>
            </a:solidFill>
            <a:prstDash val="solid"/>
            <a:tailEnd type="triangle"/>
          </a:ln>
        </p:spPr>
      </p:sp>
      <p:sp>
        <p:nvSpPr>
          <p:cNvPr id="7" name="Shape 5"/>
          <p:cNvSpPr/>
          <p:nvPr/>
        </p:nvSpPr>
        <p:spPr>
          <a:xfrm>
            <a:off x="7223760" y="2258568"/>
            <a:ext cx="1828800" cy="347472"/>
          </a:xfrm>
          <a:prstGeom prst="line">
            <a:avLst/>
          </a:prstGeom>
          <a:noFill/>
          <a:ln w="19050">
            <a:solidFill>
              <a:srgbClr val="3A4A60"/>
            </a:solidFill>
            <a:prstDash val="solid"/>
            <a:tailEnd type="triangle"/>
          </a:ln>
        </p:spPr>
      </p:sp>
      <p:sp>
        <p:nvSpPr>
          <p:cNvPr id="8" name="Shape 6"/>
          <p:cNvSpPr/>
          <p:nvPr/>
        </p:nvSpPr>
        <p:spPr>
          <a:xfrm>
            <a:off x="548640" y="2651760"/>
            <a:ext cx="5074920" cy="1325880"/>
          </a:xfrm>
          <a:prstGeom prst="roundRect">
            <a:avLst>
              <a:gd name="adj" fmla="val 6897"/>
            </a:avLst>
          </a:prstGeom>
          <a:solidFill>
            <a:srgbClr val="FDF0DC"/>
          </a:solidFill>
          <a:ln w="12700">
            <a:solidFill>
              <a:srgbClr val="FDF0DC"/>
            </a:solidFill>
            <a:prstDash val="solid"/>
          </a:ln>
        </p:spPr>
      </p:sp>
      <p:sp>
        <p:nvSpPr>
          <p:cNvPr id="9" name="Text 7"/>
          <p:cNvSpPr txBox="1"/>
          <p:nvPr/>
        </p:nvSpPr>
        <p:spPr>
          <a:xfrm>
            <a:off x="749808" y="2743200"/>
            <a:ext cx="4663440" cy="1170432"/>
          </a:xfrm>
          <a:prstGeom prst="rect">
            <a:avLst/>
          </a:prstGeom>
          <a:noFill/>
          <a:ln/>
        </p:spPr>
        <p:txBody>
          <a:bodyPr wrap="square" lIns="0" tIns="0" rIns="0" bIns="0" rtlCol="0" anchor="t"/>
          <a:lstStyle/>
          <a:p>
            <a:pPr indent="0" marL="0">
              <a:lnSpc>
                <a:spcPct val="115000"/>
              </a:lnSpc>
              <a:buNone/>
            </a:pPr>
            <a:r>
              <a:rPr lang="en-US" sz="1700" b="1" dirty="0">
                <a:solidFill>
                  <a:srgbClr val="8F5208"/>
                </a:solidFill>
                <a:latin typeface="Malgun Gothic" pitchFamily="34" charset="0"/>
                <a:ea typeface="Malgun Gothic" pitchFamily="34" charset="-122"/>
                <a:cs typeface="Malgun Gothic" pitchFamily="34" charset="-120"/>
              </a:rPr>
              <a:t>① 전월실적 산정에서 제외</a:t>
            </a:r>
            <a:endParaRPr lang="en-US" sz="1400" dirty="0"/>
          </a:p>
          <a:p>
            <a:pPr indent="0" marL="0">
              <a:lnSpc>
                <a:spcPct val="115000"/>
              </a:lnSpc>
              <a:buNone/>
            </a:pPr>
            <a:r>
              <a:rPr lang="en-US" sz="1400" dirty="0">
                <a:solidFill>
                  <a:srgbClr val="0E1A2B"/>
                </a:solidFill>
                <a:latin typeface="Malgun Gothic" pitchFamily="34" charset="0"/>
                <a:ea typeface="Malgun Gothic" pitchFamily="34" charset="-122"/>
                <a:cs typeface="Malgun Gothic" pitchFamily="34" charset="-120"/>
              </a:rPr>
              <a:t>상품권으로 쓴 금액은 ‘지난달 10만원’ 계산에 들어가지 않습니다</a:t>
            </a:r>
            <a:endParaRPr lang="en-US" sz="1400" dirty="0"/>
          </a:p>
          <a:p>
            <a:pPr indent="0" marL="0">
              <a:lnSpc>
                <a:spcPct val="115000"/>
              </a:lnSpc>
              <a:buNone/>
            </a:pPr>
            <a:r>
              <a:rPr lang="en-US" sz="1100" dirty="0">
                <a:solidFill>
                  <a:srgbClr val="5B6778"/>
                </a:solidFill>
                <a:latin typeface="Malgun Gothic" pitchFamily="34" charset="0"/>
                <a:ea typeface="Malgun Gothic" pitchFamily="34" charset="-122"/>
                <a:cs typeface="Malgun Gothic" pitchFamily="34" charset="-120"/>
              </a:rPr>
              <a:t>STYLE 1쪽 · 실적 제외 대상</a:t>
            </a:r>
            <a:endParaRPr lang="en-US" sz="1400" dirty="0"/>
          </a:p>
        </p:txBody>
      </p:sp>
      <p:sp>
        <p:nvSpPr>
          <p:cNvPr id="10" name="Shape 8"/>
          <p:cNvSpPr/>
          <p:nvPr/>
        </p:nvSpPr>
        <p:spPr>
          <a:xfrm>
            <a:off x="6565392" y="2651760"/>
            <a:ext cx="5074920" cy="1325880"/>
          </a:xfrm>
          <a:prstGeom prst="roundRect">
            <a:avLst>
              <a:gd name="adj" fmla="val 6897"/>
            </a:avLst>
          </a:prstGeom>
          <a:solidFill>
            <a:srgbClr val="FBE6E2"/>
          </a:solidFill>
          <a:ln w="12700">
            <a:solidFill>
              <a:srgbClr val="FBE6E2"/>
            </a:solidFill>
            <a:prstDash val="solid"/>
          </a:ln>
        </p:spPr>
      </p:sp>
      <p:sp>
        <p:nvSpPr>
          <p:cNvPr id="11" name="Text 9"/>
          <p:cNvSpPr txBox="1"/>
          <p:nvPr/>
        </p:nvSpPr>
        <p:spPr>
          <a:xfrm>
            <a:off x="6766560" y="2743200"/>
            <a:ext cx="4663440" cy="1170432"/>
          </a:xfrm>
          <a:prstGeom prst="rect">
            <a:avLst/>
          </a:prstGeom>
          <a:noFill/>
          <a:ln/>
        </p:spPr>
        <p:txBody>
          <a:bodyPr wrap="square" lIns="0" tIns="0" rIns="0" bIns="0" rtlCol="0" anchor="t"/>
          <a:lstStyle/>
          <a:p>
            <a:pPr indent="0" marL="0">
              <a:lnSpc>
                <a:spcPct val="115000"/>
              </a:lnSpc>
              <a:buNone/>
            </a:pPr>
            <a:r>
              <a:rPr lang="en-US" sz="1700" b="1" dirty="0">
                <a:solidFill>
                  <a:srgbClr val="A8311A"/>
                </a:solidFill>
                <a:latin typeface="Malgun Gothic" pitchFamily="34" charset="0"/>
                <a:ea typeface="Malgun Gothic" pitchFamily="34" charset="-122"/>
                <a:cs typeface="Malgun Gothic" pitchFamily="34" charset="-120"/>
              </a:rPr>
              <a:t>② 할인·캐시백 서비스 적용에서 제외</a:t>
            </a:r>
            <a:endParaRPr lang="en-US" sz="1400" dirty="0"/>
          </a:p>
          <a:p>
            <a:pPr indent="0" marL="0">
              <a:lnSpc>
                <a:spcPct val="115000"/>
              </a:lnSpc>
              <a:buNone/>
            </a:pPr>
            <a:r>
              <a:rPr lang="en-US" sz="1400" dirty="0">
                <a:solidFill>
                  <a:srgbClr val="0E1A2B"/>
                </a:solidFill>
                <a:latin typeface="Malgun Gothic" pitchFamily="34" charset="0"/>
                <a:ea typeface="Malgun Gothic" pitchFamily="34" charset="-122"/>
                <a:cs typeface="Malgun Gothic" pitchFamily="34" charset="-120"/>
              </a:rPr>
              <a:t>상품권 결제 자체에는 캐시백·할인이 적용되지 않습니다</a:t>
            </a:r>
            <a:endParaRPr lang="en-US" sz="1400" dirty="0"/>
          </a:p>
          <a:p>
            <a:pPr indent="0" marL="0">
              <a:lnSpc>
                <a:spcPct val="115000"/>
              </a:lnSpc>
              <a:buNone/>
            </a:pPr>
            <a:r>
              <a:rPr lang="en-US" sz="1100" dirty="0">
                <a:solidFill>
                  <a:srgbClr val="5B6778"/>
                </a:solidFill>
                <a:latin typeface="Malgun Gothic" pitchFamily="34" charset="0"/>
                <a:ea typeface="Malgun Gothic" pitchFamily="34" charset="-122"/>
                <a:cs typeface="Malgun Gothic" pitchFamily="34" charset="-120"/>
              </a:rPr>
              <a:t>STYLE 1쪽 · 서비스 제외 대상(공통)</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4160520"/>
          <a:ext cx="6035040" cy="914400"/>
        </p:xfrm>
        <a:graphic>
          <a:graphicData uri="http://schemas.openxmlformats.org/drawingml/2006/table">
            <a:tbl>
              <a:tblPr/>
              <a:tblGrid>
                <a:gridCol w="2286000"/>
                <a:gridCol w="1463040"/>
                <a:gridCol w="2286000"/>
              </a:tblGrid>
              <a:tr h="274320">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하나카드 상품</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실적 산정 제외</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혜택 적용 제외 범위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r>
              <a:tr h="27432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ONE PICK STYLE (체크)</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b="1" dirty="0">
                          <a:solidFill>
                            <a:srgbClr val="A8311A"/>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서비스 공통</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7432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ONE PICK PLAY (체크)</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b="1" dirty="0">
                          <a:solidFill>
                            <a:srgbClr val="A8311A"/>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서비스 공통</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7432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BT (신용)</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b="1" dirty="0">
                          <a:solidFill>
                            <a:srgbClr val="A8311A"/>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BIG TICKET 할인</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7432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에너지 더블 (신용)</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b="1" dirty="0">
                          <a:solidFill>
                            <a:srgbClr val="A8311A"/>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대형마트 할인</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13" name="Text 10"/>
          <p:cNvSpPr txBox="1"/>
          <p:nvPr/>
        </p:nvSpPr>
        <p:spPr>
          <a:xfrm>
            <a:off x="6812280" y="4160520"/>
            <a:ext cx="4828032" cy="1417320"/>
          </a:xfrm>
          <a:prstGeom prst="roundRect">
            <a:avLst>
              <a:gd name="adj" fmla="val 5161"/>
            </a:avLst>
          </a:prstGeom>
          <a:solidFill>
            <a:srgbClr val="F3F5F8"/>
          </a:solidFill>
          <a:ln w="9525">
            <a:solidFill>
              <a:srgbClr val="F3F5F8"/>
            </a:solidFill>
          </a:ln>
        </p:spPr>
        <p:txBody>
          <a:bodyPr wrap="square" lIns="152400" tIns="152400" rIns="152400" bIns="1524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키워드 검색만 하면  </a:t>
            </a:r>
            <a:pPr algn="l" indent="0" marL="0">
              <a:buNone/>
            </a:pPr>
            <a:r>
              <a:rPr lang="en-US" sz="1300" dirty="0">
                <a:solidFill>
                  <a:srgbClr val="1A2433"/>
                </a:solidFill>
                <a:latin typeface="Malgun Gothic" pitchFamily="34" charset="0"/>
                <a:ea typeface="Malgun Gothic" pitchFamily="34" charset="-122"/>
                <a:cs typeface="Malgun Gothic" pitchFamily="34" charset="-120"/>
              </a:rPr>
              <a:t>‘상품권’ 문구는 모두 찾지만, 어느 문구가 실적에 걸리고 어느 문구가 혜택에 걸리는지는 문맥과 표 구조까지 봐야 구분됩니다.</a:t>
            </a:r>
            <a:endParaRPr lang="en-US" sz="1300" dirty="0"/>
          </a:p>
          <a:p>
            <a:pPr algn="l" indent="0" marL="0">
              <a:buNone/>
            </a:pPr>
            <a:r>
              <a:rPr lang="en-US" sz="1100" dirty="0">
                <a:solidFill>
                  <a:srgbClr val="3A4A60"/>
                </a:solidFill>
                <a:latin typeface="Malgun Gothic" pitchFamily="34" charset="0"/>
                <a:ea typeface="Malgun Gothic" pitchFamily="34" charset="-122"/>
                <a:cs typeface="Malgun Gothic" pitchFamily="34" charset="-120"/>
              </a:rPr>
              <a:t>벡터 RAG·SQL도 적용 범위를 데이터로 표현하면 구분할 수 있습니다. 관건은 그 범위를 정확히 추출·저장하는 일입니다.</a:t>
            </a:r>
            <a:endParaRPr lang="en-US" sz="1300" dirty="0"/>
          </a:p>
        </p:txBody>
      </p:sp>
      <p:sp>
        <p:nvSpPr>
          <p:cNvPr id="14" name="Text 11"/>
          <p:cNvSpPr txBox="1"/>
          <p:nvPr/>
        </p:nvSpPr>
        <p:spPr>
          <a:xfrm>
            <a:off x="548640" y="5852160"/>
            <a:ext cx="11094415" cy="438912"/>
          </a:xfrm>
          <a:prstGeom prst="roundRect">
            <a:avLst>
              <a:gd name="adj" fmla="val 20833"/>
            </a:avLst>
          </a:prstGeom>
          <a:solidFill>
            <a:srgbClr val="FFFFFF"/>
          </a:solidFill>
          <a:ln w="15875">
            <a:solidFill>
              <a:srgbClr val="E8A33D"/>
            </a:solidFill>
          </a:ln>
        </p:spPr>
        <p:txBody>
          <a:bodyPr wrap="square" lIns="152400" tIns="152400" rIns="152400" bIns="152400" rtlCol="0" anchor="ctr"/>
          <a:lstStyle/>
          <a:p>
            <a:pPr algn="l" indent="0" marL="0">
              <a:buNone/>
            </a:pPr>
            <a:r>
              <a:rPr lang="en-US" sz="1400" b="1" dirty="0">
                <a:solidFill>
                  <a:srgbClr val="8F5208"/>
                </a:solidFill>
                <a:latin typeface="Malgun Gothic" pitchFamily="34" charset="0"/>
                <a:ea typeface="Malgun Gothic" pitchFamily="34" charset="-122"/>
                <a:cs typeface="Malgun Gothic" pitchFamily="34" charset="-120"/>
              </a:rPr>
              <a:t>다음 질문  </a:t>
            </a:r>
            <a:pPr algn="l" indent="0" marL="0">
              <a:buNone/>
            </a:pPr>
            <a:r>
              <a:rPr lang="en-US" sz="1400" b="1" dirty="0">
                <a:solidFill>
                  <a:srgbClr val="0E1A2B"/>
                </a:solidFill>
                <a:latin typeface="Malgun Gothic" pitchFamily="34" charset="0"/>
                <a:ea typeface="Malgun Gothic" pitchFamily="34" charset="-122"/>
                <a:cs typeface="Malgun Gothic" pitchFamily="34" charset="-120"/>
              </a:rPr>
              <a:t>이 조건들을 PDF에서 추출하면 관계까지 정확하게 보존할 수 있을까요?</a:t>
            </a:r>
            <a:endParaRPr lang="en-US" sz="1400" dirty="0"/>
          </a:p>
        </p:txBody>
      </p:sp>
      <p:sp>
        <p:nvSpPr>
          <p:cNvPr id="15" name="Text 12"/>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원문: ONE PICK STYLE(15650_20260429)·PLAY(15651_20260429)·BT(14324_20260310)·에너지 더블(14422_20251224) 1쪽, 2026-10-30 대조</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04   PDF 추출 검증</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PDF에서 숫자는 읽혀도, 조건 사이의 관계는 쉽게 끊어집니다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검증 수행</a:t>
            </a:r>
            <a:endParaRPr lang="en-US" sz="1100" dirty="0"/>
          </a:p>
        </p:txBody>
      </p:sp>
      <p:sp>
        <p:nvSpPr>
          <p:cNvPr id="5" name="Text 3"/>
          <p:cNvSpPr txBox="1"/>
          <p:nvPr/>
        </p:nvSpPr>
        <p:spPr>
          <a:xfrm>
            <a:off x="548640" y="1691640"/>
            <a:ext cx="5029200" cy="274320"/>
          </a:xfrm>
          <a:prstGeom prst="rect">
            <a:avLst/>
          </a:prstGeom>
          <a:noFill/>
          <a:ln/>
        </p:spPr>
        <p:txBody>
          <a:bodyPr wrap="square" lIns="0" tIns="0" rIns="0" bIns="0" rtlCol="0" anchor="t"/>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원문 PDF 표 — BT · BIG TICKET (도식)</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5029200" cy="914400"/>
        </p:xfrm>
        <a:graphic>
          <a:graphicData uri="http://schemas.openxmlformats.org/drawingml/2006/table">
            <a:tbl>
              <a:tblPr/>
              <a:tblGrid>
                <a:gridCol w="1645920"/>
                <a:gridCol w="1280160"/>
                <a:gridCol w="2103120"/>
              </a:tblGrid>
              <a:tr h="329184">
                <a:tc>
                  <a:txBody>
                    <a:bodyP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이용금액 구간</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할인율</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월 할인한도</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r>
              <a:tr h="329184">
                <a:tc>
                  <a:txBody>
                    <a:bodyPr/>
                    <a:lstStyle/>
                    <a:p>
                      <a:pPr algn="ctr" indent="0" marL="0">
                        <a:buNone/>
                      </a:pPr>
                      <a:r>
                        <a:rPr lang="en-US" sz="1300" dirty="0">
                          <a:solidFill>
                            <a:srgbClr val="1A2433"/>
                          </a:solidFill>
                          <a:latin typeface="Malgun Gothic" pitchFamily="34" charset="0"/>
                          <a:ea typeface="Malgun Gothic" pitchFamily="34" charset="-122"/>
                          <a:cs typeface="Malgun Gothic" pitchFamily="34" charset="-120"/>
                        </a:rPr>
                        <a:t>구간 1</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dirty="0">
                          <a:solidFill>
                            <a:srgbClr val="1A2433"/>
                          </a:solidFill>
                          <a:latin typeface="Malgun Gothic" pitchFamily="34" charset="0"/>
                          <a:ea typeface="Malgun Gothic" pitchFamily="34" charset="-122"/>
                          <a:cs typeface="Malgun Gothic" pitchFamily="34" charset="-120"/>
                        </a:rPr>
                        <a:t>1.5%</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rowSpan="4">
                  <a:txBody>
                    <a:bodyPr/>
                    <a:lstStyle/>
                    <a:p>
                      <a:pPr algn="ctr" indent="0" marL="0">
                        <a:buNone/>
                      </a:pPr>
                      <a:r>
                        <a:rPr lang="en-US" sz="1300" dirty="0">
                          <a:solidFill>
                            <a:srgbClr val="1A2433"/>
                          </a:solidFill>
                          <a:latin typeface="Malgun Gothic" pitchFamily="34" charset="0"/>
                          <a:ea typeface="Malgun Gothic" pitchFamily="34" charset="-122"/>
                          <a:cs typeface="Malgun Gothic" pitchFamily="34" charset="-120"/>
                        </a:rPr>
                        <a:t>300만원 · 한도 없음</a:t>
                      </a:r>
                      <a:endParaRPr lang="en-US" sz="1300" dirty="0">
                        <a:latin typeface="Malgun Gothic" charset="0"/>
                        <a:ea typeface="Malgun Gothic" charset="0"/>
                        <a:cs typeface="Malgun Gothic" charset="0"/>
                      </a:endParaRPr>
                    </a:p>
                    <a:p>
                      <a:pPr algn="ctr" indent="0" marL="0">
                        <a:buNone/>
                      </a:pPr>
                      <a:r>
                        <a:rPr lang="en-US" sz="1300" dirty="0">
                          <a:solidFill>
                            <a:srgbClr val="1A2433"/>
                          </a:solidFill>
                          <a:latin typeface="Malgun Gothic" pitchFamily="34" charset="0"/>
                          <a:ea typeface="Malgun Gothic" pitchFamily="34" charset="-122"/>
                          <a:cs typeface="Malgun Gothic" pitchFamily="34" charset="-120"/>
                        </a:rPr>
                        <a:t>(구간별로 대응)</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29184">
                <a:tc>
                  <a:txBody>
                    <a:bodyPr/>
                    <a:lstStyle/>
                    <a:p>
                      <a:pPr algn="ctr" indent="0" marL="0">
                        <a:buNone/>
                      </a:pPr>
                      <a:r>
                        <a:rPr lang="en-US" sz="1300" dirty="0">
                          <a:solidFill>
                            <a:srgbClr val="1A2433"/>
                          </a:solidFill>
                          <a:latin typeface="Malgun Gothic" pitchFamily="34" charset="0"/>
                          <a:ea typeface="Malgun Gothic" pitchFamily="34" charset="-122"/>
                          <a:cs typeface="Malgun Gothic" pitchFamily="34" charset="-120"/>
                        </a:rPr>
                        <a:t>구간 2</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dirty="0">
                          <a:solidFill>
                            <a:srgbClr val="1A2433"/>
                          </a:solidFill>
                          <a:latin typeface="Malgun Gothic" pitchFamily="34" charset="0"/>
                          <a:ea typeface="Malgun Gothic" pitchFamily="34" charset="-122"/>
                          <a:cs typeface="Malgun Gothic" pitchFamily="34" charset="-120"/>
                        </a:rPr>
                        <a:t>1.2%</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vMerge="1">
                  <a:tcPr/>
                </a:tc>
              </a:tr>
              <a:tr h="329184">
                <a:tc>
                  <a:txBody>
                    <a:bodyPr/>
                    <a:lstStyle/>
                    <a:p>
                      <a:pPr algn="ctr" indent="0" marL="0">
                        <a:buNone/>
                      </a:pPr>
                      <a:r>
                        <a:rPr lang="en-US" sz="1300" dirty="0">
                          <a:solidFill>
                            <a:srgbClr val="1A2433"/>
                          </a:solidFill>
                          <a:latin typeface="Malgun Gothic" pitchFamily="34" charset="0"/>
                          <a:ea typeface="Malgun Gothic" pitchFamily="34" charset="-122"/>
                          <a:cs typeface="Malgun Gothic" pitchFamily="34" charset="-120"/>
                        </a:rPr>
                        <a:t>구간 3</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dirty="0">
                          <a:solidFill>
                            <a:srgbClr val="1A2433"/>
                          </a:solidFill>
                          <a:latin typeface="Malgun Gothic" pitchFamily="34" charset="0"/>
                          <a:ea typeface="Malgun Gothic" pitchFamily="34" charset="-122"/>
                          <a:cs typeface="Malgun Gothic" pitchFamily="34" charset="-120"/>
                        </a:rPr>
                        <a:t>1.0%</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vMerge="1">
                  <a:tcPr/>
                </a:tc>
              </a:tr>
              <a:tr h="329184">
                <a:tc>
                  <a:txBody>
                    <a:bodyPr/>
                    <a:lstStyle/>
                    <a:p>
                      <a:pPr algn="ctr" indent="0" marL="0">
                        <a:buNone/>
                      </a:pPr>
                      <a:r>
                        <a:rPr lang="en-US" sz="1300" dirty="0">
                          <a:solidFill>
                            <a:srgbClr val="1A2433"/>
                          </a:solidFill>
                          <a:latin typeface="Malgun Gothic" pitchFamily="34" charset="0"/>
                          <a:ea typeface="Malgun Gothic" pitchFamily="34" charset="-122"/>
                          <a:cs typeface="Malgun Gothic" pitchFamily="34" charset="-120"/>
                        </a:rPr>
                        <a:t>구간 4</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dirty="0">
                          <a:solidFill>
                            <a:srgbClr val="1A2433"/>
                          </a:solidFill>
                          <a:latin typeface="Malgun Gothic" pitchFamily="34" charset="0"/>
                          <a:ea typeface="Malgun Gothic" pitchFamily="34" charset="-122"/>
                          <a:cs typeface="Malgun Gothic" pitchFamily="34" charset="-120"/>
                        </a:rPr>
                        <a:t>0.5%</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vMerge="1">
                  <a:tcPr/>
                </a:tc>
              </a:tr>
            </a:tbl>
          </a:graphicData>
        </a:graphic>
      </p:graphicFrame>
      <p:sp>
        <p:nvSpPr>
          <p:cNvPr id="7" name="Shape 4"/>
          <p:cNvSpPr/>
          <p:nvPr/>
        </p:nvSpPr>
        <p:spPr>
          <a:xfrm>
            <a:off x="5669280" y="2834640"/>
            <a:ext cx="457200" cy="0"/>
          </a:xfrm>
          <a:prstGeom prst="line">
            <a:avLst/>
          </a:prstGeom>
          <a:noFill/>
          <a:ln w="19050">
            <a:solidFill>
              <a:srgbClr val="3A4A60"/>
            </a:solidFill>
            <a:prstDash val="solid"/>
            <a:tailEnd type="triangle"/>
          </a:ln>
        </p:spPr>
      </p:sp>
      <p:sp>
        <p:nvSpPr>
          <p:cNvPr id="8" name="Text 5"/>
          <p:cNvSpPr txBox="1"/>
          <p:nvPr/>
        </p:nvSpPr>
        <p:spPr>
          <a:xfrm>
            <a:off x="6199632" y="1691640"/>
            <a:ext cx="5440680" cy="274320"/>
          </a:xfrm>
          <a:prstGeom prst="rect">
            <a:avLst/>
          </a:prstGeom>
          <a:noFill/>
          <a:ln/>
        </p:spPr>
        <p:txBody>
          <a:bodyPr wrap="square" lIns="0" tIns="0" rIns="0" bIns="0" rtlCol="0" anchor="t"/>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기본 옵션 추출 결과 — pdfplumber extract_tables()</a:t>
            </a:r>
            <a:endParaRPr lang="en-US" sz="1300" dirty="0"/>
          </a:p>
        </p:txBody>
      </p:sp>
      <p:sp>
        <p:nvSpPr>
          <p:cNvPr id="9" name="Text 6"/>
          <p:cNvSpPr txBox="1"/>
          <p:nvPr/>
        </p:nvSpPr>
        <p:spPr>
          <a:xfrm>
            <a:off x="6199632" y="2011680"/>
            <a:ext cx="5440680" cy="1051560"/>
          </a:xfrm>
          <a:prstGeom prst="roundRect">
            <a:avLst>
              <a:gd name="adj" fmla="val 6957"/>
            </a:avLst>
          </a:prstGeom>
          <a:solidFill>
            <a:srgbClr val="0E1A2B"/>
          </a:solidFill>
          <a:ln>
            <a:solidFill>
              <a:srgbClr val="0E1A2B"/>
            </a:solidFill>
          </a:ln>
        </p:spPr>
        <p:txBody>
          <a:bodyPr wrap="square" lIns="152400" tIns="152400" rIns="152400" bIns="152400" rtlCol="0" anchor="ctr"/>
          <a:lstStyle/>
          <a:p>
            <a:pPr algn="l" indent="0" marL="0">
              <a:buNone/>
            </a:pPr>
            <a:r>
              <a:rPr lang="en-US" sz="1300" dirty="0">
                <a:solidFill>
                  <a:srgbClr val="E6ECF4"/>
                </a:solidFill>
                <a:latin typeface="Courier New" pitchFamily="34" charset="0"/>
                <a:ea typeface="Courier New" pitchFamily="34" charset="-122"/>
                <a:cs typeface="Courier New" pitchFamily="34" charset="-120"/>
              </a:rPr>
              <a:t>['할인율', '월 할인한도']</a:t>
            </a:r>
            <a:endParaRPr lang="en-US" sz="1300" dirty="0"/>
          </a:p>
          <a:p>
            <a:pPr algn="l" indent="0" marL="0">
              <a:buNone/>
            </a:pPr>
            <a:r>
              <a:rPr lang="en-US" sz="1300" dirty="0">
                <a:solidFill>
                  <a:srgbClr val="E6ECF4"/>
                </a:solidFill>
                <a:latin typeface="Courier New" pitchFamily="34" charset="0"/>
                <a:ea typeface="Courier New" pitchFamily="34" charset="-122"/>
                <a:cs typeface="Courier New" pitchFamily="34" charset="-120"/>
              </a:rPr>
              <a:t>['1.5%\n1.2%\n1.0%\n0.5%', '300만원\n한도 없음']</a:t>
            </a:r>
            <a:endParaRPr lang="en-US" sz="1300" dirty="0"/>
          </a:p>
        </p:txBody>
      </p:sp>
      <p:sp>
        <p:nvSpPr>
          <p:cNvPr id="10" name="Text 7"/>
          <p:cNvSpPr txBox="1"/>
          <p:nvPr/>
        </p:nvSpPr>
        <p:spPr>
          <a:xfrm>
            <a:off x="6199632" y="3154680"/>
            <a:ext cx="5440680" cy="457200"/>
          </a:xfrm>
          <a:prstGeom prst="rect">
            <a:avLst/>
          </a:prstGeom>
          <a:noFill/>
          <a:ln/>
        </p:spPr>
        <p:txBody>
          <a:bodyPr wrap="square" lIns="0" tIns="0" rIns="0" bIns="0" rtlCol="0" anchor="t"/>
          <a:lstStyle/>
          <a:p>
            <a:pPr indent="0" marL="0">
              <a:buNone/>
            </a:pPr>
            <a:r>
              <a:rPr lang="en-US" sz="1400" b="1" dirty="0">
                <a:solidFill>
                  <a:srgbClr val="A8311A"/>
                </a:solidFill>
                <a:latin typeface="Malgun Gothic" pitchFamily="34" charset="0"/>
                <a:ea typeface="Malgun Gothic" pitchFamily="34" charset="-122"/>
                <a:cs typeface="Malgun Gothic" pitchFamily="34" charset="-120"/>
              </a:rPr>
              <a:t>→ 이용금액 구간 열이 사라지고, 할인율 4개가 한 셀로 묶임</a:t>
            </a:r>
            <a:endParaRPr lang="en-US" sz="1400" dirty="0"/>
          </a:p>
        </p:txBody>
      </p:sp>
      <p:sp>
        <p:nvSpPr>
          <p:cNvPr id="11" name="Text 8"/>
          <p:cNvSpPr txBox="1"/>
          <p:nvPr/>
        </p:nvSpPr>
        <p:spPr>
          <a:xfrm>
            <a:off x="548640" y="3977640"/>
            <a:ext cx="2194560" cy="365760"/>
          </a:xfrm>
          <a:prstGeom prst="rect">
            <a:avLst/>
          </a:prstGeom>
          <a:noFill/>
          <a:ln/>
        </p:spPr>
        <p:txBody>
          <a:bodyPr wrap="square" lIns="0" tIns="0" rIns="0" bIns="0" rtlCol="0" anchor="ctr"/>
          <a:lstStyle/>
          <a:p>
            <a:pPr indent="0" marL="0">
              <a:buNone/>
            </a:pPr>
            <a:r>
              <a:rPr lang="en-US" sz="1300" b="1" dirty="0">
                <a:solidFill>
                  <a:srgbClr val="0D6F64"/>
                </a:solidFill>
                <a:latin typeface="Malgun Gothic" pitchFamily="34" charset="0"/>
                <a:ea typeface="Malgun Gothic" pitchFamily="34" charset="-122"/>
                <a:cs typeface="Malgun Gothic" pitchFamily="34" charset="-120"/>
              </a:rPr>
              <a:t>같은 검증에서 확인한 사실</a:t>
            </a:r>
            <a:endParaRPr lang="en-US" sz="1300" dirty="0"/>
          </a:p>
        </p:txBody>
      </p:sp>
      <p:sp>
        <p:nvSpPr>
          <p:cNvPr id="12" name="Text 9"/>
          <p:cNvSpPr txBox="1"/>
          <p:nvPr/>
        </p:nvSpPr>
        <p:spPr>
          <a:xfrm>
            <a:off x="2834640" y="3977640"/>
            <a:ext cx="2844698" cy="365760"/>
          </a:xfrm>
          <a:prstGeom prst="roundRect">
            <a:avLst>
              <a:gd name="adj" fmla="val 15000"/>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STYLE·PLAY: 기본 표 탐지 0개</a:t>
            </a:r>
            <a:endParaRPr lang="en-US" sz="1300" dirty="0"/>
          </a:p>
        </p:txBody>
      </p:sp>
      <p:sp>
        <p:nvSpPr>
          <p:cNvPr id="13" name="Text 10"/>
          <p:cNvSpPr txBox="1"/>
          <p:nvPr/>
        </p:nvSpPr>
        <p:spPr>
          <a:xfrm>
            <a:off x="5816498" y="3977640"/>
            <a:ext cx="2844698" cy="365760"/>
          </a:xfrm>
          <a:prstGeom prst="roundRect">
            <a:avLst>
              <a:gd name="adj" fmla="val 15000"/>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에너지 더블: 가맹점 열이 None</a:t>
            </a:r>
            <a:endParaRPr lang="en-US" sz="1300" dirty="0"/>
          </a:p>
        </p:txBody>
      </p:sp>
      <p:sp>
        <p:nvSpPr>
          <p:cNvPr id="14" name="Text 11"/>
          <p:cNvSpPr txBox="1"/>
          <p:nvPr/>
        </p:nvSpPr>
        <p:spPr>
          <a:xfrm>
            <a:off x="8798357" y="3977640"/>
            <a:ext cx="2844698" cy="365760"/>
          </a:xfrm>
          <a:prstGeom prst="roundRect">
            <a:avLst>
              <a:gd name="adj" fmla="val 15000"/>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‘월 5천원’이 혜택 3곳에 반복</a:t>
            </a:r>
            <a:endParaRPr lang="en-US" sz="1300" dirty="0"/>
          </a:p>
        </p:txBody>
      </p:sp>
      <p:sp>
        <p:nvSpPr>
          <p:cNvPr id="15" name="Text 12"/>
          <p:cNvSpPr txBox="1"/>
          <p:nvPr/>
        </p:nvSpPr>
        <p:spPr>
          <a:xfrm>
            <a:off x="548640" y="4480560"/>
            <a:ext cx="2194560" cy="365760"/>
          </a:xfrm>
          <a:prstGeom prst="rect">
            <a:avLst/>
          </a:prstGeom>
          <a:noFill/>
          <a:ln/>
        </p:spPr>
        <p:txBody>
          <a:bodyPr wrap="square" lIns="0" tIns="0" rIns="0" bIns="0" rtlCol="0" anchor="ctr"/>
          <a:lstStyle/>
          <a:p>
            <a:pPr indent="0" marL="0">
              <a:buNone/>
            </a:pPr>
            <a:r>
              <a:rPr lang="en-US" sz="1300" b="1" dirty="0">
                <a:solidFill>
                  <a:srgbClr val="3A4A60"/>
                </a:solidFill>
                <a:latin typeface="Malgun Gothic" pitchFamily="34" charset="0"/>
                <a:ea typeface="Malgun Gothic" pitchFamily="34" charset="-122"/>
                <a:cs typeface="Malgun Gothic" pitchFamily="34" charset="-120"/>
              </a:rPr>
              <a:t>예상 위험 (미검증)</a:t>
            </a:r>
            <a:endParaRPr lang="en-US" sz="1300" dirty="0"/>
          </a:p>
        </p:txBody>
      </p:sp>
      <p:sp>
        <p:nvSpPr>
          <p:cNvPr id="16" name="Text 13"/>
          <p:cNvSpPr txBox="1"/>
          <p:nvPr/>
        </p:nvSpPr>
        <p:spPr>
          <a:xfrm>
            <a:off x="2834640" y="4480560"/>
            <a:ext cx="2844698" cy="365760"/>
          </a:xfrm>
          <a:prstGeom prst="roundRect">
            <a:avLst>
              <a:gd name="adj" fmla="val 20000"/>
            </a:avLst>
          </a:prstGeom>
          <a:solidFill>
            <a:srgbClr val="FFFFFF"/>
          </a:solidFill>
          <a:ln w="12700">
            <a:solidFill>
              <a:srgbClr val="A0AAB8"/>
            </a:solidFill>
            <a:prstDash val="dash"/>
          </a:ln>
        </p:spPr>
        <p:txBody>
          <a:bodyPr wrap="square" lIns="38100" tIns="38100" rIns="38100" bIns="38100" rtlCol="0" anchor="ctr"/>
          <a:lstStyle/>
          <a:p>
            <a:pPr algn="ctr" indent="0" marL="0">
              <a:buNone/>
            </a:pPr>
            <a:r>
              <a:rPr lang="en-US" sz="1300" b="1" dirty="0">
                <a:solidFill>
                  <a:srgbClr val="3A4A60"/>
                </a:solidFill>
                <a:latin typeface="Malgun Gothic" pitchFamily="34" charset="0"/>
                <a:ea typeface="Malgun Gothic" pitchFamily="34" charset="-122"/>
                <a:cs typeface="Malgun Gothic" pitchFamily="34" charset="-120"/>
              </a:rPr>
              <a:t>혜택–조건 잘못 연결</a:t>
            </a:r>
            <a:endParaRPr lang="en-US" sz="1300" dirty="0"/>
          </a:p>
        </p:txBody>
      </p:sp>
      <p:sp>
        <p:nvSpPr>
          <p:cNvPr id="17" name="Text 14"/>
          <p:cNvSpPr txBox="1"/>
          <p:nvPr/>
        </p:nvSpPr>
        <p:spPr>
          <a:xfrm>
            <a:off x="5816498" y="4480560"/>
            <a:ext cx="2844698" cy="365760"/>
          </a:xfrm>
          <a:prstGeom prst="roundRect">
            <a:avLst>
              <a:gd name="adj" fmla="val 20000"/>
            </a:avLst>
          </a:prstGeom>
          <a:solidFill>
            <a:srgbClr val="FFFFFF"/>
          </a:solidFill>
          <a:ln w="12700">
            <a:solidFill>
              <a:srgbClr val="A0AAB8"/>
            </a:solidFill>
            <a:prstDash val="dash"/>
          </a:ln>
        </p:spPr>
        <p:txBody>
          <a:bodyPr wrap="square" lIns="38100" tIns="38100" rIns="38100" bIns="38100" rtlCol="0" anchor="ctr"/>
          <a:lstStyle/>
          <a:p>
            <a:pPr algn="ctr" indent="0" marL="0">
              <a:buNone/>
            </a:pPr>
            <a:r>
              <a:rPr lang="en-US" sz="1300" b="1" dirty="0">
                <a:solidFill>
                  <a:srgbClr val="3A4A60"/>
                </a:solidFill>
                <a:latin typeface="Malgun Gothic" pitchFamily="34" charset="0"/>
                <a:ea typeface="Malgun Gothic" pitchFamily="34" charset="-122"/>
                <a:cs typeface="Malgun Gothic" pitchFamily="34" charset="-120"/>
              </a:rPr>
              <a:t>비슷한 문구를 같은 규칙으로 병합</a:t>
            </a:r>
            <a:endParaRPr lang="en-US" sz="1300" dirty="0"/>
          </a:p>
        </p:txBody>
      </p:sp>
      <p:sp>
        <p:nvSpPr>
          <p:cNvPr id="18" name="Text 15"/>
          <p:cNvSpPr txBox="1"/>
          <p:nvPr/>
        </p:nvSpPr>
        <p:spPr>
          <a:xfrm>
            <a:off x="8798357" y="4480560"/>
            <a:ext cx="2844698" cy="365760"/>
          </a:xfrm>
          <a:prstGeom prst="roundRect">
            <a:avLst>
              <a:gd name="adj" fmla="val 20000"/>
            </a:avLst>
          </a:prstGeom>
          <a:solidFill>
            <a:srgbClr val="FFFFFF"/>
          </a:solidFill>
          <a:ln w="12700">
            <a:solidFill>
              <a:srgbClr val="A0AAB8"/>
            </a:solidFill>
            <a:prstDash val="dash"/>
          </a:ln>
        </p:spPr>
        <p:txBody>
          <a:bodyPr wrap="square" lIns="38100" tIns="38100" rIns="38100" bIns="38100" rtlCol="0" anchor="ctr"/>
          <a:lstStyle/>
          <a:p>
            <a:pPr algn="ctr" indent="0" marL="0">
              <a:buNone/>
            </a:pPr>
            <a:r>
              <a:rPr lang="en-US" sz="1300" b="1" dirty="0">
                <a:solidFill>
                  <a:srgbClr val="3A4A60"/>
                </a:solidFill>
                <a:latin typeface="Malgun Gothic" pitchFamily="34" charset="0"/>
                <a:ea typeface="Malgun Gothic" pitchFamily="34" charset="-122"/>
                <a:cs typeface="Malgun Gothic" pitchFamily="34" charset="-120"/>
              </a:rPr>
              <a:t>한도와 구간의 대응 손실</a:t>
            </a:r>
            <a:endParaRPr lang="en-US" sz="1300" dirty="0"/>
          </a:p>
        </p:txBody>
      </p:sp>
      <p:sp>
        <p:nvSpPr>
          <p:cNvPr id="19" name="Text 16"/>
          <p:cNvSpPr txBox="1"/>
          <p:nvPr/>
        </p:nvSpPr>
        <p:spPr>
          <a:xfrm>
            <a:off x="548640" y="5029200"/>
            <a:ext cx="11094415" cy="566928"/>
          </a:xfrm>
          <a:prstGeom prst="roundRect">
            <a:avLst>
              <a:gd name="adj" fmla="val 12903"/>
            </a:avLst>
          </a:prstGeom>
          <a:solidFill>
            <a:srgbClr val="F3F5F8"/>
          </a:solidFill>
          <a:ln w="9525">
            <a:solidFill>
              <a:srgbClr val="F3F5F8"/>
            </a:solidFill>
          </a:ln>
        </p:spPr>
        <p:txBody>
          <a:bodyPr wrap="square" lIns="152400" tIns="152400" rIns="152400" bIns="152400" rtlCol="0" anchor="ctr"/>
          <a:lstStyle/>
          <a:p>
            <a:pPr algn="l" indent="0" marL="0">
              <a:buNone/>
            </a:pPr>
            <a:r>
              <a:rPr lang="en-US" sz="1200" dirty="0">
                <a:solidFill>
                  <a:srgbClr val="3A4A60"/>
                </a:solidFill>
                <a:latin typeface="Malgun Gothic" pitchFamily="34" charset="0"/>
                <a:ea typeface="Malgun Gothic" pitchFamily="34" charset="-122"/>
                <a:cs typeface="Malgun Gothic" pitchFamily="34" charset="-120"/>
              </a:rPr>
              <a:t>PyMuPDF 1.28.2·pdfplumber 0.11.10 기본 옵션의 표본 결과입니다. 파서 설정·OCR·수작업 보정으로 달라질 수 있으며, PDF 추출 기술 전체의 한계를 뜻하지 않습니다.</a:t>
            </a:r>
            <a:endParaRPr lang="en-US" sz="1200" dirty="0"/>
          </a:p>
        </p:txBody>
      </p:sp>
      <p:sp>
        <p:nvSpPr>
          <p:cNvPr id="20" name="Text 17"/>
          <p:cNvSpPr txBox="1"/>
          <p:nvPr/>
        </p:nvSpPr>
        <p:spPr>
          <a:xfrm>
            <a:off x="548640" y="5852160"/>
            <a:ext cx="11094415" cy="438912"/>
          </a:xfrm>
          <a:prstGeom prst="roundRect">
            <a:avLst>
              <a:gd name="adj" fmla="val 20833"/>
            </a:avLst>
          </a:prstGeom>
          <a:solidFill>
            <a:srgbClr val="FFFFFF"/>
          </a:solidFill>
          <a:ln w="15875">
            <a:solidFill>
              <a:srgbClr val="E8A33D"/>
            </a:solidFill>
          </a:ln>
        </p:spPr>
        <p:txBody>
          <a:bodyPr wrap="square" lIns="152400" tIns="152400" rIns="152400" bIns="152400" rtlCol="0" anchor="ctr"/>
          <a:lstStyle/>
          <a:p>
            <a:pPr algn="l" indent="0" marL="0">
              <a:buNone/>
            </a:pPr>
            <a:r>
              <a:rPr lang="en-US" sz="1400" b="1" dirty="0">
                <a:solidFill>
                  <a:srgbClr val="8F5208"/>
                </a:solidFill>
                <a:latin typeface="Malgun Gothic" pitchFamily="34" charset="0"/>
                <a:ea typeface="Malgun Gothic" pitchFamily="34" charset="-122"/>
                <a:cs typeface="Malgun Gothic" pitchFamily="34" charset="-120"/>
              </a:rPr>
              <a:t>다음 질문  </a:t>
            </a:r>
            <a:pPr algn="l" indent="0" marL="0">
              <a:buNone/>
            </a:pPr>
            <a:r>
              <a:rPr lang="en-US" sz="1400" b="1" dirty="0">
                <a:solidFill>
                  <a:srgbClr val="0E1A2B"/>
                </a:solidFill>
                <a:latin typeface="Malgun Gothic" pitchFamily="34" charset="0"/>
                <a:ea typeface="Malgun Gothic" pitchFamily="34" charset="-122"/>
                <a:cs typeface="Malgun Gothic" pitchFamily="34" charset="-120"/>
              </a:rPr>
              <a:t>추출한 조건을 어떤 구조로 저장해야 적용 범위와 원문 근거를 따라갈 수 있을까요?</a:t>
            </a:r>
            <a:endParaRPr lang="en-US" sz="1400" dirty="0"/>
          </a:p>
        </p:txBody>
      </p:sp>
      <p:sp>
        <p:nvSpPr>
          <p:cNvPr id="21" name="Text 18"/>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card_pdf_structuring_validation.md (2026-10-29 팀 검증, 대표 페이지 원문 이미지 대조) · 왼쪽 표는 행 구조를 단순화한 도식</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05   해결 구조</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GraphRAG로 카드·혜택·조건·원문을 연결합니다</a:t>
            </a:r>
            <a:endParaRPr lang="en-US" sz="2400" dirty="0"/>
          </a:p>
        </p:txBody>
      </p:sp>
      <p:sp>
        <p:nvSpPr>
          <p:cNvPr id="4" name="Text 2"/>
          <p:cNvSpPr txBox="1"/>
          <p:nvPr/>
        </p:nvSpPr>
        <p:spPr>
          <a:xfrm>
            <a:off x="10920679"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설계안</a:t>
            </a:r>
            <a:endParaRPr lang="en-US" sz="1100" dirty="0"/>
          </a:p>
        </p:txBody>
      </p:sp>
      <p:sp>
        <p:nvSpPr>
          <p:cNvPr id="5" name="Text 3"/>
          <p:cNvSpPr txBox="1"/>
          <p:nvPr/>
        </p:nvSpPr>
        <p:spPr>
          <a:xfrm>
            <a:off x="548640" y="1737360"/>
            <a:ext cx="1554480" cy="685800"/>
          </a:xfrm>
          <a:prstGeom prst="roundRect">
            <a:avLst>
              <a:gd name="adj" fmla="val 10667"/>
            </a:avLst>
          </a:prstGeom>
          <a:solidFill>
            <a:srgbClr val="E8ECF2"/>
          </a:solidFill>
          <a:ln>
            <a:solidFill>
              <a:srgbClr val="E8ECF2"/>
            </a:solidFill>
          </a:ln>
        </p:spPr>
        <p:txBody>
          <a:bodyPr wrap="square" lIns="38100" tIns="38100" rIns="38100" bIns="38100" rtlCol="0" anchor="ctr"/>
          <a:lstStyle/>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지식화</a:t>
            </a:r>
            <a:endParaRPr lang="en-US" sz="1200" dirty="0"/>
          </a:p>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문서 → 그래프</a:t>
            </a:r>
            <a:endParaRPr lang="en-US" sz="1200" dirty="0"/>
          </a:p>
        </p:txBody>
      </p:sp>
      <p:sp>
        <p:nvSpPr>
          <p:cNvPr id="6" name="Text 4"/>
          <p:cNvSpPr txBox="1"/>
          <p:nvPr/>
        </p:nvSpPr>
        <p:spPr>
          <a:xfrm>
            <a:off x="548640" y="2743200"/>
            <a:ext cx="1554480" cy="685800"/>
          </a:xfrm>
          <a:prstGeom prst="roundRect">
            <a:avLst>
              <a:gd name="adj" fmla="val 10667"/>
            </a:avLst>
          </a:prstGeom>
          <a:solidFill>
            <a:srgbClr val="E8ECF2"/>
          </a:solidFill>
          <a:ln>
            <a:solidFill>
              <a:srgbClr val="E8ECF2"/>
            </a:solidFill>
          </a:ln>
        </p:spPr>
        <p:txBody>
          <a:bodyPr wrap="square" lIns="38100" tIns="38100" rIns="38100" bIns="38100" rtlCol="0" anchor="ctr"/>
          <a:lstStyle/>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GraphRAG</a:t>
            </a:r>
            <a:endParaRPr lang="en-US" sz="1200" dirty="0"/>
          </a:p>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질문 → 답변</a:t>
            </a:r>
            <a:endParaRPr lang="en-US" sz="1200" dirty="0"/>
          </a:p>
        </p:txBody>
      </p:sp>
      <p:sp>
        <p:nvSpPr>
          <p:cNvPr id="7" name="Text 5"/>
          <p:cNvSpPr txBox="1"/>
          <p:nvPr/>
        </p:nvSpPr>
        <p:spPr>
          <a:xfrm>
            <a:off x="2286000" y="1737360"/>
            <a:ext cx="1688531" cy="685800"/>
          </a:xfrm>
          <a:prstGeom prst="roundRect">
            <a:avLst>
              <a:gd name="adj" fmla="val 10667"/>
            </a:avLst>
          </a:prstGeom>
          <a:solidFill>
            <a:srgbClr val="FFFFFF"/>
          </a:solidFill>
          <a:ln w="12700">
            <a:solidFill>
              <a:srgbClr val="D5DBE3"/>
            </a:solidFill>
          </a:ln>
        </p:spPr>
        <p:txBody>
          <a:bodyPr wrap="square" lIns="38100" tIns="38100" rIns="38100" bIns="38100" rtlCol="0" anchor="ctr"/>
          <a:lstStyle/>
          <a:p>
            <a:pPr algn="ctr" indent="0" marL="0">
              <a:buNone/>
            </a:pPr>
            <a:r>
              <a:rPr lang="en-US" sz="1300" dirty="0">
                <a:solidFill>
                  <a:srgbClr val="0E1A2B"/>
                </a:solidFill>
                <a:latin typeface="Malgun Gothic" pitchFamily="34" charset="0"/>
                <a:ea typeface="Malgun Gothic" pitchFamily="34" charset="-122"/>
                <a:cs typeface="Malgun Gothic" pitchFamily="34" charset="-120"/>
              </a:rPr>
              <a:t>공식 PDF</a:t>
            </a:r>
            <a:endParaRPr lang="en-US" sz="1300" dirty="0"/>
          </a:p>
          <a:p>
            <a:pPr algn="ctr" indent="0" marL="0">
              <a:buNone/>
            </a:pPr>
            <a:r>
              <a:rPr lang="en-US" sz="1300" dirty="0">
                <a:solidFill>
                  <a:srgbClr val="0E1A2B"/>
                </a:solidFill>
                <a:latin typeface="Malgun Gothic" pitchFamily="34" charset="0"/>
                <a:ea typeface="Malgun Gothic" pitchFamily="34" charset="-122"/>
                <a:cs typeface="Malgun Gothic" pitchFamily="34" charset="-120"/>
              </a:rPr>
              <a:t>(하나카드)</a:t>
            </a:r>
            <a:endParaRPr lang="en-US" sz="1300" dirty="0"/>
          </a:p>
        </p:txBody>
      </p:sp>
      <p:sp>
        <p:nvSpPr>
          <p:cNvPr id="8" name="Shape 6"/>
          <p:cNvSpPr/>
          <p:nvPr/>
        </p:nvSpPr>
        <p:spPr>
          <a:xfrm>
            <a:off x="3992819" y="2080260"/>
            <a:ext cx="192024" cy="0"/>
          </a:xfrm>
          <a:prstGeom prst="line">
            <a:avLst/>
          </a:prstGeom>
          <a:noFill/>
          <a:ln w="19050">
            <a:solidFill>
              <a:srgbClr val="8A94A3"/>
            </a:solidFill>
            <a:prstDash val="solid"/>
            <a:tailEnd type="triangle"/>
          </a:ln>
        </p:spPr>
      </p:sp>
      <p:sp>
        <p:nvSpPr>
          <p:cNvPr id="9" name="Text 7"/>
          <p:cNvSpPr txBox="1"/>
          <p:nvPr/>
        </p:nvSpPr>
        <p:spPr>
          <a:xfrm>
            <a:off x="4203131" y="1737360"/>
            <a:ext cx="1688531" cy="685800"/>
          </a:xfrm>
          <a:prstGeom prst="roundRect">
            <a:avLst>
              <a:gd name="adj" fmla="val 10667"/>
            </a:avLst>
          </a:prstGeom>
          <a:solidFill>
            <a:srgbClr val="FFFFFF"/>
          </a:solidFill>
          <a:ln w="12700">
            <a:solidFill>
              <a:srgbClr val="D5DBE3"/>
            </a:solidFill>
          </a:ln>
        </p:spPr>
        <p:txBody>
          <a:bodyPr wrap="square" lIns="38100" tIns="38100" rIns="38100" bIns="38100" rtlCol="0" anchor="ctr"/>
          <a:lstStyle/>
          <a:p>
            <a:pPr algn="ctr" indent="0" marL="0">
              <a:buNone/>
            </a:pPr>
            <a:r>
              <a:rPr lang="en-US" sz="1300" dirty="0">
                <a:solidFill>
                  <a:srgbClr val="0E1A2B"/>
                </a:solidFill>
                <a:latin typeface="Malgun Gothic" pitchFamily="34" charset="0"/>
                <a:ea typeface="Malgun Gothic" pitchFamily="34" charset="-122"/>
                <a:cs typeface="Malgun Gothic" pitchFamily="34" charset="-120"/>
              </a:rPr>
              <a:t>파싱·청킹</a:t>
            </a:r>
            <a:endParaRPr lang="en-US" sz="1300" dirty="0"/>
          </a:p>
          <a:p>
            <a:pPr algn="ctr" indent="0" marL="0">
              <a:buNone/>
            </a:pPr>
            <a:r>
              <a:rPr lang="en-US" sz="1300" dirty="0">
                <a:solidFill>
                  <a:srgbClr val="0E1A2B"/>
                </a:solidFill>
                <a:latin typeface="Malgun Gothic" pitchFamily="34" charset="0"/>
                <a:ea typeface="Malgun Gothic" pitchFamily="34" charset="-122"/>
                <a:cs typeface="Malgun Gothic" pitchFamily="34" charset="-120"/>
              </a:rPr>
              <a:t>원문 위치 보존</a:t>
            </a:r>
            <a:endParaRPr lang="en-US" sz="1300" dirty="0"/>
          </a:p>
        </p:txBody>
      </p:sp>
      <p:sp>
        <p:nvSpPr>
          <p:cNvPr id="10" name="Shape 8"/>
          <p:cNvSpPr/>
          <p:nvPr/>
        </p:nvSpPr>
        <p:spPr>
          <a:xfrm>
            <a:off x="5909950" y="2080260"/>
            <a:ext cx="192024" cy="0"/>
          </a:xfrm>
          <a:prstGeom prst="line">
            <a:avLst/>
          </a:prstGeom>
          <a:noFill/>
          <a:ln w="19050">
            <a:solidFill>
              <a:srgbClr val="8A94A3"/>
            </a:solidFill>
            <a:prstDash val="solid"/>
            <a:tailEnd type="triangle"/>
          </a:ln>
        </p:spPr>
      </p:sp>
      <p:sp>
        <p:nvSpPr>
          <p:cNvPr id="11" name="Text 9"/>
          <p:cNvSpPr txBox="1"/>
          <p:nvPr/>
        </p:nvSpPr>
        <p:spPr>
          <a:xfrm>
            <a:off x="6120262" y="1737360"/>
            <a:ext cx="1688531" cy="685800"/>
          </a:xfrm>
          <a:prstGeom prst="roundRect">
            <a:avLst>
              <a:gd name="adj" fmla="val 10667"/>
            </a:avLst>
          </a:prstGeom>
          <a:solidFill>
            <a:srgbClr val="FFFFFF"/>
          </a:solidFill>
          <a:ln w="12700">
            <a:solidFill>
              <a:srgbClr val="D5DBE3"/>
            </a:solidFill>
          </a:ln>
        </p:spPr>
        <p:txBody>
          <a:bodyPr wrap="square" lIns="38100" tIns="38100" rIns="38100" bIns="38100" rtlCol="0" anchor="ctr"/>
          <a:lstStyle/>
          <a:p>
            <a:pPr algn="ctr" indent="0" marL="0">
              <a:buNone/>
            </a:pPr>
            <a:r>
              <a:rPr lang="en-US" sz="1300" dirty="0">
                <a:solidFill>
                  <a:srgbClr val="0E1A2B"/>
                </a:solidFill>
                <a:latin typeface="Malgun Gothic" pitchFamily="34" charset="0"/>
                <a:ea typeface="Malgun Gothic" pitchFamily="34" charset="-122"/>
                <a:cs typeface="Malgun Gothic" pitchFamily="34" charset="-120"/>
              </a:rPr>
              <a:t>LLM 관계</a:t>
            </a:r>
            <a:endParaRPr lang="en-US" sz="1300" dirty="0"/>
          </a:p>
          <a:p>
            <a:pPr algn="ctr" indent="0" marL="0">
              <a:buNone/>
            </a:pPr>
            <a:r>
              <a:rPr lang="en-US" sz="1300" dirty="0">
                <a:solidFill>
                  <a:srgbClr val="0E1A2B"/>
                </a:solidFill>
                <a:latin typeface="Malgun Gothic" pitchFamily="34" charset="0"/>
                <a:ea typeface="Malgun Gothic" pitchFamily="34" charset="-122"/>
                <a:cs typeface="Malgun Gothic" pitchFamily="34" charset="-120"/>
              </a:rPr>
              <a:t>추출·정규화</a:t>
            </a:r>
            <a:endParaRPr lang="en-US" sz="1300" dirty="0"/>
          </a:p>
        </p:txBody>
      </p:sp>
      <p:sp>
        <p:nvSpPr>
          <p:cNvPr id="12" name="Shape 10"/>
          <p:cNvSpPr/>
          <p:nvPr/>
        </p:nvSpPr>
        <p:spPr>
          <a:xfrm>
            <a:off x="7827081" y="2080260"/>
            <a:ext cx="192024" cy="0"/>
          </a:xfrm>
          <a:prstGeom prst="line">
            <a:avLst/>
          </a:prstGeom>
          <a:noFill/>
          <a:ln w="19050">
            <a:solidFill>
              <a:srgbClr val="8A94A3"/>
            </a:solidFill>
            <a:prstDash val="solid"/>
            <a:tailEnd type="triangle"/>
          </a:ln>
        </p:spPr>
      </p:sp>
      <p:sp>
        <p:nvSpPr>
          <p:cNvPr id="13" name="Text 11"/>
          <p:cNvSpPr txBox="1"/>
          <p:nvPr/>
        </p:nvSpPr>
        <p:spPr>
          <a:xfrm>
            <a:off x="8037393" y="1737360"/>
            <a:ext cx="1688531" cy="685800"/>
          </a:xfrm>
          <a:prstGeom prst="roundRect">
            <a:avLst>
              <a:gd name="adj" fmla="val 10667"/>
            </a:avLst>
          </a:prstGeom>
          <a:solidFill>
            <a:srgbClr val="FFFFFF"/>
          </a:solidFill>
          <a:ln w="12700">
            <a:solidFill>
              <a:srgbClr val="D5DBE3"/>
            </a:solidFill>
          </a:ln>
        </p:spPr>
        <p:txBody>
          <a:bodyPr wrap="square" lIns="38100" tIns="38100" rIns="38100" bIns="38100" rtlCol="0" anchor="ctr"/>
          <a:lstStyle/>
          <a:p>
            <a:pPr algn="ctr" indent="0" marL="0">
              <a:buNone/>
            </a:pPr>
            <a:r>
              <a:rPr lang="en-US" sz="1300" dirty="0">
                <a:solidFill>
                  <a:srgbClr val="0E1A2B"/>
                </a:solidFill>
                <a:latin typeface="Malgun Gothic" pitchFamily="34" charset="0"/>
                <a:ea typeface="Malgun Gothic" pitchFamily="34" charset="-122"/>
                <a:cs typeface="Malgun Gothic" pitchFamily="34" charset="-120"/>
              </a:rPr>
              <a:t>원문 대조·검수</a:t>
            </a:r>
            <a:endParaRPr lang="en-US" sz="1300" dirty="0"/>
          </a:p>
        </p:txBody>
      </p:sp>
      <p:sp>
        <p:nvSpPr>
          <p:cNvPr id="14" name="Shape 12"/>
          <p:cNvSpPr/>
          <p:nvPr/>
        </p:nvSpPr>
        <p:spPr>
          <a:xfrm>
            <a:off x="9744212" y="2080260"/>
            <a:ext cx="192024" cy="0"/>
          </a:xfrm>
          <a:prstGeom prst="line">
            <a:avLst/>
          </a:prstGeom>
          <a:noFill/>
          <a:ln w="19050">
            <a:solidFill>
              <a:srgbClr val="8A94A3"/>
            </a:solidFill>
            <a:prstDash val="solid"/>
            <a:tailEnd type="triangle"/>
          </a:ln>
        </p:spPr>
      </p:sp>
      <p:sp>
        <p:nvSpPr>
          <p:cNvPr id="15" name="Text 13"/>
          <p:cNvSpPr txBox="1"/>
          <p:nvPr/>
        </p:nvSpPr>
        <p:spPr>
          <a:xfrm>
            <a:off x="9954524" y="1737360"/>
            <a:ext cx="1688531" cy="685800"/>
          </a:xfrm>
          <a:prstGeom prst="roundRect">
            <a:avLst>
              <a:gd name="adj" fmla="val 10667"/>
            </a:avLst>
          </a:prstGeom>
          <a:solidFill>
            <a:srgbClr val="FFFFFF"/>
          </a:solidFill>
          <a:ln w="12700">
            <a:solidFill>
              <a:srgbClr val="D5DBE3"/>
            </a:solidFill>
          </a:ln>
        </p:spPr>
        <p:txBody>
          <a:bodyPr wrap="square" lIns="38100" tIns="38100" rIns="38100" bIns="381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Neo4j</a:t>
            </a:r>
            <a:endParaRPr lang="en-US" sz="1300" dirty="0"/>
          </a:p>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관계 저장</a:t>
            </a:r>
            <a:endParaRPr lang="en-US" sz="1300" dirty="0"/>
          </a:p>
        </p:txBody>
      </p:sp>
      <p:sp>
        <p:nvSpPr>
          <p:cNvPr id="16" name="Text 14"/>
          <p:cNvSpPr txBox="1"/>
          <p:nvPr/>
        </p:nvSpPr>
        <p:spPr>
          <a:xfrm>
            <a:off x="2286000" y="2743200"/>
            <a:ext cx="2966618" cy="685800"/>
          </a:xfrm>
          <a:prstGeom prst="roundRect">
            <a:avLst>
              <a:gd name="adj" fmla="val 10667"/>
            </a:avLst>
          </a:prstGeom>
          <a:solidFill>
            <a:srgbClr val="159A8C"/>
          </a:solidFill>
          <a:ln>
            <a:solidFill>
              <a:srgbClr val="159A8C"/>
            </a:solidFill>
          </a:ln>
        </p:spPr>
        <p:txBody>
          <a:bodyPr wrap="square" lIns="38100" tIns="38100" rIns="38100" bIns="3810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① 질문 해석 (LLM)</a:t>
            </a:r>
            <a:endParaRPr lang="en-US" sz="1500" dirty="0"/>
          </a:p>
        </p:txBody>
      </p:sp>
      <p:sp>
        <p:nvSpPr>
          <p:cNvPr id="17" name="Shape 15"/>
          <p:cNvSpPr/>
          <p:nvPr/>
        </p:nvSpPr>
        <p:spPr>
          <a:xfrm>
            <a:off x="5270906" y="3086100"/>
            <a:ext cx="192024" cy="0"/>
          </a:xfrm>
          <a:prstGeom prst="line">
            <a:avLst/>
          </a:prstGeom>
          <a:noFill/>
          <a:ln w="19050">
            <a:solidFill>
              <a:srgbClr val="8A94A3"/>
            </a:solidFill>
            <a:prstDash val="solid"/>
            <a:tailEnd type="triangle"/>
          </a:ln>
        </p:spPr>
      </p:sp>
      <p:sp>
        <p:nvSpPr>
          <p:cNvPr id="18" name="Text 16"/>
          <p:cNvSpPr txBox="1"/>
          <p:nvPr/>
        </p:nvSpPr>
        <p:spPr>
          <a:xfrm>
            <a:off x="5481218" y="2743200"/>
            <a:ext cx="2966618" cy="685800"/>
          </a:xfrm>
          <a:prstGeom prst="roundRect">
            <a:avLst>
              <a:gd name="adj" fmla="val 10667"/>
            </a:avLst>
          </a:prstGeom>
          <a:solidFill>
            <a:srgbClr val="159A8C"/>
          </a:solidFill>
          <a:ln>
            <a:solidFill>
              <a:srgbClr val="159A8C"/>
            </a:solidFill>
          </a:ln>
        </p:spPr>
        <p:txBody>
          <a:bodyPr wrap="square" lIns="38100" tIns="38100" rIns="38100" bIns="3810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② 관계·근거 검색 (Cypher)</a:t>
            </a:r>
            <a:endParaRPr lang="en-US" sz="1500" dirty="0"/>
          </a:p>
        </p:txBody>
      </p:sp>
      <p:sp>
        <p:nvSpPr>
          <p:cNvPr id="19" name="Shape 17"/>
          <p:cNvSpPr/>
          <p:nvPr/>
        </p:nvSpPr>
        <p:spPr>
          <a:xfrm>
            <a:off x="8466125" y="3086100"/>
            <a:ext cx="192024" cy="0"/>
          </a:xfrm>
          <a:prstGeom prst="line">
            <a:avLst/>
          </a:prstGeom>
          <a:noFill/>
          <a:ln w="19050">
            <a:solidFill>
              <a:srgbClr val="8A94A3"/>
            </a:solidFill>
            <a:prstDash val="solid"/>
            <a:tailEnd type="triangle"/>
          </a:ln>
        </p:spPr>
      </p:sp>
      <p:sp>
        <p:nvSpPr>
          <p:cNvPr id="20" name="Text 18"/>
          <p:cNvSpPr txBox="1"/>
          <p:nvPr/>
        </p:nvSpPr>
        <p:spPr>
          <a:xfrm>
            <a:off x="8676437" y="2743200"/>
            <a:ext cx="2966618" cy="685800"/>
          </a:xfrm>
          <a:prstGeom prst="roundRect">
            <a:avLst>
              <a:gd name="adj" fmla="val 10667"/>
            </a:avLst>
          </a:prstGeom>
          <a:solidFill>
            <a:srgbClr val="159A8C"/>
          </a:solidFill>
          <a:ln>
            <a:solidFill>
              <a:srgbClr val="159A8C"/>
            </a:solidFill>
          </a:ln>
        </p:spPr>
        <p:txBody>
          <a:bodyPr wrap="square" lIns="38100" tIns="38100" rIns="38100" bIns="3810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③ 근거 기반 답변 (LLM)</a:t>
            </a:r>
            <a:endParaRPr lang="en-US" sz="1500" dirty="0"/>
          </a:p>
        </p:txBody>
      </p:sp>
      <p:sp>
        <p:nvSpPr>
          <p:cNvPr id="21" name="Shape 19"/>
          <p:cNvSpPr/>
          <p:nvPr/>
        </p:nvSpPr>
        <p:spPr>
          <a:xfrm>
            <a:off x="10798790" y="2441448"/>
            <a:ext cx="-3092607" cy="283464"/>
          </a:xfrm>
          <a:prstGeom prst="line">
            <a:avLst/>
          </a:prstGeom>
          <a:noFill/>
          <a:ln w="19050">
            <a:solidFill>
              <a:srgbClr val="0D6F64"/>
            </a:solidFill>
            <a:prstDash val="solid"/>
            <a:tailEnd type="triangle"/>
          </a:ln>
        </p:spPr>
      </p:sp>
      <p:sp>
        <p:nvSpPr>
          <p:cNvPr id="22" name="Text 20"/>
          <p:cNvSpPr txBox="1"/>
          <p:nvPr/>
        </p:nvSpPr>
        <p:spPr>
          <a:xfrm>
            <a:off x="548640" y="3657600"/>
            <a:ext cx="7315200" cy="274320"/>
          </a:xfrm>
          <a:prstGeom prst="rect">
            <a:avLst/>
          </a:prstGeom>
          <a:noFill/>
          <a:ln/>
        </p:spPr>
        <p:txBody>
          <a:bodyPr wrap="square" lIns="0" tIns="0" rIns="0" bIns="0" rtlCol="0" anchor="t"/>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그래프 관계 예시 — 질문에 필요한 노드만</a:t>
            </a:r>
            <a:endParaRPr lang="en-US" sz="1300" dirty="0"/>
          </a:p>
        </p:txBody>
      </p:sp>
      <p:sp>
        <p:nvSpPr>
          <p:cNvPr id="23" name="Text 21"/>
          <p:cNvSpPr txBox="1"/>
          <p:nvPr/>
        </p:nvSpPr>
        <p:spPr>
          <a:xfrm>
            <a:off x="548640" y="3977640"/>
            <a:ext cx="1965960" cy="731520"/>
          </a:xfrm>
          <a:prstGeom prst="roundRect">
            <a:avLst>
              <a:gd name="adj" fmla="val 15000"/>
            </a:avLst>
          </a:prstGeom>
          <a:solidFill>
            <a:srgbClr val="0E1A2B"/>
          </a:solidFill>
          <a:ln>
            <a:solidFill>
              <a:srgbClr val="0E1A2B"/>
            </a:solidFill>
          </a:ln>
        </p:spPr>
        <p:txBody>
          <a:bodyPr wrap="square" lIns="38100" tIns="38100" rIns="38100" bIns="3810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카드</a:t>
            </a:r>
            <a:endParaRPr lang="en-US" sz="1300" dirty="0"/>
          </a:p>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ONE PICK STYLE</a:t>
            </a:r>
            <a:endParaRPr lang="en-US" sz="1300" dirty="0"/>
          </a:p>
        </p:txBody>
      </p:sp>
      <p:sp>
        <p:nvSpPr>
          <p:cNvPr id="24" name="Shape 22"/>
          <p:cNvSpPr/>
          <p:nvPr/>
        </p:nvSpPr>
        <p:spPr>
          <a:xfrm>
            <a:off x="2532888" y="4343400"/>
            <a:ext cx="279578" cy="0"/>
          </a:xfrm>
          <a:prstGeom prst="line">
            <a:avLst/>
          </a:prstGeom>
          <a:noFill/>
          <a:ln w="19050">
            <a:solidFill>
              <a:srgbClr val="3A4A60"/>
            </a:solidFill>
            <a:prstDash val="solid"/>
            <a:tailEnd type="triangle"/>
          </a:ln>
        </p:spPr>
      </p:sp>
      <p:sp>
        <p:nvSpPr>
          <p:cNvPr id="25" name="Text 23"/>
          <p:cNvSpPr txBox="1"/>
          <p:nvPr/>
        </p:nvSpPr>
        <p:spPr>
          <a:xfrm>
            <a:off x="2830754" y="3977640"/>
            <a:ext cx="1965960" cy="731520"/>
          </a:xfrm>
          <a:prstGeom prst="roundRect">
            <a:avLst>
              <a:gd name="adj" fmla="val 15000"/>
            </a:avLst>
          </a:prstGeom>
          <a:solidFill>
            <a:srgbClr val="159A8C"/>
          </a:solidFill>
          <a:ln>
            <a:solidFill>
              <a:srgbClr val="159A8C"/>
            </a:solidFill>
          </a:ln>
        </p:spPr>
        <p:txBody>
          <a:bodyPr wrap="square" lIns="38100" tIns="38100" rIns="38100" bIns="3810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혜택</a:t>
            </a:r>
            <a:endParaRPr lang="en-US" sz="1300" dirty="0"/>
          </a:p>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ONE MORE 대중교통</a:t>
            </a:r>
            <a:endParaRPr lang="en-US" sz="1300" dirty="0"/>
          </a:p>
        </p:txBody>
      </p:sp>
      <p:sp>
        <p:nvSpPr>
          <p:cNvPr id="26" name="Shape 24"/>
          <p:cNvSpPr/>
          <p:nvPr/>
        </p:nvSpPr>
        <p:spPr>
          <a:xfrm>
            <a:off x="4815002" y="4343400"/>
            <a:ext cx="279578" cy="0"/>
          </a:xfrm>
          <a:prstGeom prst="line">
            <a:avLst/>
          </a:prstGeom>
          <a:noFill/>
          <a:ln w="19050">
            <a:solidFill>
              <a:srgbClr val="3A4A60"/>
            </a:solidFill>
            <a:prstDash val="solid"/>
            <a:tailEnd type="triangle"/>
          </a:ln>
        </p:spPr>
      </p:sp>
      <p:sp>
        <p:nvSpPr>
          <p:cNvPr id="27" name="Text 25"/>
          <p:cNvSpPr txBox="1"/>
          <p:nvPr/>
        </p:nvSpPr>
        <p:spPr>
          <a:xfrm>
            <a:off x="5112868" y="3977640"/>
            <a:ext cx="1965960" cy="731520"/>
          </a:xfrm>
          <a:prstGeom prst="roundRect">
            <a:avLst>
              <a:gd name="adj" fmla="val 15000"/>
            </a:avLst>
          </a:prstGeom>
          <a:solidFill>
            <a:srgbClr val="E8A33D"/>
          </a:solidFill>
          <a:ln>
            <a:solidFill>
              <a:srgbClr val="E8A33D"/>
            </a:solidFill>
          </a:ln>
        </p:spPr>
        <p:txBody>
          <a:bodyPr wrap="square" lIns="38100" tIns="38100" rIns="38100" bIns="381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실적 조건</a:t>
            </a:r>
            <a:endParaRPr lang="en-US" sz="1300" dirty="0"/>
          </a:p>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지난달 10만원</a:t>
            </a:r>
            <a:endParaRPr lang="en-US" sz="1300" dirty="0"/>
          </a:p>
        </p:txBody>
      </p:sp>
      <p:sp>
        <p:nvSpPr>
          <p:cNvPr id="28" name="Shape 26"/>
          <p:cNvSpPr/>
          <p:nvPr/>
        </p:nvSpPr>
        <p:spPr>
          <a:xfrm>
            <a:off x="7097116" y="4343400"/>
            <a:ext cx="279578" cy="0"/>
          </a:xfrm>
          <a:prstGeom prst="line">
            <a:avLst/>
          </a:prstGeom>
          <a:noFill/>
          <a:ln w="19050">
            <a:solidFill>
              <a:srgbClr val="3A4A60"/>
            </a:solidFill>
            <a:prstDash val="solid"/>
            <a:tailEnd type="triangle"/>
          </a:ln>
        </p:spPr>
      </p:sp>
      <p:sp>
        <p:nvSpPr>
          <p:cNvPr id="29" name="Text 27"/>
          <p:cNvSpPr txBox="1"/>
          <p:nvPr/>
        </p:nvSpPr>
        <p:spPr>
          <a:xfrm>
            <a:off x="7394981" y="3977640"/>
            <a:ext cx="1965960" cy="731520"/>
          </a:xfrm>
          <a:prstGeom prst="roundRect">
            <a:avLst>
              <a:gd name="adj" fmla="val 15000"/>
            </a:avLst>
          </a:prstGeom>
          <a:solidFill>
            <a:srgbClr val="D9472B"/>
          </a:solidFill>
          <a:ln>
            <a:solidFill>
              <a:srgbClr val="D9472B"/>
            </a:solidFill>
          </a:ln>
        </p:spPr>
        <p:txBody>
          <a:bodyPr wrap="square" lIns="38100" tIns="38100" rIns="38100" bIns="3810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제외 규칙</a:t>
            </a:r>
            <a:endParaRPr lang="en-US" sz="1300" dirty="0"/>
          </a:p>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상품권 실적 제외</a:t>
            </a:r>
            <a:endParaRPr lang="en-US" sz="1300" dirty="0"/>
          </a:p>
        </p:txBody>
      </p:sp>
      <p:sp>
        <p:nvSpPr>
          <p:cNvPr id="30" name="Shape 28"/>
          <p:cNvSpPr/>
          <p:nvPr/>
        </p:nvSpPr>
        <p:spPr>
          <a:xfrm>
            <a:off x="9379229" y="4343400"/>
            <a:ext cx="279578" cy="0"/>
          </a:xfrm>
          <a:prstGeom prst="line">
            <a:avLst/>
          </a:prstGeom>
          <a:noFill/>
          <a:ln w="19050">
            <a:solidFill>
              <a:srgbClr val="3A4A60"/>
            </a:solidFill>
            <a:prstDash val="solid"/>
            <a:tailEnd type="triangle"/>
          </a:ln>
        </p:spPr>
      </p:sp>
      <p:sp>
        <p:nvSpPr>
          <p:cNvPr id="31" name="Text 29"/>
          <p:cNvSpPr txBox="1"/>
          <p:nvPr/>
        </p:nvSpPr>
        <p:spPr>
          <a:xfrm>
            <a:off x="9677095" y="3977640"/>
            <a:ext cx="1965960" cy="731520"/>
          </a:xfrm>
          <a:prstGeom prst="roundRect">
            <a:avLst>
              <a:gd name="adj" fmla="val 15000"/>
            </a:avLst>
          </a:prstGeom>
          <a:solidFill>
            <a:srgbClr val="6A4FB0"/>
          </a:solidFill>
          <a:ln>
            <a:solidFill>
              <a:srgbClr val="6A4FB0"/>
            </a:solidFill>
          </a:ln>
        </p:spPr>
        <p:txBody>
          <a:bodyPr wrap="square" lIns="38100" tIns="38100" rIns="38100" bIns="3810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공식 조항</a:t>
            </a:r>
            <a:endParaRPr lang="en-US" sz="1300" dirty="0"/>
          </a:p>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15650 · 1쪽</a:t>
            </a:r>
            <a:endParaRPr lang="en-US" sz="1300" dirty="0"/>
          </a:p>
        </p:txBody>
      </p:sp>
      <p:sp>
        <p:nvSpPr>
          <p:cNvPr id="32" name="Text 30"/>
          <p:cNvSpPr txBox="1"/>
          <p:nvPr/>
        </p:nvSpPr>
        <p:spPr>
          <a:xfrm>
            <a:off x="548640" y="4754880"/>
            <a:ext cx="11094415" cy="237744"/>
          </a:xfrm>
          <a:prstGeom prst="rect">
            <a:avLst/>
          </a:prstGeom>
          <a:noFill/>
          <a:ln/>
        </p:spPr>
        <p:txBody>
          <a:bodyPr wrap="square" lIns="0" tIns="0" rIns="0" bIns="0" rtlCol="0" anchor="t"/>
          <a:lstStyle/>
          <a:p>
            <a:pPr algn="ctr" indent="0" marL="0">
              <a:buNone/>
            </a:pPr>
            <a:r>
              <a:rPr lang="en-US" sz="1100" dirty="0">
                <a:solidFill>
                  <a:srgbClr val="3A4A60"/>
                </a:solidFill>
                <a:latin typeface="Courier New" pitchFamily="34" charset="0"/>
                <a:ea typeface="Courier New" pitchFamily="34" charset="-122"/>
                <a:cs typeface="Courier New" pitchFamily="34" charset="-120"/>
              </a:rPr>
              <a:t>HAS_BENEFIT  →  REQUIRES  →  EXCLUDES {scope: 실적}  →  SOURCED_FROM</a:t>
            </a:r>
            <a:endParaRPr lang="en-US" sz="1100" dirty="0"/>
          </a:p>
        </p:txBody>
      </p:sp>
      <p:sp>
        <p:nvSpPr>
          <p:cNvPr id="33" name="Text 31"/>
          <p:cNvSpPr txBox="1"/>
          <p:nvPr/>
        </p:nvSpPr>
        <p:spPr>
          <a:xfrm>
            <a:off x="548640" y="5120640"/>
            <a:ext cx="11094415" cy="566928"/>
          </a:xfrm>
          <a:prstGeom prst="roundRect">
            <a:avLst>
              <a:gd name="adj" fmla="val 12903"/>
            </a:avLst>
          </a:prstGeom>
          <a:solidFill>
            <a:srgbClr val="0E1A2B"/>
          </a:solidFill>
          <a:ln>
            <a:solidFill>
              <a:srgbClr val="0E1A2B"/>
            </a:solidFill>
          </a:ln>
        </p:spPr>
        <p:txBody>
          <a:bodyPr wrap="square" lIns="177800" tIns="177800" rIns="177800" bIns="177800" rtlCol="0" anchor="ctr"/>
          <a:lstStyle/>
          <a:p>
            <a:pPr algn="l" indent="0" marL="0">
              <a:buNone/>
            </a:pPr>
            <a:r>
              <a:rPr lang="en-US" sz="1400" b="1" dirty="0">
                <a:solidFill>
                  <a:srgbClr val="E8A33D"/>
                </a:solidFill>
                <a:latin typeface="Malgun Gothic" pitchFamily="34" charset="0"/>
                <a:ea typeface="Malgun Gothic" pitchFamily="34" charset="-122"/>
                <a:cs typeface="Malgun Gothic" pitchFamily="34" charset="-120"/>
              </a:rPr>
              <a:t>GraphRAG  </a:t>
            </a:r>
            <a:pPr algn="l" indent="0" marL="0">
              <a:buNone/>
            </a:pPr>
            <a:r>
              <a:rPr lang="en-US" sz="1400" dirty="0">
                <a:solidFill>
                  <a:srgbClr val="FFFFFF"/>
                </a:solidFill>
                <a:latin typeface="Malgun Gothic" pitchFamily="34" charset="0"/>
                <a:ea typeface="Malgun Gothic" pitchFamily="34" charset="-122"/>
                <a:cs typeface="Malgun Gothic" pitchFamily="34" charset="-120"/>
              </a:rPr>
              <a:t>그래프에서 찾은 관계·원문 근거를 LLM 답변에 넣는 방식 — Neo4j 저장만으로는 GraphRAG가 아닙니다.</a:t>
            </a:r>
            <a:endParaRPr lang="en-US" sz="1400" dirty="0"/>
          </a:p>
        </p:txBody>
      </p:sp>
      <p:sp>
        <p:nvSpPr>
          <p:cNvPr id="34" name="Text 32"/>
          <p:cNvSpPr txBox="1"/>
          <p:nvPr/>
        </p:nvSpPr>
        <p:spPr>
          <a:xfrm>
            <a:off x="548640" y="5852160"/>
            <a:ext cx="11094415" cy="438912"/>
          </a:xfrm>
          <a:prstGeom prst="roundRect">
            <a:avLst>
              <a:gd name="adj" fmla="val 20833"/>
            </a:avLst>
          </a:prstGeom>
          <a:solidFill>
            <a:srgbClr val="FFFFFF"/>
          </a:solidFill>
          <a:ln w="15875">
            <a:solidFill>
              <a:srgbClr val="E8A33D"/>
            </a:solidFill>
          </a:ln>
        </p:spPr>
        <p:txBody>
          <a:bodyPr wrap="square" lIns="152400" tIns="152400" rIns="152400" bIns="152400" rtlCol="0" anchor="ctr"/>
          <a:lstStyle/>
          <a:p>
            <a:pPr algn="l" indent="0" marL="0">
              <a:buNone/>
            </a:pPr>
            <a:r>
              <a:rPr lang="en-US" sz="1400" b="1" dirty="0">
                <a:solidFill>
                  <a:srgbClr val="8F5208"/>
                </a:solidFill>
                <a:latin typeface="Malgun Gothic" pitchFamily="34" charset="0"/>
                <a:ea typeface="Malgun Gothic" pitchFamily="34" charset="-122"/>
                <a:cs typeface="Malgun Gothic" pitchFamily="34" charset="-120"/>
              </a:rPr>
              <a:t>다음 질문  </a:t>
            </a:r>
            <a:pPr algn="l" indent="0" marL="0">
              <a:buNone/>
            </a:pPr>
            <a:r>
              <a:rPr lang="en-US" sz="1400" b="1" dirty="0">
                <a:solidFill>
                  <a:srgbClr val="0E1A2B"/>
                </a:solidFill>
                <a:latin typeface="Malgun Gothic" pitchFamily="34" charset="0"/>
                <a:ea typeface="Malgun Gothic" pitchFamily="34" charset="-122"/>
                <a:cs typeface="Malgun Gothic" pitchFamily="34" charset="-120"/>
              </a:rPr>
              <a:t>이렇게 관계를 구성하면 공식 혜택 질문에 어떤 결과를 제공할 수 있을까요?</a:t>
            </a:r>
            <a:endParaRPr lang="en-US" sz="1400" dirty="0"/>
          </a:p>
        </p:txBody>
      </p:sp>
      <p:sp>
        <p:nvSpPr>
          <p:cNvPr id="35" name="Text 33"/>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설계안 — 파싱·추출·적재·검색·답변 모두 미구현 (과제 M1~M7) · 노드 색: 카드·혜택·조건·제외 규칙·조항</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06   사용 장면</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질문 하나에 공식 조건과 원문 근거를 함께 반환합니다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DF0DC"/>
          </a:solidFill>
          <a:ln>
            <a:solidFill>
              <a:srgbClr val="FDF0DC"/>
            </a:solidFill>
          </a:ln>
        </p:spPr>
        <p:txBody>
          <a:bodyPr wrap="square" lIns="0" tIns="0" rIns="0" bIns="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예상 결과</a:t>
            </a:r>
            <a:endParaRPr lang="en-US" sz="1100" dirty="0"/>
          </a:p>
        </p:txBody>
      </p:sp>
      <p:sp>
        <p:nvSpPr>
          <p:cNvPr id="5" name="Text 3"/>
          <p:cNvSpPr txBox="1"/>
          <p:nvPr/>
        </p:nvSpPr>
        <p:spPr>
          <a:xfrm>
            <a:off x="9832543"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원문 확인</a:t>
            </a:r>
            <a:endParaRPr lang="en-US" sz="1100" dirty="0"/>
          </a:p>
        </p:txBody>
      </p:sp>
      <p:sp>
        <p:nvSpPr>
          <p:cNvPr id="6" name="Text 4"/>
          <p:cNvSpPr txBox="1"/>
          <p:nvPr/>
        </p:nvSpPr>
        <p:spPr>
          <a:xfrm>
            <a:off x="548640" y="1645920"/>
            <a:ext cx="11094415" cy="502920"/>
          </a:xfrm>
          <a:prstGeom prst="roundRect">
            <a:avLst>
              <a:gd name="adj" fmla="val 14545"/>
            </a:avLst>
          </a:prstGeom>
          <a:solidFill>
            <a:srgbClr val="FDF0DC"/>
          </a:solidFill>
          <a:ln>
            <a:solidFill>
              <a:srgbClr val="FDF0DC"/>
            </a:solidFill>
          </a:ln>
        </p:spPr>
        <p:txBody>
          <a:bodyPr wrap="square" lIns="177800" tIns="177800" rIns="177800" bIns="177800" rtlCol="0" anchor="ctr"/>
          <a:lstStyle/>
          <a:p>
            <a:pPr algn="l" indent="0" marL="0">
              <a:buNone/>
            </a:pPr>
            <a:r>
              <a:rPr lang="en-US" sz="1800" b="1" dirty="0">
                <a:solidFill>
                  <a:srgbClr val="8F5208"/>
                </a:solidFill>
                <a:latin typeface="Malgun Gothic" pitchFamily="34" charset="0"/>
                <a:ea typeface="Malgun Gothic" pitchFamily="34" charset="-122"/>
                <a:cs typeface="Malgun Gothic" pitchFamily="34" charset="-120"/>
              </a:rPr>
              <a:t>Q.  ONE PICK STYLE 대중교통 캐시백의 전월실적 조건은?</a:t>
            </a:r>
            <a:endParaRPr lang="en-US" sz="1800" dirty="0"/>
          </a:p>
        </p:txBody>
      </p:sp>
      <p:sp>
        <p:nvSpPr>
          <p:cNvPr id="7" name="Text 5"/>
          <p:cNvSpPr txBox="1"/>
          <p:nvPr/>
        </p:nvSpPr>
        <p:spPr>
          <a:xfrm>
            <a:off x="548640" y="2240280"/>
            <a:ext cx="11094415" cy="347472"/>
          </a:xfrm>
          <a:prstGeom prst="roundRect">
            <a:avLst>
              <a:gd name="adj" fmla="val 21053"/>
            </a:avLst>
          </a:prstGeom>
          <a:solidFill>
            <a:srgbClr val="FBE6E2"/>
          </a:solidFill>
          <a:ln w="12700">
            <a:solidFill>
              <a:srgbClr val="D9472B"/>
            </a:solidFill>
          </a:ln>
        </p:spPr>
        <p:txBody>
          <a:bodyPr wrap="square" lIns="152400" tIns="152400" rIns="152400" bIns="152400" rtlCol="0" anchor="ctr"/>
          <a:lstStyle/>
          <a:p>
            <a:pPr algn="l" indent="0" marL="0">
              <a:buNone/>
            </a:pPr>
            <a:r>
              <a:rPr lang="en-US" sz="1300" b="1" dirty="0">
                <a:solidFill>
                  <a:srgbClr val="A8311A"/>
                </a:solidFill>
                <a:latin typeface="Malgun Gothic" pitchFamily="34" charset="0"/>
                <a:ea typeface="Malgun Gothic" pitchFamily="34" charset="-122"/>
                <a:cs typeface="Malgun Gothic" pitchFamily="34" charset="-120"/>
              </a:rPr>
              <a:t>예상 결과 — 수작업 원문 대조 (시스템 실행 결과 아님)</a:t>
            </a:r>
            <a:endParaRPr lang="en-US" sz="1300" dirty="0"/>
          </a:p>
        </p:txBody>
      </p:sp>
      <p:sp>
        <p:nvSpPr>
          <p:cNvPr id="8" name="Shape 6"/>
          <p:cNvSpPr/>
          <p:nvPr/>
        </p:nvSpPr>
        <p:spPr>
          <a:xfrm>
            <a:off x="548640" y="2697480"/>
            <a:ext cx="6903720" cy="3017520"/>
          </a:xfrm>
          <a:prstGeom prst="roundRect">
            <a:avLst>
              <a:gd name="adj" fmla="val 3030"/>
            </a:avLst>
          </a:prstGeom>
          <a:solidFill>
            <a:srgbClr val="FFFFFF"/>
          </a:solidFill>
          <a:ln w="15875">
            <a:solidFill>
              <a:srgbClr val="0E1A2B"/>
            </a:solidFill>
            <a:prstDash val="solid"/>
          </a:ln>
        </p:spPr>
      </p:sp>
      <p:sp>
        <p:nvSpPr>
          <p:cNvPr id="9" name="Text 7"/>
          <p:cNvSpPr txBox="1"/>
          <p:nvPr/>
        </p:nvSpPr>
        <p:spPr>
          <a:xfrm>
            <a:off x="731520" y="2816352"/>
            <a:ext cx="1325880" cy="475488"/>
          </a:xfrm>
          <a:prstGeom prst="rect">
            <a:avLst/>
          </a:prstGeom>
          <a:noFill/>
          <a:ln/>
        </p:spPr>
        <p:txBody>
          <a:bodyPr wrap="square" lIns="0" tIns="0" rIns="0" bIns="0" rtlCol="0" anchor="ctr"/>
          <a:lstStyle/>
          <a:p>
            <a:pPr indent="0" marL="0">
              <a:buNone/>
            </a:pPr>
            <a:r>
              <a:rPr lang="en-US" sz="1400" b="1" dirty="0">
                <a:solidFill>
                  <a:srgbClr val="0D6F64"/>
                </a:solidFill>
                <a:latin typeface="Malgun Gothic" pitchFamily="34" charset="0"/>
                <a:ea typeface="Malgun Gothic" pitchFamily="34" charset="-122"/>
                <a:cs typeface="Malgun Gothic" pitchFamily="34" charset="-120"/>
              </a:rPr>
              <a:t>공식 혜택</a:t>
            </a:r>
            <a:endParaRPr lang="en-US" sz="1400" dirty="0"/>
          </a:p>
        </p:txBody>
      </p:sp>
      <p:sp>
        <p:nvSpPr>
          <p:cNvPr id="10" name="Text 8"/>
          <p:cNvSpPr txBox="1"/>
          <p:nvPr/>
        </p:nvSpPr>
        <p:spPr>
          <a:xfrm>
            <a:off x="2103120" y="2816352"/>
            <a:ext cx="5212080" cy="475488"/>
          </a:xfrm>
          <a:prstGeom prst="rect">
            <a:avLst/>
          </a:prstGeom>
          <a:noFill/>
          <a:ln/>
        </p:spPr>
        <p:txBody>
          <a:bodyPr wrap="square" lIns="0" tIns="0" rIns="0" bIns="0" rtlCol="0" anchor="ctr"/>
          <a:lstStyle/>
          <a:p>
            <a:pPr indent="0" marL="0">
              <a:buNone/>
            </a:pPr>
            <a:r>
              <a:rPr lang="en-US" sz="1500" dirty="0">
                <a:solidFill>
                  <a:srgbClr val="0E1A2B"/>
                </a:solidFill>
                <a:latin typeface="Malgun Gothic" pitchFamily="34" charset="0"/>
                <a:ea typeface="Malgun Gothic" pitchFamily="34" charset="-122"/>
                <a:cs typeface="Malgun Gothic" pitchFamily="34" charset="-120"/>
              </a:rPr>
              <a:t>ONE MORE 대중교통 — 버스·지하철 5% 캐시백</a:t>
            </a:r>
            <a:endParaRPr lang="en-US" sz="1500" dirty="0"/>
          </a:p>
        </p:txBody>
      </p:sp>
      <p:sp>
        <p:nvSpPr>
          <p:cNvPr id="11" name="Shape 9"/>
          <p:cNvSpPr/>
          <p:nvPr/>
        </p:nvSpPr>
        <p:spPr>
          <a:xfrm>
            <a:off x="731520" y="3337560"/>
            <a:ext cx="6537960" cy="0"/>
          </a:xfrm>
          <a:prstGeom prst="line">
            <a:avLst/>
          </a:prstGeom>
          <a:noFill/>
          <a:ln w="9525">
            <a:solidFill>
              <a:srgbClr val="D5DBE3"/>
            </a:solidFill>
            <a:prstDash val="solid"/>
          </a:ln>
        </p:spPr>
      </p:sp>
      <p:sp>
        <p:nvSpPr>
          <p:cNvPr id="12" name="Text 10"/>
          <p:cNvSpPr txBox="1"/>
          <p:nvPr/>
        </p:nvSpPr>
        <p:spPr>
          <a:xfrm>
            <a:off x="731520" y="3383280"/>
            <a:ext cx="1325880" cy="475488"/>
          </a:xfrm>
          <a:prstGeom prst="rect">
            <a:avLst/>
          </a:prstGeom>
          <a:noFill/>
          <a:ln/>
        </p:spPr>
        <p:txBody>
          <a:bodyPr wrap="square" lIns="0" tIns="0" rIns="0" bIns="0" rtlCol="0" anchor="ctr"/>
          <a:lstStyle/>
          <a:p>
            <a:pPr indent="0" marL="0">
              <a:buNone/>
            </a:pPr>
            <a:r>
              <a:rPr lang="en-US" sz="1400" b="1" dirty="0">
                <a:solidFill>
                  <a:srgbClr val="0D6F64"/>
                </a:solidFill>
                <a:latin typeface="Malgun Gothic" pitchFamily="34" charset="0"/>
                <a:ea typeface="Malgun Gothic" pitchFamily="34" charset="-122"/>
                <a:cs typeface="Malgun Gothic" pitchFamily="34" charset="-120"/>
              </a:rPr>
              <a:t>실적 기준</a:t>
            </a:r>
            <a:endParaRPr lang="en-US" sz="1400" dirty="0"/>
          </a:p>
        </p:txBody>
      </p:sp>
      <p:sp>
        <p:nvSpPr>
          <p:cNvPr id="13" name="Text 11"/>
          <p:cNvSpPr txBox="1"/>
          <p:nvPr/>
        </p:nvSpPr>
        <p:spPr>
          <a:xfrm>
            <a:off x="2103120" y="3383280"/>
            <a:ext cx="5212080" cy="475488"/>
          </a:xfrm>
          <a:prstGeom prst="rect">
            <a:avLst/>
          </a:prstGeom>
          <a:noFill/>
          <a:ln/>
        </p:spPr>
        <p:txBody>
          <a:bodyPr wrap="square" lIns="0" tIns="0" rIns="0" bIns="0" rtlCol="0" anchor="ctr"/>
          <a:lstStyle/>
          <a:p>
            <a:pPr indent="0" marL="0">
              <a:buNone/>
            </a:pPr>
            <a:r>
              <a:rPr lang="en-US" sz="1500" dirty="0">
                <a:solidFill>
                  <a:srgbClr val="0E1A2B"/>
                </a:solidFill>
                <a:latin typeface="Malgun Gothic" pitchFamily="34" charset="0"/>
                <a:ea typeface="Malgun Gothic" pitchFamily="34" charset="-122"/>
                <a:cs typeface="Malgun Gothic" pitchFamily="34" charset="-120"/>
              </a:rPr>
              <a:t>지난달 국내외 일시불 이용금액 10만원 이상</a:t>
            </a:r>
            <a:endParaRPr lang="en-US" sz="1500" dirty="0"/>
          </a:p>
        </p:txBody>
      </p:sp>
      <p:sp>
        <p:nvSpPr>
          <p:cNvPr id="14" name="Shape 12"/>
          <p:cNvSpPr/>
          <p:nvPr/>
        </p:nvSpPr>
        <p:spPr>
          <a:xfrm>
            <a:off x="731520" y="3904488"/>
            <a:ext cx="6537960" cy="0"/>
          </a:xfrm>
          <a:prstGeom prst="line">
            <a:avLst/>
          </a:prstGeom>
          <a:noFill/>
          <a:ln w="9525">
            <a:solidFill>
              <a:srgbClr val="D5DBE3"/>
            </a:solidFill>
            <a:prstDash val="solid"/>
          </a:ln>
        </p:spPr>
      </p:sp>
      <p:sp>
        <p:nvSpPr>
          <p:cNvPr id="15" name="Text 13"/>
          <p:cNvSpPr txBox="1"/>
          <p:nvPr/>
        </p:nvSpPr>
        <p:spPr>
          <a:xfrm>
            <a:off x="731520" y="3950208"/>
            <a:ext cx="1325880" cy="475488"/>
          </a:xfrm>
          <a:prstGeom prst="rect">
            <a:avLst/>
          </a:prstGeom>
          <a:noFill/>
          <a:ln/>
        </p:spPr>
        <p:txBody>
          <a:bodyPr wrap="square" lIns="0" tIns="0" rIns="0" bIns="0" rtlCol="0" anchor="ctr"/>
          <a:lstStyle/>
          <a:p>
            <a:pPr indent="0" marL="0">
              <a:buNone/>
            </a:pPr>
            <a:r>
              <a:rPr lang="en-US" sz="1400" b="1" dirty="0">
                <a:solidFill>
                  <a:srgbClr val="0D6F64"/>
                </a:solidFill>
                <a:latin typeface="Malgun Gothic" pitchFamily="34" charset="0"/>
                <a:ea typeface="Malgun Gothic" pitchFamily="34" charset="-122"/>
                <a:cs typeface="Malgun Gothic" pitchFamily="34" charset="-120"/>
              </a:rPr>
              <a:t>캐시백 한도</a:t>
            </a:r>
            <a:endParaRPr lang="en-US" sz="1400" dirty="0"/>
          </a:p>
        </p:txBody>
      </p:sp>
      <p:sp>
        <p:nvSpPr>
          <p:cNvPr id="16" name="Text 14"/>
          <p:cNvSpPr txBox="1"/>
          <p:nvPr/>
        </p:nvSpPr>
        <p:spPr>
          <a:xfrm>
            <a:off x="2103120" y="3950208"/>
            <a:ext cx="5212080" cy="475488"/>
          </a:xfrm>
          <a:prstGeom prst="rect">
            <a:avLst/>
          </a:prstGeom>
          <a:noFill/>
          <a:ln/>
        </p:spPr>
        <p:txBody>
          <a:bodyPr wrap="square" lIns="0" tIns="0" rIns="0" bIns="0" rtlCol="0" anchor="ctr"/>
          <a:lstStyle/>
          <a:p>
            <a:pPr indent="0" marL="0">
              <a:buNone/>
            </a:pPr>
            <a:r>
              <a:rPr lang="en-US" sz="1500" dirty="0">
                <a:solidFill>
                  <a:srgbClr val="0E1A2B"/>
                </a:solidFill>
                <a:latin typeface="Malgun Gothic" pitchFamily="34" charset="0"/>
                <a:ea typeface="Malgun Gothic" pitchFamily="34" charset="-122"/>
                <a:cs typeface="Malgun Gothic" pitchFamily="34" charset="-120"/>
              </a:rPr>
              <a:t>월 최대 1,000원</a:t>
            </a:r>
            <a:endParaRPr lang="en-US" sz="1500" dirty="0"/>
          </a:p>
        </p:txBody>
      </p:sp>
      <p:sp>
        <p:nvSpPr>
          <p:cNvPr id="17" name="Shape 15"/>
          <p:cNvSpPr/>
          <p:nvPr/>
        </p:nvSpPr>
        <p:spPr>
          <a:xfrm>
            <a:off x="731520" y="4471416"/>
            <a:ext cx="6537960" cy="0"/>
          </a:xfrm>
          <a:prstGeom prst="line">
            <a:avLst/>
          </a:prstGeom>
          <a:noFill/>
          <a:ln w="9525">
            <a:solidFill>
              <a:srgbClr val="D5DBE3"/>
            </a:solidFill>
            <a:prstDash val="solid"/>
          </a:ln>
        </p:spPr>
      </p:sp>
      <p:sp>
        <p:nvSpPr>
          <p:cNvPr id="18" name="Text 16"/>
          <p:cNvSpPr txBox="1"/>
          <p:nvPr/>
        </p:nvSpPr>
        <p:spPr>
          <a:xfrm>
            <a:off x="731520" y="4517136"/>
            <a:ext cx="1325880" cy="475488"/>
          </a:xfrm>
          <a:prstGeom prst="rect">
            <a:avLst/>
          </a:prstGeom>
          <a:noFill/>
          <a:ln/>
        </p:spPr>
        <p:txBody>
          <a:bodyPr wrap="square" lIns="0" tIns="0" rIns="0" bIns="0" rtlCol="0" anchor="ctr"/>
          <a:lstStyle/>
          <a:p>
            <a:pPr indent="0" marL="0">
              <a:buNone/>
            </a:pPr>
            <a:r>
              <a:rPr lang="en-US" sz="1400" b="1" dirty="0">
                <a:solidFill>
                  <a:srgbClr val="0D6F64"/>
                </a:solidFill>
                <a:latin typeface="Malgun Gothic" pitchFamily="34" charset="0"/>
                <a:ea typeface="Malgun Gothic" pitchFamily="34" charset="-122"/>
                <a:cs typeface="Malgun Gothic" pitchFamily="34" charset="-120"/>
              </a:rPr>
              <a:t>제외 대상</a:t>
            </a:r>
            <a:endParaRPr lang="en-US" sz="1400" dirty="0"/>
          </a:p>
        </p:txBody>
      </p:sp>
      <p:sp>
        <p:nvSpPr>
          <p:cNvPr id="19" name="Text 17"/>
          <p:cNvSpPr txBox="1"/>
          <p:nvPr/>
        </p:nvSpPr>
        <p:spPr>
          <a:xfrm>
            <a:off x="2103120" y="4517136"/>
            <a:ext cx="5212080" cy="475488"/>
          </a:xfrm>
          <a:prstGeom prst="rect">
            <a:avLst/>
          </a:prstGeom>
          <a:noFill/>
          <a:ln/>
        </p:spPr>
        <p:txBody>
          <a:bodyPr wrap="square" lIns="0" tIns="0" rIns="0" bIns="0" rtlCol="0" anchor="ctr"/>
          <a:lstStyle/>
          <a:p>
            <a:pPr indent="0" marL="0">
              <a:buNone/>
            </a:pPr>
            <a:r>
              <a:rPr lang="en-US" sz="1500" dirty="0">
                <a:solidFill>
                  <a:srgbClr val="0E1A2B"/>
                </a:solidFill>
                <a:latin typeface="Malgun Gothic" pitchFamily="34" charset="0"/>
                <a:ea typeface="Malgun Gothic" pitchFamily="34" charset="-122"/>
                <a:cs typeface="Malgun Gothic" pitchFamily="34" charset="-120"/>
              </a:rPr>
              <a:t>시외·고속버스·철도는 혜택 제외 / 상품권 등은 실적 제외</a:t>
            </a:r>
            <a:endParaRPr lang="en-US" sz="1500" dirty="0"/>
          </a:p>
        </p:txBody>
      </p:sp>
      <p:sp>
        <p:nvSpPr>
          <p:cNvPr id="20" name="Shape 18"/>
          <p:cNvSpPr/>
          <p:nvPr/>
        </p:nvSpPr>
        <p:spPr>
          <a:xfrm>
            <a:off x="731520" y="5038344"/>
            <a:ext cx="6537960" cy="0"/>
          </a:xfrm>
          <a:prstGeom prst="line">
            <a:avLst/>
          </a:prstGeom>
          <a:noFill/>
          <a:ln w="9525">
            <a:solidFill>
              <a:srgbClr val="D5DBE3"/>
            </a:solidFill>
            <a:prstDash val="solid"/>
          </a:ln>
        </p:spPr>
      </p:sp>
      <p:sp>
        <p:nvSpPr>
          <p:cNvPr id="21" name="Text 19"/>
          <p:cNvSpPr txBox="1"/>
          <p:nvPr/>
        </p:nvSpPr>
        <p:spPr>
          <a:xfrm>
            <a:off x="731520" y="5084064"/>
            <a:ext cx="1325880" cy="475488"/>
          </a:xfrm>
          <a:prstGeom prst="rect">
            <a:avLst/>
          </a:prstGeom>
          <a:noFill/>
          <a:ln/>
        </p:spPr>
        <p:txBody>
          <a:bodyPr wrap="square" lIns="0" tIns="0" rIns="0" bIns="0" rtlCol="0" anchor="ctr"/>
          <a:lstStyle/>
          <a:p>
            <a:pPr indent="0" marL="0">
              <a:buNone/>
            </a:pPr>
            <a:r>
              <a:rPr lang="en-US" sz="1400" b="1" dirty="0">
                <a:solidFill>
                  <a:srgbClr val="0D6F64"/>
                </a:solidFill>
                <a:latin typeface="Malgun Gothic" pitchFamily="34" charset="0"/>
                <a:ea typeface="Malgun Gothic" pitchFamily="34" charset="-122"/>
                <a:cs typeface="Malgun Gothic" pitchFamily="34" charset="-120"/>
              </a:rPr>
              <a:t>신규 예외</a:t>
            </a:r>
            <a:endParaRPr lang="en-US" sz="1400" dirty="0"/>
          </a:p>
        </p:txBody>
      </p:sp>
      <p:sp>
        <p:nvSpPr>
          <p:cNvPr id="22" name="Text 20"/>
          <p:cNvSpPr txBox="1"/>
          <p:nvPr/>
        </p:nvSpPr>
        <p:spPr>
          <a:xfrm>
            <a:off x="2103120" y="5084064"/>
            <a:ext cx="5212080" cy="475488"/>
          </a:xfrm>
          <a:prstGeom prst="rect">
            <a:avLst/>
          </a:prstGeom>
          <a:noFill/>
          <a:ln/>
        </p:spPr>
        <p:txBody>
          <a:bodyPr wrap="square" lIns="0" tIns="0" rIns="0" bIns="0" rtlCol="0" anchor="ctr"/>
          <a:lstStyle/>
          <a:p>
            <a:pPr indent="0" marL="0">
              <a:buNone/>
            </a:pPr>
            <a:r>
              <a:rPr lang="en-US" sz="1500" dirty="0">
                <a:solidFill>
                  <a:srgbClr val="0E1A2B"/>
                </a:solidFill>
                <a:latin typeface="Malgun Gothic" pitchFamily="34" charset="0"/>
                <a:ea typeface="Malgun Gothic" pitchFamily="34" charset="-122"/>
                <a:cs typeface="Malgun Gothic" pitchFamily="34" charset="-120"/>
              </a:rPr>
              <a:t>최초 사용 등록일~다음 달 말일은 실적 무관 제공</a:t>
            </a:r>
            <a:endParaRPr lang="en-US" sz="1500" dirty="0"/>
          </a:p>
        </p:txBody>
      </p:sp>
      <p:sp>
        <p:nvSpPr>
          <p:cNvPr id="23" name="Shape 21"/>
          <p:cNvSpPr/>
          <p:nvPr/>
        </p:nvSpPr>
        <p:spPr>
          <a:xfrm>
            <a:off x="7680960" y="2697480"/>
            <a:ext cx="3962095" cy="2057400"/>
          </a:xfrm>
          <a:prstGeom prst="roundRect">
            <a:avLst>
              <a:gd name="adj" fmla="val 4444"/>
            </a:avLst>
          </a:prstGeom>
          <a:solidFill>
            <a:srgbClr val="EFE9F8"/>
          </a:solidFill>
          <a:ln w="12700">
            <a:solidFill>
              <a:srgbClr val="EFE9F8"/>
            </a:solidFill>
            <a:prstDash val="solid"/>
          </a:ln>
        </p:spPr>
      </p:sp>
      <p:sp>
        <p:nvSpPr>
          <p:cNvPr id="24" name="Text 22"/>
          <p:cNvSpPr txBox="1"/>
          <p:nvPr/>
        </p:nvSpPr>
        <p:spPr>
          <a:xfrm>
            <a:off x="7863840" y="2788920"/>
            <a:ext cx="3596335" cy="1920240"/>
          </a:xfrm>
          <a:prstGeom prst="rect">
            <a:avLst/>
          </a:prstGeom>
          <a:noFill/>
          <a:ln/>
        </p:spPr>
        <p:txBody>
          <a:bodyPr wrap="square" lIns="0" tIns="0" rIns="0" bIns="0" rtlCol="0" anchor="t"/>
          <a:lstStyle/>
          <a:p>
            <a:pPr indent="0" marL="0">
              <a:spcAft>
                <a:spcPts val="200"/>
              </a:spcAft>
              <a:buNone/>
            </a:pPr>
            <a:r>
              <a:rPr lang="en-US" sz="1500" b="1" dirty="0">
                <a:solidFill>
                  <a:srgbClr val="6A4FB0"/>
                </a:solidFill>
                <a:latin typeface="Malgun Gothic" pitchFamily="34" charset="0"/>
                <a:ea typeface="Malgun Gothic" pitchFamily="34" charset="-122"/>
                <a:cs typeface="Malgun Gothic" pitchFamily="34" charset="-120"/>
              </a:rPr>
              <a:t>원문 근거</a:t>
            </a:r>
            <a:endParaRPr lang="en-US" sz="1200" dirty="0"/>
          </a:p>
          <a:p>
            <a:pPr indent="0" marL="0">
              <a:spcAft>
                <a:spcPts val="200"/>
              </a:spcAft>
              <a:buNone/>
            </a:pPr>
            <a:r>
              <a:rPr lang="en-US" sz="1300" b="1" dirty="0">
                <a:solidFill>
                  <a:srgbClr val="0E1A2B"/>
                </a:solidFill>
                <a:latin typeface="Malgun Gothic" pitchFamily="34" charset="0"/>
                <a:ea typeface="Malgun Gothic" pitchFamily="34" charset="-122"/>
                <a:cs typeface="Malgun Gothic" pitchFamily="34" charset="-120"/>
              </a:rPr>
              <a:t>ONE PICK STYLE 상품설명서</a:t>
            </a:r>
            <a:endParaRPr lang="en-US" sz="1200" dirty="0"/>
          </a:p>
          <a:p>
            <a:pPr indent="0" marL="0">
              <a:spcAft>
                <a:spcPts val="200"/>
              </a:spcAft>
              <a:buNone/>
            </a:pPr>
            <a:r>
              <a:rPr lang="en-US" sz="1300" b="1" dirty="0">
                <a:solidFill>
                  <a:srgbClr val="0E1A2B"/>
                </a:solidFill>
                <a:latin typeface="Malgun Gothic" pitchFamily="34" charset="0"/>
                <a:ea typeface="Malgun Gothic" pitchFamily="34" charset="-122"/>
                <a:cs typeface="Malgun Gothic" pitchFamily="34" charset="-120"/>
              </a:rPr>
              <a:t>15650_20260429 · 1쪽</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ONE MORE 혜택 표</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실적 산정 기준 · 실적 제외 대상</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서비스 제외 대상</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실적과 관계없이 서비스 제공</a:t>
            </a:r>
            <a:endParaRPr lang="en-US" sz="1200" dirty="0"/>
          </a:p>
        </p:txBody>
      </p:sp>
      <p:sp>
        <p:nvSpPr>
          <p:cNvPr id="25" name="Text 23"/>
          <p:cNvSpPr txBox="1"/>
          <p:nvPr/>
        </p:nvSpPr>
        <p:spPr>
          <a:xfrm>
            <a:off x="7680960" y="4846320"/>
            <a:ext cx="3962095" cy="868680"/>
          </a:xfrm>
          <a:prstGeom prst="roundRect">
            <a:avLst>
              <a:gd name="adj" fmla="val 8421"/>
            </a:avLst>
          </a:prstGeom>
          <a:solidFill>
            <a:srgbClr val="E8ECF2"/>
          </a:solidFill>
          <a:ln>
            <a:solidFill>
              <a:srgbClr val="E8ECF2"/>
            </a:solidFill>
          </a:ln>
        </p:spPr>
        <p:txBody>
          <a:bodyPr wrap="square" lIns="127000" tIns="127000" rIns="127000" bIns="127000" rtlCol="0" anchor="ctr"/>
          <a:lstStyle/>
          <a:p>
            <a:pPr algn="l" indent="0" marL="0">
              <a:buNone/>
            </a:pPr>
            <a:r>
              <a:rPr lang="en-US" sz="1200" b="1" dirty="0">
                <a:solidFill>
                  <a:srgbClr val="3A4A60"/>
                </a:solidFill>
                <a:latin typeface="Malgun Gothic" pitchFamily="34" charset="0"/>
                <a:ea typeface="Malgun Gothic" pitchFamily="34" charset="-122"/>
                <a:cs typeface="Malgun Gothic" pitchFamily="34" charset="-120"/>
              </a:rPr>
              <a:t>범위 밖  </a:t>
            </a:r>
            <a:pPr algn="l" indent="0" marL="0">
              <a:buNone/>
            </a:pPr>
            <a:r>
              <a:rPr lang="en-US" sz="1200" dirty="0">
                <a:solidFill>
                  <a:srgbClr val="1A2433"/>
                </a:solidFill>
                <a:latin typeface="Malgun Gothic" pitchFamily="34" charset="0"/>
                <a:ea typeface="Malgun Gothic" pitchFamily="34" charset="-122"/>
                <a:cs typeface="Malgun Gothic" pitchFamily="34" charset="-120"/>
              </a:rPr>
              <a:t>‘이 고객이 이번 달 받는가’ — 개인 실적·등록일은 조회하지 않고 공식 조건만 안내합니다</a:t>
            </a:r>
            <a:endParaRPr lang="en-US" sz="1200" dirty="0"/>
          </a:p>
        </p:txBody>
      </p:sp>
      <p:sp>
        <p:nvSpPr>
          <p:cNvPr id="26" name="Text 24"/>
          <p:cNvSpPr txBox="1"/>
          <p:nvPr/>
        </p:nvSpPr>
        <p:spPr>
          <a:xfrm>
            <a:off x="548640" y="5852160"/>
            <a:ext cx="11094415" cy="438912"/>
          </a:xfrm>
          <a:prstGeom prst="roundRect">
            <a:avLst>
              <a:gd name="adj" fmla="val 20833"/>
            </a:avLst>
          </a:prstGeom>
          <a:solidFill>
            <a:srgbClr val="FFFFFF"/>
          </a:solidFill>
          <a:ln w="15875">
            <a:solidFill>
              <a:srgbClr val="E8A33D"/>
            </a:solidFill>
          </a:ln>
        </p:spPr>
        <p:txBody>
          <a:bodyPr wrap="square" lIns="152400" tIns="152400" rIns="152400" bIns="152400" rtlCol="0" anchor="ctr"/>
          <a:lstStyle/>
          <a:p>
            <a:pPr algn="l" indent="0" marL="0">
              <a:buNone/>
            </a:pPr>
            <a:r>
              <a:rPr lang="en-US" sz="1400" b="1" dirty="0">
                <a:solidFill>
                  <a:srgbClr val="8F5208"/>
                </a:solidFill>
                <a:latin typeface="Malgun Gothic" pitchFamily="34" charset="0"/>
                <a:ea typeface="Malgun Gothic" pitchFamily="34" charset="-122"/>
                <a:cs typeface="Malgun Gothic" pitchFamily="34" charset="-120"/>
              </a:rPr>
              <a:t>다음 질문  </a:t>
            </a:r>
            <a:pPr algn="l" indent="0" marL="0">
              <a:buNone/>
            </a:pPr>
            <a:r>
              <a:rPr lang="en-US" sz="1400" b="1" dirty="0">
                <a:solidFill>
                  <a:srgbClr val="0E1A2B"/>
                </a:solidFill>
                <a:latin typeface="Malgun Gothic" pitchFamily="34" charset="0"/>
                <a:ea typeface="Malgun Gothic" pitchFamily="34" charset="-122"/>
                <a:cs typeface="Malgun Gothic" pitchFamily="34" charset="-120"/>
              </a:rPr>
              <a:t>한 카드의 조건을 조회하는 것 외에, 관계를 활용해 무엇을 더 분석할 수 있을까요?</a:t>
            </a:r>
            <a:endParaRPr lang="en-US" sz="1400" dirty="0"/>
          </a:p>
        </p:txBody>
      </p:sp>
      <p:sp>
        <p:nvSpPr>
          <p:cNvPr id="27" name="Text 25"/>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값은 STYLE 상품설명서 원문으로 확인 · 응답 화면은 구현 후 얻으려는 출력 예시(M7) · 개인 혜택 수령 여부는 판단하지 않음</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07   변경 영향</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조건이 바뀌면, 다시 검토할 혜택이 관계를 따라 드러납니다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DF0DC"/>
          </a:solidFill>
          <a:ln>
            <a:solidFill>
              <a:srgbClr val="FDF0DC"/>
            </a:solidFill>
          </a:ln>
        </p:spPr>
        <p:txBody>
          <a:bodyPr wrap="square" lIns="0" tIns="0" rIns="0" bIns="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예상 결과</a:t>
            </a:r>
            <a:endParaRPr lang="en-US" sz="1100" dirty="0"/>
          </a:p>
        </p:txBody>
      </p:sp>
      <p:sp>
        <p:nvSpPr>
          <p:cNvPr id="5" name="Text 3"/>
          <p:cNvSpPr txBox="1"/>
          <p:nvPr/>
        </p:nvSpPr>
        <p:spPr>
          <a:xfrm>
            <a:off x="9832543" y="329184"/>
            <a:ext cx="859536" cy="292608"/>
          </a:xfrm>
          <a:prstGeom prst="roundRect">
            <a:avLst>
              <a:gd name="adj" fmla="val 46875"/>
            </a:avLst>
          </a:prstGeom>
          <a:solidFill>
            <a:srgbClr val="FBE6E2"/>
          </a:solidFill>
          <a:ln>
            <a:solidFill>
              <a:srgbClr val="FBE6E2"/>
            </a:solidFill>
          </a:ln>
        </p:spPr>
        <p:txBody>
          <a:bodyPr wrap="square" lIns="0" tIns="0" rIns="0" bIns="0" rtlCol="0" anchor="ctr"/>
          <a:lstStyle/>
          <a:p>
            <a:pPr algn="ctr" indent="0" marL="0">
              <a:buNone/>
            </a:pPr>
            <a:r>
              <a:rPr lang="en-US" sz="1100" b="1" dirty="0">
                <a:solidFill>
                  <a:srgbClr val="A8311A"/>
                </a:solidFill>
                <a:latin typeface="Malgun Gothic" pitchFamily="34" charset="0"/>
                <a:ea typeface="Malgun Gothic" pitchFamily="34" charset="-122"/>
                <a:cs typeface="Malgun Gothic" pitchFamily="34" charset="-120"/>
              </a:rPr>
              <a:t>가상 상황</a:t>
            </a:r>
            <a:endParaRPr lang="en-US" sz="1100" dirty="0"/>
          </a:p>
        </p:txBody>
      </p:sp>
      <p:sp>
        <p:nvSpPr>
          <p:cNvPr id="6" name="Text 4"/>
          <p:cNvSpPr txBox="1"/>
          <p:nvPr/>
        </p:nvSpPr>
        <p:spPr>
          <a:xfrm>
            <a:off x="548640" y="1645920"/>
            <a:ext cx="11094415" cy="457200"/>
          </a:xfrm>
          <a:prstGeom prst="roundRect">
            <a:avLst>
              <a:gd name="adj" fmla="val 16000"/>
            </a:avLst>
          </a:prstGeom>
          <a:solidFill>
            <a:srgbClr val="FDF0DC"/>
          </a:solidFill>
          <a:ln>
            <a:solidFill>
              <a:srgbClr val="FDF0DC"/>
            </a:solidFill>
          </a:ln>
        </p:spPr>
        <p:txBody>
          <a:bodyPr wrap="square" lIns="177800" tIns="177800" rIns="177800" bIns="177800" rtlCol="0" anchor="ctr"/>
          <a:lstStyle/>
          <a:p>
            <a:pPr algn="l" indent="0" marL="0">
              <a:buNone/>
            </a:pPr>
            <a:r>
              <a:rPr lang="en-US" sz="1600" b="1" dirty="0">
                <a:solidFill>
                  <a:srgbClr val="8F5208"/>
                </a:solidFill>
                <a:latin typeface="Malgun Gothic" pitchFamily="34" charset="0"/>
                <a:ea typeface="Malgun Gothic" pitchFamily="34" charset="-122"/>
                <a:cs typeface="Malgun Gothic" pitchFamily="34" charset="-120"/>
              </a:rPr>
              <a:t>가상 상황:  ‘상품권 구매’의 전월실적 제외 조항이 바뀐다면?</a:t>
            </a:r>
            <a:endParaRPr lang="en-US" sz="1600" dirty="0"/>
          </a:p>
        </p:txBody>
      </p:sp>
      <p:sp>
        <p:nvSpPr>
          <p:cNvPr id="7" name="Text 5"/>
          <p:cNvSpPr txBox="1"/>
          <p:nvPr/>
        </p:nvSpPr>
        <p:spPr>
          <a:xfrm>
            <a:off x="548640" y="2212848"/>
            <a:ext cx="1737360" cy="274320"/>
          </a:xfrm>
          <a:prstGeom prst="rect">
            <a:avLst/>
          </a:prstGeom>
          <a:noFill/>
          <a:ln/>
        </p:spPr>
        <p:txBody>
          <a:bodyPr wrap="square" lIns="0" tIns="0" rIns="0" bIns="0" rtlCol="0" anchor="t"/>
          <a:lstStyle/>
          <a:p>
            <a:pPr algn="ctr" indent="0" marL="0">
              <a:buNone/>
            </a:pPr>
            <a:r>
              <a:rPr lang="en-US" sz="1200" b="1" dirty="0">
                <a:solidFill>
                  <a:srgbClr val="A8311A"/>
                </a:solidFill>
                <a:latin typeface="Malgun Gothic" pitchFamily="34" charset="0"/>
                <a:ea typeface="Malgun Gothic" pitchFamily="34" charset="-122"/>
                <a:cs typeface="Malgun Gothic" pitchFamily="34" charset="-120"/>
              </a:rPr>
              <a:t>공통 개념</a:t>
            </a:r>
            <a:endParaRPr lang="en-US" sz="1200" dirty="0"/>
          </a:p>
        </p:txBody>
      </p:sp>
      <p:sp>
        <p:nvSpPr>
          <p:cNvPr id="8" name="Text 6"/>
          <p:cNvSpPr txBox="1"/>
          <p:nvPr/>
        </p:nvSpPr>
        <p:spPr>
          <a:xfrm>
            <a:off x="2606040" y="2212848"/>
            <a:ext cx="3611880" cy="274320"/>
          </a:xfrm>
          <a:prstGeom prst="rect">
            <a:avLst/>
          </a:prstGeom>
          <a:noFill/>
          <a:ln/>
        </p:spPr>
        <p:txBody>
          <a:bodyPr wrap="square" lIns="0" tIns="0" rIns="0" bIns="0" rtlCol="0" anchor="t"/>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카드별 규칙 — 적용 범위·문서 판 따로 보존</a:t>
            </a:r>
            <a:endParaRPr lang="en-US" sz="1200" dirty="0"/>
          </a:p>
        </p:txBody>
      </p:sp>
      <p:sp>
        <p:nvSpPr>
          <p:cNvPr id="9" name="Text 7"/>
          <p:cNvSpPr txBox="1"/>
          <p:nvPr/>
        </p:nvSpPr>
        <p:spPr>
          <a:xfrm>
            <a:off x="6629400" y="2212848"/>
            <a:ext cx="5010912" cy="274320"/>
          </a:xfrm>
          <a:prstGeom prst="rect">
            <a:avLst/>
          </a:prstGeom>
          <a:noFill/>
          <a:ln/>
        </p:spPr>
        <p:txBody>
          <a:bodyPr wrap="square" lIns="0" tIns="0" rIns="0" bIns="0" rtlCol="0" anchor="t"/>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검토 후보 혜택 (실적 조건에 연결)</a:t>
            </a:r>
            <a:endParaRPr lang="en-US" sz="1200" dirty="0"/>
          </a:p>
        </p:txBody>
      </p:sp>
      <p:sp>
        <p:nvSpPr>
          <p:cNvPr id="10" name="Text 8"/>
          <p:cNvSpPr txBox="1"/>
          <p:nvPr/>
        </p:nvSpPr>
        <p:spPr>
          <a:xfrm>
            <a:off x="548640" y="2578608"/>
            <a:ext cx="1737360" cy="2596896"/>
          </a:xfrm>
          <a:prstGeom prst="roundRect">
            <a:avLst>
              <a:gd name="adj" fmla="val 6316"/>
            </a:avLst>
          </a:prstGeom>
          <a:solidFill>
            <a:srgbClr val="D9472B"/>
          </a:solidFill>
          <a:ln>
            <a:solidFill>
              <a:srgbClr val="D9472B"/>
            </a:solidFill>
          </a:ln>
        </p:spPr>
        <p:txBody>
          <a:bodyPr wrap="square" lIns="38100" tIns="38100" rIns="38100" bIns="3810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상품권</a:t>
            </a:r>
            <a:endParaRPr lang="en-US" sz="1600" dirty="0"/>
          </a:p>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구매</a:t>
            </a:r>
            <a:endParaRPr lang="en-US" sz="1600" dirty="0"/>
          </a:p>
        </p:txBody>
      </p:sp>
      <p:sp>
        <p:nvSpPr>
          <p:cNvPr id="11" name="Shape 9"/>
          <p:cNvSpPr/>
          <p:nvPr/>
        </p:nvSpPr>
        <p:spPr>
          <a:xfrm>
            <a:off x="2304288" y="2862072"/>
            <a:ext cx="265176" cy="0"/>
          </a:xfrm>
          <a:prstGeom prst="line">
            <a:avLst/>
          </a:prstGeom>
          <a:noFill/>
          <a:ln w="19050">
            <a:solidFill>
              <a:srgbClr val="D9472B"/>
            </a:solidFill>
            <a:prstDash val="solid"/>
            <a:tailEnd type="triangle"/>
          </a:ln>
        </p:spPr>
      </p:sp>
      <p:sp>
        <p:nvSpPr>
          <p:cNvPr id="12" name="Text 10"/>
          <p:cNvSpPr txBox="1"/>
          <p:nvPr/>
        </p:nvSpPr>
        <p:spPr>
          <a:xfrm>
            <a:off x="2606040" y="2578608"/>
            <a:ext cx="3611880" cy="566928"/>
          </a:xfrm>
          <a:prstGeom prst="roundRect">
            <a:avLst>
              <a:gd name="adj" fmla="val 12903"/>
            </a:avLst>
          </a:prstGeom>
          <a:solidFill>
            <a:srgbClr val="E3F4F1"/>
          </a:solidFill>
          <a:ln w="12700">
            <a:solidFill>
              <a:srgbClr val="159A8C"/>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ONE PICK STYLE (체크)</a:t>
            </a:r>
            <a:endParaRPr lang="en-US" sz="1300" dirty="0"/>
          </a:p>
          <a:p>
            <a:pPr algn="l" indent="0" marL="0">
              <a:buNone/>
            </a:pPr>
            <a:r>
              <a:rPr lang="en-US" sz="1100" dirty="0">
                <a:solidFill>
                  <a:srgbClr val="0D6F64"/>
                </a:solidFill>
                <a:latin typeface="Malgun Gothic" pitchFamily="34" charset="0"/>
                <a:ea typeface="Malgun Gothic" pitchFamily="34" charset="-122"/>
                <a:cs typeface="Malgun Gothic" pitchFamily="34" charset="-120"/>
              </a:rPr>
              <a:t>실적 제외 규칙 · 15650_20260429</a:t>
            </a:r>
            <a:endParaRPr lang="en-US" sz="1300" dirty="0"/>
          </a:p>
        </p:txBody>
      </p:sp>
      <p:sp>
        <p:nvSpPr>
          <p:cNvPr id="13" name="Shape 11"/>
          <p:cNvSpPr/>
          <p:nvPr/>
        </p:nvSpPr>
        <p:spPr>
          <a:xfrm>
            <a:off x="6245352" y="2862072"/>
            <a:ext cx="356616" cy="0"/>
          </a:xfrm>
          <a:prstGeom prst="line">
            <a:avLst/>
          </a:prstGeom>
          <a:noFill/>
          <a:ln w="19050">
            <a:solidFill>
              <a:srgbClr val="3A4A60"/>
            </a:solidFill>
            <a:prstDash val="solid"/>
            <a:tailEnd type="triangle"/>
          </a:ln>
        </p:spPr>
      </p:sp>
      <p:sp>
        <p:nvSpPr>
          <p:cNvPr id="14" name="Text 12"/>
          <p:cNvSpPr txBox="1"/>
          <p:nvPr/>
        </p:nvSpPr>
        <p:spPr>
          <a:xfrm>
            <a:off x="6629400" y="2578608"/>
            <a:ext cx="5013655" cy="566928"/>
          </a:xfrm>
          <a:prstGeom prst="roundRect">
            <a:avLst>
              <a:gd name="adj" fmla="val 12903"/>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400" dirty="0">
                <a:solidFill>
                  <a:srgbClr val="0E1A2B"/>
                </a:solidFill>
                <a:latin typeface="Malgun Gothic" pitchFamily="34" charset="0"/>
                <a:ea typeface="Malgun Gothic" pitchFamily="34" charset="-122"/>
                <a:cs typeface="Malgun Gothic" pitchFamily="34" charset="-120"/>
              </a:rPr>
              <a:t>ONE MORE 대중교통(10만) · 놀이공원(20만)</a:t>
            </a:r>
            <a:endParaRPr lang="en-US" sz="1400" dirty="0"/>
          </a:p>
        </p:txBody>
      </p:sp>
      <p:sp>
        <p:nvSpPr>
          <p:cNvPr id="15" name="Shape 13"/>
          <p:cNvSpPr/>
          <p:nvPr/>
        </p:nvSpPr>
        <p:spPr>
          <a:xfrm>
            <a:off x="2304288" y="3538728"/>
            <a:ext cx="265176" cy="0"/>
          </a:xfrm>
          <a:prstGeom prst="line">
            <a:avLst/>
          </a:prstGeom>
          <a:noFill/>
          <a:ln w="19050">
            <a:solidFill>
              <a:srgbClr val="D9472B"/>
            </a:solidFill>
            <a:prstDash val="solid"/>
            <a:tailEnd type="triangle"/>
          </a:ln>
        </p:spPr>
      </p:sp>
      <p:sp>
        <p:nvSpPr>
          <p:cNvPr id="16" name="Text 14"/>
          <p:cNvSpPr txBox="1"/>
          <p:nvPr/>
        </p:nvSpPr>
        <p:spPr>
          <a:xfrm>
            <a:off x="2606040" y="3255264"/>
            <a:ext cx="3611880" cy="566928"/>
          </a:xfrm>
          <a:prstGeom prst="roundRect">
            <a:avLst>
              <a:gd name="adj" fmla="val 12903"/>
            </a:avLst>
          </a:prstGeom>
          <a:solidFill>
            <a:srgbClr val="E3F4F1"/>
          </a:solidFill>
          <a:ln w="12700">
            <a:solidFill>
              <a:srgbClr val="159A8C"/>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ONE PICK PLAY (체크)</a:t>
            </a:r>
            <a:endParaRPr lang="en-US" sz="1300" dirty="0"/>
          </a:p>
          <a:p>
            <a:pPr algn="l" indent="0" marL="0">
              <a:buNone/>
            </a:pPr>
            <a:r>
              <a:rPr lang="en-US" sz="1100" dirty="0">
                <a:solidFill>
                  <a:srgbClr val="0D6F64"/>
                </a:solidFill>
                <a:latin typeface="Malgun Gothic" pitchFamily="34" charset="0"/>
                <a:ea typeface="Malgun Gothic" pitchFamily="34" charset="-122"/>
                <a:cs typeface="Malgun Gothic" pitchFamily="34" charset="-120"/>
              </a:rPr>
              <a:t>실적 제외 규칙 · 15651_20260429</a:t>
            </a:r>
            <a:endParaRPr lang="en-US" sz="1300" dirty="0"/>
          </a:p>
        </p:txBody>
      </p:sp>
      <p:sp>
        <p:nvSpPr>
          <p:cNvPr id="17" name="Shape 15"/>
          <p:cNvSpPr/>
          <p:nvPr/>
        </p:nvSpPr>
        <p:spPr>
          <a:xfrm>
            <a:off x="6245352" y="3538728"/>
            <a:ext cx="356616" cy="0"/>
          </a:xfrm>
          <a:prstGeom prst="line">
            <a:avLst/>
          </a:prstGeom>
          <a:noFill/>
          <a:ln w="19050">
            <a:solidFill>
              <a:srgbClr val="3A4A60"/>
            </a:solidFill>
            <a:prstDash val="solid"/>
            <a:tailEnd type="triangle"/>
          </a:ln>
        </p:spPr>
      </p:sp>
      <p:sp>
        <p:nvSpPr>
          <p:cNvPr id="18" name="Text 16"/>
          <p:cNvSpPr txBox="1"/>
          <p:nvPr/>
        </p:nvSpPr>
        <p:spPr>
          <a:xfrm>
            <a:off x="6629400" y="3255264"/>
            <a:ext cx="5013655" cy="566928"/>
          </a:xfrm>
          <a:prstGeom prst="roundRect">
            <a:avLst>
              <a:gd name="adj" fmla="val 12903"/>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400" dirty="0">
                <a:solidFill>
                  <a:srgbClr val="0E1A2B"/>
                </a:solidFill>
                <a:latin typeface="Malgun Gothic" pitchFamily="34" charset="0"/>
                <a:ea typeface="Malgun Gothic" pitchFamily="34" charset="-122"/>
                <a:cs typeface="Malgun Gothic" pitchFamily="34" charset="-120"/>
              </a:rPr>
              <a:t>ONE MORE 대중교통(10만) · 놀이공원(20만)</a:t>
            </a:r>
            <a:endParaRPr lang="en-US" sz="1400" dirty="0"/>
          </a:p>
        </p:txBody>
      </p:sp>
      <p:sp>
        <p:nvSpPr>
          <p:cNvPr id="19" name="Shape 17"/>
          <p:cNvSpPr/>
          <p:nvPr/>
        </p:nvSpPr>
        <p:spPr>
          <a:xfrm>
            <a:off x="2304288" y="4215384"/>
            <a:ext cx="265176" cy="0"/>
          </a:xfrm>
          <a:prstGeom prst="line">
            <a:avLst/>
          </a:prstGeom>
          <a:noFill/>
          <a:ln w="19050">
            <a:solidFill>
              <a:srgbClr val="D9472B"/>
            </a:solidFill>
            <a:prstDash val="solid"/>
            <a:tailEnd type="triangle"/>
          </a:ln>
        </p:spPr>
      </p:sp>
      <p:sp>
        <p:nvSpPr>
          <p:cNvPr id="20" name="Text 18"/>
          <p:cNvSpPr txBox="1"/>
          <p:nvPr/>
        </p:nvSpPr>
        <p:spPr>
          <a:xfrm>
            <a:off x="2606040" y="3931920"/>
            <a:ext cx="3611880" cy="566928"/>
          </a:xfrm>
          <a:prstGeom prst="roundRect">
            <a:avLst>
              <a:gd name="adj" fmla="val 12903"/>
            </a:avLst>
          </a:prstGeom>
          <a:solidFill>
            <a:srgbClr val="E3F4F1"/>
          </a:solidFill>
          <a:ln w="12700">
            <a:solidFill>
              <a:srgbClr val="159A8C"/>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BT (신용)</a:t>
            </a:r>
            <a:endParaRPr lang="en-US" sz="1300" dirty="0"/>
          </a:p>
          <a:p>
            <a:pPr algn="l" indent="0" marL="0">
              <a:buNone/>
            </a:pPr>
            <a:r>
              <a:rPr lang="en-US" sz="1100" dirty="0">
                <a:solidFill>
                  <a:srgbClr val="0D6F64"/>
                </a:solidFill>
                <a:latin typeface="Malgun Gothic" pitchFamily="34" charset="0"/>
                <a:ea typeface="Malgun Gothic" pitchFamily="34" charset="-122"/>
                <a:cs typeface="Malgun Gothic" pitchFamily="34" charset="-120"/>
              </a:rPr>
              <a:t>실적 제외 규칙 · 14324_20260310</a:t>
            </a:r>
            <a:endParaRPr lang="en-US" sz="1300" dirty="0"/>
          </a:p>
        </p:txBody>
      </p:sp>
      <p:sp>
        <p:nvSpPr>
          <p:cNvPr id="21" name="Shape 19"/>
          <p:cNvSpPr/>
          <p:nvPr/>
        </p:nvSpPr>
        <p:spPr>
          <a:xfrm>
            <a:off x="6245352" y="4215384"/>
            <a:ext cx="356616" cy="0"/>
          </a:xfrm>
          <a:prstGeom prst="line">
            <a:avLst/>
          </a:prstGeom>
          <a:noFill/>
          <a:ln w="19050">
            <a:solidFill>
              <a:srgbClr val="3A4A60"/>
            </a:solidFill>
            <a:prstDash val="solid"/>
            <a:tailEnd type="triangle"/>
          </a:ln>
        </p:spPr>
      </p:sp>
      <p:sp>
        <p:nvSpPr>
          <p:cNvPr id="22" name="Text 20"/>
          <p:cNvSpPr txBox="1"/>
          <p:nvPr/>
        </p:nvSpPr>
        <p:spPr>
          <a:xfrm>
            <a:off x="6629400" y="3931920"/>
            <a:ext cx="5013655" cy="566928"/>
          </a:xfrm>
          <a:prstGeom prst="roundRect">
            <a:avLst>
              <a:gd name="adj" fmla="val 12903"/>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400" dirty="0">
                <a:solidFill>
                  <a:srgbClr val="0E1A2B"/>
                </a:solidFill>
                <a:latin typeface="Malgun Gothic" pitchFamily="34" charset="0"/>
                <a:ea typeface="Malgun Gothic" pitchFamily="34" charset="-122"/>
                <a:cs typeface="Malgun Gothic" pitchFamily="34" charset="-120"/>
              </a:rPr>
              <a:t>인천공항 라운지(50만)</a:t>
            </a:r>
            <a:endParaRPr lang="en-US" sz="1400" dirty="0"/>
          </a:p>
        </p:txBody>
      </p:sp>
      <p:sp>
        <p:nvSpPr>
          <p:cNvPr id="23" name="Shape 21"/>
          <p:cNvSpPr/>
          <p:nvPr/>
        </p:nvSpPr>
        <p:spPr>
          <a:xfrm>
            <a:off x="2304288" y="4892040"/>
            <a:ext cx="265176" cy="0"/>
          </a:xfrm>
          <a:prstGeom prst="line">
            <a:avLst/>
          </a:prstGeom>
          <a:noFill/>
          <a:ln w="19050">
            <a:solidFill>
              <a:srgbClr val="D9472B"/>
            </a:solidFill>
            <a:prstDash val="solid"/>
            <a:tailEnd type="triangle"/>
          </a:ln>
        </p:spPr>
      </p:sp>
      <p:sp>
        <p:nvSpPr>
          <p:cNvPr id="24" name="Text 22"/>
          <p:cNvSpPr txBox="1"/>
          <p:nvPr/>
        </p:nvSpPr>
        <p:spPr>
          <a:xfrm>
            <a:off x="2606040" y="4608576"/>
            <a:ext cx="3611880" cy="566928"/>
          </a:xfrm>
          <a:prstGeom prst="roundRect">
            <a:avLst>
              <a:gd name="adj" fmla="val 12903"/>
            </a:avLst>
          </a:prstGeom>
          <a:solidFill>
            <a:srgbClr val="E3F4F1"/>
          </a:solidFill>
          <a:ln w="12700">
            <a:solidFill>
              <a:srgbClr val="159A8C"/>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에너지 더블 (신용)</a:t>
            </a:r>
            <a:endParaRPr lang="en-US" sz="1300" dirty="0"/>
          </a:p>
          <a:p>
            <a:pPr algn="l" indent="0" marL="0">
              <a:buNone/>
            </a:pPr>
            <a:r>
              <a:rPr lang="en-US" sz="1100" dirty="0">
                <a:solidFill>
                  <a:srgbClr val="0D6F64"/>
                </a:solidFill>
                <a:latin typeface="Malgun Gothic" pitchFamily="34" charset="0"/>
                <a:ea typeface="Malgun Gothic" pitchFamily="34" charset="-122"/>
                <a:cs typeface="Malgun Gothic" pitchFamily="34" charset="-120"/>
              </a:rPr>
              <a:t>실적 제외 규칙 · 14422_20251224</a:t>
            </a:r>
            <a:endParaRPr lang="en-US" sz="1300" dirty="0"/>
          </a:p>
        </p:txBody>
      </p:sp>
      <p:sp>
        <p:nvSpPr>
          <p:cNvPr id="25" name="Shape 23"/>
          <p:cNvSpPr/>
          <p:nvPr/>
        </p:nvSpPr>
        <p:spPr>
          <a:xfrm>
            <a:off x="6245352" y="4892040"/>
            <a:ext cx="356616" cy="0"/>
          </a:xfrm>
          <a:prstGeom prst="line">
            <a:avLst/>
          </a:prstGeom>
          <a:noFill/>
          <a:ln w="19050">
            <a:solidFill>
              <a:srgbClr val="3A4A60"/>
            </a:solidFill>
            <a:prstDash val="solid"/>
            <a:tailEnd type="triangle"/>
          </a:ln>
        </p:spPr>
      </p:sp>
      <p:sp>
        <p:nvSpPr>
          <p:cNvPr id="26" name="Text 24"/>
          <p:cNvSpPr txBox="1"/>
          <p:nvPr/>
        </p:nvSpPr>
        <p:spPr>
          <a:xfrm>
            <a:off x="6629400" y="4608576"/>
            <a:ext cx="5013655" cy="566928"/>
          </a:xfrm>
          <a:prstGeom prst="roundRect">
            <a:avLst>
              <a:gd name="adj" fmla="val 12903"/>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400" dirty="0">
                <a:solidFill>
                  <a:srgbClr val="0E1A2B"/>
                </a:solidFill>
                <a:latin typeface="Malgun Gothic" pitchFamily="34" charset="0"/>
                <a:ea typeface="Malgun Gothic" pitchFamily="34" charset="-122"/>
                <a:cs typeface="Malgun Gothic" pitchFamily="34" charset="-120"/>
              </a:rPr>
              <a:t>에너지 공과금(40/80만) · 일상생활(40만)</a:t>
            </a:r>
            <a:endParaRPr lang="en-US" sz="1400" dirty="0"/>
          </a:p>
        </p:txBody>
      </p:sp>
      <p:sp>
        <p:nvSpPr>
          <p:cNvPr id="27" name="Text 25"/>
          <p:cNvSpPr txBox="1"/>
          <p:nvPr/>
        </p:nvSpPr>
        <p:spPr>
          <a:xfrm>
            <a:off x="548640" y="5349240"/>
            <a:ext cx="11094415" cy="384048"/>
          </a:xfrm>
          <a:prstGeom prst="roundRect">
            <a:avLst>
              <a:gd name="adj" fmla="val 19048"/>
            </a:avLst>
          </a:prstGeom>
          <a:solidFill>
            <a:srgbClr val="FBE6E2"/>
          </a:solidFill>
          <a:ln>
            <a:solidFill>
              <a:srgbClr val="FBE6E2"/>
            </a:solidFill>
          </a:ln>
        </p:spPr>
        <p:txBody>
          <a:bodyPr wrap="square" lIns="127000" tIns="127000" rIns="127000" bIns="127000" rtlCol="0" anchor="ctr"/>
          <a:lstStyle/>
          <a:p>
            <a:pPr algn="l" indent="0" marL="0">
              <a:buNone/>
            </a:pPr>
            <a:r>
              <a:rPr lang="en-US" sz="1200" b="1" dirty="0">
                <a:solidFill>
                  <a:srgbClr val="A8311A"/>
                </a:solidFill>
                <a:latin typeface="Malgun Gothic" pitchFamily="34" charset="0"/>
                <a:ea typeface="Malgun Gothic" pitchFamily="34" charset="-122"/>
                <a:cs typeface="Malgun Gothic" pitchFamily="34" charset="-120"/>
              </a:rPr>
              <a:t>사람이 검토할 영향 후보입니다 (자동 정책 변경 아님) · 실적 조건 없는 ONE PICK 영역·BIG TICKET은 후보에서 제외</a:t>
            </a:r>
            <a:endParaRPr lang="en-US" sz="1200" dirty="0"/>
          </a:p>
        </p:txBody>
      </p:sp>
      <p:sp>
        <p:nvSpPr>
          <p:cNvPr id="28" name="Text 26"/>
          <p:cNvSpPr txBox="1"/>
          <p:nvPr/>
        </p:nvSpPr>
        <p:spPr>
          <a:xfrm>
            <a:off x="548640" y="5852160"/>
            <a:ext cx="11094415" cy="438912"/>
          </a:xfrm>
          <a:prstGeom prst="roundRect">
            <a:avLst>
              <a:gd name="adj" fmla="val 20833"/>
            </a:avLst>
          </a:prstGeom>
          <a:solidFill>
            <a:srgbClr val="FFFFFF"/>
          </a:solidFill>
          <a:ln w="15875">
            <a:solidFill>
              <a:srgbClr val="E8A33D"/>
            </a:solidFill>
          </a:ln>
        </p:spPr>
        <p:txBody>
          <a:bodyPr wrap="square" lIns="152400" tIns="152400" rIns="152400" bIns="152400" rtlCol="0" anchor="ctr"/>
          <a:lstStyle/>
          <a:p>
            <a:pPr algn="l" indent="0" marL="0">
              <a:buNone/>
            </a:pPr>
            <a:r>
              <a:rPr lang="en-US" sz="1400" b="1" dirty="0">
                <a:solidFill>
                  <a:srgbClr val="8F5208"/>
                </a:solidFill>
                <a:latin typeface="Malgun Gothic" pitchFamily="34" charset="0"/>
                <a:ea typeface="Malgun Gothic" pitchFamily="34" charset="-122"/>
                <a:cs typeface="Malgun Gothic" pitchFamily="34" charset="-120"/>
              </a:rPr>
              <a:t>다음 질문  </a:t>
            </a:r>
            <a:pPr algn="l" indent="0" marL="0">
              <a:buNone/>
            </a:pPr>
            <a:r>
              <a:rPr lang="en-US" sz="1400" b="1" dirty="0">
                <a:solidFill>
                  <a:srgbClr val="0E1A2B"/>
                </a:solidFill>
                <a:latin typeface="Malgun Gothic" pitchFamily="34" charset="0"/>
                <a:ea typeface="Malgun Gothic" pitchFamily="34" charset="-122"/>
                <a:cs typeface="Malgun Gothic" pitchFamily="34" charset="-120"/>
              </a:rPr>
              <a:t>그런데 SQL로도 관계를 조회할 수 있는데, 왜 그래프를 검토할까요?</a:t>
            </a:r>
            <a:endParaRPr lang="en-US" sz="1400" dirty="0"/>
          </a:p>
        </p:txBody>
      </p:sp>
      <p:sp>
        <p:nvSpPr>
          <p:cNvPr id="29" name="Text 27"/>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4종 원문 수작업 도출(예상 결과) · Cypher 미실행 · 같은 개념을 공유해도 카드별 정책은 다를 수 있어 규칙을 카드별로 분리 저장</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08   기술 선택</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SQL·일반 RAG로도 가능합니다. 그런데 왜 그래프를 검토할까요?</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DF0DC"/>
          </a:solidFill>
          <a:ln>
            <a:solidFill>
              <a:srgbClr val="FDF0DC"/>
            </a:solidFill>
          </a:ln>
        </p:spPr>
        <p:txBody>
          <a:bodyPr wrap="square" lIns="0" tIns="0" rIns="0" bIns="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검증 계획</a:t>
            </a:r>
            <a:endParaRPr lang="en-US" sz="1100" dirty="0"/>
          </a:p>
        </p:txBody>
      </p:sp>
      <p:sp>
        <p:nvSpPr>
          <p:cNvPr id="5" name="Text 3"/>
          <p:cNvSpPr txBox="1"/>
          <p:nvPr/>
        </p:nvSpPr>
        <p:spPr>
          <a:xfrm>
            <a:off x="9969703"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팀 해석</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2011680"/>
                <a:gridCol w="2834640"/>
                <a:gridCol w="3108960"/>
                <a:gridCol w="3136392"/>
              </a:tblGrid>
              <a:tr h="384048">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비교 관점</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일반 벡터 RAG</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PostgreSQL (관계 테이블 + SQL)</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Neo4j 그래프</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r>
              <a:tr h="38404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모델링 방식</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원문 청크 + 메타데이터</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카드·혜택·규칙·조항 테이블과 키</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노드와 관계 유형(HAS_BENEFIT 등)</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8404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적용 범위 표현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청크 메타데이터·프롬프트로 구분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scope 컬럼·규칙 테이블</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관계 속성 {scope}</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8404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원문 근거</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검색된 청크 출처를 그대로 반환</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근거 키 JOIN으로 반환</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SOURCED_FROM 경로로 반환</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8404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다단계·역방향 탐색</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반복 검색·별도 로직으로 구성</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JOIN·재귀 CTE로 구성</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가변 길이·역방향 경로 패턴</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8404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검증 비용</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청크와 답변 단위 대조</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행 단위 제약·검증 SQL</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노드·관계 단위 대조</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8404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운영 복잡도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낮음</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낮음~중간 (팀 기존 역량, DDL 초안)</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중간~높음 (인프라·온톨로지 관리)</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7" name="Text 4"/>
          <p:cNvSpPr txBox="1"/>
          <p:nvPr/>
        </p:nvSpPr>
        <p:spPr>
          <a:xfrm>
            <a:off x="548640" y="4526280"/>
            <a:ext cx="11094415" cy="457200"/>
          </a:xfrm>
          <a:prstGeom prst="rect">
            <a:avLst/>
          </a:prstGeom>
          <a:noFill/>
          <a:ln/>
        </p:spPr>
        <p:txBody>
          <a:bodyPr wrap="square" lIns="0" tIns="0" rIns="0" bIns="0" rtlCol="0" anchor="t"/>
          <a:lstStyle/>
          <a:p>
            <a:pPr indent="0" marL="0">
              <a:buNone/>
            </a:pPr>
            <a:r>
              <a:rPr lang="en-US" sz="1200" dirty="0">
                <a:solidFill>
                  <a:srgbClr val="3A4A60"/>
                </a:solidFill>
                <a:latin typeface="Malgun Gothic" pitchFamily="34" charset="0"/>
                <a:ea typeface="Malgun Gothic" pitchFamily="34" charset="-122"/>
                <a:cs typeface="Malgun Gothic" pitchFamily="34" charset="-120"/>
              </a:rPr>
              <a:t>비교 계획: 같은 파일럿 질문 15~20개를 세 방식에 적용 → 근거 정확도·적용 범위 정확도·영향 후보 정밀도/재현율·구현 공수 비교 (부록 C)</a:t>
            </a:r>
            <a:endParaRPr lang="en-US" sz="1200" dirty="0"/>
          </a:p>
        </p:txBody>
      </p:sp>
      <p:sp>
        <p:nvSpPr>
          <p:cNvPr id="8" name="Text 5"/>
          <p:cNvSpPr txBox="1"/>
          <p:nvPr/>
        </p:nvSpPr>
        <p:spPr>
          <a:xfrm>
            <a:off x="548640" y="5029200"/>
            <a:ext cx="11094415" cy="685800"/>
          </a:xfrm>
          <a:prstGeom prst="roundRect">
            <a:avLst>
              <a:gd name="adj" fmla="val 10667"/>
            </a:avLst>
          </a:prstGeom>
          <a:solidFill>
            <a:srgbClr val="0E1A2B"/>
          </a:solidFill>
          <a:ln>
            <a:solidFill>
              <a:srgbClr val="0E1A2B"/>
            </a:solidFill>
          </a:ln>
        </p:spPr>
        <p:txBody>
          <a:bodyPr wrap="square" lIns="177800" tIns="177800" rIns="177800" bIns="177800" rtlCol="0" anchor="ctr"/>
          <a:lstStyle/>
          <a:p>
            <a:pPr algn="l" indent="0" marL="0">
              <a:buNone/>
            </a:pPr>
            <a:r>
              <a:rPr lang="en-US" sz="1500" b="1" dirty="0">
                <a:solidFill>
                  <a:srgbClr val="FFFFFF"/>
                </a:solidFill>
                <a:latin typeface="Malgun Gothic" pitchFamily="34" charset="0"/>
                <a:ea typeface="Malgun Gothic" pitchFamily="34" charset="-122"/>
                <a:cs typeface="Malgun Gothic" pitchFamily="34" charset="-120"/>
              </a:rPr>
              <a:t>이 프로젝트는 복잡한 카드 혜택 관계를 그래프로 표현하고 탐색하는 방법을 검증합니다. </a:t>
            </a:r>
            <a:pPr algn="l" indent="0" marL="0">
              <a:buNone/>
            </a:pPr>
            <a:r>
              <a:rPr lang="en-US" sz="1500" b="1" dirty="0">
                <a:solidFill>
                  <a:srgbClr val="E8A33D"/>
                </a:solidFill>
                <a:latin typeface="Malgun Gothic" pitchFamily="34" charset="0"/>
                <a:ea typeface="Malgun Gothic" pitchFamily="34" charset="-122"/>
                <a:cs typeface="Malgun Gothic" pitchFamily="34" charset="-120"/>
              </a:rPr>
              <a:t>SQL 대비 우위는 실제 비교 이전에 단정하지 않습니다.</a:t>
            </a:r>
            <a:endParaRPr lang="en-US" sz="1500" dirty="0"/>
          </a:p>
        </p:txBody>
      </p:sp>
      <p:sp>
        <p:nvSpPr>
          <p:cNvPr id="9" name="Text 6"/>
          <p:cNvSpPr txBox="1"/>
          <p:nvPr/>
        </p:nvSpPr>
        <p:spPr>
          <a:xfrm>
            <a:off x="548640" y="5852160"/>
            <a:ext cx="11094415" cy="438912"/>
          </a:xfrm>
          <a:prstGeom prst="roundRect">
            <a:avLst>
              <a:gd name="adj" fmla="val 20833"/>
            </a:avLst>
          </a:prstGeom>
          <a:solidFill>
            <a:srgbClr val="FFFFFF"/>
          </a:solidFill>
          <a:ln w="15875">
            <a:solidFill>
              <a:srgbClr val="E8A33D"/>
            </a:solidFill>
          </a:ln>
        </p:spPr>
        <p:txBody>
          <a:bodyPr wrap="square" lIns="152400" tIns="152400" rIns="152400" bIns="152400" rtlCol="0" anchor="ctr"/>
          <a:lstStyle/>
          <a:p>
            <a:pPr algn="l" indent="0" marL="0">
              <a:buNone/>
            </a:pPr>
            <a:r>
              <a:rPr lang="en-US" sz="1400" b="1" dirty="0">
                <a:solidFill>
                  <a:srgbClr val="8F5208"/>
                </a:solidFill>
                <a:latin typeface="Malgun Gothic" pitchFamily="34" charset="0"/>
                <a:ea typeface="Malgun Gothic" pitchFamily="34" charset="-122"/>
                <a:cs typeface="Malgun Gothic" pitchFamily="34" charset="-120"/>
              </a:rPr>
              <a:t>다음 질문  </a:t>
            </a:r>
            <a:pPr algn="l" indent="0" marL="0">
              <a:buNone/>
            </a:pPr>
            <a:r>
              <a:rPr lang="en-US" sz="1400" b="1" dirty="0">
                <a:solidFill>
                  <a:srgbClr val="0E1A2B"/>
                </a:solidFill>
                <a:latin typeface="Malgun Gothic" pitchFamily="34" charset="0"/>
                <a:ea typeface="Malgun Gothic" pitchFamily="34" charset="-122"/>
                <a:cs typeface="Malgun Gothic" pitchFamily="34" charset="-120"/>
              </a:rPr>
              <a:t>그렇다면 그래프에서 검색한 조건과 AI가 생성한 답변은 어떻게 검증할까요?</a:t>
            </a:r>
            <a:endParaRPr lang="en-US" sz="1400" dirty="0"/>
          </a:p>
        </p:txBody>
      </p:sp>
      <p:sp>
        <p:nvSpPr>
          <p:cNvPr id="10" name="Text 7"/>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가능·불가능의 우열 표가 아니라 구현 방식의 차이 · 정확도·효율 차이는 실험 전 · PostgreSQL 비교안: sql/hana_card_schema_draft.sql (DB 미적용)</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09   검증</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추출한 관계와 생성한 답변은 단계마다 원문과 대조합니다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DF0DC"/>
          </a:solidFill>
          <a:ln>
            <a:solidFill>
              <a:srgbClr val="FDF0DC"/>
            </a:solidFill>
          </a:ln>
        </p:spPr>
        <p:txBody>
          <a:bodyPr wrap="square" lIns="0" tIns="0" rIns="0" bIns="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검증 계획</a:t>
            </a:r>
            <a:endParaRPr lang="en-US" sz="1100" dirty="0"/>
          </a:p>
        </p:txBody>
      </p:sp>
      <p:sp>
        <p:nvSpPr>
          <p:cNvPr id="5" name="Text 3"/>
          <p:cNvSpPr txBox="1"/>
          <p:nvPr/>
        </p:nvSpPr>
        <p:spPr>
          <a:xfrm>
            <a:off x="9969703"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설계안</a:t>
            </a:r>
            <a:endParaRPr lang="en-US" sz="1100" dirty="0"/>
          </a:p>
        </p:txBody>
      </p:sp>
      <p:sp>
        <p:nvSpPr>
          <p:cNvPr id="6" name="Text 4"/>
          <p:cNvSpPr txBox="1"/>
          <p:nvPr/>
        </p:nvSpPr>
        <p:spPr>
          <a:xfrm>
            <a:off x="548640" y="1691640"/>
            <a:ext cx="2567864" cy="548640"/>
          </a:xfrm>
          <a:prstGeom prst="roundRect">
            <a:avLst>
              <a:gd name="adj" fmla="val 13333"/>
            </a:avLst>
          </a:prstGeom>
          <a:solidFill>
            <a:srgbClr val="E8ECF2"/>
          </a:solidFill>
          <a:ln>
            <a:solidFill>
              <a:srgbClr val="E8ECF2"/>
            </a:solidFill>
          </a:ln>
        </p:spPr>
        <p:txBody>
          <a:bodyPr wrap="square" lIns="76200" tIns="76200" rIns="76200" bIns="76200" rtlCol="0" anchor="ctr"/>
          <a:lstStyle/>
          <a:p>
            <a:pPr algn="ctr" indent="0" marL="0">
              <a:buNone/>
            </a:pPr>
            <a:r>
              <a:rPr lang="en-US" sz="1500" b="1" dirty="0">
                <a:solidFill>
                  <a:srgbClr val="0E1A2B"/>
                </a:solidFill>
                <a:latin typeface="Malgun Gothic" pitchFamily="34" charset="0"/>
                <a:ea typeface="Malgun Gothic" pitchFamily="34" charset="-122"/>
                <a:cs typeface="Malgun Gothic" pitchFamily="34" charset="-120"/>
              </a:rPr>
              <a:t>① 공식 PDF 원문</a:t>
            </a:r>
            <a:endParaRPr lang="en-US" sz="1500" dirty="0"/>
          </a:p>
        </p:txBody>
      </p:sp>
      <p:sp>
        <p:nvSpPr>
          <p:cNvPr id="7" name="Shape 5"/>
          <p:cNvSpPr/>
          <p:nvPr/>
        </p:nvSpPr>
        <p:spPr>
          <a:xfrm>
            <a:off x="3143936" y="1965960"/>
            <a:ext cx="219456" cy="0"/>
          </a:xfrm>
          <a:prstGeom prst="line">
            <a:avLst/>
          </a:prstGeom>
          <a:noFill/>
          <a:ln w="19050">
            <a:solidFill>
              <a:srgbClr val="8A94A3"/>
            </a:solidFill>
            <a:prstDash val="solid"/>
            <a:tailEnd type="triangle"/>
          </a:ln>
        </p:spPr>
      </p:sp>
      <p:sp>
        <p:nvSpPr>
          <p:cNvPr id="8" name="Shape 6"/>
          <p:cNvSpPr/>
          <p:nvPr/>
        </p:nvSpPr>
        <p:spPr>
          <a:xfrm>
            <a:off x="548640" y="2359152"/>
            <a:ext cx="2567864" cy="1188720"/>
          </a:xfrm>
          <a:prstGeom prst="roundRect">
            <a:avLst>
              <a:gd name="adj" fmla="val 7692"/>
            </a:avLst>
          </a:prstGeom>
          <a:solidFill>
            <a:srgbClr val="FBE6E2"/>
          </a:solidFill>
          <a:ln w="12700">
            <a:solidFill>
              <a:srgbClr val="FBE6E2"/>
            </a:solidFill>
            <a:prstDash val="solid"/>
          </a:ln>
        </p:spPr>
      </p:sp>
      <p:sp>
        <p:nvSpPr>
          <p:cNvPr id="9" name="Text 7"/>
          <p:cNvSpPr txBox="1"/>
          <p:nvPr/>
        </p:nvSpPr>
        <p:spPr>
          <a:xfrm>
            <a:off x="685800" y="2423160"/>
            <a:ext cx="2293544" cy="1078992"/>
          </a:xfrm>
          <a:prstGeom prst="rect">
            <a:avLst/>
          </a:prstGeom>
          <a:noFill/>
          <a:ln/>
        </p:spPr>
        <p:txBody>
          <a:bodyPr wrap="square" lIns="0" tIns="0" rIns="0" bIns="0" rtlCol="0" anchor="t"/>
          <a:lstStyle/>
          <a:p>
            <a:pPr indent="0" marL="0">
              <a:buNone/>
            </a:pPr>
            <a:r>
              <a:rPr lang="en-US" sz="1100" b="1" dirty="0">
                <a:solidFill>
                  <a:srgbClr val="A8311A"/>
                </a:solidFill>
                <a:latin typeface="Malgun Gothic" pitchFamily="34" charset="0"/>
                <a:ea typeface="Malgun Gothic" pitchFamily="34" charset="-122"/>
                <a:cs typeface="Malgun Gothic" pitchFamily="34" charset="-120"/>
              </a:rPr>
              <a:t>생길 수 있는 오류</a:t>
            </a:r>
            <a:endParaRPr lang="en-US" sz="1400" dirty="0"/>
          </a:p>
          <a:p>
            <a:pPr indent="0" marL="0">
              <a:buNone/>
            </a:pPr>
            <a:r>
              <a:rPr lang="en-US" sz="1400" b="1" dirty="0">
                <a:solidFill>
                  <a:srgbClr val="0E1A2B"/>
                </a:solidFill>
                <a:latin typeface="Malgun Gothic" pitchFamily="34" charset="0"/>
                <a:ea typeface="Malgun Gothic" pitchFamily="34" charset="-122"/>
                <a:cs typeface="Malgun Gothic" pitchFamily="34" charset="-120"/>
              </a:rPr>
              <a:t>잘못된 표 추출</a:t>
            </a:r>
            <a:endParaRPr lang="en-US" sz="1400" dirty="0"/>
          </a:p>
          <a:p>
            <a:pPr indent="0" marL="0">
              <a:buNone/>
            </a:pPr>
            <a:r>
              <a:rPr lang="en-US" sz="1200" dirty="0">
                <a:solidFill>
                  <a:srgbClr val="3A4A60"/>
                </a:solidFill>
                <a:latin typeface="Malgun Gothic" pitchFamily="34" charset="0"/>
                <a:ea typeface="Malgun Gothic" pitchFamily="34" charset="-122"/>
                <a:cs typeface="Malgun Gothic" pitchFamily="34" charset="-120"/>
              </a:rPr>
              <a:t>예: BT 구간 열 소실</a:t>
            </a:r>
            <a:endParaRPr lang="en-US" sz="1400" dirty="0"/>
          </a:p>
        </p:txBody>
      </p:sp>
      <p:sp>
        <p:nvSpPr>
          <p:cNvPr id="10" name="Text 8"/>
          <p:cNvSpPr txBox="1"/>
          <p:nvPr/>
        </p:nvSpPr>
        <p:spPr>
          <a:xfrm>
            <a:off x="548640" y="3611880"/>
            <a:ext cx="2567864" cy="292608"/>
          </a:xfrm>
          <a:prstGeom prst="rect">
            <a:avLst/>
          </a:prstGeom>
          <a:noFill/>
          <a:ln/>
        </p:spPr>
        <p:txBody>
          <a:bodyPr wrap="square" lIns="0" tIns="0" rIns="0" bIns="0" rtlCol="0" anchor="t"/>
          <a:lstStyle/>
          <a:p>
            <a:pPr algn="ctr" indent="0" marL="0">
              <a:buNone/>
            </a:pPr>
            <a:r>
              <a:rPr lang="en-US" sz="1200" b="1" dirty="0">
                <a:solidFill>
                  <a:srgbClr val="0D6F64"/>
                </a:solidFill>
                <a:latin typeface="Malgun Gothic" pitchFamily="34" charset="0"/>
                <a:ea typeface="Malgun Gothic" pitchFamily="34" charset="-122"/>
                <a:cs typeface="Malgun Gothic" pitchFamily="34" charset="-120"/>
              </a:rPr>
              <a:t>대조: 원문 이미지 ↔ 추출 텍스트</a:t>
            </a:r>
            <a:endParaRPr lang="en-US" sz="1200" dirty="0"/>
          </a:p>
        </p:txBody>
      </p:sp>
      <p:sp>
        <p:nvSpPr>
          <p:cNvPr id="11" name="Text 9"/>
          <p:cNvSpPr txBox="1"/>
          <p:nvPr/>
        </p:nvSpPr>
        <p:spPr>
          <a:xfrm>
            <a:off x="3390824" y="1691640"/>
            <a:ext cx="2567864" cy="548640"/>
          </a:xfrm>
          <a:prstGeom prst="roundRect">
            <a:avLst>
              <a:gd name="adj" fmla="val 13333"/>
            </a:avLst>
          </a:prstGeom>
          <a:solidFill>
            <a:srgbClr val="E8ECF2"/>
          </a:solidFill>
          <a:ln>
            <a:solidFill>
              <a:srgbClr val="E8ECF2"/>
            </a:solidFill>
          </a:ln>
        </p:spPr>
        <p:txBody>
          <a:bodyPr wrap="square" lIns="76200" tIns="76200" rIns="76200" bIns="76200" rtlCol="0" anchor="ctr"/>
          <a:lstStyle/>
          <a:p>
            <a:pPr algn="ctr" indent="0" marL="0">
              <a:buNone/>
            </a:pPr>
            <a:r>
              <a:rPr lang="en-US" sz="1500" b="1" dirty="0">
                <a:solidFill>
                  <a:srgbClr val="0E1A2B"/>
                </a:solidFill>
                <a:latin typeface="Malgun Gothic" pitchFamily="34" charset="0"/>
                <a:ea typeface="Malgun Gothic" pitchFamily="34" charset="-122"/>
                <a:cs typeface="Malgun Gothic" pitchFamily="34" charset="-120"/>
              </a:rPr>
              <a:t>② 구조화 관계</a:t>
            </a:r>
            <a:endParaRPr lang="en-US" sz="1500" dirty="0"/>
          </a:p>
        </p:txBody>
      </p:sp>
      <p:sp>
        <p:nvSpPr>
          <p:cNvPr id="12" name="Shape 10"/>
          <p:cNvSpPr/>
          <p:nvPr/>
        </p:nvSpPr>
        <p:spPr>
          <a:xfrm>
            <a:off x="5986120" y="1965960"/>
            <a:ext cx="219456" cy="0"/>
          </a:xfrm>
          <a:prstGeom prst="line">
            <a:avLst/>
          </a:prstGeom>
          <a:noFill/>
          <a:ln w="19050">
            <a:solidFill>
              <a:srgbClr val="8A94A3"/>
            </a:solidFill>
            <a:prstDash val="solid"/>
            <a:tailEnd type="triangle"/>
          </a:ln>
        </p:spPr>
      </p:sp>
      <p:sp>
        <p:nvSpPr>
          <p:cNvPr id="13" name="Shape 11"/>
          <p:cNvSpPr/>
          <p:nvPr/>
        </p:nvSpPr>
        <p:spPr>
          <a:xfrm>
            <a:off x="3390824" y="2359152"/>
            <a:ext cx="2567864" cy="1188720"/>
          </a:xfrm>
          <a:prstGeom prst="roundRect">
            <a:avLst>
              <a:gd name="adj" fmla="val 7692"/>
            </a:avLst>
          </a:prstGeom>
          <a:solidFill>
            <a:srgbClr val="FBE6E2"/>
          </a:solidFill>
          <a:ln w="12700">
            <a:solidFill>
              <a:srgbClr val="FBE6E2"/>
            </a:solidFill>
            <a:prstDash val="solid"/>
          </a:ln>
        </p:spPr>
      </p:sp>
      <p:sp>
        <p:nvSpPr>
          <p:cNvPr id="14" name="Text 12"/>
          <p:cNvSpPr txBox="1"/>
          <p:nvPr/>
        </p:nvSpPr>
        <p:spPr>
          <a:xfrm>
            <a:off x="3527984" y="2423160"/>
            <a:ext cx="2293544" cy="1078992"/>
          </a:xfrm>
          <a:prstGeom prst="rect">
            <a:avLst/>
          </a:prstGeom>
          <a:noFill/>
          <a:ln/>
        </p:spPr>
        <p:txBody>
          <a:bodyPr wrap="square" lIns="0" tIns="0" rIns="0" bIns="0" rtlCol="0" anchor="t"/>
          <a:lstStyle/>
          <a:p>
            <a:pPr indent="0" marL="0">
              <a:buNone/>
            </a:pPr>
            <a:r>
              <a:rPr lang="en-US" sz="1100" b="1" dirty="0">
                <a:solidFill>
                  <a:srgbClr val="A8311A"/>
                </a:solidFill>
                <a:latin typeface="Malgun Gothic" pitchFamily="34" charset="0"/>
                <a:ea typeface="Malgun Gothic" pitchFamily="34" charset="-122"/>
                <a:cs typeface="Malgun Gothic" pitchFamily="34" charset="-120"/>
              </a:rPr>
              <a:t>생길 수 있는 오류</a:t>
            </a:r>
            <a:endParaRPr lang="en-US" sz="1400" dirty="0"/>
          </a:p>
          <a:p>
            <a:pPr indent="0" marL="0">
              <a:buNone/>
            </a:pPr>
            <a:r>
              <a:rPr lang="en-US" sz="1400" b="1" dirty="0">
                <a:solidFill>
                  <a:srgbClr val="0E1A2B"/>
                </a:solidFill>
                <a:latin typeface="Malgun Gothic" pitchFamily="34" charset="0"/>
                <a:ea typeface="Malgun Gothic" pitchFamily="34" charset="-122"/>
                <a:cs typeface="Malgun Gothic" pitchFamily="34" charset="-120"/>
              </a:rPr>
              <a:t>조건 누락 · 적용 범위 혼동</a:t>
            </a:r>
            <a:endParaRPr lang="en-US" sz="1400" dirty="0"/>
          </a:p>
          <a:p>
            <a:pPr indent="0" marL="0">
              <a:buNone/>
            </a:pPr>
            <a:r>
              <a:rPr lang="en-US" sz="1200" dirty="0">
                <a:solidFill>
                  <a:srgbClr val="3A4A60"/>
                </a:solidFill>
                <a:latin typeface="Malgun Gothic" pitchFamily="34" charset="0"/>
                <a:ea typeface="Malgun Gothic" pitchFamily="34" charset="-122"/>
                <a:cs typeface="Malgun Gothic" pitchFamily="34" charset="-120"/>
              </a:rPr>
              <a:t>예: 상품권 ‘실적 제외’ 누락</a:t>
            </a:r>
            <a:endParaRPr lang="en-US" sz="1400" dirty="0"/>
          </a:p>
        </p:txBody>
      </p:sp>
      <p:sp>
        <p:nvSpPr>
          <p:cNvPr id="15" name="Text 13"/>
          <p:cNvSpPr txBox="1"/>
          <p:nvPr/>
        </p:nvSpPr>
        <p:spPr>
          <a:xfrm>
            <a:off x="3390824" y="3611880"/>
            <a:ext cx="2567864" cy="292608"/>
          </a:xfrm>
          <a:prstGeom prst="rect">
            <a:avLst/>
          </a:prstGeom>
          <a:noFill/>
          <a:ln/>
        </p:spPr>
        <p:txBody>
          <a:bodyPr wrap="square" lIns="0" tIns="0" rIns="0" bIns="0" rtlCol="0" anchor="t"/>
          <a:lstStyle/>
          <a:p>
            <a:pPr algn="ctr" indent="0" marL="0">
              <a:buNone/>
            </a:pPr>
            <a:r>
              <a:rPr lang="en-US" sz="1200" b="1" dirty="0">
                <a:solidFill>
                  <a:srgbClr val="0D6F64"/>
                </a:solidFill>
                <a:latin typeface="Malgun Gothic" pitchFamily="34" charset="0"/>
                <a:ea typeface="Malgun Gothic" pitchFamily="34" charset="-122"/>
                <a:cs typeface="Malgun Gothic" pitchFamily="34" charset="-120"/>
              </a:rPr>
              <a:t>대조: 원문 문장 ↔ 관계</a:t>
            </a:r>
            <a:endParaRPr lang="en-US" sz="1200" dirty="0"/>
          </a:p>
        </p:txBody>
      </p:sp>
      <p:sp>
        <p:nvSpPr>
          <p:cNvPr id="16" name="Text 14"/>
          <p:cNvSpPr txBox="1"/>
          <p:nvPr/>
        </p:nvSpPr>
        <p:spPr>
          <a:xfrm>
            <a:off x="6233008" y="1691640"/>
            <a:ext cx="2567864" cy="548640"/>
          </a:xfrm>
          <a:prstGeom prst="roundRect">
            <a:avLst>
              <a:gd name="adj" fmla="val 13333"/>
            </a:avLst>
          </a:prstGeom>
          <a:solidFill>
            <a:srgbClr val="E8ECF2"/>
          </a:solidFill>
          <a:ln>
            <a:solidFill>
              <a:srgbClr val="E8ECF2"/>
            </a:solidFill>
          </a:ln>
        </p:spPr>
        <p:txBody>
          <a:bodyPr wrap="square" lIns="76200" tIns="76200" rIns="76200" bIns="76200" rtlCol="0" anchor="ctr"/>
          <a:lstStyle/>
          <a:p>
            <a:pPr algn="ctr" indent="0" marL="0">
              <a:buNone/>
            </a:pPr>
            <a:r>
              <a:rPr lang="en-US" sz="1500" b="1" dirty="0">
                <a:solidFill>
                  <a:srgbClr val="0E1A2B"/>
                </a:solidFill>
                <a:latin typeface="Malgun Gothic" pitchFamily="34" charset="0"/>
                <a:ea typeface="Malgun Gothic" pitchFamily="34" charset="-122"/>
                <a:cs typeface="Malgun Gothic" pitchFamily="34" charset="-120"/>
              </a:rPr>
              <a:t>③ 그래프 검색 결과</a:t>
            </a:r>
            <a:endParaRPr lang="en-US" sz="1500" dirty="0"/>
          </a:p>
        </p:txBody>
      </p:sp>
      <p:sp>
        <p:nvSpPr>
          <p:cNvPr id="17" name="Shape 15"/>
          <p:cNvSpPr/>
          <p:nvPr/>
        </p:nvSpPr>
        <p:spPr>
          <a:xfrm>
            <a:off x="8828303" y="1965960"/>
            <a:ext cx="219456" cy="0"/>
          </a:xfrm>
          <a:prstGeom prst="line">
            <a:avLst/>
          </a:prstGeom>
          <a:noFill/>
          <a:ln w="19050">
            <a:solidFill>
              <a:srgbClr val="8A94A3"/>
            </a:solidFill>
            <a:prstDash val="solid"/>
            <a:tailEnd type="triangle"/>
          </a:ln>
        </p:spPr>
      </p:sp>
      <p:sp>
        <p:nvSpPr>
          <p:cNvPr id="18" name="Shape 16"/>
          <p:cNvSpPr/>
          <p:nvPr/>
        </p:nvSpPr>
        <p:spPr>
          <a:xfrm>
            <a:off x="6233008" y="2359152"/>
            <a:ext cx="2567864" cy="1188720"/>
          </a:xfrm>
          <a:prstGeom prst="roundRect">
            <a:avLst>
              <a:gd name="adj" fmla="val 7692"/>
            </a:avLst>
          </a:prstGeom>
          <a:solidFill>
            <a:srgbClr val="FBE6E2"/>
          </a:solidFill>
          <a:ln w="12700">
            <a:solidFill>
              <a:srgbClr val="FBE6E2"/>
            </a:solidFill>
            <a:prstDash val="solid"/>
          </a:ln>
        </p:spPr>
      </p:sp>
      <p:sp>
        <p:nvSpPr>
          <p:cNvPr id="19" name="Text 17"/>
          <p:cNvSpPr txBox="1"/>
          <p:nvPr/>
        </p:nvSpPr>
        <p:spPr>
          <a:xfrm>
            <a:off x="6370168" y="2423160"/>
            <a:ext cx="2293544" cy="1078992"/>
          </a:xfrm>
          <a:prstGeom prst="rect">
            <a:avLst/>
          </a:prstGeom>
          <a:noFill/>
          <a:ln/>
        </p:spPr>
        <p:txBody>
          <a:bodyPr wrap="square" lIns="0" tIns="0" rIns="0" bIns="0" rtlCol="0" anchor="t"/>
          <a:lstStyle/>
          <a:p>
            <a:pPr indent="0" marL="0">
              <a:buNone/>
            </a:pPr>
            <a:r>
              <a:rPr lang="en-US" sz="1100" b="1" dirty="0">
                <a:solidFill>
                  <a:srgbClr val="A8311A"/>
                </a:solidFill>
                <a:latin typeface="Malgun Gothic" pitchFamily="34" charset="0"/>
                <a:ea typeface="Malgun Gothic" pitchFamily="34" charset="-122"/>
                <a:cs typeface="Malgun Gothic" pitchFamily="34" charset="-120"/>
              </a:rPr>
              <a:t>생길 수 있는 오류</a:t>
            </a:r>
            <a:endParaRPr lang="en-US" sz="1400" dirty="0"/>
          </a:p>
          <a:p>
            <a:pPr indent="0" marL="0">
              <a:buNone/>
            </a:pPr>
            <a:r>
              <a:rPr lang="en-US" sz="1400" b="1" dirty="0">
                <a:solidFill>
                  <a:srgbClr val="0E1A2B"/>
                </a:solidFill>
                <a:latin typeface="Malgun Gothic" pitchFamily="34" charset="0"/>
                <a:ea typeface="Malgun Gothic" pitchFamily="34" charset="-122"/>
                <a:cs typeface="Malgun Gothic" pitchFamily="34" charset="-120"/>
              </a:rPr>
              <a:t>원문 조항 연결 오류</a:t>
            </a:r>
            <a:endParaRPr lang="en-US" sz="1400" dirty="0"/>
          </a:p>
          <a:p>
            <a:pPr indent="0" marL="0">
              <a:buNone/>
            </a:pPr>
            <a:r>
              <a:rPr lang="en-US" sz="1200" dirty="0">
                <a:solidFill>
                  <a:srgbClr val="3A4A60"/>
                </a:solidFill>
                <a:latin typeface="Malgun Gothic" pitchFamily="34" charset="0"/>
                <a:ea typeface="Malgun Gothic" pitchFamily="34" charset="-122"/>
                <a:cs typeface="Malgun Gothic" pitchFamily="34" charset="-120"/>
              </a:rPr>
              <a:t>예: 다른 혜택의 조항을 반환</a:t>
            </a:r>
            <a:endParaRPr lang="en-US" sz="1400" dirty="0"/>
          </a:p>
        </p:txBody>
      </p:sp>
      <p:sp>
        <p:nvSpPr>
          <p:cNvPr id="20" name="Text 18"/>
          <p:cNvSpPr txBox="1"/>
          <p:nvPr/>
        </p:nvSpPr>
        <p:spPr>
          <a:xfrm>
            <a:off x="6233008" y="3611880"/>
            <a:ext cx="2567864" cy="292608"/>
          </a:xfrm>
          <a:prstGeom prst="rect">
            <a:avLst/>
          </a:prstGeom>
          <a:noFill/>
          <a:ln/>
        </p:spPr>
        <p:txBody>
          <a:bodyPr wrap="square" lIns="0" tIns="0" rIns="0" bIns="0" rtlCol="0" anchor="t"/>
          <a:lstStyle/>
          <a:p>
            <a:pPr algn="ctr" indent="0" marL="0">
              <a:buNone/>
            </a:pPr>
            <a:r>
              <a:rPr lang="en-US" sz="1200" b="1" dirty="0">
                <a:solidFill>
                  <a:srgbClr val="0D6F64"/>
                </a:solidFill>
                <a:latin typeface="Malgun Gothic" pitchFamily="34" charset="0"/>
                <a:ea typeface="Malgun Gothic" pitchFamily="34" charset="-122"/>
                <a:cs typeface="Malgun Gothic" pitchFamily="34" charset="-120"/>
              </a:rPr>
              <a:t>대조: 쿼리·경로 ↔ 기대 결과</a:t>
            </a:r>
            <a:endParaRPr lang="en-US" sz="1200" dirty="0"/>
          </a:p>
        </p:txBody>
      </p:sp>
      <p:sp>
        <p:nvSpPr>
          <p:cNvPr id="21" name="Text 19"/>
          <p:cNvSpPr txBox="1"/>
          <p:nvPr/>
        </p:nvSpPr>
        <p:spPr>
          <a:xfrm>
            <a:off x="9075191" y="1691640"/>
            <a:ext cx="2567864" cy="548640"/>
          </a:xfrm>
          <a:prstGeom prst="roundRect">
            <a:avLst>
              <a:gd name="adj" fmla="val 13333"/>
            </a:avLst>
          </a:prstGeom>
          <a:solidFill>
            <a:srgbClr val="E8ECF2"/>
          </a:solidFill>
          <a:ln>
            <a:solidFill>
              <a:srgbClr val="E8ECF2"/>
            </a:solidFill>
          </a:ln>
        </p:spPr>
        <p:txBody>
          <a:bodyPr wrap="square" lIns="76200" tIns="76200" rIns="76200" bIns="76200" rtlCol="0" anchor="ctr"/>
          <a:lstStyle/>
          <a:p>
            <a:pPr algn="ctr" indent="0" marL="0">
              <a:buNone/>
            </a:pPr>
            <a:r>
              <a:rPr lang="en-US" sz="1500" b="1" dirty="0">
                <a:solidFill>
                  <a:srgbClr val="0E1A2B"/>
                </a:solidFill>
                <a:latin typeface="Malgun Gothic" pitchFamily="34" charset="0"/>
                <a:ea typeface="Malgun Gothic" pitchFamily="34" charset="-122"/>
                <a:cs typeface="Malgun Gothic" pitchFamily="34" charset="-120"/>
              </a:rPr>
              <a:t>④ LLM 생성 답변</a:t>
            </a:r>
            <a:endParaRPr lang="en-US" sz="1500" dirty="0"/>
          </a:p>
        </p:txBody>
      </p:sp>
      <p:sp>
        <p:nvSpPr>
          <p:cNvPr id="22" name="Shape 20"/>
          <p:cNvSpPr/>
          <p:nvPr/>
        </p:nvSpPr>
        <p:spPr>
          <a:xfrm>
            <a:off x="9075191" y="2359152"/>
            <a:ext cx="2567864" cy="1188720"/>
          </a:xfrm>
          <a:prstGeom prst="roundRect">
            <a:avLst>
              <a:gd name="adj" fmla="val 7692"/>
            </a:avLst>
          </a:prstGeom>
          <a:solidFill>
            <a:srgbClr val="FBE6E2"/>
          </a:solidFill>
          <a:ln w="12700">
            <a:solidFill>
              <a:srgbClr val="FBE6E2"/>
            </a:solidFill>
            <a:prstDash val="solid"/>
          </a:ln>
        </p:spPr>
      </p:sp>
      <p:sp>
        <p:nvSpPr>
          <p:cNvPr id="23" name="Text 21"/>
          <p:cNvSpPr txBox="1"/>
          <p:nvPr/>
        </p:nvSpPr>
        <p:spPr>
          <a:xfrm>
            <a:off x="9212351" y="2423160"/>
            <a:ext cx="2293544" cy="1078992"/>
          </a:xfrm>
          <a:prstGeom prst="rect">
            <a:avLst/>
          </a:prstGeom>
          <a:noFill/>
          <a:ln/>
        </p:spPr>
        <p:txBody>
          <a:bodyPr wrap="square" lIns="0" tIns="0" rIns="0" bIns="0" rtlCol="0" anchor="t"/>
          <a:lstStyle/>
          <a:p>
            <a:pPr indent="0" marL="0">
              <a:buNone/>
            </a:pPr>
            <a:r>
              <a:rPr lang="en-US" sz="1100" b="1" dirty="0">
                <a:solidFill>
                  <a:srgbClr val="A8311A"/>
                </a:solidFill>
                <a:latin typeface="Malgun Gothic" pitchFamily="34" charset="0"/>
                <a:ea typeface="Malgun Gothic" pitchFamily="34" charset="-122"/>
                <a:cs typeface="Malgun Gothic" pitchFamily="34" charset="-120"/>
              </a:rPr>
              <a:t>생길 수 있는 오류</a:t>
            </a:r>
            <a:endParaRPr lang="en-US" sz="1400" dirty="0"/>
          </a:p>
          <a:p>
            <a:pPr indent="0" marL="0">
              <a:buNone/>
            </a:pPr>
            <a:r>
              <a:rPr lang="en-US" sz="1400" b="1" dirty="0">
                <a:solidFill>
                  <a:srgbClr val="0E1A2B"/>
                </a:solidFill>
                <a:latin typeface="Malgun Gothic" pitchFamily="34" charset="0"/>
                <a:ea typeface="Malgun Gothic" pitchFamily="34" charset="-122"/>
                <a:cs typeface="Malgun Gothic" pitchFamily="34" charset="-120"/>
              </a:rPr>
              <a:t>검색 결과와 답변 불일치</a:t>
            </a:r>
            <a:endParaRPr lang="en-US" sz="1400" dirty="0"/>
          </a:p>
          <a:p>
            <a:pPr indent="0" marL="0">
              <a:buNone/>
            </a:pPr>
            <a:r>
              <a:rPr lang="en-US" sz="1200" dirty="0">
                <a:solidFill>
                  <a:srgbClr val="3A4A60"/>
                </a:solidFill>
                <a:latin typeface="Malgun Gothic" pitchFamily="34" charset="0"/>
                <a:ea typeface="Malgun Gothic" pitchFamily="34" charset="-122"/>
                <a:cs typeface="Malgun Gothic" pitchFamily="34" charset="-120"/>
              </a:rPr>
              <a:t>예: 근거에 없는 조건을 덧붙임</a:t>
            </a:r>
            <a:endParaRPr lang="en-US" sz="1400" dirty="0"/>
          </a:p>
        </p:txBody>
      </p:sp>
      <p:sp>
        <p:nvSpPr>
          <p:cNvPr id="24" name="Text 22"/>
          <p:cNvSpPr txBox="1"/>
          <p:nvPr/>
        </p:nvSpPr>
        <p:spPr>
          <a:xfrm>
            <a:off x="9075191" y="3611880"/>
            <a:ext cx="2567864" cy="292608"/>
          </a:xfrm>
          <a:prstGeom prst="rect">
            <a:avLst/>
          </a:prstGeom>
          <a:noFill/>
          <a:ln/>
        </p:spPr>
        <p:txBody>
          <a:bodyPr wrap="square" lIns="0" tIns="0" rIns="0" bIns="0" rtlCol="0" anchor="t"/>
          <a:lstStyle/>
          <a:p>
            <a:pPr algn="ctr" indent="0" marL="0">
              <a:buNone/>
            </a:pPr>
            <a:r>
              <a:rPr lang="en-US" sz="1200" b="1" dirty="0">
                <a:solidFill>
                  <a:srgbClr val="0D6F64"/>
                </a:solidFill>
                <a:latin typeface="Malgun Gothic" pitchFamily="34" charset="0"/>
                <a:ea typeface="Malgun Gothic" pitchFamily="34" charset="-122"/>
                <a:cs typeface="Malgun Gothic" pitchFamily="34" charset="-120"/>
              </a:rPr>
              <a:t>대조: 검색 결과 ↔ 답변 문장</a:t>
            </a:r>
            <a:endParaRPr lang="en-US" sz="1200" dirty="0"/>
          </a:p>
        </p:txBody>
      </p:sp>
      <p:sp>
        <p:nvSpPr>
          <p:cNvPr id="25" name="Text 23"/>
          <p:cNvSpPr txBox="1"/>
          <p:nvPr/>
        </p:nvSpPr>
        <p:spPr>
          <a:xfrm>
            <a:off x="548640" y="4069080"/>
            <a:ext cx="11094415" cy="822960"/>
          </a:xfrm>
          <a:prstGeom prst="roundRect">
            <a:avLst>
              <a:gd name="adj" fmla="val 8889"/>
            </a:avLst>
          </a:prstGeom>
          <a:solidFill>
            <a:srgbClr val="E3F4F1"/>
          </a:solidFill>
          <a:ln>
            <a:solidFill>
              <a:srgbClr val="E3F4F1"/>
            </a:solidFill>
          </a:ln>
        </p:spPr>
        <p:txBody>
          <a:bodyPr wrap="square" lIns="152400" tIns="152400" rIns="152400" bIns="152400" rtlCol="0" anchor="ctr"/>
          <a:lstStyle/>
          <a:p>
            <a:pPr algn="l" indent="0" marL="0">
              <a:buNone/>
            </a:pPr>
            <a:r>
              <a:rPr lang="en-US" sz="1300" b="1" dirty="0">
                <a:solidFill>
                  <a:srgbClr val="0D6F64"/>
                </a:solidFill>
                <a:latin typeface="Malgun Gothic" pitchFamily="34" charset="0"/>
                <a:ea typeface="Malgun Gothic" pitchFamily="34" charset="-122"/>
                <a:cs typeface="Malgun Gothic" pitchFamily="34" charset="-120"/>
              </a:rPr>
              <a:t>실행 기록(trace)으로 남길 수 있는 것  </a:t>
            </a:r>
            <a:pPr algn="l" indent="0" marL="0">
              <a:buNone/>
            </a:pPr>
            <a:r>
              <a:rPr lang="en-US" sz="1300" dirty="0">
                <a:solidFill>
                  <a:srgbClr val="1A2433"/>
                </a:solidFill>
                <a:latin typeface="Malgun Gothic" pitchFamily="34" charset="0"/>
                <a:ea typeface="Malgun Gothic" pitchFamily="34" charset="-122"/>
                <a:cs typeface="Malgun Gothic" pitchFamily="34" charset="-120"/>
              </a:rPr>
              <a:t>질문 · 실행 쿼리·파라미터 · 반환 조건·조항 · 생성 답변 · 모델·데이터 버전 (우리 시스템 실행 시)</a:t>
            </a:r>
            <a:endParaRPr lang="en-US" sz="1300" dirty="0"/>
          </a:p>
          <a:p>
            <a:pPr algn="l" indent="0" marL="0">
              <a:buNone/>
            </a:pPr>
            <a:r>
              <a:rPr lang="en-US" sz="1100" dirty="0">
                <a:solidFill>
                  <a:srgbClr val="3A4A60"/>
                </a:solidFill>
                <a:latin typeface="Malgun Gothic" pitchFamily="34" charset="0"/>
                <a:ea typeface="Malgun Gothic" pitchFamily="34" charset="-122"/>
                <a:cs typeface="Malgun Gothic" pitchFamily="34" charset="-120"/>
              </a:rPr>
              <a:t>쿼리 로그 포매터(QueryLogger)는 구현돼 있고, trace 저장 구조는 설계안입니다.</a:t>
            </a:r>
            <a:endParaRPr lang="en-US" sz="1300" dirty="0"/>
          </a:p>
        </p:txBody>
      </p:sp>
      <p:sp>
        <p:nvSpPr>
          <p:cNvPr id="26" name="Text 24"/>
          <p:cNvSpPr txBox="1"/>
          <p:nvPr/>
        </p:nvSpPr>
        <p:spPr>
          <a:xfrm>
            <a:off x="548640" y="5010912"/>
            <a:ext cx="11094415" cy="685800"/>
          </a:xfrm>
          <a:prstGeom prst="roundRect">
            <a:avLst>
              <a:gd name="adj" fmla="val 10667"/>
            </a:avLst>
          </a:prstGeom>
          <a:solidFill>
            <a:srgbClr val="FBE6E2"/>
          </a:solidFill>
          <a:ln>
            <a:solidFill>
              <a:srgbClr val="FBE6E2"/>
            </a:solidFill>
          </a:ln>
        </p:spPr>
        <p:txBody>
          <a:bodyPr wrap="square" lIns="152400" tIns="152400" rIns="152400" bIns="152400" rtlCol="0" anchor="ctr"/>
          <a:lstStyle/>
          <a:p>
            <a:pPr algn="l" indent="0" marL="0">
              <a:buNone/>
            </a:pPr>
            <a:r>
              <a:rPr lang="en-US" sz="1400" b="1" dirty="0">
                <a:solidFill>
                  <a:srgbClr val="A8311A"/>
                </a:solidFill>
                <a:latin typeface="Malgun Gothic" pitchFamily="34" charset="0"/>
                <a:ea typeface="Malgun Gothic" pitchFamily="34" charset="-122"/>
                <a:cs typeface="Malgun Gothic" pitchFamily="34" charset="-120"/>
              </a:rPr>
              <a:t>외부 AI의 최종 답변은 MCP 호출 로그만으로 자동 검증할 수 없습니다. </a:t>
            </a:r>
            <a:pPr algn="l" indent="0" marL="0">
              <a:buNone/>
            </a:pPr>
            <a:r>
              <a:rPr lang="en-US" sz="1400" dirty="0">
                <a:solidFill>
                  <a:srgbClr val="1A2433"/>
                </a:solidFill>
                <a:latin typeface="Malgun Gothic" pitchFamily="34" charset="0"/>
                <a:ea typeface="Malgun Gothic" pitchFamily="34" charset="-122"/>
                <a:cs typeface="Malgun Gothic" pitchFamily="34" charset="-120"/>
              </a:rPr>
              <a:t>답변을 별도로 확보한 경우에만 사후 대조합니다.</a:t>
            </a:r>
            <a:endParaRPr lang="en-US" sz="1400" dirty="0"/>
          </a:p>
        </p:txBody>
      </p:sp>
      <p:sp>
        <p:nvSpPr>
          <p:cNvPr id="27" name="Text 25"/>
          <p:cNvSpPr txBox="1"/>
          <p:nvPr/>
        </p:nvSpPr>
        <p:spPr>
          <a:xfrm>
            <a:off x="548640" y="5852160"/>
            <a:ext cx="11094415" cy="438912"/>
          </a:xfrm>
          <a:prstGeom prst="roundRect">
            <a:avLst>
              <a:gd name="adj" fmla="val 20833"/>
            </a:avLst>
          </a:prstGeom>
          <a:solidFill>
            <a:srgbClr val="FFFFFF"/>
          </a:solidFill>
          <a:ln w="15875">
            <a:solidFill>
              <a:srgbClr val="E8A33D"/>
            </a:solidFill>
          </a:ln>
        </p:spPr>
        <p:txBody>
          <a:bodyPr wrap="square" lIns="152400" tIns="152400" rIns="152400" bIns="152400" rtlCol="0" anchor="ctr"/>
          <a:lstStyle/>
          <a:p>
            <a:pPr algn="l" indent="0" marL="0">
              <a:buNone/>
            </a:pPr>
            <a:r>
              <a:rPr lang="en-US" sz="1400" b="1" dirty="0">
                <a:solidFill>
                  <a:srgbClr val="8F5208"/>
                </a:solidFill>
                <a:latin typeface="Malgun Gothic" pitchFamily="34" charset="0"/>
                <a:ea typeface="Malgun Gothic" pitchFamily="34" charset="-122"/>
                <a:cs typeface="Malgun Gothic" pitchFamily="34" charset="-120"/>
              </a:rPr>
              <a:t>다음 질문  </a:t>
            </a:r>
            <a:pPr algn="l" indent="0" marL="0">
              <a:buNone/>
            </a:pPr>
            <a:r>
              <a:rPr lang="en-US" sz="1400" b="1" dirty="0">
                <a:solidFill>
                  <a:srgbClr val="0E1A2B"/>
                </a:solidFill>
                <a:latin typeface="Malgun Gothic" pitchFamily="34" charset="0"/>
                <a:ea typeface="Malgun Gothic" pitchFamily="34" charset="-122"/>
                <a:cs typeface="Malgun Gothic" pitchFamily="34" charset="-120"/>
              </a:rPr>
              <a:t>이렇게 구성한 공식 조건 조회 기능을 여러 AI에서 사용할 수 있을까요?</a:t>
            </a:r>
            <a:endParaRPr lang="en-US" sz="1400" dirty="0"/>
          </a:p>
        </p:txBody>
      </p:sp>
      <p:sp>
        <p:nvSpPr>
          <p:cNvPr id="28" name="Text 26"/>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오류 6분류·검증 기준은 과제 M8 · 오답 원인 추적 예시(가상)는 부록 D · 원문 근거와 실행 기록의 구분은 부록 E</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10   MCP</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MCP로 여러 AI가 같은 공식 정보를 조회합니다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DF0DC"/>
          </a:solidFill>
          <a:ln>
            <a:solidFill>
              <a:srgbClr val="FDF0DC"/>
            </a:solidFill>
          </a:ln>
        </p:spPr>
        <p:txBody>
          <a:bodyPr wrap="square" lIns="0" tIns="0" rIns="0" bIns="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시연 목표</a:t>
            </a:r>
            <a:endParaRPr lang="en-US" sz="1100" dirty="0"/>
          </a:p>
        </p:txBody>
      </p:sp>
      <p:sp>
        <p:nvSpPr>
          <p:cNvPr id="5" name="Text 3"/>
          <p:cNvSpPr txBox="1"/>
          <p:nvPr/>
        </p:nvSpPr>
        <p:spPr>
          <a:xfrm>
            <a:off x="9969703"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설계안</a:t>
            </a:r>
            <a:endParaRPr lang="en-US" sz="1100" dirty="0"/>
          </a:p>
        </p:txBody>
      </p:sp>
      <p:sp>
        <p:nvSpPr>
          <p:cNvPr id="6" name="Text 4"/>
          <p:cNvSpPr txBox="1"/>
          <p:nvPr/>
        </p:nvSpPr>
        <p:spPr>
          <a:xfrm>
            <a:off x="548640" y="1645920"/>
            <a:ext cx="11094415" cy="411480"/>
          </a:xfrm>
          <a:prstGeom prst="roundRect">
            <a:avLst>
              <a:gd name="adj" fmla="val 17778"/>
            </a:avLst>
          </a:prstGeom>
          <a:solidFill>
            <a:srgbClr val="FDF0DC"/>
          </a:solidFill>
          <a:ln>
            <a:solidFill>
              <a:srgbClr val="FDF0DC"/>
            </a:solidFill>
          </a:ln>
        </p:spPr>
        <p:txBody>
          <a:bodyPr wrap="square" lIns="152400" tIns="152400" rIns="152400" bIns="152400" rtlCol="0" anchor="ctr"/>
          <a:lstStyle/>
          <a:p>
            <a:pPr algn="l" indent="0" marL="0">
              <a:buNone/>
            </a:pPr>
            <a:r>
              <a:rPr lang="en-US" sz="1400" b="1" dirty="0">
                <a:solidFill>
                  <a:srgbClr val="8F5208"/>
                </a:solidFill>
                <a:latin typeface="Malgun Gothic" pitchFamily="34" charset="0"/>
                <a:ea typeface="Malgun Gothic" pitchFamily="34" charset="-122"/>
                <a:cs typeface="Malgun Gothic" pitchFamily="34" charset="-120"/>
              </a:rPr>
              <a:t>MCP  </a:t>
            </a:r>
            <a:pPr algn="l" indent="0" marL="0">
              <a:buNone/>
            </a:pPr>
            <a:r>
              <a:rPr lang="en-US" sz="1400" dirty="0">
                <a:solidFill>
                  <a:srgbClr val="1A2433"/>
                </a:solidFill>
                <a:latin typeface="Malgun Gothic" pitchFamily="34" charset="0"/>
                <a:ea typeface="Malgun Gothic" pitchFamily="34" charset="-122"/>
                <a:cs typeface="Malgun Gothic" pitchFamily="34" charset="-120"/>
              </a:rPr>
              <a:t>“AI가 외부 서비스와 연결돼 실제 데이터를 주고받을 수 있게 하는 표준 방식” </a:t>
            </a:r>
            <a:pPr algn="l" indent="0" marL="0">
              <a:buNone/>
            </a:pPr>
            <a:r>
              <a:rPr lang="en-US" sz="1100" dirty="0">
                <a:solidFill>
                  <a:srgbClr val="5B6778"/>
                </a:solidFill>
                <a:latin typeface="Malgun Gothic" pitchFamily="34" charset="0"/>
                <a:ea typeface="Malgun Gothic" pitchFamily="34" charset="-122"/>
                <a:cs typeface="Malgun Gothic" pitchFamily="34" charset="-120"/>
              </a:rPr>
              <a:t>— 신한카드 2026-09-13 보도자료 설명</a:t>
            </a:r>
            <a:endParaRPr lang="en-US" sz="1400" dirty="0"/>
          </a:p>
        </p:txBody>
      </p:sp>
      <p:sp>
        <p:nvSpPr>
          <p:cNvPr id="7" name="Text 5"/>
          <p:cNvSpPr txBox="1"/>
          <p:nvPr/>
        </p:nvSpPr>
        <p:spPr>
          <a:xfrm>
            <a:off x="548640" y="2084832"/>
            <a:ext cx="2377440" cy="256032"/>
          </a:xfrm>
          <a:prstGeom prst="rect">
            <a:avLst/>
          </a:prstGeom>
          <a:noFill/>
          <a:ln/>
        </p:spPr>
        <p:txBody>
          <a:bodyPr wrap="square" lIns="0" tIns="0" rIns="0" bIns="0" rtlCol="0" anchor="t"/>
          <a:lstStyle/>
          <a:p>
            <a:pPr indent="0" marL="0">
              <a:buNone/>
            </a:pPr>
            <a:r>
              <a:rPr lang="en-US" sz="1200" b="1" dirty="0">
                <a:solidFill>
                  <a:srgbClr val="5B6778"/>
                </a:solidFill>
                <a:latin typeface="Malgun Gothic" pitchFamily="34" charset="0"/>
                <a:ea typeface="Malgun Gothic" pitchFamily="34" charset="-122"/>
                <a:cs typeface="Malgun Gothic" pitchFamily="34" charset="-120"/>
              </a:rPr>
              <a:t>AI 클라이언트</a:t>
            </a:r>
            <a:endParaRPr lang="en-US" sz="1200" dirty="0"/>
          </a:p>
        </p:txBody>
      </p:sp>
      <p:sp>
        <p:nvSpPr>
          <p:cNvPr id="8" name="Text 6"/>
          <p:cNvSpPr txBox="1"/>
          <p:nvPr/>
        </p:nvSpPr>
        <p:spPr>
          <a:xfrm>
            <a:off x="548640" y="2377440"/>
            <a:ext cx="2377440" cy="548640"/>
          </a:xfrm>
          <a:prstGeom prst="roundRect">
            <a:avLst>
              <a:gd name="adj" fmla="val 13333"/>
            </a:avLst>
          </a:prstGeom>
          <a:solidFill>
            <a:srgbClr val="F3F5F8"/>
          </a:solidFill>
          <a:ln w="9525">
            <a:solidFill>
              <a:srgbClr val="F3F5F8"/>
            </a:solidFill>
          </a:ln>
        </p:spPr>
        <p:txBody>
          <a:bodyPr wrap="square" lIns="76200" tIns="76200" rIns="76200" bIns="762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외부 AI 서비스</a:t>
            </a:r>
            <a:endParaRPr lang="en-US" sz="1400" dirty="0"/>
          </a:p>
        </p:txBody>
      </p:sp>
      <p:sp>
        <p:nvSpPr>
          <p:cNvPr id="9" name="Text 7"/>
          <p:cNvSpPr txBox="1"/>
          <p:nvPr/>
        </p:nvSpPr>
        <p:spPr>
          <a:xfrm>
            <a:off x="548640" y="3035808"/>
            <a:ext cx="2377440" cy="548640"/>
          </a:xfrm>
          <a:prstGeom prst="roundRect">
            <a:avLst>
              <a:gd name="adj" fmla="val 13333"/>
            </a:avLst>
          </a:prstGeom>
          <a:solidFill>
            <a:srgbClr val="F3F5F8"/>
          </a:solidFill>
          <a:ln w="9525">
            <a:solidFill>
              <a:srgbClr val="F3F5F8"/>
            </a:solidFill>
          </a:ln>
        </p:spPr>
        <p:txBody>
          <a:bodyPr wrap="square" lIns="76200" tIns="76200" rIns="76200" bIns="762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자사 AI 상담</a:t>
            </a:r>
            <a:endParaRPr lang="en-US" sz="1400" dirty="0"/>
          </a:p>
        </p:txBody>
      </p:sp>
      <p:sp>
        <p:nvSpPr>
          <p:cNvPr id="10" name="Text 8"/>
          <p:cNvSpPr txBox="1"/>
          <p:nvPr/>
        </p:nvSpPr>
        <p:spPr>
          <a:xfrm>
            <a:off x="548640" y="3694176"/>
            <a:ext cx="2377440" cy="548640"/>
          </a:xfrm>
          <a:prstGeom prst="roundRect">
            <a:avLst>
              <a:gd name="adj" fmla="val 13333"/>
            </a:avLst>
          </a:prstGeom>
          <a:solidFill>
            <a:srgbClr val="F3F5F8"/>
          </a:solidFill>
          <a:ln w="9525">
            <a:solidFill>
              <a:srgbClr val="F3F5F8"/>
            </a:solidFill>
          </a:ln>
        </p:spPr>
        <p:txBody>
          <a:bodyPr wrap="square" lIns="76200" tIns="76200" rIns="76200" bIns="762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내부 상담·검토 AI</a:t>
            </a:r>
            <a:endParaRPr lang="en-US" sz="1400" dirty="0"/>
          </a:p>
        </p:txBody>
      </p:sp>
      <p:sp>
        <p:nvSpPr>
          <p:cNvPr id="11" name="Text 9"/>
          <p:cNvSpPr txBox="1"/>
          <p:nvPr/>
        </p:nvSpPr>
        <p:spPr>
          <a:xfrm>
            <a:off x="3429000" y="2084832"/>
            <a:ext cx="2743200" cy="256032"/>
          </a:xfrm>
          <a:prstGeom prst="rect">
            <a:avLst/>
          </a:prstGeom>
          <a:noFill/>
          <a:ln/>
        </p:spPr>
        <p:txBody>
          <a:bodyPr wrap="square" lIns="0" tIns="0" rIns="0" bIns="0" rtlCol="0" anchor="t"/>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연결 계층 · 판단 로직 없음</a:t>
            </a:r>
            <a:endParaRPr lang="en-US" sz="1200" dirty="0"/>
          </a:p>
        </p:txBody>
      </p:sp>
      <p:sp>
        <p:nvSpPr>
          <p:cNvPr id="12" name="Text 10"/>
          <p:cNvSpPr txBox="1"/>
          <p:nvPr/>
        </p:nvSpPr>
        <p:spPr>
          <a:xfrm>
            <a:off x="3429000" y="2377440"/>
            <a:ext cx="2651760" cy="868680"/>
          </a:xfrm>
          <a:prstGeom prst="roundRect">
            <a:avLst>
              <a:gd name="adj" fmla="val 8421"/>
            </a:avLst>
          </a:prstGeom>
          <a:solidFill>
            <a:srgbClr val="FFFFFF"/>
          </a:solidFill>
          <a:ln w="25400">
            <a:solidFill>
              <a:srgbClr val="E8A33D"/>
            </a:solidFill>
          </a:ln>
        </p:spPr>
        <p:txBody>
          <a:bodyPr wrap="square" lIns="76200" tIns="76200" rIns="76200" bIns="76200" rtlCol="0" anchor="ctr"/>
          <a:lstStyle/>
          <a:p>
            <a:pPr algn="ctr" indent="0" marL="0">
              <a:buNone/>
            </a:pPr>
            <a:r>
              <a:rPr lang="en-US" sz="1500" b="1" dirty="0">
                <a:solidFill>
                  <a:srgbClr val="0E1A2B"/>
                </a:solidFill>
                <a:latin typeface="Malgun Gothic" pitchFamily="34" charset="0"/>
                <a:ea typeface="Malgun Gothic" pitchFamily="34" charset="-122"/>
                <a:cs typeface="Malgun Gothic" pitchFamily="34" charset="-120"/>
              </a:rPr>
              <a:t>MCP 서버</a:t>
            </a:r>
            <a:endParaRPr lang="en-US" sz="1300" dirty="0"/>
          </a:p>
          <a:p>
            <a:pPr algn="ctr" indent="0" marL="0">
              <a:buNone/>
            </a:pPr>
            <a:r>
              <a:rPr lang="en-US" sz="1100" dirty="0">
                <a:solidFill>
                  <a:srgbClr val="5B6778"/>
                </a:solidFill>
                <a:latin typeface="Malgun Gothic" pitchFamily="34" charset="0"/>
                <a:ea typeface="Malgun Gothic" pitchFamily="34" charset="-122"/>
                <a:cs typeface="Malgun Gothic" pitchFamily="34" charset="-120"/>
              </a:rPr>
              <a:t>외부·로컬 AI 클라이언트용</a:t>
            </a:r>
            <a:endParaRPr lang="en-US" sz="1300" dirty="0"/>
          </a:p>
        </p:txBody>
      </p:sp>
      <p:sp>
        <p:nvSpPr>
          <p:cNvPr id="13" name="Text 11"/>
          <p:cNvSpPr txBox="1"/>
          <p:nvPr/>
        </p:nvSpPr>
        <p:spPr>
          <a:xfrm>
            <a:off x="3429000" y="3383280"/>
            <a:ext cx="2651760" cy="868680"/>
          </a:xfrm>
          <a:prstGeom prst="roundRect">
            <a:avLst>
              <a:gd name="adj" fmla="val 8421"/>
            </a:avLst>
          </a:prstGeom>
          <a:solidFill>
            <a:srgbClr val="FFFFFF"/>
          </a:solidFill>
          <a:ln w="15875">
            <a:solidFill>
              <a:srgbClr val="3A4A60"/>
            </a:solidFill>
          </a:ln>
        </p:spPr>
        <p:txBody>
          <a:bodyPr wrap="square" lIns="76200" tIns="76200" rIns="76200" bIns="76200" rtlCol="0" anchor="ctr"/>
          <a:lstStyle/>
          <a:p>
            <a:pPr algn="ctr" indent="0" marL="0">
              <a:buNone/>
            </a:pPr>
            <a:r>
              <a:rPr lang="en-US" sz="1500" b="1" dirty="0">
                <a:solidFill>
                  <a:srgbClr val="0E1A2B"/>
                </a:solidFill>
                <a:latin typeface="Malgun Gothic" pitchFamily="34" charset="0"/>
                <a:ea typeface="Malgun Gothic" pitchFamily="34" charset="-122"/>
                <a:cs typeface="Malgun Gothic" pitchFamily="34" charset="-120"/>
              </a:rPr>
              <a:t>내부 API</a:t>
            </a:r>
            <a:endParaRPr lang="en-US" sz="1300" dirty="0"/>
          </a:p>
          <a:p>
            <a:pPr algn="ctr" indent="0" marL="0">
              <a:buNone/>
            </a:pPr>
            <a:r>
              <a:rPr lang="en-US" sz="1100" dirty="0">
                <a:solidFill>
                  <a:srgbClr val="5B6778"/>
                </a:solidFill>
                <a:latin typeface="Malgun Gothic" pitchFamily="34" charset="0"/>
                <a:ea typeface="Malgun Gothic" pitchFamily="34" charset="-122"/>
                <a:cs typeface="Malgun Gothic" pitchFamily="34" charset="-120"/>
              </a:rPr>
              <a:t>자사 시스템용</a:t>
            </a:r>
            <a:endParaRPr lang="en-US" sz="1300" dirty="0"/>
          </a:p>
        </p:txBody>
      </p:sp>
      <p:sp>
        <p:nvSpPr>
          <p:cNvPr id="14" name="Shape 12"/>
          <p:cNvSpPr/>
          <p:nvPr/>
        </p:nvSpPr>
        <p:spPr>
          <a:xfrm>
            <a:off x="2944368" y="2651760"/>
            <a:ext cx="457200" cy="137160"/>
          </a:xfrm>
          <a:prstGeom prst="line">
            <a:avLst/>
          </a:prstGeom>
          <a:noFill/>
          <a:ln w="19050">
            <a:solidFill>
              <a:srgbClr val="8A94A3"/>
            </a:solidFill>
            <a:prstDash val="solid"/>
            <a:tailEnd type="triangle"/>
          </a:ln>
        </p:spPr>
      </p:sp>
      <p:sp>
        <p:nvSpPr>
          <p:cNvPr id="15" name="Shape 13"/>
          <p:cNvSpPr/>
          <p:nvPr/>
        </p:nvSpPr>
        <p:spPr>
          <a:xfrm>
            <a:off x="2944368" y="3310128"/>
            <a:ext cx="457200" cy="502920"/>
          </a:xfrm>
          <a:prstGeom prst="line">
            <a:avLst/>
          </a:prstGeom>
          <a:noFill/>
          <a:ln w="19050">
            <a:solidFill>
              <a:srgbClr val="8A94A3"/>
            </a:solidFill>
            <a:prstDash val="solid"/>
            <a:tailEnd type="triangle"/>
          </a:ln>
        </p:spPr>
      </p:sp>
      <p:sp>
        <p:nvSpPr>
          <p:cNvPr id="16" name="Shape 14"/>
          <p:cNvSpPr/>
          <p:nvPr/>
        </p:nvSpPr>
        <p:spPr>
          <a:xfrm>
            <a:off x="2944368" y="3968496"/>
            <a:ext cx="457200" cy="-155448"/>
          </a:xfrm>
          <a:prstGeom prst="line">
            <a:avLst/>
          </a:prstGeom>
          <a:noFill/>
          <a:ln w="19050">
            <a:solidFill>
              <a:srgbClr val="8A94A3"/>
            </a:solidFill>
            <a:prstDash val="solid"/>
            <a:tailEnd type="triangle"/>
          </a:ln>
        </p:spPr>
      </p:sp>
      <p:sp>
        <p:nvSpPr>
          <p:cNvPr id="17" name="Text 15"/>
          <p:cNvSpPr txBox="1"/>
          <p:nvPr/>
        </p:nvSpPr>
        <p:spPr>
          <a:xfrm>
            <a:off x="6492240" y="2377440"/>
            <a:ext cx="2514600" cy="1874520"/>
          </a:xfrm>
          <a:prstGeom prst="roundRect">
            <a:avLst>
              <a:gd name="adj" fmla="val 3902"/>
            </a:avLst>
          </a:prstGeom>
          <a:solidFill>
            <a:srgbClr val="159A8C"/>
          </a:solidFill>
          <a:ln>
            <a:solidFill>
              <a:srgbClr val="159A8C"/>
            </a:solidFill>
          </a:ln>
        </p:spPr>
        <p:txBody>
          <a:bodyPr wrap="square" lIns="76200" tIns="76200" rIns="76200" bIns="7620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공통 GraphRAG 엔진</a:t>
            </a:r>
            <a:endParaRPr lang="en-US" sz="1300" dirty="0"/>
          </a:p>
          <a:p>
            <a:pPr algn="ctr" indent="0" marL="0">
              <a:buNone/>
            </a:pPr>
            <a:r>
              <a:rPr lang="en-US" sz="1200" dirty="0">
                <a:solidFill>
                  <a:srgbClr val="FFFFFF"/>
                </a:solidFill>
                <a:latin typeface="Malgun Gothic" pitchFamily="34" charset="0"/>
                <a:ea typeface="Malgun Gothic" pitchFamily="34" charset="-122"/>
                <a:cs typeface="Malgun Gothic" pitchFamily="34" charset="-120"/>
              </a:rPr>
              <a:t>질문 해석 · 관계 검색</a:t>
            </a:r>
            <a:endParaRPr lang="en-US" sz="1300" dirty="0"/>
          </a:p>
          <a:p>
            <a:pPr algn="ctr" indent="0" marL="0">
              <a:buNone/>
            </a:pPr>
            <a:r>
              <a:rPr lang="en-US" sz="1200" dirty="0">
                <a:solidFill>
                  <a:srgbClr val="FFFFFF"/>
                </a:solidFill>
                <a:latin typeface="Malgun Gothic" pitchFamily="34" charset="0"/>
                <a:ea typeface="Malgun Gothic" pitchFamily="34" charset="-122"/>
                <a:cs typeface="Malgun Gothic" pitchFamily="34" charset="-120"/>
              </a:rPr>
              <a:t>근거 기반 답변</a:t>
            </a:r>
            <a:endParaRPr lang="en-US" sz="1300" dirty="0"/>
          </a:p>
        </p:txBody>
      </p:sp>
      <p:sp>
        <p:nvSpPr>
          <p:cNvPr id="18" name="Shape 16"/>
          <p:cNvSpPr/>
          <p:nvPr/>
        </p:nvSpPr>
        <p:spPr>
          <a:xfrm>
            <a:off x="6108192" y="2816352"/>
            <a:ext cx="356616" cy="0"/>
          </a:xfrm>
          <a:prstGeom prst="line">
            <a:avLst/>
          </a:prstGeom>
          <a:noFill/>
          <a:ln w="19050">
            <a:solidFill>
              <a:srgbClr val="8A94A3"/>
            </a:solidFill>
            <a:prstDash val="solid"/>
            <a:tailEnd type="triangle"/>
          </a:ln>
        </p:spPr>
      </p:sp>
      <p:sp>
        <p:nvSpPr>
          <p:cNvPr id="19" name="Shape 17"/>
          <p:cNvSpPr/>
          <p:nvPr/>
        </p:nvSpPr>
        <p:spPr>
          <a:xfrm>
            <a:off x="6108192" y="3822192"/>
            <a:ext cx="356616" cy="0"/>
          </a:xfrm>
          <a:prstGeom prst="line">
            <a:avLst/>
          </a:prstGeom>
          <a:noFill/>
          <a:ln w="19050">
            <a:solidFill>
              <a:srgbClr val="8A94A3"/>
            </a:solidFill>
            <a:prstDash val="solid"/>
            <a:tailEnd type="triangle"/>
          </a:ln>
        </p:spPr>
      </p:sp>
      <p:sp>
        <p:nvSpPr>
          <p:cNvPr id="20" name="Text 18"/>
          <p:cNvSpPr txBox="1"/>
          <p:nvPr/>
        </p:nvSpPr>
        <p:spPr>
          <a:xfrm>
            <a:off x="9326880" y="2377440"/>
            <a:ext cx="2316175" cy="1874520"/>
          </a:xfrm>
          <a:prstGeom prst="roundRect">
            <a:avLst>
              <a:gd name="adj" fmla="val 3902"/>
            </a:avLst>
          </a:prstGeom>
          <a:solidFill>
            <a:srgbClr val="6A4FB0"/>
          </a:solidFill>
          <a:ln>
            <a:solidFill>
              <a:srgbClr val="6A4FB0"/>
            </a:solidFill>
          </a:ln>
        </p:spPr>
        <p:txBody>
          <a:bodyPr wrap="square" lIns="76200" tIns="76200" rIns="76200" bIns="7620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공식 혜택·조건</a:t>
            </a:r>
            <a:endParaRPr lang="en-US" sz="1600" dirty="0"/>
          </a:p>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원문 근거</a:t>
            </a:r>
            <a:endParaRPr lang="en-US" sz="1600" dirty="0"/>
          </a:p>
        </p:txBody>
      </p:sp>
      <p:sp>
        <p:nvSpPr>
          <p:cNvPr id="21" name="Shape 19"/>
          <p:cNvSpPr/>
          <p:nvPr/>
        </p:nvSpPr>
        <p:spPr>
          <a:xfrm>
            <a:off x="9034272" y="3310128"/>
            <a:ext cx="265176" cy="0"/>
          </a:xfrm>
          <a:prstGeom prst="line">
            <a:avLst/>
          </a:prstGeom>
          <a:noFill/>
          <a:ln w="19050">
            <a:solidFill>
              <a:srgbClr val="8A94A3"/>
            </a:solidFill>
            <a:prstDash val="solid"/>
            <a:tailEnd type="triangle"/>
          </a:ln>
        </p:spPr>
      </p:sp>
      <p:sp>
        <p:nvSpPr>
          <p:cNvPr id="22" name="Text 20"/>
          <p:cNvSpPr txBox="1"/>
          <p:nvPr/>
        </p:nvSpPr>
        <p:spPr>
          <a:xfrm>
            <a:off x="548640" y="4434840"/>
            <a:ext cx="5486400" cy="1280160"/>
          </a:xfrm>
          <a:prstGeom prst="roundRect">
            <a:avLst>
              <a:gd name="adj" fmla="val 5714"/>
            </a:avLst>
          </a:prstGeom>
          <a:solidFill>
            <a:srgbClr val="F3F5F8"/>
          </a:solidFill>
          <a:ln w="9525">
            <a:solidFill>
              <a:srgbClr val="F3F5F8"/>
            </a:solidFill>
          </a:ln>
        </p:spPr>
        <p:txBody>
          <a:bodyPr wrap="square" lIns="152400" tIns="152400" rIns="152400" bIns="152400" rtlCol="0" anchor="ctr"/>
          <a:lstStyle/>
          <a:p>
            <a:pPr algn="l" indent="0" marL="0">
              <a:buNone/>
            </a:pPr>
            <a:r>
              <a:rPr lang="en-US" sz="1200" b="1" dirty="0">
                <a:solidFill>
                  <a:srgbClr val="0E1A2B"/>
                </a:solidFill>
                <a:latin typeface="Malgun Gothic" pitchFamily="34" charset="0"/>
                <a:ea typeface="Malgun Gothic" pitchFamily="34" charset="-122"/>
                <a:cs typeface="Malgun Gothic" pitchFamily="34" charset="-120"/>
              </a:rPr>
              <a:t>MCP 도구(안)</a:t>
            </a:r>
            <a:endParaRPr lang="en-US" sz="1200" dirty="0"/>
          </a:p>
          <a:p>
            <a:pPr algn="l" indent="0" marL="0">
              <a:buNone/>
            </a:pPr>
            <a:r>
              <a:rPr lang="en-US" sz="1200" dirty="0">
                <a:solidFill>
                  <a:srgbClr val="1A2433"/>
                </a:solidFill>
                <a:latin typeface="Malgun Gothic" pitchFamily="34" charset="0"/>
                <a:ea typeface="Malgun Gothic" pitchFamily="34" charset="-122"/>
                <a:cs typeface="Malgun Gothic" pitchFamily="34" charset="-120"/>
              </a:rPr>
              <a:t>get_card_benefits(card) — 혜택·조건·근거 (필수)</a:t>
            </a:r>
            <a:endParaRPr lang="en-US" sz="1200" dirty="0"/>
          </a:p>
          <a:p>
            <a:pPr algn="l" indent="0" marL="0">
              <a:buNone/>
            </a:pPr>
            <a:r>
              <a:rPr lang="en-US" sz="1200" dirty="0">
                <a:solidFill>
                  <a:srgbClr val="1A2433"/>
                </a:solidFill>
                <a:latin typeface="Malgun Gothic" pitchFamily="34" charset="0"/>
                <a:ea typeface="Malgun Gothic" pitchFamily="34" charset="-122"/>
                <a:cs typeface="Malgun Gothic" pitchFamily="34" charset="-120"/>
              </a:rPr>
              <a:t>find_affected_by_condition(condition) — 영향 후보 (여유 시)</a:t>
            </a:r>
            <a:endParaRPr lang="en-US" sz="1200" dirty="0"/>
          </a:p>
          <a:p>
            <a:pPr algn="l" indent="0" marL="0">
              <a:buNone/>
            </a:pPr>
            <a:r>
              <a:rPr lang="en-US" sz="1200" b="1" dirty="0">
                <a:solidFill>
                  <a:srgbClr val="8F5208"/>
                </a:solidFill>
                <a:latin typeface="Malgun Gothic" pitchFamily="34" charset="0"/>
                <a:ea typeface="Malgun Gothic" pitchFamily="34" charset="-122"/>
                <a:cs typeface="Malgun Gothic" pitchFamily="34" charset="-120"/>
              </a:rPr>
              <a:t>시연 목표: 로컬 AI 클라이언트 호출 결과 = Neo4j Browser Cypher 결과</a:t>
            </a:r>
            <a:endParaRPr lang="en-US" sz="1200" dirty="0"/>
          </a:p>
        </p:txBody>
      </p:sp>
      <p:sp>
        <p:nvSpPr>
          <p:cNvPr id="23" name="Text 21"/>
          <p:cNvSpPr txBox="1"/>
          <p:nvPr/>
        </p:nvSpPr>
        <p:spPr>
          <a:xfrm>
            <a:off x="6263640" y="4434840"/>
            <a:ext cx="5379415" cy="1280160"/>
          </a:xfrm>
          <a:prstGeom prst="roundRect">
            <a:avLst>
              <a:gd name="adj" fmla="val 5714"/>
            </a:avLst>
          </a:prstGeom>
          <a:solidFill>
            <a:srgbClr val="FFFFFF"/>
          </a:solidFill>
          <a:ln w="15875">
            <a:solidFill>
              <a:srgbClr val="E8A33D"/>
            </a:solidFill>
          </a:ln>
        </p:spPr>
        <p:txBody>
          <a:bodyPr wrap="square" lIns="152400" tIns="152400" rIns="152400" bIns="152400" rtlCol="0" anchor="ctr"/>
          <a:lstStyle/>
          <a:p>
            <a:pPr algn="l" indent="0" marL="0">
              <a:buNone/>
            </a:pPr>
            <a:r>
              <a:rPr lang="en-US" sz="1200" b="1" dirty="0">
                <a:solidFill>
                  <a:srgbClr val="0E1A2B"/>
                </a:solidFill>
                <a:latin typeface="Malgun Gothic" pitchFamily="34" charset="0"/>
                <a:ea typeface="Malgun Gothic" pitchFamily="34" charset="-122"/>
                <a:cs typeface="Malgun Gothic" pitchFamily="34" charset="-120"/>
              </a:rPr>
              <a:t>카드사가 확인할 수 있는 범위</a:t>
            </a:r>
            <a:endParaRPr lang="en-US" sz="1200" dirty="0"/>
          </a:p>
          <a:p>
            <a:pPr algn="l" indent="0" marL="0">
              <a:buNone/>
            </a:pPr>
            <a:r>
              <a:rPr lang="en-US" sz="1200" b="1" dirty="0">
                <a:solidFill>
                  <a:srgbClr val="0D6F64"/>
                </a:solidFill>
                <a:latin typeface="Malgun Gothic" pitchFamily="34" charset="0"/>
                <a:ea typeface="Malgun Gothic" pitchFamily="34" charset="-122"/>
                <a:cs typeface="Malgun Gothic" pitchFamily="34" charset="-120"/>
              </a:rPr>
              <a:t>기록 가능  </a:t>
            </a:r>
            <a:pPr algn="l" indent="0" marL="0">
              <a:buNone/>
            </a:pPr>
            <a:r>
              <a:rPr lang="en-US" sz="1200" dirty="0">
                <a:solidFill>
                  <a:srgbClr val="1A2433"/>
                </a:solidFill>
                <a:latin typeface="Malgun Gothic" pitchFamily="34" charset="0"/>
                <a:ea typeface="Malgun Gothic" pitchFamily="34" charset="-122"/>
                <a:cs typeface="Malgun Gothic" pitchFamily="34" charset="-120"/>
              </a:rPr>
              <a:t>공급한 조건·근거·호출 기록</a:t>
            </a:r>
            <a:endParaRPr lang="en-US" sz="1200" dirty="0"/>
          </a:p>
          <a:p>
            <a:pPr algn="l" indent="0" marL="0">
              <a:buNone/>
            </a:pPr>
            <a:r>
              <a:rPr lang="en-US" sz="1200" b="1" dirty="0">
                <a:solidFill>
                  <a:srgbClr val="8F5208"/>
                </a:solidFill>
                <a:latin typeface="Malgun Gothic" pitchFamily="34" charset="0"/>
                <a:ea typeface="Malgun Gothic" pitchFamily="34" charset="-122"/>
                <a:cs typeface="Malgun Gothic" pitchFamily="34" charset="-120"/>
              </a:rPr>
              <a:t>조건부  </a:t>
            </a:r>
            <a:pPr algn="l" indent="0" marL="0">
              <a:buNone/>
            </a:pPr>
            <a:r>
              <a:rPr lang="en-US" sz="1200" dirty="0">
                <a:solidFill>
                  <a:srgbClr val="1A2433"/>
                </a:solidFill>
                <a:latin typeface="Malgun Gothic" pitchFamily="34" charset="0"/>
                <a:ea typeface="Malgun Gothic" pitchFamily="34" charset="-122"/>
                <a:cs typeface="Malgun Gothic" pitchFamily="34" charset="-120"/>
              </a:rPr>
              <a:t>외부 AI 최종 답변 대조 — 답변을 별도 확보할 때만</a:t>
            </a:r>
            <a:endParaRPr lang="en-US" sz="1200" dirty="0"/>
          </a:p>
          <a:p>
            <a:pPr algn="l" indent="0" marL="0">
              <a:buNone/>
            </a:pPr>
            <a:r>
              <a:rPr lang="en-US" sz="1200" b="1" dirty="0">
                <a:solidFill>
                  <a:srgbClr val="A8311A"/>
                </a:solidFill>
                <a:latin typeface="Malgun Gothic" pitchFamily="34" charset="0"/>
                <a:ea typeface="Malgun Gothic" pitchFamily="34" charset="-122"/>
                <a:cs typeface="Malgun Gothic" pitchFamily="34" charset="-120"/>
              </a:rPr>
              <a:t>보장 불가  </a:t>
            </a:r>
            <a:pPr algn="l" indent="0" marL="0">
              <a:buNone/>
            </a:pPr>
            <a:r>
              <a:rPr lang="en-US" sz="1200" dirty="0">
                <a:solidFill>
                  <a:srgbClr val="1A2433"/>
                </a:solidFill>
                <a:latin typeface="Malgun Gothic" pitchFamily="34" charset="0"/>
                <a:ea typeface="Malgun Gothic" pitchFamily="34" charset="-122"/>
                <a:cs typeface="Malgun Gothic" pitchFamily="34" charset="-120"/>
              </a:rPr>
              <a:t>호출 여부 · 요약·변형 · 문구 표시</a:t>
            </a:r>
            <a:endParaRPr lang="en-US" sz="1200" dirty="0"/>
          </a:p>
        </p:txBody>
      </p:sp>
      <p:sp>
        <p:nvSpPr>
          <p:cNvPr id="24" name="Text 22"/>
          <p:cNvSpPr txBox="1"/>
          <p:nvPr/>
        </p:nvSpPr>
        <p:spPr>
          <a:xfrm>
            <a:off x="548640" y="5852160"/>
            <a:ext cx="11094415" cy="438912"/>
          </a:xfrm>
          <a:prstGeom prst="roundRect">
            <a:avLst>
              <a:gd name="adj" fmla="val 20833"/>
            </a:avLst>
          </a:prstGeom>
          <a:solidFill>
            <a:srgbClr val="FFFFFF"/>
          </a:solidFill>
          <a:ln w="15875">
            <a:solidFill>
              <a:srgbClr val="E8A33D"/>
            </a:solidFill>
          </a:ln>
        </p:spPr>
        <p:txBody>
          <a:bodyPr wrap="square" lIns="152400" tIns="152400" rIns="152400" bIns="152400" rtlCol="0" anchor="ctr"/>
          <a:lstStyle/>
          <a:p>
            <a:pPr algn="l" indent="0" marL="0">
              <a:buNone/>
            </a:pPr>
            <a:r>
              <a:rPr lang="en-US" sz="1400" b="1" dirty="0">
                <a:solidFill>
                  <a:srgbClr val="8F5208"/>
                </a:solidFill>
                <a:latin typeface="Malgun Gothic" pitchFamily="34" charset="0"/>
                <a:ea typeface="Malgun Gothic" pitchFamily="34" charset="-122"/>
                <a:cs typeface="Malgun Gothic" pitchFamily="34" charset="-120"/>
              </a:rPr>
              <a:t>다음 질문  </a:t>
            </a:r>
            <a:pPr algn="l" indent="0" marL="0">
              <a:buNone/>
            </a:pPr>
            <a:r>
              <a:rPr lang="en-US" sz="1400" b="1" dirty="0">
                <a:solidFill>
                  <a:srgbClr val="0E1A2B"/>
                </a:solidFill>
                <a:latin typeface="Malgun Gothic" pitchFamily="34" charset="0"/>
                <a:ea typeface="Malgun Gothic" pitchFamily="34" charset="-122"/>
                <a:cs typeface="Malgun Gothic" pitchFamily="34" charset="-120"/>
              </a:rPr>
              <a:t>그렇다면 우리 팀은 지금 어디까지 구현했고, 무엇을 실제로 검증할 계획일까요?</a:t>
            </a:r>
            <a:endParaRPr lang="en-US" sz="1400" dirty="0"/>
          </a:p>
        </p:txBody>
      </p:sp>
      <p:sp>
        <p:nvSpPr>
          <p:cNvPr id="25" name="Text 23"/>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설계안 · MCP 미구현 · 외부 플랫폼(카카오 등) 실연동은 범위 밖 · 컷라인: 3일차 오전 M8 미완료 시 도구 1개만</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11   진행 현황</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실제로 한 것과 앞으로 검증할 것</a:t>
            </a:r>
            <a:endParaRPr lang="en-US" sz="2400" dirty="0"/>
          </a:p>
        </p:txBody>
      </p:sp>
      <p:sp>
        <p:nvSpPr>
          <p:cNvPr id="4" name="Shape 2"/>
          <p:cNvSpPr/>
          <p:nvPr/>
        </p:nvSpPr>
        <p:spPr>
          <a:xfrm>
            <a:off x="548640" y="1691640"/>
            <a:ext cx="2670734" cy="3429000"/>
          </a:xfrm>
          <a:prstGeom prst="roundRect">
            <a:avLst>
              <a:gd name="adj" fmla="val 3424"/>
            </a:avLst>
          </a:prstGeom>
          <a:solidFill>
            <a:srgbClr val="FFFFFF"/>
          </a:solidFill>
          <a:ln w="15875">
            <a:solidFill>
              <a:srgbClr val="159A8C"/>
            </a:solidFill>
            <a:prstDash val="solid"/>
          </a:ln>
        </p:spPr>
      </p:sp>
      <p:sp>
        <p:nvSpPr>
          <p:cNvPr id="5" name="Text 3"/>
          <p:cNvSpPr txBox="1"/>
          <p:nvPr/>
        </p:nvSpPr>
        <p:spPr>
          <a:xfrm>
            <a:off x="548640" y="1691640"/>
            <a:ext cx="2670734" cy="475488"/>
          </a:xfrm>
          <a:prstGeom prst="roundRect">
            <a:avLst>
              <a:gd name="adj" fmla="val 19231"/>
            </a:avLst>
          </a:prstGeom>
          <a:solidFill>
            <a:srgbClr val="E3F4F1"/>
          </a:solidFill>
          <a:ln>
            <a:solidFill>
              <a:srgbClr val="159A8C"/>
            </a:solidFill>
          </a:ln>
        </p:spPr>
        <p:txBody>
          <a:bodyPr wrap="square" lIns="76200" tIns="76200" rIns="76200" bIns="76200" rtlCol="0" anchor="ctr"/>
          <a:lstStyle/>
          <a:p>
            <a:pPr algn="ctr" indent="0" marL="0">
              <a:buNone/>
            </a:pPr>
            <a:r>
              <a:rPr lang="en-US" sz="1500" b="1" dirty="0">
                <a:solidFill>
                  <a:srgbClr val="0D6F64"/>
                </a:solidFill>
                <a:latin typeface="Malgun Gothic" pitchFamily="34" charset="0"/>
                <a:ea typeface="Malgun Gothic" pitchFamily="34" charset="-122"/>
                <a:cs typeface="Malgun Gothic" pitchFamily="34" charset="-120"/>
              </a:rPr>
              <a:t>원문 확인</a:t>
            </a:r>
            <a:endParaRPr lang="en-US" sz="1500" dirty="0"/>
          </a:p>
        </p:txBody>
      </p:sp>
      <p:sp>
        <p:nvSpPr>
          <p:cNvPr id="6" name="Text 4"/>
          <p:cNvSpPr txBox="1"/>
          <p:nvPr/>
        </p:nvSpPr>
        <p:spPr>
          <a:xfrm>
            <a:off x="658368" y="2286000"/>
            <a:ext cx="2451278"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하나카드 4종 원문 대조 (체크 2 · 신용 2)</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PDF 텍스트·표 추출 표본 검증 (기본 옵션)</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신한 공식 발표 2건 재확인</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목표 약 10종 — 선정 전</a:t>
            </a:r>
            <a:endParaRPr lang="en-US" sz="1400" dirty="0"/>
          </a:p>
        </p:txBody>
      </p:sp>
      <p:sp>
        <p:nvSpPr>
          <p:cNvPr id="7" name="Shape 5"/>
          <p:cNvSpPr/>
          <p:nvPr/>
        </p:nvSpPr>
        <p:spPr>
          <a:xfrm>
            <a:off x="3356534" y="1691640"/>
            <a:ext cx="2670734" cy="3429000"/>
          </a:xfrm>
          <a:prstGeom prst="roundRect">
            <a:avLst>
              <a:gd name="adj" fmla="val 3424"/>
            </a:avLst>
          </a:prstGeom>
          <a:solidFill>
            <a:srgbClr val="FFFFFF"/>
          </a:solidFill>
          <a:ln w="15875">
            <a:solidFill>
              <a:srgbClr val="159A8C"/>
            </a:solidFill>
            <a:prstDash val="solid"/>
          </a:ln>
        </p:spPr>
      </p:sp>
      <p:sp>
        <p:nvSpPr>
          <p:cNvPr id="8" name="Text 6"/>
          <p:cNvSpPr txBox="1"/>
          <p:nvPr/>
        </p:nvSpPr>
        <p:spPr>
          <a:xfrm>
            <a:off x="3356534" y="1691640"/>
            <a:ext cx="2670734" cy="475488"/>
          </a:xfrm>
          <a:prstGeom prst="roundRect">
            <a:avLst>
              <a:gd name="adj" fmla="val 19231"/>
            </a:avLst>
          </a:prstGeom>
          <a:solidFill>
            <a:srgbClr val="159A8C"/>
          </a:solidFill>
          <a:ln>
            <a:solidFill>
              <a:srgbClr val="159A8C"/>
            </a:solidFill>
          </a:ln>
        </p:spPr>
        <p:txBody>
          <a:bodyPr wrap="square" lIns="76200" tIns="76200" rIns="76200" bIns="7620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구현 완료</a:t>
            </a:r>
            <a:endParaRPr lang="en-US" sz="1500" dirty="0"/>
          </a:p>
        </p:txBody>
      </p:sp>
      <p:sp>
        <p:nvSpPr>
          <p:cNvPr id="9" name="Text 7"/>
          <p:cNvSpPr txBox="1"/>
          <p:nvPr/>
        </p:nvSpPr>
        <p:spPr>
          <a:xfrm>
            <a:off x="3466262" y="2286000"/>
            <a:ext cx="2451278"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카드 상품 등록·조회 CLI (PostgreSQL) + 단위 테스트</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공통 기반: DB·Neo4j 세션, 쿼리 로그 포매터, PDF 페이지 텍스트 읽기</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참고 구현: graph_rag_sample 1~3단계 (카드 도메인 아님)</a:t>
            </a:r>
            <a:endParaRPr lang="en-US" sz="1400" dirty="0"/>
          </a:p>
        </p:txBody>
      </p:sp>
      <p:sp>
        <p:nvSpPr>
          <p:cNvPr id="10" name="Shape 8"/>
          <p:cNvSpPr/>
          <p:nvPr/>
        </p:nvSpPr>
        <p:spPr>
          <a:xfrm>
            <a:off x="6164428" y="1691640"/>
            <a:ext cx="2670734" cy="3429000"/>
          </a:xfrm>
          <a:prstGeom prst="roundRect">
            <a:avLst>
              <a:gd name="adj" fmla="val 3424"/>
            </a:avLst>
          </a:prstGeom>
          <a:solidFill>
            <a:srgbClr val="FFFFFF"/>
          </a:solidFill>
          <a:ln w="15875">
            <a:solidFill>
              <a:srgbClr val="3A4A60"/>
            </a:solidFill>
            <a:prstDash val="solid"/>
          </a:ln>
        </p:spPr>
      </p:sp>
      <p:sp>
        <p:nvSpPr>
          <p:cNvPr id="11" name="Text 9"/>
          <p:cNvSpPr txBox="1"/>
          <p:nvPr/>
        </p:nvSpPr>
        <p:spPr>
          <a:xfrm>
            <a:off x="6164428" y="1691640"/>
            <a:ext cx="2670734" cy="475488"/>
          </a:xfrm>
          <a:prstGeom prst="roundRect">
            <a:avLst>
              <a:gd name="adj" fmla="val 19231"/>
            </a:avLst>
          </a:prstGeom>
          <a:solidFill>
            <a:srgbClr val="3A4A60"/>
          </a:solidFill>
          <a:ln>
            <a:solidFill>
              <a:srgbClr val="3A4A60"/>
            </a:solidFill>
          </a:ln>
        </p:spPr>
        <p:txBody>
          <a:bodyPr wrap="square" lIns="76200" tIns="76200" rIns="76200" bIns="7620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설계안</a:t>
            </a:r>
            <a:endParaRPr lang="en-US" sz="1500" dirty="0"/>
          </a:p>
        </p:txBody>
      </p:sp>
      <p:sp>
        <p:nvSpPr>
          <p:cNvPr id="12" name="Text 10"/>
          <p:cNvSpPr txBox="1"/>
          <p:nvPr/>
        </p:nvSpPr>
        <p:spPr>
          <a:xfrm>
            <a:off x="6274156" y="2286000"/>
            <a:ext cx="2451278"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그래프 스키마 (카드·혜택·규칙·개념·조항)</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추출·검증 테이블 DDL 초안 (DB 미적용)</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MCP 도구 2안</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검증 기준: 오류 6분류, 파일럿 질문</a:t>
            </a:r>
            <a:endParaRPr lang="en-US" sz="1400" dirty="0"/>
          </a:p>
        </p:txBody>
      </p:sp>
      <p:sp>
        <p:nvSpPr>
          <p:cNvPr id="13" name="Shape 11"/>
          <p:cNvSpPr/>
          <p:nvPr/>
        </p:nvSpPr>
        <p:spPr>
          <a:xfrm>
            <a:off x="8972321" y="1691640"/>
            <a:ext cx="2670734" cy="3429000"/>
          </a:xfrm>
          <a:prstGeom prst="roundRect">
            <a:avLst>
              <a:gd name="adj" fmla="val 3424"/>
            </a:avLst>
          </a:prstGeom>
          <a:solidFill>
            <a:srgbClr val="FFFFFF"/>
          </a:solidFill>
          <a:ln w="15875">
            <a:solidFill>
              <a:srgbClr val="E8A33D"/>
            </a:solidFill>
            <a:prstDash val="solid"/>
          </a:ln>
        </p:spPr>
      </p:sp>
      <p:sp>
        <p:nvSpPr>
          <p:cNvPr id="14" name="Text 12"/>
          <p:cNvSpPr txBox="1"/>
          <p:nvPr/>
        </p:nvSpPr>
        <p:spPr>
          <a:xfrm>
            <a:off x="8972321" y="1691640"/>
            <a:ext cx="2670734" cy="475488"/>
          </a:xfrm>
          <a:prstGeom prst="roundRect">
            <a:avLst>
              <a:gd name="adj" fmla="val 19231"/>
            </a:avLst>
          </a:prstGeom>
          <a:solidFill>
            <a:srgbClr val="E8A33D"/>
          </a:solidFill>
          <a:ln>
            <a:solidFill>
              <a:srgbClr val="E8A33D"/>
            </a:solidFill>
          </a:ln>
        </p:spPr>
        <p:txBody>
          <a:bodyPr wrap="square" lIns="76200" tIns="76200" rIns="76200" bIns="76200" rtlCol="0" anchor="ctr"/>
          <a:lstStyle/>
          <a:p>
            <a:pPr algn="ctr" indent="0" marL="0">
              <a:buNone/>
            </a:pPr>
            <a:r>
              <a:rPr lang="en-US" sz="1500" b="1" dirty="0">
                <a:solidFill>
                  <a:srgbClr val="0E1A2B"/>
                </a:solidFill>
                <a:latin typeface="Malgun Gothic" pitchFamily="34" charset="0"/>
                <a:ea typeface="Malgun Gothic" pitchFamily="34" charset="-122"/>
                <a:cs typeface="Malgun Gothic" pitchFamily="34" charset="-120"/>
              </a:rPr>
              <a:t>구현·검증 예정</a:t>
            </a:r>
            <a:endParaRPr lang="en-US" sz="1500" dirty="0"/>
          </a:p>
        </p:txBody>
      </p:sp>
      <p:sp>
        <p:nvSpPr>
          <p:cNvPr id="15" name="Text 13"/>
          <p:cNvSpPr txBox="1"/>
          <p:nvPr/>
        </p:nvSpPr>
        <p:spPr>
          <a:xfrm>
            <a:off x="9082049" y="2286000"/>
            <a:ext cx="2451278"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파이프라인 A(파일)·B(DB) 독립 추출 → 결과 비교</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Neo4j 적재·Cypher 탐색</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근거 기반 GraphRAG 답변</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MCP 도구 1개</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파일럿 질문 15~20개 검증</a:t>
            </a:r>
            <a:endParaRPr lang="en-US" sz="1400" dirty="0"/>
          </a:p>
        </p:txBody>
      </p:sp>
      <p:sp>
        <p:nvSpPr>
          <p:cNvPr id="16" name="Text 14"/>
          <p:cNvSpPr txBox="1"/>
          <p:nvPr/>
        </p:nvSpPr>
        <p:spPr>
          <a:xfrm>
            <a:off x="548640" y="5230368"/>
            <a:ext cx="11094415" cy="502920"/>
          </a:xfrm>
          <a:prstGeom prst="roundRect">
            <a:avLst>
              <a:gd name="adj" fmla="val 14545"/>
            </a:avLst>
          </a:prstGeom>
          <a:solidFill>
            <a:srgbClr val="0E1A2B"/>
          </a:solidFill>
          <a:ln>
            <a:solidFill>
              <a:srgbClr val="0E1A2B"/>
            </a:solidFill>
          </a:ln>
        </p:spPr>
        <p:txBody>
          <a:bodyPr wrap="square" lIns="152400" tIns="152400" rIns="152400" bIns="152400" rtlCol="0" anchor="ctr"/>
          <a:lstStyle/>
          <a:p>
            <a:pPr algn="l" indent="0" marL="0">
              <a:buNone/>
            </a:pPr>
            <a:r>
              <a:rPr lang="en-US" sz="1200" b="1" dirty="0">
                <a:solidFill>
                  <a:srgbClr val="E8A33D"/>
                </a:solidFill>
                <a:latin typeface="Malgun Gothic" pitchFamily="34" charset="0"/>
                <a:ea typeface="Malgun Gothic" pitchFamily="34" charset="-122"/>
                <a:cs typeface="Malgun Gothic" pitchFamily="34" charset="-120"/>
              </a:rPr>
              <a:t>2인 팀 우선순위  </a:t>
            </a:r>
            <a:pPr algn="l" indent="0" marL="0">
              <a:buNone/>
            </a:pPr>
            <a:r>
              <a:rPr lang="en-US" sz="1200" dirty="0">
                <a:solidFill>
                  <a:srgbClr val="FFFFFF"/>
                </a:solidFill>
                <a:latin typeface="Malgun Gothic" pitchFamily="34" charset="0"/>
                <a:ea typeface="Malgun Gothic" pitchFamily="34" charset="-122"/>
                <a:cs typeface="Malgun Gothic" pitchFamily="34" charset="-120"/>
              </a:rPr>
              <a:t>① 4종 추출·관계 검증 → ② Neo4j·Cypher → ③ 근거 기반 답변 → ④ MCP 도구 1개 → ⑤ 검증·실패 사례 → ⑥ 약 10종 (여력 시)</a:t>
            </a:r>
            <a:endParaRPr lang="en-US" sz="1200" dirty="0"/>
          </a:p>
        </p:txBody>
      </p:sp>
      <p:sp>
        <p:nvSpPr>
          <p:cNvPr id="17" name="Text 15"/>
          <p:cNvSpPr txBox="1"/>
          <p:nvPr/>
        </p:nvSpPr>
        <p:spPr>
          <a:xfrm>
            <a:off x="548640" y="5852160"/>
            <a:ext cx="11094415" cy="438912"/>
          </a:xfrm>
          <a:prstGeom prst="roundRect">
            <a:avLst>
              <a:gd name="adj" fmla="val 20833"/>
            </a:avLst>
          </a:prstGeom>
          <a:solidFill>
            <a:srgbClr val="FFFFFF"/>
          </a:solidFill>
          <a:ln w="15875">
            <a:solidFill>
              <a:srgbClr val="E8A33D"/>
            </a:solidFill>
          </a:ln>
        </p:spPr>
        <p:txBody>
          <a:bodyPr wrap="square" lIns="152400" tIns="152400" rIns="152400" bIns="152400" rtlCol="0" anchor="ctr"/>
          <a:lstStyle/>
          <a:p>
            <a:pPr algn="l" indent="0" marL="0">
              <a:buNone/>
            </a:pPr>
            <a:r>
              <a:rPr lang="en-US" sz="1400" b="1" dirty="0">
                <a:solidFill>
                  <a:srgbClr val="8F5208"/>
                </a:solidFill>
                <a:latin typeface="Malgun Gothic" pitchFamily="34" charset="0"/>
                <a:ea typeface="Malgun Gothic" pitchFamily="34" charset="-122"/>
                <a:cs typeface="Malgun Gothic" pitchFamily="34" charset="-120"/>
              </a:rPr>
              <a:t>다음 질문  </a:t>
            </a:r>
            <a:pPr algn="l" indent="0" marL="0">
              <a:buNone/>
            </a:pPr>
            <a:r>
              <a:rPr lang="en-US" sz="1400" b="1" dirty="0">
                <a:solidFill>
                  <a:srgbClr val="0E1A2B"/>
                </a:solidFill>
                <a:latin typeface="Malgun Gothic" pitchFamily="34" charset="0"/>
                <a:ea typeface="Malgun Gothic" pitchFamily="34" charset="-122"/>
                <a:cs typeface="Malgun Gothic" pitchFamily="34" charset="-120"/>
              </a:rPr>
              <a:t>이 프로젝트가 완성된다면 카드사와 AI 서비스에는 어떤 의미가 있을까요?</a:t>
            </a:r>
            <a:endParaRPr lang="en-US" sz="1400" dirty="0"/>
          </a:p>
        </p:txBody>
      </p:sp>
      <p:sp>
        <p:nvSpPr>
          <p:cNvPr id="18" name="Text 16"/>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2026-10-30 저장소 확인: card_benefit/README.md · payment_card · src/common · sql · 단위 테스트(목 기반)는 이번 세션에서 실행하지 않음</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40080" y="502920"/>
            <a:ext cx="2743200" cy="274320"/>
          </a:xfrm>
          <a:prstGeom prst="rect">
            <a:avLst/>
          </a:prstGeom>
          <a:noFill/>
          <a:ln/>
        </p:spPr>
        <p:txBody>
          <a:bodyPr wrap="square" lIns="0" tIns="0" rIns="0" bIns="0" rtlCol="0" anchor="t"/>
          <a:lstStyle/>
          <a:p>
            <a:pPr indent="0" marL="0">
              <a:buNone/>
            </a:pPr>
            <a:r>
              <a:rPr lang="en-US" sz="1300" b="1" dirty="0">
                <a:solidFill>
                  <a:srgbClr val="E8A33D"/>
                </a:solidFill>
                <a:latin typeface="Malgun Gothic" pitchFamily="34" charset="0"/>
                <a:ea typeface="Malgun Gothic" pitchFamily="34" charset="-122"/>
                <a:cs typeface="Malgun Gothic" pitchFamily="34" charset="-120"/>
              </a:rPr>
              <a:t>결론</a:t>
            </a:r>
            <a:endParaRPr lang="en-US" sz="1300" dirty="0"/>
          </a:p>
        </p:txBody>
      </p:sp>
      <p:sp>
        <p:nvSpPr>
          <p:cNvPr id="3" name="Text 1"/>
          <p:cNvSpPr txBox="1"/>
          <p:nvPr/>
        </p:nvSpPr>
        <p:spPr>
          <a:xfrm>
            <a:off x="640080" y="841248"/>
            <a:ext cx="10972800" cy="292608"/>
          </a:xfrm>
          <a:prstGeom prst="rect">
            <a:avLst/>
          </a:prstGeom>
          <a:noFill/>
          <a:ln/>
        </p:spPr>
        <p:txBody>
          <a:bodyPr wrap="square" lIns="0" tIns="0" rIns="0" bIns="0" rtlCol="0" anchor="t"/>
          <a:lstStyle/>
          <a:p>
            <a:pPr indent="0" marL="0">
              <a:buNone/>
            </a:pPr>
            <a:r>
              <a:rPr lang="en-US" sz="1400" dirty="0">
                <a:solidFill>
                  <a:srgbClr val="A9B7C9"/>
                </a:solidFill>
                <a:latin typeface="Malgun Gothic" pitchFamily="34" charset="0"/>
                <a:ea typeface="Malgun Gothic" pitchFamily="34" charset="-122"/>
                <a:cs typeface="Malgun Gothic" pitchFamily="34" charset="-120"/>
              </a:rPr>
              <a:t>처음 질문 — 고객이 AI에게 카드 혜택을 물으면, 공식 정보는 어디에서 올까요?</a:t>
            </a:r>
            <a:endParaRPr lang="en-US" sz="1400" dirty="0"/>
          </a:p>
        </p:txBody>
      </p:sp>
      <p:sp>
        <p:nvSpPr>
          <p:cNvPr id="4" name="Text 2"/>
          <p:cNvSpPr txBox="1"/>
          <p:nvPr/>
        </p:nvSpPr>
        <p:spPr>
          <a:xfrm>
            <a:off x="640080" y="1280160"/>
            <a:ext cx="10972800" cy="1280160"/>
          </a:xfrm>
          <a:prstGeom prst="rect">
            <a:avLst/>
          </a:prstGeom>
          <a:noFill/>
          <a:ln/>
        </p:spPr>
        <p:txBody>
          <a:bodyPr wrap="square" lIns="0" tIns="0" rIns="0" bIns="0" rtlCol="0" anchor="t"/>
          <a:lstStyle/>
          <a:p>
            <a:pPr indent="0" marL="0">
              <a:lnSpc>
                <a:spcPct val="110000"/>
              </a:lnSpc>
              <a:buNone/>
            </a:pPr>
            <a:r>
              <a:rPr lang="en-US" sz="2800" b="1" dirty="0">
                <a:solidFill>
                  <a:srgbClr val="FFFFFF"/>
                </a:solidFill>
                <a:latin typeface="Malgun Gothic" pitchFamily="34" charset="0"/>
                <a:ea typeface="Malgun Gothic" pitchFamily="34" charset="-122"/>
                <a:cs typeface="Malgun Gothic" pitchFamily="34" charset="-120"/>
              </a:rPr>
              <a:t>AI 채널이 달라져도, 카드사가 제공하는 공식 혜택 조건과</a:t>
            </a:r>
            <a:endParaRPr lang="en-US" sz="2800" dirty="0"/>
          </a:p>
          <a:p>
            <a:pPr indent="0" marL="0">
              <a:lnSpc>
                <a:spcPct val="110000"/>
              </a:lnSpc>
              <a:buNone/>
            </a:pPr>
            <a:r>
              <a:rPr lang="en-US" sz="2800" b="1" dirty="0">
                <a:solidFill>
                  <a:srgbClr val="FFFFFF"/>
                </a:solidFill>
                <a:latin typeface="Malgun Gothic" pitchFamily="34" charset="0"/>
                <a:ea typeface="Malgun Gothic" pitchFamily="34" charset="-122"/>
                <a:cs typeface="Malgun Gothic" pitchFamily="34" charset="-120"/>
              </a:rPr>
              <a:t>근거는 일관되게 관리할 수 있어야 합니다.</a:t>
            </a:r>
            <a:endParaRPr lang="en-US" sz="2800" dirty="0"/>
          </a:p>
        </p:txBody>
      </p:sp>
      <p:sp>
        <p:nvSpPr>
          <p:cNvPr id="5" name="Shape 3"/>
          <p:cNvSpPr/>
          <p:nvPr/>
        </p:nvSpPr>
        <p:spPr>
          <a:xfrm>
            <a:off x="640080" y="2788920"/>
            <a:ext cx="3483864" cy="1691640"/>
          </a:xfrm>
          <a:prstGeom prst="roundRect">
            <a:avLst>
              <a:gd name="adj" fmla="val 5405"/>
            </a:avLst>
          </a:prstGeom>
          <a:solidFill>
            <a:srgbClr val="1F3350"/>
          </a:solidFill>
          <a:ln w="12700">
            <a:solidFill>
              <a:srgbClr val="1F3350"/>
            </a:solidFill>
            <a:prstDash val="solid"/>
          </a:ln>
        </p:spPr>
      </p:sp>
      <p:sp>
        <p:nvSpPr>
          <p:cNvPr id="6" name="Text 4"/>
          <p:cNvSpPr txBox="1"/>
          <p:nvPr/>
        </p:nvSpPr>
        <p:spPr>
          <a:xfrm>
            <a:off x="868680" y="2926080"/>
            <a:ext cx="3026664" cy="256032"/>
          </a:xfrm>
          <a:prstGeom prst="rect">
            <a:avLst/>
          </a:prstGeom>
          <a:noFill/>
          <a:ln/>
        </p:spPr>
        <p:txBody>
          <a:bodyPr wrap="square" lIns="0" tIns="0" rIns="0" bIns="0" rtlCol="0" anchor="t"/>
          <a:lstStyle/>
          <a:p>
            <a:pPr indent="0" marL="0">
              <a:buNone/>
            </a:pPr>
            <a:r>
              <a:rPr lang="en-US" sz="1200" b="1" dirty="0">
                <a:solidFill>
                  <a:srgbClr val="E8A33D"/>
                </a:solidFill>
                <a:latin typeface="Malgun Gothic" pitchFamily="34" charset="0"/>
                <a:ea typeface="Malgun Gothic" pitchFamily="34" charset="-122"/>
                <a:cs typeface="Malgun Gothic" pitchFamily="34" charset="-120"/>
              </a:rPr>
              <a:t>왜 필요한가</a:t>
            </a:r>
            <a:endParaRPr lang="en-US" sz="1200" dirty="0"/>
          </a:p>
        </p:txBody>
      </p:sp>
      <p:sp>
        <p:nvSpPr>
          <p:cNvPr id="7" name="Text 5"/>
          <p:cNvSpPr txBox="1"/>
          <p:nvPr/>
        </p:nvSpPr>
        <p:spPr>
          <a:xfrm>
            <a:off x="868680" y="3200400"/>
            <a:ext cx="3026664" cy="411480"/>
          </a:xfrm>
          <a:prstGeom prst="rect">
            <a:avLst/>
          </a:prstGeom>
          <a:noFill/>
          <a:ln/>
        </p:spPr>
        <p:txBody>
          <a:bodyPr wrap="square" lIns="0" tIns="0" rIns="0" bIns="0" rtlCol="0" anchor="ctr"/>
          <a:lstStyle/>
          <a:p>
            <a:pPr indent="0" marL="0">
              <a:buNone/>
            </a:pPr>
            <a:r>
              <a:rPr lang="en-US" sz="2200" b="1" dirty="0">
                <a:solidFill>
                  <a:srgbClr val="FFFFFF"/>
                </a:solidFill>
                <a:latin typeface="Malgun Gothic" pitchFamily="34" charset="0"/>
                <a:ea typeface="Malgun Gothic" pitchFamily="34" charset="-122"/>
                <a:cs typeface="Malgun Gothic" pitchFamily="34" charset="-120"/>
              </a:rPr>
              <a:t>카드사</a:t>
            </a:r>
            <a:endParaRPr lang="en-US" sz="2200" dirty="0"/>
          </a:p>
        </p:txBody>
      </p:sp>
      <p:sp>
        <p:nvSpPr>
          <p:cNvPr id="8" name="Text 6"/>
          <p:cNvSpPr txBox="1"/>
          <p:nvPr/>
        </p:nvSpPr>
        <p:spPr>
          <a:xfrm>
            <a:off x="868680" y="3703320"/>
            <a:ext cx="3026664" cy="685800"/>
          </a:xfrm>
          <a:prstGeom prst="rect">
            <a:avLst/>
          </a:prstGeom>
          <a:noFill/>
          <a:ln/>
        </p:spPr>
        <p:txBody>
          <a:bodyPr wrap="square" lIns="0" tIns="0" rIns="0" bIns="0" rtlCol="0" anchor="t"/>
          <a:lstStyle/>
          <a:p>
            <a:pPr indent="0" marL="0">
              <a:lnSpc>
                <a:spcPct val="110000"/>
              </a:lnSpc>
              <a:buNone/>
            </a:pPr>
            <a:r>
              <a:rPr lang="en-US" sz="1400" dirty="0">
                <a:solidFill>
                  <a:srgbClr val="D5DEEA"/>
                </a:solidFill>
                <a:latin typeface="Malgun Gothic" pitchFamily="34" charset="0"/>
                <a:ea typeface="Malgun Gothic" pitchFamily="34" charset="-122"/>
                <a:cs typeface="Malgun Gothic" pitchFamily="34" charset="-120"/>
              </a:rPr>
              <a:t>공식 상품정보와 약관 근거를 관리하고 외부 AI에 제공</a:t>
            </a:r>
            <a:endParaRPr lang="en-US" sz="1400" dirty="0"/>
          </a:p>
        </p:txBody>
      </p:sp>
      <p:sp>
        <p:nvSpPr>
          <p:cNvPr id="9" name="Shape 7"/>
          <p:cNvSpPr/>
          <p:nvPr/>
        </p:nvSpPr>
        <p:spPr>
          <a:xfrm>
            <a:off x="4398264" y="2788920"/>
            <a:ext cx="3483864" cy="1691640"/>
          </a:xfrm>
          <a:prstGeom prst="roundRect">
            <a:avLst>
              <a:gd name="adj" fmla="val 5405"/>
            </a:avLst>
          </a:prstGeom>
          <a:solidFill>
            <a:srgbClr val="0D6F64"/>
          </a:solidFill>
          <a:ln w="12700">
            <a:solidFill>
              <a:srgbClr val="0D6F64"/>
            </a:solidFill>
            <a:prstDash val="solid"/>
          </a:ln>
        </p:spPr>
      </p:sp>
      <p:sp>
        <p:nvSpPr>
          <p:cNvPr id="10" name="Text 8"/>
          <p:cNvSpPr txBox="1"/>
          <p:nvPr/>
        </p:nvSpPr>
        <p:spPr>
          <a:xfrm>
            <a:off x="4626864" y="2926080"/>
            <a:ext cx="3026664" cy="256032"/>
          </a:xfrm>
          <a:prstGeom prst="rect">
            <a:avLst/>
          </a:prstGeom>
          <a:noFill/>
          <a:ln/>
        </p:spPr>
        <p:txBody>
          <a:bodyPr wrap="square" lIns="0" tIns="0" rIns="0" bIns="0" rtlCol="0" anchor="t"/>
          <a:lstStyle/>
          <a:p>
            <a:pPr indent="0" marL="0">
              <a:buNone/>
            </a:pPr>
            <a:r>
              <a:rPr lang="en-US" sz="1200" b="1" dirty="0">
                <a:solidFill>
                  <a:srgbClr val="BFEDE6"/>
                </a:solidFill>
                <a:latin typeface="Malgun Gothic" pitchFamily="34" charset="0"/>
                <a:ea typeface="Malgun Gothic" pitchFamily="34" charset="-122"/>
                <a:cs typeface="Malgun Gothic" pitchFamily="34" charset="-120"/>
              </a:rPr>
              <a:t>왜 GraphRAG인가</a:t>
            </a:r>
            <a:endParaRPr lang="en-US" sz="1200" dirty="0"/>
          </a:p>
        </p:txBody>
      </p:sp>
      <p:sp>
        <p:nvSpPr>
          <p:cNvPr id="11" name="Text 9"/>
          <p:cNvSpPr txBox="1"/>
          <p:nvPr/>
        </p:nvSpPr>
        <p:spPr>
          <a:xfrm>
            <a:off x="4626864" y="3200400"/>
            <a:ext cx="3026664" cy="411480"/>
          </a:xfrm>
          <a:prstGeom prst="rect">
            <a:avLst/>
          </a:prstGeom>
          <a:noFill/>
          <a:ln/>
        </p:spPr>
        <p:txBody>
          <a:bodyPr wrap="square" lIns="0" tIns="0" rIns="0" bIns="0" rtlCol="0" anchor="ctr"/>
          <a:lstStyle/>
          <a:p>
            <a:pPr indent="0" marL="0">
              <a:buNone/>
            </a:pPr>
            <a:r>
              <a:rPr lang="en-US" sz="2200" b="1" dirty="0">
                <a:solidFill>
                  <a:srgbClr val="FFFFFF"/>
                </a:solidFill>
                <a:latin typeface="Malgun Gothic" pitchFamily="34" charset="0"/>
                <a:ea typeface="Malgun Gothic" pitchFamily="34" charset="-122"/>
                <a:cs typeface="Malgun Gothic" pitchFamily="34" charset="-120"/>
              </a:rPr>
              <a:t>GraphRAG</a:t>
            </a:r>
            <a:endParaRPr lang="en-US" sz="2200" dirty="0"/>
          </a:p>
        </p:txBody>
      </p:sp>
      <p:sp>
        <p:nvSpPr>
          <p:cNvPr id="12" name="Text 10"/>
          <p:cNvSpPr txBox="1"/>
          <p:nvPr/>
        </p:nvSpPr>
        <p:spPr>
          <a:xfrm>
            <a:off x="4626864" y="3703320"/>
            <a:ext cx="3026664" cy="685800"/>
          </a:xfrm>
          <a:prstGeom prst="rect">
            <a:avLst/>
          </a:prstGeom>
          <a:noFill/>
          <a:ln/>
        </p:spPr>
        <p:txBody>
          <a:bodyPr wrap="square" lIns="0" tIns="0" rIns="0" bIns="0" rtlCol="0" anchor="t"/>
          <a:lstStyle/>
          <a:p>
            <a:pPr indent="0" marL="0">
              <a:lnSpc>
                <a:spcPct val="110000"/>
              </a:lnSpc>
              <a:buNone/>
            </a:pPr>
            <a:r>
              <a:rPr lang="en-US" sz="1400" dirty="0">
                <a:solidFill>
                  <a:srgbClr val="D5DEEA"/>
                </a:solidFill>
                <a:latin typeface="Malgun Gothic" pitchFamily="34" charset="0"/>
                <a:ea typeface="Malgun Gothic" pitchFamily="34" charset="-122"/>
                <a:cs typeface="Malgun Gothic" pitchFamily="34" charset="-120"/>
              </a:rPr>
              <a:t>복잡한 혜택·조건·원문 근거의 관계를 구조화하고 탐색·검증</a:t>
            </a:r>
            <a:endParaRPr lang="en-US" sz="1400" dirty="0"/>
          </a:p>
        </p:txBody>
      </p:sp>
      <p:sp>
        <p:nvSpPr>
          <p:cNvPr id="13" name="Shape 11"/>
          <p:cNvSpPr/>
          <p:nvPr/>
        </p:nvSpPr>
        <p:spPr>
          <a:xfrm>
            <a:off x="8156448" y="2788920"/>
            <a:ext cx="3483864" cy="1691640"/>
          </a:xfrm>
          <a:prstGeom prst="roundRect">
            <a:avLst>
              <a:gd name="adj" fmla="val 5405"/>
            </a:avLst>
          </a:prstGeom>
          <a:solidFill>
            <a:srgbClr val="1F3350"/>
          </a:solidFill>
          <a:ln w="12700">
            <a:solidFill>
              <a:srgbClr val="1F3350"/>
            </a:solidFill>
            <a:prstDash val="solid"/>
          </a:ln>
        </p:spPr>
      </p:sp>
      <p:sp>
        <p:nvSpPr>
          <p:cNvPr id="14" name="Text 12"/>
          <p:cNvSpPr txBox="1"/>
          <p:nvPr/>
        </p:nvSpPr>
        <p:spPr>
          <a:xfrm>
            <a:off x="8385048" y="2926080"/>
            <a:ext cx="3026664" cy="256032"/>
          </a:xfrm>
          <a:prstGeom prst="rect">
            <a:avLst/>
          </a:prstGeom>
          <a:noFill/>
          <a:ln/>
        </p:spPr>
        <p:txBody>
          <a:bodyPr wrap="square" lIns="0" tIns="0" rIns="0" bIns="0" rtlCol="0" anchor="t"/>
          <a:lstStyle/>
          <a:p>
            <a:pPr indent="0" marL="0">
              <a:buNone/>
            </a:pPr>
            <a:r>
              <a:rPr lang="en-US" sz="1200" b="1" dirty="0">
                <a:solidFill>
                  <a:srgbClr val="E8A33D"/>
                </a:solidFill>
                <a:latin typeface="Malgun Gothic" pitchFamily="34" charset="0"/>
                <a:ea typeface="Malgun Gothic" pitchFamily="34" charset="-122"/>
                <a:cs typeface="Malgun Gothic" pitchFamily="34" charset="-120"/>
              </a:rPr>
              <a:t>왜 MCP인가</a:t>
            </a:r>
            <a:endParaRPr lang="en-US" sz="1200" dirty="0"/>
          </a:p>
        </p:txBody>
      </p:sp>
      <p:sp>
        <p:nvSpPr>
          <p:cNvPr id="15" name="Text 13"/>
          <p:cNvSpPr txBox="1"/>
          <p:nvPr/>
        </p:nvSpPr>
        <p:spPr>
          <a:xfrm>
            <a:off x="8385048" y="3200400"/>
            <a:ext cx="3026664" cy="411480"/>
          </a:xfrm>
          <a:prstGeom prst="rect">
            <a:avLst/>
          </a:prstGeom>
          <a:noFill/>
          <a:ln/>
        </p:spPr>
        <p:txBody>
          <a:bodyPr wrap="square" lIns="0" tIns="0" rIns="0" bIns="0" rtlCol="0" anchor="ctr"/>
          <a:lstStyle/>
          <a:p>
            <a:pPr indent="0" marL="0">
              <a:buNone/>
            </a:pPr>
            <a:r>
              <a:rPr lang="en-US" sz="2200" b="1" dirty="0">
                <a:solidFill>
                  <a:srgbClr val="FFFFFF"/>
                </a:solidFill>
                <a:latin typeface="Malgun Gothic" pitchFamily="34" charset="0"/>
                <a:ea typeface="Malgun Gothic" pitchFamily="34" charset="-122"/>
                <a:cs typeface="Malgun Gothic" pitchFamily="34" charset="-120"/>
              </a:rPr>
              <a:t>MCP</a:t>
            </a:r>
            <a:endParaRPr lang="en-US" sz="2200" dirty="0"/>
          </a:p>
        </p:txBody>
      </p:sp>
      <p:sp>
        <p:nvSpPr>
          <p:cNvPr id="16" name="Text 14"/>
          <p:cNvSpPr txBox="1"/>
          <p:nvPr/>
        </p:nvSpPr>
        <p:spPr>
          <a:xfrm>
            <a:off x="8385048" y="3703320"/>
            <a:ext cx="3026664" cy="685800"/>
          </a:xfrm>
          <a:prstGeom prst="rect">
            <a:avLst/>
          </a:prstGeom>
          <a:noFill/>
          <a:ln/>
        </p:spPr>
        <p:txBody>
          <a:bodyPr wrap="square" lIns="0" tIns="0" rIns="0" bIns="0" rtlCol="0" anchor="t"/>
          <a:lstStyle/>
          <a:p>
            <a:pPr indent="0" marL="0">
              <a:lnSpc>
                <a:spcPct val="110000"/>
              </a:lnSpc>
              <a:buNone/>
            </a:pPr>
            <a:r>
              <a:rPr lang="en-US" sz="1400" dirty="0">
                <a:solidFill>
                  <a:srgbClr val="D5DEEA"/>
                </a:solidFill>
                <a:latin typeface="Malgun Gothic" pitchFamily="34" charset="0"/>
                <a:ea typeface="Malgun Gothic" pitchFamily="34" charset="-122"/>
                <a:cs typeface="Malgun Gothic" pitchFamily="34" charset="-120"/>
              </a:rPr>
              <a:t>구현한 공식 조회 기능을 여러 AI 클라이언트에서 재사용</a:t>
            </a:r>
            <a:endParaRPr lang="en-US" sz="1400" dirty="0"/>
          </a:p>
        </p:txBody>
      </p:sp>
      <p:sp>
        <p:nvSpPr>
          <p:cNvPr id="17" name="Text 15"/>
          <p:cNvSpPr txBox="1"/>
          <p:nvPr/>
        </p:nvSpPr>
        <p:spPr>
          <a:xfrm>
            <a:off x="640080" y="4754880"/>
            <a:ext cx="10972800" cy="731520"/>
          </a:xfrm>
          <a:prstGeom prst="rect">
            <a:avLst/>
          </a:prstGeom>
          <a:noFill/>
          <a:ln/>
        </p:spPr>
        <p:txBody>
          <a:bodyPr wrap="square" lIns="0" tIns="0" rIns="0" bIns="0" rtlCol="0" anchor="t"/>
          <a:lstStyle/>
          <a:p>
            <a:pPr indent="0" marL="0">
              <a:lnSpc>
                <a:spcPct val="125000"/>
              </a:lnSpc>
              <a:buNone/>
            </a:pPr>
            <a:r>
              <a:rPr lang="en-US" sz="1400" b="1" dirty="0">
                <a:solidFill>
                  <a:srgbClr val="7FD6C9"/>
                </a:solidFill>
                <a:latin typeface="Malgun Gothic" pitchFamily="34" charset="0"/>
                <a:ea typeface="Malgun Gothic" pitchFamily="34" charset="-122"/>
                <a:cs typeface="Malgun Gothic" pitchFamily="34" charset="-120"/>
              </a:rPr>
              <a:t>현재  </a:t>
            </a:r>
            <a:pPr indent="0" marL="0">
              <a:lnSpc>
                <a:spcPct val="125000"/>
              </a:lnSpc>
              <a:buNone/>
            </a:pPr>
            <a:r>
              <a:rPr lang="en-US" sz="1400" dirty="0">
                <a:solidFill>
                  <a:srgbClr val="D5DEEA"/>
                </a:solidFill>
                <a:latin typeface="Malgun Gothic" pitchFamily="34" charset="0"/>
                <a:ea typeface="Malgun Gothic" pitchFamily="34" charset="-122"/>
                <a:cs typeface="Malgun Gothic" pitchFamily="34" charset="-120"/>
              </a:rPr>
              <a:t>하나카드 4종 원문 대조 · PDF 추출 표본 검증 · 카드 등록·조회 CLI와 공통 기반</a:t>
            </a:r>
            <a:endParaRPr lang="en-US" sz="1400" dirty="0"/>
          </a:p>
          <a:p>
            <a:pPr indent="0" marL="0">
              <a:lnSpc>
                <a:spcPct val="125000"/>
              </a:lnSpc>
              <a:buNone/>
            </a:pPr>
            <a:r>
              <a:rPr lang="en-US" sz="1400" b="1" dirty="0">
                <a:solidFill>
                  <a:srgbClr val="E8A33D"/>
                </a:solidFill>
                <a:latin typeface="Malgun Gothic" pitchFamily="34" charset="0"/>
                <a:ea typeface="Malgun Gothic" pitchFamily="34" charset="-122"/>
                <a:cs typeface="Malgun Gothic" pitchFamily="34" charset="-120"/>
              </a:rPr>
              <a:t>다음  </a:t>
            </a:r>
            <a:pPr indent="0" marL="0">
              <a:lnSpc>
                <a:spcPct val="125000"/>
              </a:lnSpc>
              <a:buNone/>
            </a:pPr>
            <a:r>
              <a:rPr lang="en-US" sz="1400" dirty="0">
                <a:solidFill>
                  <a:srgbClr val="D5DEEA"/>
                </a:solidFill>
                <a:latin typeface="Malgun Gothic" pitchFamily="34" charset="0"/>
                <a:ea typeface="Malgun Gothic" pitchFamily="34" charset="-122"/>
                <a:cs typeface="Malgun Gothic" pitchFamily="34" charset="-120"/>
              </a:rPr>
              <a:t>두 파이프라인 추출 → Neo4j·Cypher → 근거 기반 답변 → MCP 도구 1개 → 파일럿 검증 (약 10종은 여력 시)</a:t>
            </a:r>
            <a:endParaRPr lang="en-US" sz="1400" dirty="0"/>
          </a:p>
        </p:txBody>
      </p:sp>
      <p:sp>
        <p:nvSpPr>
          <p:cNvPr id="18" name="Text 16"/>
          <p:cNvSpPr txBox="1"/>
          <p:nvPr/>
        </p:nvSpPr>
        <p:spPr>
          <a:xfrm>
            <a:off x="640080" y="5715000"/>
            <a:ext cx="10972800" cy="365760"/>
          </a:xfrm>
          <a:prstGeom prst="rect">
            <a:avLst/>
          </a:prstGeom>
          <a:noFill/>
          <a:ln/>
        </p:spPr>
        <p:txBody>
          <a:bodyPr wrap="square" lIns="0" tIns="0" rIns="0" bIns="0" rtlCol="0" anchor="t"/>
          <a:lstStyle/>
          <a:p>
            <a:pPr indent="0" marL="0">
              <a:buNone/>
            </a:pPr>
            <a:r>
              <a:rPr lang="en-US" sz="1500" b="1" dirty="0">
                <a:solidFill>
                  <a:srgbClr val="E8A33D"/>
                </a:solidFill>
                <a:latin typeface="Malgun Gothic" pitchFamily="34" charset="0"/>
                <a:ea typeface="Malgun Gothic" pitchFamily="34" charset="-122"/>
                <a:cs typeface="Malgun Gothic" pitchFamily="34" charset="-120"/>
              </a:rPr>
              <a:t>SQL 대비 우위는 단정하지 않고, 같은 질문으로 비교해 확인하겠습니다.</a:t>
            </a:r>
            <a:endParaRPr lang="en-US" sz="15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7F96"/>
                </a:solidFill>
                <a:latin typeface="Malgun Gothic"/>
                <a:ea typeface="Malgun Gothic"/>
                <a:cs typeface="Malgun Gothic"/>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A   과제 수행 증빙</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M0~M9와 현재 상태 (2026-10-30 저장소 기준)</a:t>
            </a:r>
            <a:endParaRPr lang="en-US" sz="2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1920240"/>
                <a:gridCol w="3931920"/>
                <a:gridCol w="1188720"/>
                <a:gridCol w="4050792"/>
              </a:tblGrid>
              <a:tr h="365760">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과제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카드 엔진에서 할 일</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관련 쪽</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현재 상태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M0 주제·문서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대표 4종 우선, 체크·신용 약 10종 목표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3·4·12</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4종 원문 대조 완료 / 약 10종 선정 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M1 전처리</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텍스트 추출·청크·원문 위치 ID</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5·6</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표본 추출 검증 완료 · 공통 PDF 읽기 있음 / 카드 파이프라인 미구현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M2 온톨로지</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카드·혜택·규칙·공통 개념·조항</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6·부록 B</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설계안</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M3·M4 LLM 추출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근거 문장·조항 ID 필수 JSON, 실패 처리</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6·10</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M5 정규화</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공통 개념 연결, 카드별 규칙 분리 보존</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8</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M6 Neo4j 적재</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MERGE 재적재, 근거 속성 보존</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6</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 — Neo4j 세션 공통 기반 있음</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M7 Cypher</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조건 조회 · 영향 후보 · 근거 경로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7·8</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 — 기대 결과는 원문 수작업 도출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M8 검증</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원문–관계–그래프–답변 대조, 오류 6분류</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10·부록 C</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 — 기준·파일럿 질문 정의</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M9 통합·MCP</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문서 → 그래프 → MCP 한 흐름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11</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 — 도구 2안, 컷라인</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파이프라인 A·B</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파일 기반 / DB 기반 독립 추출 → 결과 비교</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12</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 — DB 테이블 DDL 초안(미적용)</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구현 완료</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카드 상품 등록·조회 CLI + 단위 테스트</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12</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완료 (payment_card)</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5" name="Text 2"/>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출처: 과제_매핑표_10.29.md · card_benefit/README.md · src/common · sql/hana_card_schema_draft.sql</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B   그래프 설계안 (M2)</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카드별 규칙은 따로, 같은 대상은 공통 개념으로 연결합니다</a:t>
            </a:r>
            <a:endParaRPr lang="en-US" sz="2400" dirty="0"/>
          </a:p>
        </p:txBody>
      </p:sp>
      <p:sp>
        <p:nvSpPr>
          <p:cNvPr id="4" name="Text 2"/>
          <p:cNvSpPr txBox="1"/>
          <p:nvPr/>
        </p:nvSpPr>
        <p:spPr>
          <a:xfrm>
            <a:off x="10920679"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설계안</a:t>
            </a:r>
            <a:endParaRPr lang="en-US" sz="1100" dirty="0"/>
          </a:p>
        </p:txBody>
      </p:sp>
      <p:sp>
        <p:nvSpPr>
          <p:cNvPr id="5" name="Text 3"/>
          <p:cNvSpPr txBox="1"/>
          <p:nvPr/>
        </p:nvSpPr>
        <p:spPr>
          <a:xfrm>
            <a:off x="548640" y="2057400"/>
            <a:ext cx="1965960" cy="685800"/>
          </a:xfrm>
          <a:prstGeom prst="roundRect">
            <a:avLst>
              <a:gd name="adj" fmla="val 16000"/>
            </a:avLst>
          </a:prstGeom>
          <a:solidFill>
            <a:srgbClr val="0E1A2B"/>
          </a:solidFill>
          <a:ln>
            <a:solidFill>
              <a:srgbClr val="0E1A2B"/>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Card</a:t>
            </a:r>
            <a:endParaRPr lang="en-US" sz="1200" dirty="0"/>
          </a:p>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카드 상품</a:t>
            </a:r>
            <a:endParaRPr lang="en-US" sz="1200" dirty="0"/>
          </a:p>
        </p:txBody>
      </p:sp>
      <p:sp>
        <p:nvSpPr>
          <p:cNvPr id="6" name="Text 4"/>
          <p:cNvSpPr txBox="1"/>
          <p:nvPr/>
        </p:nvSpPr>
        <p:spPr>
          <a:xfrm>
            <a:off x="3429000" y="2057400"/>
            <a:ext cx="1965960" cy="685800"/>
          </a:xfrm>
          <a:prstGeom prst="roundRect">
            <a:avLst>
              <a:gd name="adj" fmla="val 16000"/>
            </a:avLst>
          </a:prstGeom>
          <a:solidFill>
            <a:srgbClr val="159A8C"/>
          </a:solidFill>
          <a:ln>
            <a:solidFill>
              <a:srgbClr val="159A8C"/>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Benefit</a:t>
            </a:r>
            <a:endParaRPr lang="en-US" sz="1200" dirty="0"/>
          </a:p>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혜택</a:t>
            </a:r>
            <a:endParaRPr lang="en-US" sz="1200" dirty="0"/>
          </a:p>
        </p:txBody>
      </p:sp>
      <p:sp>
        <p:nvSpPr>
          <p:cNvPr id="7" name="Text 5"/>
          <p:cNvSpPr txBox="1"/>
          <p:nvPr/>
        </p:nvSpPr>
        <p:spPr>
          <a:xfrm>
            <a:off x="6309360" y="2057400"/>
            <a:ext cx="1965960" cy="685800"/>
          </a:xfrm>
          <a:prstGeom prst="roundRect">
            <a:avLst>
              <a:gd name="adj" fmla="val 16000"/>
            </a:avLst>
          </a:prstGeom>
          <a:solidFill>
            <a:srgbClr val="E8A33D"/>
          </a:solidFill>
          <a:ln>
            <a:solidFill>
              <a:srgbClr val="E8A33D"/>
            </a:solidFill>
          </a:ln>
        </p:spPr>
        <p:txBody>
          <a:bodyPr wrap="square" lIns="38100" tIns="38100" rIns="38100" bIns="38100" rtlCol="0" anchor="ctr"/>
          <a:lstStyle/>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Rule</a:t>
            </a:r>
            <a:endParaRPr lang="en-US" sz="1200" dirty="0"/>
          </a:p>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실적 조건</a:t>
            </a:r>
            <a:endParaRPr lang="en-US" sz="1200" dirty="0"/>
          </a:p>
        </p:txBody>
      </p:sp>
      <p:sp>
        <p:nvSpPr>
          <p:cNvPr id="8" name="Text 6"/>
          <p:cNvSpPr txBox="1"/>
          <p:nvPr/>
        </p:nvSpPr>
        <p:spPr>
          <a:xfrm>
            <a:off x="9189720" y="2057400"/>
            <a:ext cx="2450592" cy="685800"/>
          </a:xfrm>
          <a:prstGeom prst="roundRect">
            <a:avLst>
              <a:gd name="adj" fmla="val 16000"/>
            </a:avLst>
          </a:prstGeom>
          <a:solidFill>
            <a:srgbClr val="D9472B"/>
          </a:solidFill>
          <a:ln>
            <a:solidFill>
              <a:srgbClr val="D9472B"/>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Rule</a:t>
            </a:r>
            <a:endParaRPr lang="en-US" sz="1200" dirty="0"/>
          </a:p>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제외 규칙 {scope, 문서 판}</a:t>
            </a:r>
            <a:endParaRPr lang="en-US" sz="1200" dirty="0"/>
          </a:p>
        </p:txBody>
      </p:sp>
      <p:sp>
        <p:nvSpPr>
          <p:cNvPr id="9" name="Shape 7"/>
          <p:cNvSpPr/>
          <p:nvPr/>
        </p:nvSpPr>
        <p:spPr>
          <a:xfrm>
            <a:off x="2542032" y="2400300"/>
            <a:ext cx="859536" cy="0"/>
          </a:xfrm>
          <a:prstGeom prst="line">
            <a:avLst/>
          </a:prstGeom>
          <a:noFill/>
          <a:ln w="19050">
            <a:solidFill>
              <a:srgbClr val="3A4A60"/>
            </a:solidFill>
            <a:prstDash val="solid"/>
            <a:tailEnd type="triangle"/>
          </a:ln>
        </p:spPr>
      </p:sp>
      <p:sp>
        <p:nvSpPr>
          <p:cNvPr id="10" name="Text 8"/>
          <p:cNvSpPr txBox="1"/>
          <p:nvPr/>
        </p:nvSpPr>
        <p:spPr>
          <a:xfrm>
            <a:off x="2331720" y="1764792"/>
            <a:ext cx="1463040" cy="237744"/>
          </a:xfrm>
          <a:prstGeom prst="rect">
            <a:avLst/>
          </a:prstGeom>
          <a:noFill/>
          <a:ln/>
        </p:spPr>
        <p:txBody>
          <a:bodyPr wrap="square" lIns="0" tIns="0" rIns="0" bIns="0" rtlCol="0" anchor="t"/>
          <a:lstStyle/>
          <a:p>
            <a:pPr algn="ctr" indent="0" marL="0">
              <a:buNone/>
            </a:pPr>
            <a:r>
              <a:rPr lang="en-US" sz="1000" b="1" dirty="0">
                <a:solidFill>
                  <a:srgbClr val="3A4A60"/>
                </a:solidFill>
                <a:latin typeface="Courier New" pitchFamily="34" charset="0"/>
                <a:ea typeface="Courier New" pitchFamily="34" charset="-122"/>
                <a:cs typeface="Courier New" pitchFamily="34" charset="-120"/>
              </a:rPr>
              <a:t>HAS_BENEFIT</a:t>
            </a:r>
            <a:endParaRPr lang="en-US" sz="1000" dirty="0"/>
          </a:p>
        </p:txBody>
      </p:sp>
      <p:sp>
        <p:nvSpPr>
          <p:cNvPr id="11" name="Shape 9"/>
          <p:cNvSpPr/>
          <p:nvPr/>
        </p:nvSpPr>
        <p:spPr>
          <a:xfrm>
            <a:off x="5422392" y="2400300"/>
            <a:ext cx="859536" cy="0"/>
          </a:xfrm>
          <a:prstGeom prst="line">
            <a:avLst/>
          </a:prstGeom>
          <a:noFill/>
          <a:ln w="19050">
            <a:solidFill>
              <a:srgbClr val="3A4A60"/>
            </a:solidFill>
            <a:prstDash val="solid"/>
            <a:tailEnd type="triangle"/>
          </a:ln>
        </p:spPr>
      </p:sp>
      <p:sp>
        <p:nvSpPr>
          <p:cNvPr id="12" name="Text 10"/>
          <p:cNvSpPr txBox="1"/>
          <p:nvPr/>
        </p:nvSpPr>
        <p:spPr>
          <a:xfrm>
            <a:off x="5212080" y="1764792"/>
            <a:ext cx="1463040" cy="237744"/>
          </a:xfrm>
          <a:prstGeom prst="rect">
            <a:avLst/>
          </a:prstGeom>
          <a:noFill/>
          <a:ln/>
        </p:spPr>
        <p:txBody>
          <a:bodyPr wrap="square" lIns="0" tIns="0" rIns="0" bIns="0" rtlCol="0" anchor="t"/>
          <a:lstStyle/>
          <a:p>
            <a:pPr algn="ctr" indent="0" marL="0">
              <a:buNone/>
            </a:pPr>
            <a:r>
              <a:rPr lang="en-US" sz="1000" b="1" dirty="0">
                <a:solidFill>
                  <a:srgbClr val="3A4A60"/>
                </a:solidFill>
                <a:latin typeface="Courier New" pitchFamily="34" charset="0"/>
                <a:ea typeface="Courier New" pitchFamily="34" charset="-122"/>
                <a:cs typeface="Courier New" pitchFamily="34" charset="-120"/>
              </a:rPr>
              <a:t>REQUIRES</a:t>
            </a:r>
            <a:endParaRPr lang="en-US" sz="1000" dirty="0"/>
          </a:p>
        </p:txBody>
      </p:sp>
      <p:sp>
        <p:nvSpPr>
          <p:cNvPr id="13" name="Shape 11"/>
          <p:cNvSpPr/>
          <p:nvPr/>
        </p:nvSpPr>
        <p:spPr>
          <a:xfrm>
            <a:off x="8302752" y="2400300"/>
            <a:ext cx="859536" cy="0"/>
          </a:xfrm>
          <a:prstGeom prst="line">
            <a:avLst/>
          </a:prstGeom>
          <a:noFill/>
          <a:ln w="19050">
            <a:solidFill>
              <a:srgbClr val="3A4A60"/>
            </a:solidFill>
            <a:prstDash val="solid"/>
            <a:tailEnd type="triangle"/>
          </a:ln>
        </p:spPr>
      </p:sp>
      <p:sp>
        <p:nvSpPr>
          <p:cNvPr id="14" name="Text 12"/>
          <p:cNvSpPr txBox="1"/>
          <p:nvPr/>
        </p:nvSpPr>
        <p:spPr>
          <a:xfrm>
            <a:off x="8092440" y="1764792"/>
            <a:ext cx="1463040" cy="237744"/>
          </a:xfrm>
          <a:prstGeom prst="rect">
            <a:avLst/>
          </a:prstGeom>
          <a:noFill/>
          <a:ln/>
        </p:spPr>
        <p:txBody>
          <a:bodyPr wrap="square" lIns="0" tIns="0" rIns="0" bIns="0" rtlCol="0" anchor="t"/>
          <a:lstStyle/>
          <a:p>
            <a:pPr algn="ctr" indent="0" marL="0">
              <a:buNone/>
            </a:pPr>
            <a:r>
              <a:rPr lang="en-US" sz="1000" b="1" dirty="0">
                <a:solidFill>
                  <a:srgbClr val="3A4A60"/>
                </a:solidFill>
                <a:latin typeface="Courier New" pitchFamily="34" charset="0"/>
                <a:ea typeface="Courier New" pitchFamily="34" charset="-122"/>
                <a:cs typeface="Courier New" pitchFamily="34" charset="-120"/>
              </a:rPr>
              <a:t>EXCLUDES</a:t>
            </a:r>
            <a:endParaRPr lang="en-US" sz="1000" dirty="0"/>
          </a:p>
        </p:txBody>
      </p:sp>
      <p:sp>
        <p:nvSpPr>
          <p:cNvPr id="15" name="Text 13"/>
          <p:cNvSpPr txBox="1"/>
          <p:nvPr/>
        </p:nvSpPr>
        <p:spPr>
          <a:xfrm>
            <a:off x="548640" y="3520440"/>
            <a:ext cx="1965960" cy="685800"/>
          </a:xfrm>
          <a:prstGeom prst="roundRect">
            <a:avLst>
              <a:gd name="adj" fmla="val 16000"/>
            </a:avLst>
          </a:prstGeom>
          <a:solidFill>
            <a:srgbClr val="E8ECF2"/>
          </a:solidFill>
          <a:ln w="12700">
            <a:solidFill>
              <a:srgbClr val="A0AAB8"/>
            </a:solidFill>
            <a:prstDash val="dash"/>
          </a:ln>
        </p:spPr>
        <p:txBody>
          <a:bodyPr wrap="square" lIns="38100" tIns="38100" rIns="38100" bIns="38100" rtlCol="0" anchor="ctr"/>
          <a:lstStyle/>
          <a:p>
            <a:pPr algn="ctr" indent="0" marL="0">
              <a:buNone/>
            </a:pPr>
            <a:r>
              <a:rPr lang="en-US" sz="1200" b="1" dirty="0">
                <a:solidFill>
                  <a:srgbClr val="3A4A60"/>
                </a:solidFill>
                <a:latin typeface="Malgun Gothic" pitchFamily="34" charset="0"/>
                <a:ea typeface="Malgun Gothic" pitchFamily="34" charset="-122"/>
                <a:cs typeface="Malgun Gothic" pitchFamily="34" charset="-120"/>
              </a:rPr>
              <a:t>Trace</a:t>
            </a:r>
            <a:endParaRPr lang="en-US" sz="1200" dirty="0"/>
          </a:p>
          <a:p>
            <a:pPr algn="ctr" indent="0" marL="0">
              <a:buNone/>
            </a:pPr>
            <a:r>
              <a:rPr lang="en-US" sz="1200" b="1" dirty="0">
                <a:solidFill>
                  <a:srgbClr val="3A4A60"/>
                </a:solidFill>
                <a:latin typeface="Malgun Gothic" pitchFamily="34" charset="0"/>
                <a:ea typeface="Malgun Gothic" pitchFamily="34" charset="-122"/>
                <a:cs typeface="Malgun Gothic" pitchFamily="34" charset="-120"/>
              </a:rPr>
              <a:t>실행 기록 (설계 메모)</a:t>
            </a:r>
            <a:endParaRPr lang="en-US" sz="1200" dirty="0"/>
          </a:p>
        </p:txBody>
      </p:sp>
      <p:sp>
        <p:nvSpPr>
          <p:cNvPr id="16" name="Text 14"/>
          <p:cNvSpPr txBox="1"/>
          <p:nvPr/>
        </p:nvSpPr>
        <p:spPr>
          <a:xfrm>
            <a:off x="3429000" y="3520440"/>
            <a:ext cx="1965960" cy="685800"/>
          </a:xfrm>
          <a:prstGeom prst="roundRect">
            <a:avLst>
              <a:gd name="adj" fmla="val 16000"/>
            </a:avLst>
          </a:prstGeom>
          <a:solidFill>
            <a:srgbClr val="E8A33D"/>
          </a:solidFill>
          <a:ln>
            <a:solidFill>
              <a:srgbClr val="E8A33D"/>
            </a:solidFill>
          </a:ln>
        </p:spPr>
        <p:txBody>
          <a:bodyPr wrap="square" lIns="38100" tIns="38100" rIns="38100" bIns="38100" rtlCol="0" anchor="ctr"/>
          <a:lstStyle/>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Rule</a:t>
            </a:r>
            <a:endParaRPr lang="en-US" sz="1200" dirty="0"/>
          </a:p>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월 한도</a:t>
            </a:r>
            <a:endParaRPr lang="en-US" sz="1200" dirty="0"/>
          </a:p>
        </p:txBody>
      </p:sp>
      <p:sp>
        <p:nvSpPr>
          <p:cNvPr id="17" name="Text 15"/>
          <p:cNvSpPr txBox="1"/>
          <p:nvPr/>
        </p:nvSpPr>
        <p:spPr>
          <a:xfrm>
            <a:off x="6309360" y="3520440"/>
            <a:ext cx="1965960" cy="685800"/>
          </a:xfrm>
          <a:prstGeom prst="roundRect">
            <a:avLst>
              <a:gd name="adj" fmla="val 16000"/>
            </a:avLst>
          </a:prstGeom>
          <a:solidFill>
            <a:srgbClr val="6A4FB0"/>
          </a:solidFill>
          <a:ln>
            <a:solidFill>
              <a:srgbClr val="6A4FB0"/>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Clause</a:t>
            </a:r>
            <a:endParaRPr lang="en-US" sz="1200" dirty="0"/>
          </a:p>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공식 조항</a:t>
            </a:r>
            <a:endParaRPr lang="en-US" sz="1200" dirty="0"/>
          </a:p>
        </p:txBody>
      </p:sp>
      <p:sp>
        <p:nvSpPr>
          <p:cNvPr id="18" name="Text 16"/>
          <p:cNvSpPr txBox="1"/>
          <p:nvPr/>
        </p:nvSpPr>
        <p:spPr>
          <a:xfrm>
            <a:off x="9189720" y="3520440"/>
            <a:ext cx="2450592" cy="685800"/>
          </a:xfrm>
          <a:prstGeom prst="roundRect">
            <a:avLst>
              <a:gd name="adj" fmla="val 16000"/>
            </a:avLst>
          </a:prstGeom>
          <a:solidFill>
            <a:srgbClr val="FBE6E2"/>
          </a:solidFill>
          <a:ln w="15875">
            <a:solidFill>
              <a:srgbClr val="D9472B"/>
            </a:solidFill>
          </a:ln>
        </p:spPr>
        <p:txBody>
          <a:bodyPr wrap="square" lIns="38100" tIns="38100" rIns="38100" bIns="38100" rtlCol="0" anchor="ctr"/>
          <a:lstStyle/>
          <a:p>
            <a:pPr algn="ctr" indent="0" marL="0">
              <a:buNone/>
            </a:pPr>
            <a:r>
              <a:rPr lang="en-US" sz="1200" b="1" dirty="0">
                <a:solidFill>
                  <a:srgbClr val="A8311A"/>
                </a:solidFill>
                <a:latin typeface="Malgun Gothic" pitchFamily="34" charset="0"/>
                <a:ea typeface="Malgun Gothic" pitchFamily="34" charset="-122"/>
                <a:cs typeface="Malgun Gothic" pitchFamily="34" charset="-120"/>
              </a:rPr>
              <a:t>Concept</a:t>
            </a:r>
            <a:endParaRPr lang="en-US" sz="1200" dirty="0"/>
          </a:p>
          <a:p>
            <a:pPr algn="ctr" indent="0" marL="0">
              <a:buNone/>
            </a:pPr>
            <a:r>
              <a:rPr lang="en-US" sz="1200" b="1" dirty="0">
                <a:solidFill>
                  <a:srgbClr val="A8311A"/>
                </a:solidFill>
                <a:latin typeface="Malgun Gothic" pitchFamily="34" charset="0"/>
                <a:ea typeface="Malgun Gothic" pitchFamily="34" charset="-122"/>
                <a:cs typeface="Malgun Gothic" pitchFamily="34" charset="-120"/>
              </a:rPr>
              <a:t>상품권 구매 (공통)</a:t>
            </a:r>
            <a:endParaRPr lang="en-US" sz="1200" dirty="0"/>
          </a:p>
        </p:txBody>
      </p:sp>
      <p:sp>
        <p:nvSpPr>
          <p:cNvPr id="19" name="Shape 17"/>
          <p:cNvSpPr/>
          <p:nvPr/>
        </p:nvSpPr>
        <p:spPr>
          <a:xfrm>
            <a:off x="4411980" y="2770632"/>
            <a:ext cx="0" cy="722376"/>
          </a:xfrm>
          <a:prstGeom prst="line">
            <a:avLst/>
          </a:prstGeom>
          <a:noFill/>
          <a:ln w="19050">
            <a:solidFill>
              <a:srgbClr val="3A4A60"/>
            </a:solidFill>
            <a:prstDash val="solid"/>
            <a:tailEnd type="triangle"/>
          </a:ln>
        </p:spPr>
      </p:sp>
      <p:sp>
        <p:nvSpPr>
          <p:cNvPr id="20" name="Text 18"/>
          <p:cNvSpPr txBox="1"/>
          <p:nvPr/>
        </p:nvSpPr>
        <p:spPr>
          <a:xfrm>
            <a:off x="4485132" y="2907792"/>
            <a:ext cx="1188720" cy="237744"/>
          </a:xfrm>
          <a:prstGeom prst="rect">
            <a:avLst/>
          </a:prstGeom>
          <a:noFill/>
          <a:ln/>
        </p:spPr>
        <p:txBody>
          <a:bodyPr wrap="square" lIns="0" tIns="0" rIns="0" bIns="0" rtlCol="0" anchor="t"/>
          <a:lstStyle/>
          <a:p>
            <a:pPr indent="0" marL="0">
              <a:buNone/>
            </a:pPr>
            <a:r>
              <a:rPr lang="en-US" sz="1000" b="1" dirty="0">
                <a:solidFill>
                  <a:srgbClr val="3A4A60"/>
                </a:solidFill>
                <a:latin typeface="Courier New" pitchFamily="34" charset="0"/>
                <a:ea typeface="Courier New" pitchFamily="34" charset="-122"/>
                <a:cs typeface="Courier New" pitchFamily="34" charset="-120"/>
              </a:rPr>
              <a:t>LIMITED_BY</a:t>
            </a:r>
            <a:endParaRPr lang="en-US" sz="1000" dirty="0"/>
          </a:p>
        </p:txBody>
      </p:sp>
      <p:sp>
        <p:nvSpPr>
          <p:cNvPr id="21" name="Shape 19"/>
          <p:cNvSpPr/>
          <p:nvPr/>
        </p:nvSpPr>
        <p:spPr>
          <a:xfrm>
            <a:off x="7292340" y="2770632"/>
            <a:ext cx="0" cy="722376"/>
          </a:xfrm>
          <a:prstGeom prst="line">
            <a:avLst/>
          </a:prstGeom>
          <a:noFill/>
          <a:ln w="19050">
            <a:solidFill>
              <a:srgbClr val="3A4A60"/>
            </a:solidFill>
            <a:prstDash val="solid"/>
            <a:tailEnd type="triangle"/>
          </a:ln>
        </p:spPr>
      </p:sp>
      <p:sp>
        <p:nvSpPr>
          <p:cNvPr id="22" name="Text 20"/>
          <p:cNvSpPr txBox="1"/>
          <p:nvPr/>
        </p:nvSpPr>
        <p:spPr>
          <a:xfrm>
            <a:off x="7365492" y="2907792"/>
            <a:ext cx="1280160" cy="237744"/>
          </a:xfrm>
          <a:prstGeom prst="rect">
            <a:avLst/>
          </a:prstGeom>
          <a:noFill/>
          <a:ln/>
        </p:spPr>
        <p:txBody>
          <a:bodyPr wrap="square" lIns="0" tIns="0" rIns="0" bIns="0" rtlCol="0" anchor="t"/>
          <a:lstStyle/>
          <a:p>
            <a:pPr indent="0" marL="0">
              <a:buNone/>
            </a:pPr>
            <a:r>
              <a:rPr lang="en-US" sz="1000" b="1" dirty="0">
                <a:solidFill>
                  <a:srgbClr val="3A4A60"/>
                </a:solidFill>
                <a:latin typeface="Courier New" pitchFamily="34" charset="0"/>
                <a:ea typeface="Courier New" pitchFamily="34" charset="-122"/>
                <a:cs typeface="Courier New" pitchFamily="34" charset="-120"/>
              </a:rPr>
              <a:t>SOURCED_FROM</a:t>
            </a:r>
            <a:endParaRPr lang="en-US" sz="1000" dirty="0"/>
          </a:p>
        </p:txBody>
      </p:sp>
      <p:sp>
        <p:nvSpPr>
          <p:cNvPr id="23" name="Shape 21"/>
          <p:cNvSpPr/>
          <p:nvPr/>
        </p:nvSpPr>
        <p:spPr>
          <a:xfrm>
            <a:off x="10415016" y="2770632"/>
            <a:ext cx="0" cy="722376"/>
          </a:xfrm>
          <a:prstGeom prst="line">
            <a:avLst/>
          </a:prstGeom>
          <a:noFill/>
          <a:ln w="19050">
            <a:solidFill>
              <a:srgbClr val="D9472B"/>
            </a:solidFill>
            <a:prstDash val="solid"/>
            <a:tailEnd type="triangle"/>
          </a:ln>
        </p:spPr>
      </p:sp>
      <p:sp>
        <p:nvSpPr>
          <p:cNvPr id="24" name="Text 22"/>
          <p:cNvSpPr txBox="1"/>
          <p:nvPr/>
        </p:nvSpPr>
        <p:spPr>
          <a:xfrm>
            <a:off x="10488168" y="2907792"/>
            <a:ext cx="1097280" cy="237744"/>
          </a:xfrm>
          <a:prstGeom prst="rect">
            <a:avLst/>
          </a:prstGeom>
          <a:noFill/>
          <a:ln/>
        </p:spPr>
        <p:txBody>
          <a:bodyPr wrap="square" lIns="0" tIns="0" rIns="0" bIns="0" rtlCol="0" anchor="t"/>
          <a:lstStyle/>
          <a:p>
            <a:pPr indent="0" marL="0">
              <a:buNone/>
            </a:pPr>
            <a:r>
              <a:rPr lang="en-US" sz="1000" b="1" dirty="0">
                <a:solidFill>
                  <a:srgbClr val="A8311A"/>
                </a:solidFill>
                <a:latin typeface="Courier New" pitchFamily="34" charset="0"/>
                <a:ea typeface="Courier New" pitchFamily="34" charset="-122"/>
                <a:cs typeface="Courier New" pitchFamily="34" charset="-120"/>
              </a:rPr>
              <a:t>REFERS_TO</a:t>
            </a:r>
            <a:endParaRPr lang="en-US" sz="1000" dirty="0"/>
          </a:p>
        </p:txBody>
      </p:sp>
      <p:sp>
        <p:nvSpPr>
          <p:cNvPr id="25" name="Text 23"/>
          <p:cNvSpPr txBox="1"/>
          <p:nvPr/>
        </p:nvSpPr>
        <p:spPr>
          <a:xfrm>
            <a:off x="548640" y="4251960"/>
            <a:ext cx="1965960" cy="237744"/>
          </a:xfrm>
          <a:prstGeom prst="rect">
            <a:avLst/>
          </a:prstGeom>
          <a:noFill/>
          <a:ln/>
        </p:spPr>
        <p:txBody>
          <a:bodyPr wrap="square" lIns="0" tIns="0" rIns="0" bIns="0" rtlCol="0" anchor="t"/>
          <a:lstStyle/>
          <a:p>
            <a:pPr algn="ctr" indent="0" marL="0">
              <a:buNone/>
            </a:pPr>
            <a:r>
              <a:rPr lang="en-US" sz="1000" dirty="0">
                <a:solidFill>
                  <a:srgbClr val="3A4A60"/>
                </a:solidFill>
                <a:latin typeface="Courier New" pitchFamily="34" charset="0"/>
                <a:ea typeface="Courier New" pitchFamily="34" charset="-122"/>
                <a:cs typeface="Courier New" pitchFamily="34" charset="-120"/>
              </a:rPr>
              <a:t>USED → 경로상의 노드</a:t>
            </a:r>
            <a:endParaRPr lang="en-US" sz="1000" dirty="0"/>
          </a:p>
        </p:txBody>
      </p:sp>
      <p:sp>
        <p:nvSpPr>
          <p:cNvPr id="26" name="Text 24"/>
          <p:cNvSpPr txBox="1"/>
          <p:nvPr/>
        </p:nvSpPr>
        <p:spPr>
          <a:xfrm>
            <a:off x="548640" y="4553712"/>
            <a:ext cx="11094415" cy="566928"/>
          </a:xfrm>
          <a:prstGeom prst="rect">
            <a:avLst/>
          </a:prstGeom>
          <a:noFill/>
          <a:ln/>
        </p:spPr>
        <p:txBody>
          <a:bodyPr wrap="square" lIns="0" tIns="0" rIns="0" bIns="0" rtlCol="0" anchor="t"/>
          <a:lstStyle/>
          <a:p>
            <a:pPr indent="0" marL="0">
              <a:lnSpc>
                <a:spcPct val="110000"/>
              </a:lnSpc>
              <a:buNone/>
            </a:pPr>
            <a:r>
              <a:rPr lang="en-US" sz="1200" b="1" dirty="0">
                <a:solidFill>
                  <a:srgbClr val="0E1A2B"/>
                </a:solidFill>
                <a:latin typeface="Malgun Gothic" pitchFamily="34" charset="0"/>
                <a:ea typeface="Malgun Gothic" pitchFamily="34" charset="-122"/>
                <a:cs typeface="Malgun Gothic" pitchFamily="34" charset="-120"/>
              </a:rPr>
              <a:t>규칙은 카드별로 따로 저장하고, 같은 대상(상품권 구매)만 공통 개념으로 연결합니다. 정책이 같다고 가정해 규칙을 합치지 않습니다.</a:t>
            </a:r>
            <a:endParaRPr lang="en-US" sz="1200" dirty="0"/>
          </a:p>
          <a:p>
            <a:pPr indent="0" marL="0">
              <a:lnSpc>
                <a:spcPct val="110000"/>
              </a:lnSpc>
              <a:buNone/>
            </a:pPr>
            <a:r>
              <a:rPr lang="en-US" sz="1200" dirty="0">
                <a:solidFill>
                  <a:srgbClr val="3A4A60"/>
                </a:solidFill>
                <a:latin typeface="Malgun Gothic" pitchFamily="34" charset="0"/>
                <a:ea typeface="Malgun Gothic" pitchFamily="34" charset="-122"/>
                <a:cs typeface="Malgun Gothic" pitchFamily="34" charset="-120"/>
              </a:rPr>
              <a:t>모든 관계 속성: document_id · page · evidence(원문 문장) · 문서 판</a:t>
            </a:r>
            <a:endParaRPr lang="en-US" sz="1200" dirty="0"/>
          </a:p>
        </p:txBody>
      </p:sp>
      <p:sp>
        <p:nvSpPr>
          <p:cNvPr id="27" name="Text 25"/>
          <p:cNvSpPr txBox="1"/>
          <p:nvPr/>
        </p:nvSpPr>
        <p:spPr>
          <a:xfrm>
            <a:off x="548640" y="5193792"/>
            <a:ext cx="11094415" cy="1097280"/>
          </a:xfrm>
          <a:prstGeom prst="roundRect">
            <a:avLst>
              <a:gd name="adj" fmla="val 6667"/>
            </a:avLst>
          </a:prstGeom>
          <a:solidFill>
            <a:srgbClr val="0E1A2B"/>
          </a:solidFill>
          <a:ln>
            <a:solidFill>
              <a:srgbClr val="0E1A2B"/>
            </a:solidFill>
          </a:ln>
        </p:spPr>
        <p:txBody>
          <a:bodyPr wrap="square" lIns="127000" tIns="127000" rIns="127000" bIns="127000" rtlCol="0" anchor="t"/>
          <a:lstStyle/>
          <a:p>
            <a:pPr algn="l" indent="0" marL="0">
              <a:buNone/>
            </a:pPr>
            <a:r>
              <a:rPr lang="en-US" sz="1000" dirty="0">
                <a:solidFill>
                  <a:srgbClr val="E6ECF4"/>
                </a:solidFill>
                <a:latin typeface="Courier New" pitchFamily="34" charset="0"/>
                <a:ea typeface="Courier New" pitchFamily="34" charset="-122"/>
                <a:cs typeface="Courier New" pitchFamily="34" charset="-120"/>
              </a:rPr>
              <a:t>// 영향 후보 조회 (예시 Cypher, 미실행)</a:t>
            </a:r>
            <a:endParaRPr lang="en-US" sz="1000" dirty="0"/>
          </a:p>
          <a:p>
            <a:pPr algn="l" indent="0" marL="0">
              <a:buNone/>
            </a:pPr>
            <a:r>
              <a:rPr lang="en-US" sz="1000" dirty="0">
                <a:solidFill>
                  <a:srgbClr val="E6ECF4"/>
                </a:solidFill>
                <a:latin typeface="Courier New" pitchFamily="34" charset="0"/>
                <a:ea typeface="Courier New" pitchFamily="34" charset="-122"/>
                <a:cs typeface="Courier New" pitchFamily="34" charset="-120"/>
              </a:rPr>
              <a:t>MATCH (x:Concept {name:'상품권 구매'})&lt;-[:REFERS_TO]-(r:Rule {scope:'실적'})&lt;-[:EXCLUDES]-(c:Rule)&lt;-[:REQUIRES]-(b:Benefit)&lt;-[:HAS_BENEFIT]-(k:Card)</a:t>
            </a:r>
            <a:endParaRPr lang="en-US" sz="1000" dirty="0"/>
          </a:p>
          <a:p>
            <a:pPr algn="l" indent="0" marL="0">
              <a:buNone/>
            </a:pPr>
            <a:r>
              <a:rPr lang="en-US" sz="1000" dirty="0">
                <a:solidFill>
                  <a:srgbClr val="E6ECF4"/>
                </a:solidFill>
                <a:latin typeface="Courier New" pitchFamily="34" charset="0"/>
                <a:ea typeface="Courier New" pitchFamily="34" charset="-122"/>
                <a:cs typeface="Courier New" pitchFamily="34" charset="-120"/>
              </a:rPr>
              <a:t>OPTIONAL MATCH (r)-[:SOURCED_FROM]-&gt;(cl:Clause)</a:t>
            </a:r>
            <a:endParaRPr lang="en-US" sz="1000" dirty="0"/>
          </a:p>
          <a:p>
            <a:pPr algn="l" indent="0" marL="0">
              <a:buNone/>
            </a:pPr>
            <a:r>
              <a:rPr lang="en-US" sz="1000" dirty="0">
                <a:solidFill>
                  <a:srgbClr val="E6ECF4"/>
                </a:solidFill>
                <a:latin typeface="Courier New" pitchFamily="34" charset="0"/>
                <a:ea typeface="Courier New" pitchFamily="34" charset="-122"/>
                <a:cs typeface="Courier New" pitchFamily="34" charset="-120"/>
              </a:rPr>
              <a:t>RETURN k.name AS card, b.name AS benefit, r.doc_version AS version, cl.id AS clause</a:t>
            </a:r>
            <a:endParaRPr lang="en-US" sz="1000" dirty="0"/>
          </a:p>
        </p:txBody>
      </p:sp>
      <p:sp>
        <p:nvSpPr>
          <p:cNvPr id="28" name="Text 26"/>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과제_매핑표_10.29.md M2 안을 카드별 규칙 분리로 보완 · Trace는 설계 메모 · 쿼리는 설계 예시이며 실행 결과 아님</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C   파일럿 검증 계획</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초기 파일럿 — 결과 칸은 실행한 뒤에만 채웁니다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DF0DC"/>
          </a:solidFill>
          <a:ln>
            <a:solidFill>
              <a:srgbClr val="FDF0DC"/>
            </a:solidFill>
          </a:ln>
        </p:spPr>
        <p:txBody>
          <a:bodyPr wrap="square" lIns="0" tIns="0" rIns="0" bIns="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검증 계획</a:t>
            </a:r>
            <a:endParaRPr lang="en-US" sz="1100" dirty="0"/>
          </a:p>
        </p:txBody>
      </p:sp>
      <p:sp>
        <p:nvSpPr>
          <p:cNvPr id="5" name="Text 3"/>
          <p:cNvSpPr txBox="1"/>
          <p:nvPr/>
        </p:nvSpPr>
        <p:spPr>
          <a:xfrm>
            <a:off x="548640" y="1664208"/>
            <a:ext cx="5669280" cy="457200"/>
          </a:xfrm>
          <a:prstGeom prst="rect">
            <a:avLst/>
          </a:prstGeom>
          <a:noFill/>
          <a:ln/>
        </p:spPr>
        <p:txBody>
          <a:bodyPr wrap="square" lIns="0" tIns="0" rIns="0" bIns="0" rtlCol="0" anchor="t"/>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하나카드 4종 약관에서 파일럿 질문 15~20개 · 정답 기준은 원문 조항</a:t>
            </a:r>
            <a:endParaRPr lang="en-US" sz="1300" dirty="0"/>
          </a:p>
        </p:txBody>
      </p:sp>
      <p:sp>
        <p:nvSpPr>
          <p:cNvPr id="6" name="Text 4"/>
          <p:cNvSpPr txBox="1"/>
          <p:nvPr/>
        </p:nvSpPr>
        <p:spPr>
          <a:xfrm>
            <a:off x="548640" y="2194560"/>
            <a:ext cx="548640" cy="438912"/>
          </a:xfrm>
          <a:prstGeom prst="roundRect">
            <a:avLst>
              <a:gd name="adj" fmla="val 12500"/>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Q1</a:t>
            </a:r>
            <a:endParaRPr lang="en-US" sz="1200" dirty="0"/>
          </a:p>
        </p:txBody>
      </p:sp>
      <p:sp>
        <p:nvSpPr>
          <p:cNvPr id="7" name="Text 5"/>
          <p:cNvSpPr txBox="1"/>
          <p:nvPr/>
        </p:nvSpPr>
        <p:spPr>
          <a:xfrm>
            <a:off x="1234440" y="2194560"/>
            <a:ext cx="4937760" cy="438912"/>
          </a:xfrm>
          <a:prstGeom prst="rect">
            <a:avLst/>
          </a:prstGeom>
          <a:noFill/>
          <a:ln/>
        </p:spPr>
        <p:txBody>
          <a:bodyPr wrap="square" lIns="0" tIns="0" rIns="0" bIns="0" rtlCol="0" anchor="ct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상품권 구매가 전월실적에서 제외되는가?</a:t>
            </a:r>
            <a:endParaRPr lang="en-US" sz="1300" dirty="0"/>
          </a:p>
        </p:txBody>
      </p:sp>
      <p:sp>
        <p:nvSpPr>
          <p:cNvPr id="8" name="Text 6"/>
          <p:cNvSpPr txBox="1"/>
          <p:nvPr/>
        </p:nvSpPr>
        <p:spPr>
          <a:xfrm>
            <a:off x="548640" y="2743200"/>
            <a:ext cx="548640" cy="438912"/>
          </a:xfrm>
          <a:prstGeom prst="roundRect">
            <a:avLst>
              <a:gd name="adj" fmla="val 12500"/>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Q2</a:t>
            </a:r>
            <a:endParaRPr lang="en-US" sz="1200" dirty="0"/>
          </a:p>
        </p:txBody>
      </p:sp>
      <p:sp>
        <p:nvSpPr>
          <p:cNvPr id="9" name="Text 7"/>
          <p:cNvSpPr txBox="1"/>
          <p:nvPr/>
        </p:nvSpPr>
        <p:spPr>
          <a:xfrm>
            <a:off x="1234440" y="2743200"/>
            <a:ext cx="4937760" cy="438912"/>
          </a:xfrm>
          <a:prstGeom prst="rect">
            <a:avLst/>
          </a:prstGeom>
          <a:noFill/>
          <a:ln/>
        </p:spPr>
        <p:txBody>
          <a:bodyPr wrap="square" lIns="0" tIns="0" rIns="0" bIns="0" rtlCol="0" anchor="ct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상품권 구매가 혜택 적용에서도 제외되는가?</a:t>
            </a:r>
            <a:endParaRPr lang="en-US" sz="1300" dirty="0"/>
          </a:p>
        </p:txBody>
      </p:sp>
      <p:sp>
        <p:nvSpPr>
          <p:cNvPr id="10" name="Text 8"/>
          <p:cNvSpPr txBox="1"/>
          <p:nvPr/>
        </p:nvSpPr>
        <p:spPr>
          <a:xfrm>
            <a:off x="548640" y="3291840"/>
            <a:ext cx="548640" cy="438912"/>
          </a:xfrm>
          <a:prstGeom prst="roundRect">
            <a:avLst>
              <a:gd name="adj" fmla="val 12500"/>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Q3</a:t>
            </a:r>
            <a:endParaRPr lang="en-US" sz="1200" dirty="0"/>
          </a:p>
        </p:txBody>
      </p:sp>
      <p:sp>
        <p:nvSpPr>
          <p:cNvPr id="11" name="Text 9"/>
          <p:cNvSpPr txBox="1"/>
          <p:nvPr/>
        </p:nvSpPr>
        <p:spPr>
          <a:xfrm>
            <a:off x="1234440" y="3291840"/>
            <a:ext cx="4937760" cy="438912"/>
          </a:xfrm>
          <a:prstGeom prst="rect">
            <a:avLst/>
          </a:prstGeom>
          <a:noFill/>
          <a:ln/>
        </p:spPr>
        <p:txBody>
          <a:bodyPr wrap="square" lIns="0" tIns="0" rIns="0" bIns="0" rtlCol="0" anchor="ct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특정 혜택의 전월실적 기준은 얼마인가?</a:t>
            </a:r>
            <a:endParaRPr lang="en-US" sz="1300" dirty="0"/>
          </a:p>
        </p:txBody>
      </p:sp>
      <p:sp>
        <p:nvSpPr>
          <p:cNvPr id="12" name="Text 10"/>
          <p:cNvSpPr txBox="1"/>
          <p:nvPr/>
        </p:nvSpPr>
        <p:spPr>
          <a:xfrm>
            <a:off x="548640" y="3840480"/>
            <a:ext cx="548640" cy="438912"/>
          </a:xfrm>
          <a:prstGeom prst="roundRect">
            <a:avLst>
              <a:gd name="adj" fmla="val 12500"/>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Q4</a:t>
            </a:r>
            <a:endParaRPr lang="en-US" sz="1200" dirty="0"/>
          </a:p>
        </p:txBody>
      </p:sp>
      <p:sp>
        <p:nvSpPr>
          <p:cNvPr id="13" name="Text 11"/>
          <p:cNvSpPr txBox="1"/>
          <p:nvPr/>
        </p:nvSpPr>
        <p:spPr>
          <a:xfrm>
            <a:off x="1234440" y="3840480"/>
            <a:ext cx="4937760" cy="438912"/>
          </a:xfrm>
          <a:prstGeom prst="rect">
            <a:avLst/>
          </a:prstGeom>
          <a:noFill/>
          <a:ln/>
        </p:spPr>
        <p:txBody>
          <a:bodyPr wrap="square" lIns="0" tIns="0" rIns="0" bIns="0" rtlCol="0" anchor="ct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신규 사용 등록 예외는 어느 혜택에 적용되는가?</a:t>
            </a:r>
            <a:endParaRPr lang="en-US" sz="1300" dirty="0"/>
          </a:p>
        </p:txBody>
      </p:sp>
      <p:sp>
        <p:nvSpPr>
          <p:cNvPr id="14" name="Text 12"/>
          <p:cNvSpPr txBox="1"/>
          <p:nvPr/>
        </p:nvSpPr>
        <p:spPr>
          <a:xfrm>
            <a:off x="548640" y="4389120"/>
            <a:ext cx="548640" cy="438912"/>
          </a:xfrm>
          <a:prstGeom prst="roundRect">
            <a:avLst>
              <a:gd name="adj" fmla="val 12500"/>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Q5</a:t>
            </a:r>
            <a:endParaRPr lang="en-US" sz="1200" dirty="0"/>
          </a:p>
        </p:txBody>
      </p:sp>
      <p:sp>
        <p:nvSpPr>
          <p:cNvPr id="15" name="Text 13"/>
          <p:cNvSpPr txBox="1"/>
          <p:nvPr/>
        </p:nvSpPr>
        <p:spPr>
          <a:xfrm>
            <a:off x="1234440" y="4389120"/>
            <a:ext cx="4937760" cy="438912"/>
          </a:xfrm>
          <a:prstGeom prst="rect">
            <a:avLst/>
          </a:prstGeom>
          <a:noFill/>
          <a:ln/>
        </p:spPr>
        <p:txBody>
          <a:bodyPr wrap="square" lIns="0" tIns="0" rIns="0" bIns="0" rtlCol="0" anchor="ct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유사 혜택을 가진 카드들의 조건은 어떻게 다른가?</a:t>
            </a:r>
            <a:endParaRPr lang="en-US" sz="1300" dirty="0"/>
          </a:p>
        </p:txBody>
      </p:sp>
      <p:sp>
        <p:nvSpPr>
          <p:cNvPr id="16" name="Text 14"/>
          <p:cNvSpPr txBox="1"/>
          <p:nvPr/>
        </p:nvSpPr>
        <p:spPr>
          <a:xfrm>
            <a:off x="548640" y="4937760"/>
            <a:ext cx="548640" cy="438912"/>
          </a:xfrm>
          <a:prstGeom prst="roundRect">
            <a:avLst>
              <a:gd name="adj" fmla="val 12500"/>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Q6</a:t>
            </a:r>
            <a:endParaRPr lang="en-US" sz="1200" dirty="0"/>
          </a:p>
        </p:txBody>
      </p:sp>
      <p:sp>
        <p:nvSpPr>
          <p:cNvPr id="17" name="Text 15"/>
          <p:cNvSpPr txBox="1"/>
          <p:nvPr/>
        </p:nvSpPr>
        <p:spPr>
          <a:xfrm>
            <a:off x="1234440" y="4937760"/>
            <a:ext cx="4937760" cy="438912"/>
          </a:xfrm>
          <a:prstGeom prst="rect">
            <a:avLst/>
          </a:prstGeom>
          <a:noFill/>
          <a:ln/>
        </p:spPr>
        <p:txBody>
          <a:bodyPr wrap="square" lIns="0" tIns="0" rIns="0" bIns="0" rtlCol="0" anchor="ct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하나의 조건 변경이 어떤 혜택에 영향을 줄 수 있는가?</a:t>
            </a:r>
            <a:endParaRPr lang="en-US" sz="1300" dirty="0"/>
          </a:p>
        </p:txBody>
      </p:sp>
      <p:sp>
        <p:nvSpPr>
          <p:cNvPr id="18" name="Text 16"/>
          <p:cNvSpPr txBox="1"/>
          <p:nvPr/>
        </p:nvSpPr>
        <p:spPr>
          <a:xfrm>
            <a:off x="548640" y="5577840"/>
            <a:ext cx="5669280" cy="548640"/>
          </a:xfrm>
          <a:prstGeom prst="rect">
            <a:avLst/>
          </a:prstGeom>
          <a:noFill/>
          <a:ln/>
        </p:spPr>
        <p:txBody>
          <a:bodyPr wrap="square" lIns="0" tIns="0" rIns="0" bIns="0" rtlCol="0" anchor="t"/>
          <a:lstStyle/>
          <a:p>
            <a:pPr indent="0" marL="0">
              <a:buNone/>
            </a:pPr>
            <a:r>
              <a:rPr lang="en-US" sz="1200" dirty="0">
                <a:solidFill>
                  <a:srgbClr val="A8311A"/>
                </a:solidFill>
                <a:latin typeface="Malgun Gothic" pitchFamily="34" charset="0"/>
                <a:ea typeface="Malgun Gothic" pitchFamily="34" charset="-122"/>
                <a:cs typeface="Malgun Gothic" pitchFamily="34" charset="-120"/>
              </a:rPr>
              <a:t>15~20개 질문은 초기 파일럿입니다. 일반적인 성능 우위를 입증하지 않으며, 불리한 결과도 공개합니다.</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400800" y="1691640"/>
          <a:ext cx="5239512" cy="914400"/>
        </p:xfrm>
        <a:graphic>
          <a:graphicData uri="http://schemas.openxmlformats.org/drawingml/2006/table">
            <a:tbl>
              <a:tblPr/>
              <a:tblGrid>
                <a:gridCol w="2331720"/>
                <a:gridCol w="969264"/>
                <a:gridCol w="969264"/>
                <a:gridCol w="969264"/>
              </a:tblGrid>
              <a:tr h="457200">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검증 항목</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벡터 RAG</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SQL</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GraphRAG</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r>
              <a:tr h="457200">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원문 근거 정확도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57200">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혜택 조건 누락률</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57200">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조건 적용 범위 정확도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57200">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관계 추출 누락·오병합</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57200">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영향 후보 정밀도·재현율</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57200">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검색 결과–답변 일치</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57200">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개발·운영 복잡도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bl>
          </a:graphicData>
        </a:graphic>
      </p:graphicFrame>
      <p:sp>
        <p:nvSpPr>
          <p:cNvPr id="20" name="Text 17"/>
          <p:cNvSpPr txBox="1"/>
          <p:nvPr/>
        </p:nvSpPr>
        <p:spPr>
          <a:xfrm>
            <a:off x="6400800" y="5440680"/>
            <a:ext cx="5239512" cy="274320"/>
          </a:xfrm>
          <a:prstGeom prst="rect">
            <a:avLst/>
          </a:prstGeom>
          <a:noFill/>
          <a:ln/>
        </p:spPr>
        <p:txBody>
          <a:bodyPr wrap="square" lIns="0" tIns="0" rIns="0" bIns="0" rtlCol="0" anchor="t"/>
          <a:lstStyle/>
          <a:p>
            <a:pPr indent="0" marL="0">
              <a:buNone/>
            </a:pPr>
            <a:r>
              <a:rPr lang="en-US" sz="1100" dirty="0">
                <a:solidFill>
                  <a:srgbClr val="5B6778"/>
                </a:solidFill>
                <a:latin typeface="Malgun Gothic" pitchFamily="34" charset="0"/>
                <a:ea typeface="Malgun Gothic" pitchFamily="34" charset="-122"/>
                <a:cs typeface="Malgun Gothic" pitchFamily="34" charset="-120"/>
              </a:rPr>
              <a:t>— : 미실행. 수치는 실험 후에만 기입합니다.</a:t>
            </a:r>
            <a:endParaRPr lang="en-US" sz="1100" dirty="0"/>
          </a:p>
        </p:txBody>
      </p:sp>
      <p:sp>
        <p:nvSpPr>
          <p:cNvPr id="21" name="Text 18"/>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과제 M8 · 선택 과제 S1(비교 실험)은 필수 M0~M9 완료 후 수행</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D   오답 원인 추적 예시</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틀린 답이 어느 단계에서 생겼는지 찾아 고치고 다시 확인합니다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BE6E2"/>
          </a:solidFill>
          <a:ln>
            <a:solidFill>
              <a:srgbClr val="FBE6E2"/>
            </a:solidFill>
          </a:ln>
        </p:spPr>
        <p:txBody>
          <a:bodyPr wrap="square" lIns="0" tIns="0" rIns="0" bIns="0" rtlCol="0" anchor="ctr"/>
          <a:lstStyle/>
          <a:p>
            <a:pPr algn="ctr" indent="0" marL="0">
              <a:buNone/>
            </a:pPr>
            <a:r>
              <a:rPr lang="en-US" sz="1100" b="1" dirty="0">
                <a:solidFill>
                  <a:srgbClr val="A8311A"/>
                </a:solidFill>
                <a:latin typeface="Malgun Gothic" pitchFamily="34" charset="0"/>
                <a:ea typeface="Malgun Gothic" pitchFamily="34" charset="-122"/>
                <a:cs typeface="Malgun Gothic" pitchFamily="34" charset="-120"/>
              </a:rPr>
              <a:t>가상 상황</a:t>
            </a:r>
            <a:endParaRPr lang="en-US" sz="1100" dirty="0"/>
          </a:p>
        </p:txBody>
      </p:sp>
      <p:sp>
        <p:nvSpPr>
          <p:cNvPr id="5" name="Text 3"/>
          <p:cNvSpPr txBox="1"/>
          <p:nvPr/>
        </p:nvSpPr>
        <p:spPr>
          <a:xfrm>
            <a:off x="548640" y="1627632"/>
            <a:ext cx="11094415" cy="384048"/>
          </a:xfrm>
          <a:prstGeom prst="roundRect">
            <a:avLst>
              <a:gd name="adj" fmla="val 19048"/>
            </a:avLst>
          </a:prstGeom>
          <a:solidFill>
            <a:srgbClr val="FBE6E2"/>
          </a:solidFill>
          <a:ln w="12700">
            <a:solidFill>
              <a:srgbClr val="D9472B"/>
            </a:solidFill>
          </a:ln>
        </p:spPr>
        <p:txBody>
          <a:bodyPr wrap="square" lIns="152400" tIns="152400" rIns="152400" bIns="152400" rtlCol="0" anchor="ctr"/>
          <a:lstStyle/>
          <a:p>
            <a:pPr algn="l" indent="0" marL="0">
              <a:buNone/>
            </a:pPr>
            <a:r>
              <a:rPr lang="en-US" sz="1400" b="1" dirty="0">
                <a:solidFill>
                  <a:srgbClr val="A8311A"/>
                </a:solidFill>
                <a:latin typeface="Malgun Gothic" pitchFamily="34" charset="0"/>
                <a:ea typeface="Malgun Gothic" pitchFamily="34" charset="-122"/>
                <a:cs typeface="Malgun Gothic" pitchFamily="34" charset="-120"/>
              </a:rPr>
              <a:t>가상 오류 시나리오 — 실제 실행 로그가 아닙니다 (구현 후 실제 로그로 교체)</a:t>
            </a:r>
            <a:endParaRPr lang="en-US" sz="1400" dirty="0"/>
          </a:p>
        </p:txBody>
      </p:sp>
      <p:sp>
        <p:nvSpPr>
          <p:cNvPr id="6" name="Text 4"/>
          <p:cNvSpPr txBox="1"/>
          <p:nvPr/>
        </p:nvSpPr>
        <p:spPr>
          <a:xfrm>
            <a:off x="548640" y="2148840"/>
            <a:ext cx="3017520" cy="1005840"/>
          </a:xfrm>
          <a:prstGeom prst="roundRect">
            <a:avLst>
              <a:gd name="adj" fmla="val 7273"/>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100" b="1" dirty="0">
                <a:solidFill>
                  <a:srgbClr val="5B6778"/>
                </a:solidFill>
                <a:latin typeface="Malgun Gothic" pitchFamily="34" charset="0"/>
                <a:ea typeface="Malgun Gothic" pitchFamily="34" charset="-122"/>
                <a:cs typeface="Malgun Gothic" pitchFamily="34" charset="-120"/>
              </a:rPr>
              <a:t>질문</a:t>
            </a:r>
            <a:endParaRPr lang="en-US" sz="1300" dirty="0"/>
          </a:p>
          <a:p>
            <a:pPr algn="l" indent="0" marL="0">
              <a:buNone/>
            </a:pPr>
            <a:r>
              <a:rPr lang="en-US" sz="1300" dirty="0">
                <a:solidFill>
                  <a:srgbClr val="0E1A2B"/>
                </a:solidFill>
                <a:latin typeface="Malgun Gothic" pitchFamily="34" charset="0"/>
                <a:ea typeface="Malgun Gothic" pitchFamily="34" charset="-122"/>
                <a:cs typeface="Malgun Gothic" pitchFamily="34" charset="-120"/>
              </a:rPr>
              <a:t>STYLE 대중교통 캐시백 실적에 상품권 구매도 포함되나요?</a:t>
            </a:r>
            <a:endParaRPr lang="en-US" sz="1300" dirty="0"/>
          </a:p>
        </p:txBody>
      </p:sp>
      <p:sp>
        <p:nvSpPr>
          <p:cNvPr id="7" name="Shape 5"/>
          <p:cNvSpPr/>
          <p:nvPr/>
        </p:nvSpPr>
        <p:spPr>
          <a:xfrm>
            <a:off x="3584448" y="2651760"/>
            <a:ext cx="237744" cy="0"/>
          </a:xfrm>
          <a:prstGeom prst="line">
            <a:avLst/>
          </a:prstGeom>
          <a:noFill/>
          <a:ln w="19050">
            <a:solidFill>
              <a:srgbClr val="8A94A3"/>
            </a:solidFill>
            <a:prstDash val="solid"/>
            <a:tailEnd type="triangle"/>
          </a:ln>
        </p:spPr>
      </p:sp>
      <p:sp>
        <p:nvSpPr>
          <p:cNvPr id="8" name="Text 6"/>
          <p:cNvSpPr txBox="1"/>
          <p:nvPr/>
        </p:nvSpPr>
        <p:spPr>
          <a:xfrm>
            <a:off x="3840480" y="2148840"/>
            <a:ext cx="2514600" cy="1005840"/>
          </a:xfrm>
          <a:prstGeom prst="roundRect">
            <a:avLst>
              <a:gd name="adj" fmla="val 7273"/>
            </a:avLst>
          </a:prstGeom>
          <a:solidFill>
            <a:srgbClr val="1F3350"/>
          </a:solidFill>
          <a:ln>
            <a:solidFill>
              <a:srgbClr val="1F3350"/>
            </a:solidFill>
          </a:ln>
        </p:spPr>
        <p:txBody>
          <a:bodyPr wrap="square" lIns="127000" tIns="127000" rIns="127000" bIns="127000" rtlCol="0" anchor="ctr"/>
          <a:lstStyle/>
          <a:p>
            <a:pPr algn="l" indent="0" marL="0">
              <a:buNone/>
            </a:pPr>
            <a:r>
              <a:rPr lang="en-US" sz="1100" b="1" dirty="0">
                <a:solidFill>
                  <a:srgbClr val="E8A33D"/>
                </a:solidFill>
                <a:latin typeface="Malgun Gothic" pitchFamily="34" charset="0"/>
                <a:ea typeface="Malgun Gothic" pitchFamily="34" charset="-122"/>
                <a:cs typeface="Malgun Gothic" pitchFamily="34" charset="-120"/>
              </a:rPr>
              <a:t>AI 오답</a:t>
            </a:r>
            <a:endParaRPr lang="en-US" sz="1300" dirty="0"/>
          </a:p>
          <a:p>
            <a:pPr algn="l" indent="0" marL="0">
              <a:buNone/>
            </a:pPr>
            <a:r>
              <a:rPr lang="en-US" sz="1300" dirty="0">
                <a:solidFill>
                  <a:srgbClr val="FFFFFF"/>
                </a:solidFill>
                <a:latin typeface="Malgun Gothic" pitchFamily="34" charset="0"/>
                <a:ea typeface="Malgun Gothic" pitchFamily="34" charset="-122"/>
                <a:cs typeface="Malgun Gothic" pitchFamily="34" charset="-120"/>
              </a:rPr>
              <a:t>“네, 국내외 일시불 이용금액이라 포함됩니다”</a:t>
            </a:r>
            <a:endParaRPr lang="en-US" sz="1300" dirty="0"/>
          </a:p>
        </p:txBody>
      </p:sp>
      <p:sp>
        <p:nvSpPr>
          <p:cNvPr id="9" name="Shape 7"/>
          <p:cNvSpPr/>
          <p:nvPr/>
        </p:nvSpPr>
        <p:spPr>
          <a:xfrm>
            <a:off x="6373368" y="2651760"/>
            <a:ext cx="237744" cy="0"/>
          </a:xfrm>
          <a:prstGeom prst="line">
            <a:avLst/>
          </a:prstGeom>
          <a:noFill/>
          <a:ln w="19050">
            <a:solidFill>
              <a:srgbClr val="8A94A3"/>
            </a:solidFill>
            <a:prstDash val="solid"/>
            <a:tailEnd type="triangle"/>
          </a:ln>
        </p:spPr>
      </p:sp>
      <p:sp>
        <p:nvSpPr>
          <p:cNvPr id="10" name="Text 8"/>
          <p:cNvSpPr txBox="1"/>
          <p:nvPr/>
        </p:nvSpPr>
        <p:spPr>
          <a:xfrm>
            <a:off x="6629400" y="2148840"/>
            <a:ext cx="2438248" cy="1005840"/>
          </a:xfrm>
          <a:prstGeom prst="roundRect">
            <a:avLst>
              <a:gd name="adj" fmla="val 7273"/>
            </a:avLst>
          </a:prstGeom>
          <a:solidFill>
            <a:srgbClr val="FBE6E2"/>
          </a:solidFill>
          <a:ln>
            <a:solidFill>
              <a:srgbClr val="FBE6E2"/>
            </a:solidFill>
          </a:ln>
        </p:spPr>
        <p:txBody>
          <a:bodyPr wrap="square" lIns="114300" tIns="114300" rIns="114300" bIns="114300" rtlCol="0" anchor="ctr"/>
          <a:lstStyle/>
          <a:p>
            <a:pPr algn="l" indent="0" marL="0">
              <a:buNone/>
            </a:pPr>
            <a:r>
              <a:rPr lang="en-US" sz="1200" b="1" dirty="0">
                <a:solidFill>
                  <a:srgbClr val="A8311A"/>
                </a:solidFill>
                <a:latin typeface="Malgun Gothic" pitchFamily="34" charset="0"/>
                <a:ea typeface="Malgun Gothic" pitchFamily="34" charset="-122"/>
                <a:cs typeface="Malgun Gothic" pitchFamily="34" charset="-120"/>
              </a:rPr>
              <a:t>잘못 저장된 관계</a:t>
            </a:r>
            <a:endParaRPr lang="en-US" sz="1200" dirty="0"/>
          </a:p>
          <a:p>
            <a:pPr algn="l" indent="0" marL="0">
              <a:buNone/>
            </a:pPr>
            <a:r>
              <a:rPr lang="en-US" sz="1200" dirty="0">
                <a:solidFill>
                  <a:srgbClr val="1A2433"/>
                </a:solidFill>
                <a:latin typeface="Malgun Gothic" pitchFamily="34" charset="0"/>
                <a:ea typeface="Malgun Gothic" pitchFamily="34" charset="-122"/>
                <a:cs typeface="Malgun Gothic" pitchFamily="34" charset="-120"/>
              </a:rPr>
              <a:t>상품권 → ‘서비스 제외’에만 연결, ‘실적 제외’ 누락</a:t>
            </a:r>
            <a:endParaRPr lang="en-US" sz="1200" dirty="0"/>
          </a:p>
        </p:txBody>
      </p:sp>
      <p:sp>
        <p:nvSpPr>
          <p:cNvPr id="11" name="Text 9"/>
          <p:cNvSpPr txBox="1"/>
          <p:nvPr/>
        </p:nvSpPr>
        <p:spPr>
          <a:xfrm>
            <a:off x="9204808" y="2148840"/>
            <a:ext cx="2438248" cy="1005840"/>
          </a:xfrm>
          <a:prstGeom prst="roundRect">
            <a:avLst>
              <a:gd name="adj" fmla="val 7273"/>
            </a:avLst>
          </a:prstGeom>
          <a:solidFill>
            <a:srgbClr val="E3F4F1"/>
          </a:solidFill>
          <a:ln>
            <a:solidFill>
              <a:srgbClr val="E3F4F1"/>
            </a:solidFill>
          </a:ln>
        </p:spPr>
        <p:txBody>
          <a:bodyPr wrap="square" lIns="114300" tIns="114300" rIns="114300" bIns="114300" rtlCol="0" anchor="ctr"/>
          <a:lstStyle/>
          <a:p>
            <a:pPr algn="l" indent="0" marL="0">
              <a:buNone/>
            </a:pPr>
            <a:r>
              <a:rPr lang="en-US" sz="1200" b="1" dirty="0">
                <a:solidFill>
                  <a:srgbClr val="0D6F64"/>
                </a:solidFill>
                <a:latin typeface="Malgun Gothic" pitchFamily="34" charset="0"/>
                <a:ea typeface="Malgun Gothic" pitchFamily="34" charset="-122"/>
                <a:cs typeface="Malgun Gothic" pitchFamily="34" charset="-120"/>
              </a:rPr>
              <a:t>원문</a:t>
            </a:r>
            <a:endParaRPr lang="en-US" sz="1200" dirty="0"/>
          </a:p>
          <a:p>
            <a:pPr algn="l" indent="0" marL="0">
              <a:buNone/>
            </a:pPr>
            <a:r>
              <a:rPr lang="en-US" sz="1200" dirty="0">
                <a:solidFill>
                  <a:srgbClr val="1A2433"/>
                </a:solidFill>
                <a:latin typeface="Malgun Gothic" pitchFamily="34" charset="0"/>
                <a:ea typeface="Malgun Gothic" pitchFamily="34" charset="-122"/>
                <a:cs typeface="Malgun Gothic" pitchFamily="34" charset="-120"/>
              </a:rPr>
              <a:t>상품권은 실적 제외 대상이면서 서비스 제외 대상</a:t>
            </a:r>
            <a:endParaRPr lang="en-US" sz="1200" dirty="0"/>
          </a:p>
        </p:txBody>
      </p:sp>
      <p:sp>
        <p:nvSpPr>
          <p:cNvPr id="12" name="Text 10"/>
          <p:cNvSpPr txBox="1"/>
          <p:nvPr/>
        </p:nvSpPr>
        <p:spPr>
          <a:xfrm>
            <a:off x="548640" y="3337560"/>
            <a:ext cx="11094415" cy="274320"/>
          </a:xfrm>
          <a:prstGeom prst="rect">
            <a:avLst/>
          </a:prstGeom>
          <a:noFill/>
          <a:ln/>
        </p:spPr>
        <p:txBody>
          <a:bodyPr wrap="square" lIns="0" tIns="0" rIns="0" bIns="0" rtlCol="0" anchor="t"/>
          <a:lstStyle/>
          <a:p>
            <a:pPr indent="0" marL="0">
              <a:buNone/>
            </a:pPr>
            <a:r>
              <a:rPr lang="en-US" sz="1400" b="1" dirty="0">
                <a:solidFill>
                  <a:srgbClr val="0E1A2B"/>
                </a:solidFill>
                <a:latin typeface="Malgun Gothic" pitchFamily="34" charset="0"/>
                <a:ea typeface="Malgun Gothic" pitchFamily="34" charset="-122"/>
                <a:cs typeface="Malgun Gothic" pitchFamily="34" charset="-120"/>
              </a:rPr>
              <a:t>단계별 산출물을 원문과 대조해 오류 위치를 찾습니다</a:t>
            </a:r>
            <a:endParaRPr lang="en-US" sz="1400" dirty="0"/>
          </a:p>
        </p:txBody>
      </p:sp>
      <p:sp>
        <p:nvSpPr>
          <p:cNvPr id="13" name="Text 11"/>
          <p:cNvSpPr txBox="1"/>
          <p:nvPr/>
        </p:nvSpPr>
        <p:spPr>
          <a:xfrm>
            <a:off x="548640" y="3703320"/>
            <a:ext cx="2011680" cy="621792"/>
          </a:xfrm>
          <a:prstGeom prst="roundRect">
            <a:avLst>
              <a:gd name="adj" fmla="val 11765"/>
            </a:avLst>
          </a:prstGeom>
          <a:solidFill>
            <a:srgbClr val="F3F5F8"/>
          </a:solidFill>
          <a:ln>
            <a:solidFill>
              <a:srgbClr val="F3F5F8"/>
            </a:solidFill>
          </a:ln>
        </p:spPr>
        <p:txBody>
          <a:bodyPr wrap="square" lIns="50800" tIns="50800" rIns="50800" bIns="508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① PDF 추출</a:t>
            </a:r>
            <a:endParaRPr lang="en-US" sz="1400" dirty="0"/>
          </a:p>
        </p:txBody>
      </p:sp>
      <p:sp>
        <p:nvSpPr>
          <p:cNvPr id="14" name="Text 12"/>
          <p:cNvSpPr txBox="1"/>
          <p:nvPr/>
        </p:nvSpPr>
        <p:spPr>
          <a:xfrm>
            <a:off x="548640" y="4370832"/>
            <a:ext cx="2011680" cy="274320"/>
          </a:xfrm>
          <a:prstGeom prst="rect">
            <a:avLst/>
          </a:prstGeom>
          <a:noFill/>
          <a:ln/>
        </p:spPr>
        <p:txBody>
          <a:bodyPr wrap="square" lIns="0" tIns="0" rIns="0" bIns="0" rtlCol="0" anchor="t"/>
          <a:lstStyle/>
          <a:p>
            <a:pPr algn="ctr" indent="0" marL="0">
              <a:buNone/>
            </a:pPr>
            <a:r>
              <a:rPr lang="en-US" sz="1100" dirty="0">
                <a:solidFill>
                  <a:srgbClr val="5B6778"/>
                </a:solidFill>
                <a:latin typeface="Malgun Gothic" pitchFamily="34" charset="0"/>
                <a:ea typeface="Malgun Gothic" pitchFamily="34" charset="-122"/>
                <a:cs typeface="Malgun Gothic" pitchFamily="34" charset="-120"/>
              </a:rPr>
              <a:t>원문 문장 있음</a:t>
            </a:r>
            <a:endParaRPr lang="en-US" sz="1100" dirty="0"/>
          </a:p>
        </p:txBody>
      </p:sp>
      <p:sp>
        <p:nvSpPr>
          <p:cNvPr id="15" name="Shape 13"/>
          <p:cNvSpPr/>
          <p:nvPr/>
        </p:nvSpPr>
        <p:spPr>
          <a:xfrm>
            <a:off x="2578608" y="4014216"/>
            <a:ext cx="222428" cy="0"/>
          </a:xfrm>
          <a:prstGeom prst="line">
            <a:avLst/>
          </a:prstGeom>
          <a:noFill/>
          <a:ln w="19050">
            <a:solidFill>
              <a:srgbClr val="8A94A3"/>
            </a:solidFill>
            <a:prstDash val="solid"/>
            <a:tailEnd type="triangle"/>
          </a:ln>
        </p:spPr>
      </p:sp>
      <p:sp>
        <p:nvSpPr>
          <p:cNvPr id="16" name="Text 14"/>
          <p:cNvSpPr txBox="1"/>
          <p:nvPr/>
        </p:nvSpPr>
        <p:spPr>
          <a:xfrm>
            <a:off x="2819324" y="3703320"/>
            <a:ext cx="2011680" cy="621792"/>
          </a:xfrm>
          <a:prstGeom prst="roundRect">
            <a:avLst>
              <a:gd name="adj" fmla="val 11765"/>
            </a:avLst>
          </a:prstGeom>
          <a:solidFill>
            <a:srgbClr val="FBE6E2"/>
          </a:solidFill>
          <a:ln w="31750">
            <a:solidFill>
              <a:srgbClr val="D9472B"/>
            </a:solidFill>
          </a:ln>
        </p:spPr>
        <p:txBody>
          <a:bodyPr wrap="square" lIns="50800" tIns="50800" rIns="50800" bIns="50800" rtlCol="0" anchor="ctr"/>
          <a:lstStyle/>
          <a:p>
            <a:pPr algn="ctr" indent="0" marL="0">
              <a:buNone/>
            </a:pPr>
            <a:r>
              <a:rPr lang="en-US" sz="1400" b="1" dirty="0">
                <a:solidFill>
                  <a:srgbClr val="A8311A"/>
                </a:solidFill>
                <a:latin typeface="Malgun Gothic" pitchFamily="34" charset="0"/>
                <a:ea typeface="Malgun Gothic" pitchFamily="34" charset="-122"/>
                <a:cs typeface="Malgun Gothic" pitchFamily="34" charset="-120"/>
              </a:rPr>
              <a:t>② 조건·범위 추출</a:t>
            </a:r>
            <a:endParaRPr lang="en-US" sz="1400" dirty="0"/>
          </a:p>
        </p:txBody>
      </p:sp>
      <p:sp>
        <p:nvSpPr>
          <p:cNvPr id="17" name="Text 15"/>
          <p:cNvSpPr txBox="1"/>
          <p:nvPr/>
        </p:nvSpPr>
        <p:spPr>
          <a:xfrm>
            <a:off x="2819324" y="4370832"/>
            <a:ext cx="2011680" cy="274320"/>
          </a:xfrm>
          <a:prstGeom prst="rect">
            <a:avLst/>
          </a:prstGeom>
          <a:noFill/>
          <a:ln/>
        </p:spPr>
        <p:txBody>
          <a:bodyPr wrap="square" lIns="0" tIns="0" rIns="0" bIns="0" rtlCol="0" anchor="t"/>
          <a:lstStyle/>
          <a:p>
            <a:pPr algn="ctr" indent="0" marL="0">
              <a:buNone/>
            </a:pPr>
            <a:r>
              <a:rPr lang="en-US" sz="1100" b="1" dirty="0">
                <a:solidFill>
                  <a:srgbClr val="A8311A"/>
                </a:solidFill>
                <a:latin typeface="Malgun Gothic" pitchFamily="34" charset="0"/>
                <a:ea typeface="Malgun Gothic" pitchFamily="34" charset="-122"/>
                <a:cs typeface="Malgun Gothic" pitchFamily="34" charset="-120"/>
              </a:rPr>
              <a:t>오류 지점: scope 누락</a:t>
            </a:r>
            <a:endParaRPr lang="en-US" sz="1100" dirty="0"/>
          </a:p>
        </p:txBody>
      </p:sp>
      <p:sp>
        <p:nvSpPr>
          <p:cNvPr id="18" name="Shape 16"/>
          <p:cNvSpPr/>
          <p:nvPr/>
        </p:nvSpPr>
        <p:spPr>
          <a:xfrm>
            <a:off x="4849292" y="4014216"/>
            <a:ext cx="222428" cy="0"/>
          </a:xfrm>
          <a:prstGeom prst="line">
            <a:avLst/>
          </a:prstGeom>
          <a:noFill/>
          <a:ln w="19050">
            <a:solidFill>
              <a:srgbClr val="8A94A3"/>
            </a:solidFill>
            <a:prstDash val="solid"/>
            <a:tailEnd type="triangle"/>
          </a:ln>
        </p:spPr>
      </p:sp>
      <p:sp>
        <p:nvSpPr>
          <p:cNvPr id="19" name="Text 17"/>
          <p:cNvSpPr txBox="1"/>
          <p:nvPr/>
        </p:nvSpPr>
        <p:spPr>
          <a:xfrm>
            <a:off x="5090008" y="3703320"/>
            <a:ext cx="2011680" cy="621792"/>
          </a:xfrm>
          <a:prstGeom prst="roundRect">
            <a:avLst>
              <a:gd name="adj" fmla="val 11765"/>
            </a:avLst>
          </a:prstGeom>
          <a:solidFill>
            <a:srgbClr val="F3F5F8"/>
          </a:solidFill>
          <a:ln>
            <a:solidFill>
              <a:srgbClr val="F3F5F8"/>
            </a:solidFill>
          </a:ln>
        </p:spPr>
        <p:txBody>
          <a:bodyPr wrap="square" lIns="50800" tIns="50800" rIns="50800" bIns="508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③ 관계 정규화</a:t>
            </a:r>
            <a:endParaRPr lang="en-US" sz="1400" dirty="0"/>
          </a:p>
        </p:txBody>
      </p:sp>
      <p:sp>
        <p:nvSpPr>
          <p:cNvPr id="20" name="Text 18"/>
          <p:cNvSpPr txBox="1"/>
          <p:nvPr/>
        </p:nvSpPr>
        <p:spPr>
          <a:xfrm>
            <a:off x="5090008" y="4370832"/>
            <a:ext cx="2011680" cy="274320"/>
          </a:xfrm>
          <a:prstGeom prst="rect">
            <a:avLst/>
          </a:prstGeom>
          <a:noFill/>
          <a:ln/>
        </p:spPr>
        <p:txBody>
          <a:bodyPr wrap="square" lIns="0" tIns="0" rIns="0" bIns="0" rtlCol="0" anchor="t"/>
          <a:lstStyle/>
          <a:p>
            <a:pPr algn="ctr" indent="0" marL="0">
              <a:buNone/>
            </a:pPr>
            <a:r>
              <a:rPr lang="en-US" sz="1100" dirty="0">
                <a:solidFill>
                  <a:srgbClr val="5B6778"/>
                </a:solidFill>
                <a:latin typeface="Malgun Gothic" pitchFamily="34" charset="0"/>
                <a:ea typeface="Malgun Gothic" pitchFamily="34" charset="-122"/>
                <a:cs typeface="Malgun Gothic" pitchFamily="34" charset="-120"/>
              </a:rPr>
              <a:t>②의 오류가 전파</a:t>
            </a:r>
            <a:endParaRPr lang="en-US" sz="1100" dirty="0"/>
          </a:p>
        </p:txBody>
      </p:sp>
      <p:sp>
        <p:nvSpPr>
          <p:cNvPr id="21" name="Shape 19"/>
          <p:cNvSpPr/>
          <p:nvPr/>
        </p:nvSpPr>
        <p:spPr>
          <a:xfrm>
            <a:off x="7119976" y="4014216"/>
            <a:ext cx="222428" cy="0"/>
          </a:xfrm>
          <a:prstGeom prst="line">
            <a:avLst/>
          </a:prstGeom>
          <a:noFill/>
          <a:ln w="19050">
            <a:solidFill>
              <a:srgbClr val="8A94A3"/>
            </a:solidFill>
            <a:prstDash val="solid"/>
            <a:tailEnd type="triangle"/>
          </a:ln>
        </p:spPr>
      </p:sp>
      <p:sp>
        <p:nvSpPr>
          <p:cNvPr id="22" name="Text 20"/>
          <p:cNvSpPr txBox="1"/>
          <p:nvPr/>
        </p:nvSpPr>
        <p:spPr>
          <a:xfrm>
            <a:off x="7360691" y="3703320"/>
            <a:ext cx="2011680" cy="621792"/>
          </a:xfrm>
          <a:prstGeom prst="roundRect">
            <a:avLst>
              <a:gd name="adj" fmla="val 11765"/>
            </a:avLst>
          </a:prstGeom>
          <a:solidFill>
            <a:srgbClr val="F3F5F8"/>
          </a:solidFill>
          <a:ln>
            <a:solidFill>
              <a:srgbClr val="F3F5F8"/>
            </a:solidFill>
          </a:ln>
        </p:spPr>
        <p:txBody>
          <a:bodyPr wrap="square" lIns="50800" tIns="50800" rIns="50800" bIns="508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④ 그래프 검색</a:t>
            </a:r>
            <a:endParaRPr lang="en-US" sz="1400" dirty="0"/>
          </a:p>
        </p:txBody>
      </p:sp>
      <p:sp>
        <p:nvSpPr>
          <p:cNvPr id="23" name="Text 21"/>
          <p:cNvSpPr txBox="1"/>
          <p:nvPr/>
        </p:nvSpPr>
        <p:spPr>
          <a:xfrm>
            <a:off x="7360691" y="4370832"/>
            <a:ext cx="2011680" cy="274320"/>
          </a:xfrm>
          <a:prstGeom prst="rect">
            <a:avLst/>
          </a:prstGeom>
          <a:noFill/>
          <a:ln/>
        </p:spPr>
        <p:txBody>
          <a:bodyPr wrap="square" lIns="0" tIns="0" rIns="0" bIns="0" rtlCol="0" anchor="t"/>
          <a:lstStyle/>
          <a:p>
            <a:pPr algn="ctr" indent="0" marL="0">
              <a:buNone/>
            </a:pPr>
            <a:r>
              <a:rPr lang="en-US" sz="1100" dirty="0">
                <a:solidFill>
                  <a:srgbClr val="5B6778"/>
                </a:solidFill>
                <a:latin typeface="Malgun Gothic" pitchFamily="34" charset="0"/>
                <a:ea typeface="Malgun Gothic" pitchFamily="34" charset="-122"/>
                <a:cs typeface="Malgun Gothic" pitchFamily="34" charset="-120"/>
              </a:rPr>
              <a:t>잘못된 관계를 조회</a:t>
            </a:r>
            <a:endParaRPr lang="en-US" sz="1100" dirty="0"/>
          </a:p>
        </p:txBody>
      </p:sp>
      <p:sp>
        <p:nvSpPr>
          <p:cNvPr id="24" name="Shape 22"/>
          <p:cNvSpPr/>
          <p:nvPr/>
        </p:nvSpPr>
        <p:spPr>
          <a:xfrm>
            <a:off x="9390659" y="4014216"/>
            <a:ext cx="222428" cy="0"/>
          </a:xfrm>
          <a:prstGeom prst="line">
            <a:avLst/>
          </a:prstGeom>
          <a:noFill/>
          <a:ln w="19050">
            <a:solidFill>
              <a:srgbClr val="8A94A3"/>
            </a:solidFill>
            <a:prstDash val="solid"/>
            <a:tailEnd type="triangle"/>
          </a:ln>
        </p:spPr>
      </p:sp>
      <p:sp>
        <p:nvSpPr>
          <p:cNvPr id="25" name="Text 23"/>
          <p:cNvSpPr txBox="1"/>
          <p:nvPr/>
        </p:nvSpPr>
        <p:spPr>
          <a:xfrm>
            <a:off x="9631375" y="3703320"/>
            <a:ext cx="2011680" cy="621792"/>
          </a:xfrm>
          <a:prstGeom prst="roundRect">
            <a:avLst>
              <a:gd name="adj" fmla="val 11765"/>
            </a:avLst>
          </a:prstGeom>
          <a:solidFill>
            <a:srgbClr val="F3F5F8"/>
          </a:solidFill>
          <a:ln w="15875">
            <a:solidFill>
              <a:srgbClr val="E8A33D"/>
            </a:solidFill>
            <a:prstDash val="dash"/>
          </a:ln>
        </p:spPr>
        <p:txBody>
          <a:bodyPr wrap="square" lIns="50800" tIns="50800" rIns="50800" bIns="508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⑤ LLM 답변</a:t>
            </a:r>
            <a:endParaRPr lang="en-US" sz="1400" dirty="0"/>
          </a:p>
        </p:txBody>
      </p:sp>
      <p:sp>
        <p:nvSpPr>
          <p:cNvPr id="26" name="Text 24"/>
          <p:cNvSpPr txBox="1"/>
          <p:nvPr/>
        </p:nvSpPr>
        <p:spPr>
          <a:xfrm>
            <a:off x="9631375" y="4370832"/>
            <a:ext cx="2011680" cy="274320"/>
          </a:xfrm>
          <a:prstGeom prst="rect">
            <a:avLst/>
          </a:prstGeom>
          <a:noFill/>
          <a:ln/>
        </p:spPr>
        <p:txBody>
          <a:bodyPr wrap="square" lIns="0" tIns="0" rIns="0" bIns="0" rtlCol="0" anchor="t"/>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다른 유형: 근거 무시</a:t>
            </a:r>
            <a:endParaRPr lang="en-US" sz="1100" dirty="0"/>
          </a:p>
        </p:txBody>
      </p:sp>
      <p:sp>
        <p:nvSpPr>
          <p:cNvPr id="27" name="Text 25"/>
          <p:cNvSpPr txBox="1"/>
          <p:nvPr/>
        </p:nvSpPr>
        <p:spPr>
          <a:xfrm>
            <a:off x="548640" y="4892040"/>
            <a:ext cx="3108960" cy="457200"/>
          </a:xfrm>
          <a:prstGeom prst="roundRect">
            <a:avLst>
              <a:gd name="adj" fmla="val 12000"/>
            </a:avLst>
          </a:prstGeom>
          <a:solidFill>
            <a:srgbClr val="FDF0DC"/>
          </a:solidFill>
          <a:ln>
            <a:solidFill>
              <a:srgbClr val="FDF0DC"/>
            </a:solidFill>
          </a:ln>
        </p:spPr>
        <p:txBody>
          <a:bodyPr wrap="square" lIns="38100" tIns="38100" rIns="38100" bIns="38100" rtlCol="0" anchor="ctr"/>
          <a:lstStyle/>
          <a:p>
            <a:pPr algn="ctr" indent="0" marL="0">
              <a:buNone/>
            </a:pPr>
            <a:r>
              <a:rPr lang="en-US" sz="1300" b="1" dirty="0">
                <a:solidFill>
                  <a:srgbClr val="8F5208"/>
                </a:solidFill>
                <a:latin typeface="Malgun Gothic" pitchFamily="34" charset="0"/>
                <a:ea typeface="Malgun Gothic" pitchFamily="34" charset="-122"/>
                <a:cs typeface="Malgun Gothic" pitchFamily="34" charset="-120"/>
              </a:rPr>
              <a:t>수정: 상품권 실적 제외 관계 보정</a:t>
            </a:r>
            <a:endParaRPr lang="en-US" sz="1300" dirty="0"/>
          </a:p>
        </p:txBody>
      </p:sp>
      <p:sp>
        <p:nvSpPr>
          <p:cNvPr id="28" name="Shape 26"/>
          <p:cNvSpPr/>
          <p:nvPr/>
        </p:nvSpPr>
        <p:spPr>
          <a:xfrm>
            <a:off x="3675888" y="5120640"/>
            <a:ext cx="238658" cy="0"/>
          </a:xfrm>
          <a:prstGeom prst="line">
            <a:avLst/>
          </a:prstGeom>
          <a:noFill/>
          <a:ln w="19050">
            <a:solidFill>
              <a:srgbClr val="8A94A3"/>
            </a:solidFill>
            <a:prstDash val="solid"/>
            <a:tailEnd type="triangle"/>
          </a:ln>
        </p:spPr>
      </p:sp>
      <p:sp>
        <p:nvSpPr>
          <p:cNvPr id="29" name="Text 27"/>
          <p:cNvSpPr txBox="1"/>
          <p:nvPr/>
        </p:nvSpPr>
        <p:spPr>
          <a:xfrm>
            <a:off x="3932834" y="4892040"/>
            <a:ext cx="1371600" cy="457200"/>
          </a:xfrm>
          <a:prstGeom prst="roundRect">
            <a:avLst>
              <a:gd name="adj" fmla="val 12000"/>
            </a:avLst>
          </a:prstGeom>
          <a:solidFill>
            <a:srgbClr val="FDF0DC"/>
          </a:solidFill>
          <a:ln>
            <a:solidFill>
              <a:srgbClr val="FDF0DC"/>
            </a:solidFill>
          </a:ln>
        </p:spPr>
        <p:txBody>
          <a:bodyPr wrap="square" lIns="38100" tIns="38100" rIns="38100" bIns="38100" rtlCol="0" anchor="ctr"/>
          <a:lstStyle/>
          <a:p>
            <a:pPr algn="ctr" indent="0" marL="0">
              <a:buNone/>
            </a:pPr>
            <a:r>
              <a:rPr lang="en-US" sz="1300" b="1" dirty="0">
                <a:solidFill>
                  <a:srgbClr val="8F5208"/>
                </a:solidFill>
                <a:latin typeface="Malgun Gothic" pitchFamily="34" charset="0"/>
                <a:ea typeface="Malgun Gothic" pitchFamily="34" charset="-122"/>
                <a:cs typeface="Malgun Gothic" pitchFamily="34" charset="-120"/>
              </a:rPr>
              <a:t>재적재</a:t>
            </a:r>
            <a:endParaRPr lang="en-US" sz="1300" dirty="0"/>
          </a:p>
        </p:txBody>
      </p:sp>
      <p:sp>
        <p:nvSpPr>
          <p:cNvPr id="30" name="Shape 28"/>
          <p:cNvSpPr/>
          <p:nvPr/>
        </p:nvSpPr>
        <p:spPr>
          <a:xfrm>
            <a:off x="5322722" y="5120640"/>
            <a:ext cx="238658" cy="0"/>
          </a:xfrm>
          <a:prstGeom prst="line">
            <a:avLst/>
          </a:prstGeom>
          <a:noFill/>
          <a:ln w="19050">
            <a:solidFill>
              <a:srgbClr val="8A94A3"/>
            </a:solidFill>
            <a:prstDash val="solid"/>
            <a:tailEnd type="triangle"/>
          </a:ln>
        </p:spPr>
      </p:sp>
      <p:sp>
        <p:nvSpPr>
          <p:cNvPr id="31" name="Text 29"/>
          <p:cNvSpPr txBox="1"/>
          <p:nvPr/>
        </p:nvSpPr>
        <p:spPr>
          <a:xfrm>
            <a:off x="5579669" y="4892040"/>
            <a:ext cx="2011680" cy="457200"/>
          </a:xfrm>
          <a:prstGeom prst="roundRect">
            <a:avLst>
              <a:gd name="adj" fmla="val 12000"/>
            </a:avLst>
          </a:prstGeom>
          <a:solidFill>
            <a:srgbClr val="FDF0DC"/>
          </a:solidFill>
          <a:ln>
            <a:solidFill>
              <a:srgbClr val="FDF0DC"/>
            </a:solidFill>
          </a:ln>
        </p:spPr>
        <p:txBody>
          <a:bodyPr wrap="square" lIns="38100" tIns="38100" rIns="38100" bIns="38100" rtlCol="0" anchor="ctr"/>
          <a:lstStyle/>
          <a:p>
            <a:pPr algn="ctr" indent="0" marL="0">
              <a:buNone/>
            </a:pPr>
            <a:r>
              <a:rPr lang="en-US" sz="1300" b="1" dirty="0">
                <a:solidFill>
                  <a:srgbClr val="8F5208"/>
                </a:solidFill>
                <a:latin typeface="Malgun Gothic" pitchFamily="34" charset="0"/>
                <a:ea typeface="Malgun Gothic" pitchFamily="34" charset="-122"/>
                <a:cs typeface="Malgun Gothic" pitchFamily="34" charset="-120"/>
              </a:rPr>
              <a:t>같은 질문 재검증</a:t>
            </a:r>
            <a:endParaRPr lang="en-US" sz="1300" dirty="0"/>
          </a:p>
        </p:txBody>
      </p:sp>
      <p:sp>
        <p:nvSpPr>
          <p:cNvPr id="32" name="Shape 30"/>
          <p:cNvSpPr/>
          <p:nvPr/>
        </p:nvSpPr>
        <p:spPr>
          <a:xfrm>
            <a:off x="7609637" y="5120640"/>
            <a:ext cx="238658" cy="0"/>
          </a:xfrm>
          <a:prstGeom prst="line">
            <a:avLst/>
          </a:prstGeom>
          <a:noFill/>
          <a:ln w="19050">
            <a:solidFill>
              <a:srgbClr val="8A94A3"/>
            </a:solidFill>
            <a:prstDash val="solid"/>
            <a:tailEnd type="triangle"/>
          </a:ln>
        </p:spPr>
      </p:sp>
      <p:sp>
        <p:nvSpPr>
          <p:cNvPr id="33" name="Text 31"/>
          <p:cNvSpPr txBox="1"/>
          <p:nvPr/>
        </p:nvSpPr>
        <p:spPr>
          <a:xfrm>
            <a:off x="7866583" y="4892040"/>
            <a:ext cx="3776472" cy="457200"/>
          </a:xfrm>
          <a:prstGeom prst="roundRect">
            <a:avLst>
              <a:gd name="adj" fmla="val 12000"/>
            </a:avLst>
          </a:prstGeom>
          <a:solidFill>
            <a:srgbClr val="159A8C"/>
          </a:solidFill>
          <a:ln>
            <a:solidFill>
              <a:srgbClr val="159A8C"/>
            </a:solidFill>
          </a:ln>
        </p:spPr>
        <p:txBody>
          <a:bodyPr wrap="square" lIns="38100" tIns="38100" rIns="38100" bIns="3810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결과: 실적에 포함되지 않음 (원문 근거)</a:t>
            </a:r>
            <a:endParaRPr lang="en-US" sz="1300" dirty="0"/>
          </a:p>
        </p:txBody>
      </p:sp>
      <p:sp>
        <p:nvSpPr>
          <p:cNvPr id="34" name="Text 32"/>
          <p:cNvSpPr txBox="1"/>
          <p:nvPr/>
        </p:nvSpPr>
        <p:spPr>
          <a:xfrm>
            <a:off x="548640" y="5577840"/>
            <a:ext cx="11094415" cy="548640"/>
          </a:xfrm>
          <a:prstGeom prst="rect">
            <a:avLst/>
          </a:prstGeom>
          <a:noFill/>
          <a:ln/>
        </p:spPr>
        <p:txBody>
          <a:bodyPr wrap="square" lIns="0" tIns="0" rIns="0" bIns="0" rtlCol="0" anchor="t"/>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목표는 ‘전부 맞힌다’가 아니라 ‘틀린 지점을 찾을 수 있다’입니다. 고치지 못한 항목은 판단 보류로 공개합니다.</a:t>
            </a:r>
            <a:endParaRPr lang="en-US" sz="1300" dirty="0"/>
          </a:p>
        </p:txBody>
      </p:sp>
      <p:sp>
        <p:nvSpPr>
          <p:cNvPr id="35" name="Text 33"/>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V4의 상품권 오답 사례를 개인 적격성 질문이 아닌 공식 조건 질문으로 바꿔 재구성 · 오류 6분류는 과제 M8</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E   검증 대상의 구분</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원문 근거와 실행 기록은 다르고, 외부 AI 답변은 별도입니다</a:t>
            </a:r>
            <a:endParaRPr lang="en-US" sz="2400" dirty="0"/>
          </a:p>
        </p:txBody>
      </p:sp>
      <p:sp>
        <p:nvSpPr>
          <p:cNvPr id="4" name="Text 2"/>
          <p:cNvSpPr txBox="1"/>
          <p:nvPr/>
        </p:nvSpPr>
        <p:spPr>
          <a:xfrm>
            <a:off x="10920679"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설계안</a:t>
            </a:r>
            <a:endParaRPr lang="en-US" sz="1100" dirty="0"/>
          </a:p>
        </p:txBody>
      </p:sp>
      <p:sp>
        <p:nvSpPr>
          <p:cNvPr id="5" name="Shape 3"/>
          <p:cNvSpPr/>
          <p:nvPr/>
        </p:nvSpPr>
        <p:spPr>
          <a:xfrm>
            <a:off x="548640" y="1691640"/>
            <a:ext cx="5394960" cy="2331720"/>
          </a:xfrm>
          <a:prstGeom prst="roundRect">
            <a:avLst>
              <a:gd name="adj" fmla="val 3922"/>
            </a:avLst>
          </a:prstGeom>
          <a:solidFill>
            <a:srgbClr val="FFFFFF"/>
          </a:solidFill>
          <a:ln w="15875">
            <a:solidFill>
              <a:srgbClr val="159A8C"/>
            </a:solidFill>
            <a:prstDash val="solid"/>
          </a:ln>
        </p:spPr>
      </p:sp>
      <p:sp>
        <p:nvSpPr>
          <p:cNvPr id="6" name="Text 4"/>
          <p:cNvSpPr txBox="1"/>
          <p:nvPr/>
        </p:nvSpPr>
        <p:spPr>
          <a:xfrm>
            <a:off x="548640" y="1691640"/>
            <a:ext cx="5394960" cy="640080"/>
          </a:xfrm>
          <a:prstGeom prst="roundRect">
            <a:avLst>
              <a:gd name="adj" fmla="val 14286"/>
            </a:avLst>
          </a:prstGeom>
          <a:solidFill>
            <a:srgbClr val="E3F4F1"/>
          </a:solidFill>
          <a:ln>
            <a:solidFill>
              <a:srgbClr val="E3F4F1"/>
            </a:solidFill>
          </a:ln>
        </p:spPr>
        <p:txBody>
          <a:bodyPr wrap="square" lIns="152400" tIns="152400" rIns="152400" bIns="152400" rtlCol="0" anchor="ctr"/>
          <a:lstStyle/>
          <a:p>
            <a:pPr algn="l" indent="0" marL="0">
              <a:buNone/>
            </a:pPr>
            <a:r>
              <a:rPr lang="en-US" sz="1500" b="1" dirty="0">
                <a:solidFill>
                  <a:srgbClr val="0D6F64"/>
                </a:solidFill>
                <a:latin typeface="Malgun Gothic" pitchFamily="34" charset="0"/>
                <a:ea typeface="Malgun Gothic" pitchFamily="34" charset="-122"/>
                <a:cs typeface="Malgun Gothic" pitchFamily="34" charset="-120"/>
              </a:rPr>
              <a:t>A. 원문 근거</a:t>
            </a:r>
            <a:endParaRPr lang="en-US" sz="1300" dirty="0"/>
          </a:p>
          <a:p>
            <a:pPr algn="l" indent="0" marL="0">
              <a:buNone/>
            </a:pPr>
            <a:r>
              <a:rPr lang="en-US" sz="1100" dirty="0">
                <a:solidFill>
                  <a:srgbClr val="0D6F64"/>
                </a:solidFill>
                <a:latin typeface="Malgun Gothic" pitchFamily="34" charset="0"/>
                <a:ea typeface="Malgun Gothic" pitchFamily="34" charset="-122"/>
                <a:cs typeface="Malgun Gothic" pitchFamily="34" charset="-120"/>
              </a:rPr>
              <a:t>PDF에 있음 · 지식화 단계에서 저장</a:t>
            </a:r>
            <a:endParaRPr lang="en-US" sz="1300" dirty="0"/>
          </a:p>
        </p:txBody>
      </p:sp>
      <p:sp>
        <p:nvSpPr>
          <p:cNvPr id="7" name="Text 5"/>
          <p:cNvSpPr txBox="1"/>
          <p:nvPr/>
        </p:nvSpPr>
        <p:spPr>
          <a:xfrm>
            <a:off x="731520" y="2423160"/>
            <a:ext cx="5029200" cy="182880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문서 ID · 판 · 페이지</a:t>
            </a:r>
            <a:endParaRPr lang="en-US" sz="1300" dirty="0"/>
          </a:p>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조항 위치(표·항목 이름)와 원문 문장</a:t>
            </a:r>
            <a:endParaRPr lang="en-US" sz="1300" dirty="0"/>
          </a:p>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추출한 조건과 적용 범위(scope)</a:t>
            </a:r>
            <a:endParaRPr lang="en-US" sz="1300" dirty="0"/>
          </a:p>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조건 ↔ 혜택 ↔ 카드 관계</a:t>
            </a:r>
            <a:endParaRPr lang="en-US" sz="1300" dirty="0"/>
          </a:p>
        </p:txBody>
      </p:sp>
      <p:sp>
        <p:nvSpPr>
          <p:cNvPr id="8" name="Shape 6"/>
          <p:cNvSpPr/>
          <p:nvPr/>
        </p:nvSpPr>
        <p:spPr>
          <a:xfrm>
            <a:off x="6245352" y="1691640"/>
            <a:ext cx="5397703" cy="2331720"/>
          </a:xfrm>
          <a:prstGeom prst="roundRect">
            <a:avLst>
              <a:gd name="adj" fmla="val 3922"/>
            </a:avLst>
          </a:prstGeom>
          <a:solidFill>
            <a:srgbClr val="FFFFFF"/>
          </a:solidFill>
          <a:ln w="15875">
            <a:solidFill>
              <a:srgbClr val="E8A33D"/>
            </a:solidFill>
            <a:prstDash val="solid"/>
          </a:ln>
        </p:spPr>
      </p:sp>
      <p:sp>
        <p:nvSpPr>
          <p:cNvPr id="9" name="Text 7"/>
          <p:cNvSpPr txBox="1"/>
          <p:nvPr/>
        </p:nvSpPr>
        <p:spPr>
          <a:xfrm>
            <a:off x="6245352" y="1691640"/>
            <a:ext cx="5397703" cy="640080"/>
          </a:xfrm>
          <a:prstGeom prst="roundRect">
            <a:avLst>
              <a:gd name="adj" fmla="val 14286"/>
            </a:avLst>
          </a:prstGeom>
          <a:solidFill>
            <a:srgbClr val="FDF0DC"/>
          </a:solidFill>
          <a:ln>
            <a:solidFill>
              <a:srgbClr val="FDF0DC"/>
            </a:solidFill>
          </a:ln>
        </p:spPr>
        <p:txBody>
          <a:bodyPr wrap="square" lIns="152400" tIns="152400" rIns="152400" bIns="152400" rtlCol="0" anchor="ctr"/>
          <a:lstStyle/>
          <a:p>
            <a:pPr algn="l" indent="0" marL="0">
              <a:buNone/>
            </a:pPr>
            <a:r>
              <a:rPr lang="en-US" sz="1500" b="1" dirty="0">
                <a:solidFill>
                  <a:srgbClr val="8F5208"/>
                </a:solidFill>
                <a:latin typeface="Malgun Gothic" pitchFamily="34" charset="0"/>
                <a:ea typeface="Malgun Gothic" pitchFamily="34" charset="-122"/>
                <a:cs typeface="Malgun Gothic" pitchFamily="34" charset="-120"/>
              </a:rPr>
              <a:t>B. 실행 기록 (trace)</a:t>
            </a:r>
            <a:endParaRPr lang="en-US" sz="1300" dirty="0"/>
          </a:p>
          <a:p>
            <a:pPr algn="l" indent="0" marL="0">
              <a:buNone/>
            </a:pPr>
            <a:r>
              <a:rPr lang="en-US" sz="1100" dirty="0">
                <a:solidFill>
                  <a:srgbClr val="8F5208"/>
                </a:solidFill>
                <a:latin typeface="Malgun Gothic" pitchFamily="34" charset="0"/>
                <a:ea typeface="Malgun Gothic" pitchFamily="34" charset="-122"/>
                <a:cs typeface="Malgun Gothic" pitchFamily="34" charset="-120"/>
              </a:rPr>
              <a:t>PDF에 없음 · 우리 시스템 실행 시 기록</a:t>
            </a:r>
            <a:endParaRPr lang="en-US" sz="1300" dirty="0"/>
          </a:p>
        </p:txBody>
      </p:sp>
      <p:sp>
        <p:nvSpPr>
          <p:cNvPr id="10" name="Text 8"/>
          <p:cNvSpPr txBox="1"/>
          <p:nvPr/>
        </p:nvSpPr>
        <p:spPr>
          <a:xfrm>
            <a:off x="6428232" y="2423160"/>
            <a:ext cx="5031943" cy="182880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질문과 해석 결과</a:t>
            </a:r>
            <a:endParaRPr lang="en-US" sz="1300" dirty="0"/>
          </a:p>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실행한 쿼리·파라미터와 조회 결과</a:t>
            </a:r>
            <a:endParaRPr lang="en-US" sz="1300" dirty="0"/>
          </a:p>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반환한 조건·조항</a:t>
            </a:r>
            <a:endParaRPr lang="en-US" sz="1300" dirty="0"/>
          </a:p>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생성 답변과 근거 일치 여부</a:t>
            </a:r>
            <a:endParaRPr lang="en-US" sz="1300" dirty="0"/>
          </a:p>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프롬프트·모델·데이터 버전</a:t>
            </a:r>
            <a:endParaRPr lang="en-US" sz="13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4251960"/>
          <a:ext cx="11094415" cy="914400"/>
        </p:xfrm>
        <a:graphic>
          <a:graphicData uri="http://schemas.openxmlformats.org/drawingml/2006/table">
            <a:tbl>
              <a:tblPr/>
              <a:tblGrid>
                <a:gridCol w="1828800"/>
                <a:gridCol w="5669280"/>
                <a:gridCol w="3593592"/>
              </a:tblGrid>
              <a:tr h="411480">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외부 AI 경유 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카드사가 할 수 있는 것</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전제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r>
              <a:tr h="411480">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기록 가능</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MCP 요청 파라미터, 공급한 조건·근거·trace id</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카드사 서버 로그 (설계안)</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11480">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조건부</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고객 질문 원문, 외부 AI 최종 답변과 근거 대조</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답변을 별도로 확보한 경우만</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11480">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보장 불가</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도구 호출 여부, 요약·변형, 문구 표시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12" name="Text 9"/>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그래프 경로 제시 ≠ LLM 내부 사고 과정 설명 · QueryLogger(쿼리 로그 포매터)는 구현, trace 저장 구조는 설계안</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F   예상 질문</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받을 질문을 먼저 정리했습니다</a:t>
            </a:r>
            <a:endParaRPr lang="en-US" sz="2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3931920"/>
                <a:gridCol w="7159752"/>
              </a:tblGrid>
              <a:tr h="438912">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질문</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답변 요지</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r>
              <a:tr h="438912">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특정 고객이 혜택을 받는지 알려 주나요?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아니요. 개인 실적·등록일·거래 내역은 쓰지 않습니다. 공식 약관의 조건과 적용 범위만 분석·안내합니다.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38912">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SQL로도 되지 않나요?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됩니다. 관계 테이블·JOIN·재귀 CTE로 가능합니다. 그래프 방식의 장단점을 같은 질문으로 비교해 확인합니다.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38912">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일반 RAG도 원문 근거를 보여 주지 않나요?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보여 줍니다. 차이는 적용 범위와 다단계 관계를 어떻게 저장·검증하느냐이며, 파일럿으로 비교합니다.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38912">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신한카드가 GraphRAG를 쓰나요? 두 발표는 연결돼 있나요?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공식 자료에 없습니다(미확인). 외부 AI 연결이 실제로 시작됐다는 근거로만 인용했습니다.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38912">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외부 AI가 카드사 도구를 반드시 쓰나요?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아닙니다. 호출 여부와 최종 답변은 외부 AI가 결정합니다. 신한 사례도 고객이 툴을 추가해 이용합니다.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38912">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외부 AI의 최종 답변도 검증할 수 있나요?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MCP 호출 기록만으로는 불가합니다. 최종 답변을 별도로 확보한 경우에만 사후 대조합니다.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38912">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AI(LLM)의 사고 과정까지 설명하나요?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아니요. 기록 가능한 검색 경로·근거와 최종 답변의 일치 여부만 검증합니다.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38912">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카드사의 정본은 내부 상품 DB 아닌가요?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PDF는 고객에게 고지된 문구입니다. 내부 DB와 고지 문서의 불일치를 점검하는 보완 용도로 제안합니다(내부 구조 미확인).</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38912">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문서가 최신인가요? 재배포는요?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시행일·유효 여부·재배포 조건은 미확인입니다. 문서 판과 해시를 기록하고 PDF는 저장소에 넣지 않습니다.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5" name="Text 2"/>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V4 예상 질문을 V5 범위(개인 적격성 제외, 공정 비교, 외부 AI 답변 검증 한계)에 맞춰 갱신</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G   출처와 검증 상태</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무엇을 확인했고, 무엇을 정정했는가</a:t>
            </a:r>
            <a:endParaRPr lang="en-US" sz="24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5120640"/>
                <a:gridCol w="4050792"/>
                <a:gridCol w="1920240"/>
              </a:tblGrid>
              <a:tr h="457200">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자료</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사용한 내용</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상태</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r>
              <a:tr h="457200">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신한금융그룹 보도자료 2026-09-09 “신한카드, 최적의 금융상품 추천하고 선택하는 AI 개발”</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커넥셔너리와 개발, 기존 생성형 AI의 한계, 조건 구조화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공식 확인 2026-10-30</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57200">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신한카드 보도자료 2026-09-13 “카드사 최초 ‘ChatGPT for Kakao’와 연계한 AI 대화형 금융 서비스”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기능 4종, PlayMCP 기반 카카오 툴즈 연동, MCP 설명 문장</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공식 확인 2026-10-30</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57200">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하나카드 상품설명서 STYLE·PLAY·BT·에너지 더블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대중교통 조건, 상품권 실적·서비스 제외, 혜택별 실적 조건</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원문 확인 2026-10-30</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57200">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card_pdf_structuring_validation.md</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표 추출 실패 사례 (STYLE·PLAY 0개, BT 셀 병합, 에너지 더블 열 누락)</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팀 검증 2026-10-29</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57200">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card_benefit/README.md · src/common · payment_card · sql</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구현 상태</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저장소 확인 2026-10-30</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5" name="Shape 2"/>
          <p:cNvSpPr/>
          <p:nvPr/>
        </p:nvSpPr>
        <p:spPr>
          <a:xfrm>
            <a:off x="548640" y="4526280"/>
            <a:ext cx="11094415" cy="1481328"/>
          </a:xfrm>
          <a:prstGeom prst="roundRect">
            <a:avLst>
              <a:gd name="adj" fmla="val 6173"/>
            </a:avLst>
          </a:prstGeom>
          <a:solidFill>
            <a:srgbClr val="FDF0DC"/>
          </a:solidFill>
          <a:ln w="12700">
            <a:solidFill>
              <a:srgbClr val="FDF0DC"/>
            </a:solidFill>
            <a:prstDash val="solid"/>
          </a:ln>
        </p:spPr>
      </p:sp>
      <p:sp>
        <p:nvSpPr>
          <p:cNvPr id="6" name="Text 3"/>
          <p:cNvSpPr txBox="1"/>
          <p:nvPr/>
        </p:nvSpPr>
        <p:spPr>
          <a:xfrm>
            <a:off x="731520" y="4599432"/>
            <a:ext cx="10728655" cy="1627632"/>
          </a:xfrm>
          <a:prstGeom prst="rect">
            <a:avLst/>
          </a:prstGeom>
          <a:noFill/>
          <a:ln/>
        </p:spPr>
        <p:txBody>
          <a:bodyPr wrap="square" lIns="0" tIns="0" rIns="0" bIns="0" rtlCol="0" anchor="t"/>
          <a:lstStyle/>
          <a:p>
            <a:pPr indent="0" marL="0">
              <a:spcAft>
                <a:spcPts val="200"/>
              </a:spcAft>
              <a:buNone/>
            </a:pPr>
            <a:r>
              <a:rPr lang="en-US" sz="1300" b="1" dirty="0">
                <a:solidFill>
                  <a:srgbClr val="8F5208"/>
                </a:solidFill>
                <a:latin typeface="Malgun Gothic" pitchFamily="34" charset="0"/>
                <a:ea typeface="Malgun Gothic" pitchFamily="34" charset="-122"/>
                <a:cs typeface="Malgun Gothic" pitchFamily="34" charset="-120"/>
              </a:rPr>
              <a:t>정정 사항</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V3 ‘대중교통 5% 할인’ → 원문은 ‘5% 캐시백, 월 최대 1천원’ (V4부터 반영)</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V4의 9월 9일 발표 제목은 의역이었음 → V5는 원제목 사용</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V4의 ‘실적·등록일 정보를 요청해 판단’ 표현 삭제 — 개인 적격성 판단은 범위 밖</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V4의 ○·△·× 비교표 → V5는 구현 방식 차이만 기술 (우열 표시 삭제)</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STYLE 문서는 15650_20260429판 기준. 일부 조사 문서의 15650_20260316판과는 대조하지 않음</a:t>
            </a:r>
            <a:endParaRPr lang="en-US" sz="1200" dirty="0"/>
          </a:p>
        </p:txBody>
      </p:sp>
      <p:sp>
        <p:nvSpPr>
          <p:cNvPr id="7" name="Text 4"/>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원문 PDF는 저장소에 추가하지 않았습니다 (재배포 조건 미확인).</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CardEngine">
  <a:themeElements>
    <a:clrScheme name="CardEngine">
      <a:dk1>
        <a:srgbClr val="1A2433"/>
      </a:dk1>
      <a:lt1>
        <a:srgbClr val="FFFFFF"/>
      </a:lt1>
      <a:dk2>
        <a:srgbClr val="0E1A2B"/>
      </a:dk2>
      <a:lt2>
        <a:srgbClr val="F3F5F8"/>
      </a:lt2>
      <a:accent1>
        <a:srgbClr val="E8A33D"/>
      </a:accent1>
      <a:accent2>
        <a:srgbClr val="159A8C"/>
      </a:accent2>
      <a:accent3>
        <a:srgbClr val="D9472B"/>
      </a:accent3>
      <a:accent4>
        <a:srgbClr val="6A4FB0"/>
      </a:accent4>
      <a:accent5>
        <a:srgbClr val="3A4A60"/>
      </a:accent5>
      <a:accent6>
        <a:srgbClr val="1F3350"/>
      </a:accent6>
      <a:hlink>
        <a:srgbClr val="0D6F64"/>
      </a:hlink>
      <a:folHlink>
        <a:srgbClr val="6A4FB0"/>
      </a:folHlink>
    </a:clrScheme>
    <a:fontScheme name="CardEngin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카드사 공식 혜택 정보를 AI에 — 하나카드 상품설명서 기반 GraphRAG</dc:title>
  <dc:subject>PptxGenJS Presentation</dc:subject>
  <dc:creator>mle-02-p2-team3</dc:creator>
  <cp:lastModifiedBy>mle-02-p2-team3</cp:lastModifiedBy>
  <cp:revision>1</cp:revision>
  <dcterms:created xsi:type="dcterms:W3CDTF">2026-10-30T01:18:41Z</dcterms:created>
  <dcterms:modified xsi:type="dcterms:W3CDTF">2026-10-30T01:18:41Z</dcterms:modified>
</cp:coreProperties>
</file>